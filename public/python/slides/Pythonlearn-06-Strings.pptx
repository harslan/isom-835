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9144000" cx="16256000"/>
  <p:notesSz cx="6858000" cy="9144000"/>
  <p:embeddedFontLst>
    <p:embeddedFont>
      <p:font typeface="Gill Sans"/>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5120">
          <p15:clr>
            <a:srgbClr val="A4A3A4"/>
          </p15:clr>
        </p15:guide>
      </p15:sldGuideLst>
    </p:ext>
    <p:ext uri="http://customooxmlschemas.google.com/">
      <go:slidesCustomData xmlns:go="http://customooxmlschemas.google.com/" r:id="rId31" roundtripDataSignature="AMtx7mho82mxzT7I/ZXCnzAbNWLOks3t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512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GillSans-regular.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GillSans-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solidFill>
                <a:schemeClr val="dk2"/>
              </a:solidFill>
            </a:endParaRPr>
          </a:p>
        </p:txBody>
      </p:sp>
      <p:sp>
        <p:nvSpPr>
          <p:cNvPr id="21" name="Google Shape;2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b="0" i="0" lang="en-US" sz="1100">
                <a:solidFill>
                  <a:schemeClr val="dk1"/>
                </a:solidFill>
                <a:latin typeface="Arial"/>
                <a:ea typeface="Arial"/>
                <a:cs typeface="Arial"/>
                <a:sym typeface="Arial"/>
              </a:rPr>
              <a:t>A  string in Python is a sequence of characters. Python uses either single or double quotes to hold string literals. For example, str1 = “Hello” and  str2 = ‘there’ both assign string values to variables str1 and str2. You can use ( + ) operator on strings to </a:t>
            </a:r>
            <a:r>
              <a:rPr lang="en-US" sz="1100" u="none" cap="none" strike="noStrike">
                <a:solidFill>
                  <a:srgbClr val="00FF00"/>
                </a:solidFill>
                <a:latin typeface="Arial"/>
                <a:ea typeface="Arial"/>
                <a:cs typeface="Arial"/>
                <a:sym typeface="Arial"/>
              </a:rPr>
              <a:t>concatenate (merge) two string objects. For example, bob = str1 + str2 creates a new string with a string value of ‘Hellothere’. However, you cannot concatenate a string with an integer. For example, </a:t>
            </a:r>
            <a:endParaRPr/>
          </a:p>
          <a:p>
            <a:pPr indent="0" lvl="0" marL="0" rtl="0" algn="l">
              <a:lnSpc>
                <a:spcPct val="100000"/>
              </a:lnSpc>
              <a:spcBef>
                <a:spcPts val="0"/>
              </a:spcBef>
              <a:spcAft>
                <a:spcPts val="0"/>
              </a:spcAft>
              <a:buSzPts val="1400"/>
              <a:buNone/>
            </a:pPr>
            <a:r>
              <a:rPr lang="en-US" sz="1100" u="none" cap="none" strike="noStrike">
                <a:solidFill>
                  <a:srgbClr val="00FF00"/>
                </a:solidFill>
                <a:latin typeface="Arial"/>
                <a:ea typeface="Arial"/>
                <a:cs typeface="Arial"/>
                <a:sym typeface="Arial"/>
              </a:rPr>
              <a:t>str3 = ‘123’ </a:t>
            </a:r>
            <a:endParaRPr/>
          </a:p>
          <a:p>
            <a:pPr indent="0" lvl="0" marL="0" rtl="0" algn="l">
              <a:lnSpc>
                <a:spcPct val="100000"/>
              </a:lnSpc>
              <a:spcBef>
                <a:spcPts val="0"/>
              </a:spcBef>
              <a:spcAft>
                <a:spcPts val="0"/>
              </a:spcAft>
              <a:buSzPts val="1400"/>
              <a:buNone/>
            </a:pPr>
            <a:r>
              <a:rPr lang="en-US" sz="1100" u="none" cap="none" strike="noStrike">
                <a:solidFill>
                  <a:srgbClr val="00FF00"/>
                </a:solidFill>
                <a:latin typeface="Arial"/>
                <a:ea typeface="Arial"/>
                <a:cs typeface="Arial"/>
                <a:sym typeface="Arial"/>
              </a:rPr>
              <a:t>str3 = str3 + 1 </a:t>
            </a:r>
            <a:endParaRPr/>
          </a:p>
          <a:p>
            <a:pPr indent="0" lvl="0" marL="0" rtl="0" algn="l">
              <a:lnSpc>
                <a:spcPct val="100000"/>
              </a:lnSpc>
              <a:spcBef>
                <a:spcPts val="0"/>
              </a:spcBef>
              <a:spcAft>
                <a:spcPts val="0"/>
              </a:spcAft>
              <a:buSzPts val="1400"/>
              <a:buNone/>
            </a:pPr>
            <a:r>
              <a:rPr lang="en-US" sz="1100" u="none" cap="none" strike="noStrike">
                <a:solidFill>
                  <a:srgbClr val="00FF00"/>
                </a:solidFill>
                <a:latin typeface="Arial"/>
                <a:ea typeface="Arial"/>
                <a:cs typeface="Arial"/>
                <a:sym typeface="Arial"/>
              </a:rPr>
              <a:t>print(str3) 🡪 yields a TypeError</a:t>
            </a:r>
            <a:endParaRPr sz="1100" u="none" cap="none" strike="noStrike">
              <a:solidFill>
                <a:srgbClr val="00FF00"/>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100" u="none" cap="none" strike="noStrike">
              <a:solidFill>
                <a:srgbClr val="00FF00"/>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u="none" cap="none" strike="noStrike">
                <a:solidFill>
                  <a:srgbClr val="00FF00"/>
                </a:solidFill>
                <a:latin typeface="Arial"/>
                <a:ea typeface="Arial"/>
                <a:cs typeface="Arial"/>
                <a:sym typeface="Arial"/>
              </a:rPr>
              <a:t>We have to convert all objects to string type using str() function before using ( + ) operator to concatenate them. For example,</a:t>
            </a:r>
            <a:endParaRPr/>
          </a:p>
          <a:p>
            <a:pPr indent="0" lvl="0" marL="0" rtl="0" algn="l">
              <a:lnSpc>
                <a:spcPct val="100000"/>
              </a:lnSpc>
              <a:spcBef>
                <a:spcPts val="0"/>
              </a:spcBef>
              <a:spcAft>
                <a:spcPts val="0"/>
              </a:spcAft>
              <a:buSzPts val="1400"/>
              <a:buNone/>
            </a:pPr>
            <a:r>
              <a:rPr lang="en-US" sz="1100" u="none" cap="none" strike="noStrike">
                <a:solidFill>
                  <a:srgbClr val="00FF00"/>
                </a:solidFill>
                <a:latin typeface="Arial"/>
                <a:ea typeface="Arial"/>
                <a:cs typeface="Arial"/>
                <a:sym typeface="Arial"/>
              </a:rPr>
              <a:t>str3 = ‘123’ </a:t>
            </a:r>
            <a:endParaRPr/>
          </a:p>
          <a:p>
            <a:pPr indent="0" lvl="0" marL="0" rtl="0" algn="l">
              <a:lnSpc>
                <a:spcPct val="100000"/>
              </a:lnSpc>
              <a:spcBef>
                <a:spcPts val="0"/>
              </a:spcBef>
              <a:spcAft>
                <a:spcPts val="0"/>
              </a:spcAft>
              <a:buSzPts val="1400"/>
              <a:buNone/>
            </a:pPr>
            <a:r>
              <a:rPr lang="en-US" sz="1100" u="none" cap="none" strike="noStrike">
                <a:solidFill>
                  <a:srgbClr val="00FF00"/>
                </a:solidFill>
                <a:latin typeface="Arial"/>
                <a:ea typeface="Arial"/>
                <a:cs typeface="Arial"/>
                <a:sym typeface="Arial"/>
              </a:rPr>
              <a:t>str3 = str3 + str(1) </a:t>
            </a:r>
            <a:endParaRPr/>
          </a:p>
          <a:p>
            <a:pPr indent="0" lvl="0" marL="0" rtl="0" algn="l">
              <a:lnSpc>
                <a:spcPct val="100000"/>
              </a:lnSpc>
              <a:spcBef>
                <a:spcPts val="0"/>
              </a:spcBef>
              <a:spcAft>
                <a:spcPts val="0"/>
              </a:spcAft>
              <a:buSzPts val="1400"/>
              <a:buNone/>
            </a:pPr>
            <a:r>
              <a:rPr lang="en-US" sz="1100" u="none" cap="none" strike="noStrike">
                <a:solidFill>
                  <a:srgbClr val="00FF00"/>
                </a:solidFill>
                <a:latin typeface="Arial"/>
                <a:ea typeface="Arial"/>
                <a:cs typeface="Arial"/>
                <a:sym typeface="Arial"/>
              </a:rPr>
              <a:t>print(str3)</a:t>
            </a:r>
            <a:endParaRPr/>
          </a:p>
          <a:p>
            <a:pPr indent="0" lvl="0" marL="0" rtl="0" algn="l">
              <a:lnSpc>
                <a:spcPct val="100000"/>
              </a:lnSpc>
              <a:spcBef>
                <a:spcPts val="0"/>
              </a:spcBef>
              <a:spcAft>
                <a:spcPts val="0"/>
              </a:spcAft>
              <a:buSzPts val="1400"/>
              <a:buNone/>
            </a:pPr>
            <a:r>
              <a:rPr lang="en-US" sz="1100" u="none" cap="none" strike="noStrike">
                <a:solidFill>
                  <a:srgbClr val="00FF00"/>
                </a:solidFill>
                <a:latin typeface="Arial"/>
                <a:ea typeface="Arial"/>
                <a:cs typeface="Arial"/>
                <a:sym typeface="Arial"/>
              </a:rPr>
              <a:t>’1231’</a:t>
            </a:r>
            <a:endParaRPr/>
          </a:p>
          <a:p>
            <a:pPr indent="0" lvl="0" marL="0" rtl="0" algn="l">
              <a:lnSpc>
                <a:spcPct val="100000"/>
              </a:lnSpc>
              <a:spcBef>
                <a:spcPts val="0"/>
              </a:spcBef>
              <a:spcAft>
                <a:spcPts val="0"/>
              </a:spcAft>
              <a:buSzPts val="1400"/>
              <a:buNone/>
            </a:pPr>
            <a:r>
              <a:t/>
            </a:r>
            <a:endParaRPr sz="1100" u="none" cap="none" strike="noStrike">
              <a:solidFill>
                <a:srgbClr val="00FF00"/>
              </a:solidFill>
              <a:latin typeface="Arial"/>
              <a:ea typeface="Arial"/>
              <a:cs typeface="Arial"/>
              <a:sym typeface="Arial"/>
            </a:endParaRPr>
          </a:p>
          <a:p>
            <a:pPr indent="0" lvl="0" marL="0" rtl="0" algn="l">
              <a:lnSpc>
                <a:spcPct val="100000"/>
              </a:lnSpc>
              <a:spcBef>
                <a:spcPts val="0"/>
              </a:spcBef>
              <a:spcAft>
                <a:spcPts val="0"/>
              </a:spcAft>
              <a:buSzPts val="1400"/>
              <a:buNone/>
            </a:pPr>
            <a:r>
              <a:rPr lang="en-US" sz="1100" u="none" cap="none" strike="noStrike">
                <a:solidFill>
                  <a:srgbClr val="00FF00"/>
                </a:solidFill>
                <a:latin typeface="Arial"/>
                <a:ea typeface="Arial"/>
                <a:cs typeface="Arial"/>
                <a:sym typeface="Arial"/>
              </a:rPr>
              <a:t>Similarly, if a string contains only numbers, it is still a string type. We can use int() function to convert such a string into a corresponding integer type. For example,</a:t>
            </a:r>
            <a:endParaRPr/>
          </a:p>
          <a:p>
            <a:pPr indent="0" lvl="0" marL="0" rtl="0" algn="l">
              <a:lnSpc>
                <a:spcPct val="100000"/>
              </a:lnSpc>
              <a:spcBef>
                <a:spcPts val="0"/>
              </a:spcBef>
              <a:spcAft>
                <a:spcPts val="0"/>
              </a:spcAft>
              <a:buSzPts val="1400"/>
              <a:buNone/>
            </a:pPr>
            <a:r>
              <a:rPr lang="en-US" sz="1100" u="none" cap="none" strike="noStrike">
                <a:solidFill>
                  <a:srgbClr val="00FF00"/>
                </a:solidFill>
                <a:latin typeface="Arial"/>
                <a:ea typeface="Arial"/>
                <a:cs typeface="Arial"/>
                <a:sym typeface="Arial"/>
              </a:rPr>
              <a:t>str3 = ‘123’ </a:t>
            </a:r>
            <a:endParaRPr/>
          </a:p>
          <a:p>
            <a:pPr indent="0" lvl="0" marL="0" rtl="0" algn="l">
              <a:lnSpc>
                <a:spcPct val="100000"/>
              </a:lnSpc>
              <a:spcBef>
                <a:spcPts val="0"/>
              </a:spcBef>
              <a:spcAft>
                <a:spcPts val="0"/>
              </a:spcAft>
              <a:buSzPts val="1400"/>
              <a:buNone/>
            </a:pPr>
            <a:r>
              <a:rPr lang="en-US" sz="1100" u="none" cap="none" strike="noStrike">
                <a:solidFill>
                  <a:srgbClr val="00FF00"/>
                </a:solidFill>
                <a:latin typeface="Arial"/>
                <a:ea typeface="Arial"/>
                <a:cs typeface="Arial"/>
                <a:sym typeface="Arial"/>
              </a:rPr>
              <a:t>str3 = int(str3) + 1 </a:t>
            </a:r>
            <a:endParaRPr/>
          </a:p>
          <a:p>
            <a:pPr indent="0" lvl="0" marL="0" rtl="0" algn="l">
              <a:lnSpc>
                <a:spcPct val="100000"/>
              </a:lnSpc>
              <a:spcBef>
                <a:spcPts val="0"/>
              </a:spcBef>
              <a:spcAft>
                <a:spcPts val="0"/>
              </a:spcAft>
              <a:buSzPts val="1400"/>
              <a:buNone/>
            </a:pPr>
            <a:r>
              <a:rPr lang="en-US" sz="1100" u="none" cap="none" strike="noStrike">
                <a:solidFill>
                  <a:srgbClr val="00FF00"/>
                </a:solidFill>
                <a:latin typeface="Arial"/>
                <a:ea typeface="Arial"/>
                <a:cs typeface="Arial"/>
                <a:sym typeface="Arial"/>
              </a:rPr>
              <a:t>print(str3)</a:t>
            </a:r>
            <a:endParaRPr/>
          </a:p>
          <a:p>
            <a:pPr indent="0" lvl="0" marL="0" rtl="0" algn="l">
              <a:lnSpc>
                <a:spcPct val="100000"/>
              </a:lnSpc>
              <a:spcBef>
                <a:spcPts val="0"/>
              </a:spcBef>
              <a:spcAft>
                <a:spcPts val="0"/>
              </a:spcAft>
              <a:buSzPts val="1400"/>
              <a:buNone/>
            </a:pPr>
            <a:r>
              <a:rPr lang="en-US" sz="1100" u="none" cap="none" strike="noStrike">
                <a:solidFill>
                  <a:srgbClr val="00FF00"/>
                </a:solidFill>
                <a:latin typeface="Arial"/>
                <a:ea typeface="Arial"/>
                <a:cs typeface="Arial"/>
                <a:sym typeface="Arial"/>
              </a:rPr>
              <a:t>124</a:t>
            </a:r>
            <a:endParaRPr/>
          </a:p>
          <a:p>
            <a:pPr indent="0" lvl="0" marL="0" rtl="0" algn="l">
              <a:lnSpc>
                <a:spcPct val="100000"/>
              </a:lnSpc>
              <a:spcBef>
                <a:spcPts val="0"/>
              </a:spcBef>
              <a:spcAft>
                <a:spcPts val="0"/>
              </a:spcAft>
              <a:buSzPts val="1400"/>
              <a:buNone/>
            </a:pPr>
            <a:r>
              <a:t/>
            </a:r>
            <a:endParaRPr sz="1100" u="none" cap="none" strike="noStrike">
              <a:solidFill>
                <a:srgbClr val="00FF00"/>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100" u="none" cap="none" strike="noStrike">
              <a:solidFill>
                <a:srgbClr val="00FF00"/>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100" u="none" cap="none" strike="noStrike">
              <a:solidFill>
                <a:srgbClr val="00FF00"/>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100" u="none" cap="none" strike="noStrike">
              <a:solidFill>
                <a:srgbClr val="00FF00"/>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sz="1100" u="none" cap="none" strike="noStrike">
              <a:solidFill>
                <a:srgbClr val="00FF00"/>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b="0" i="0" sz="1100" u="none" cap="none" strike="noStrike">
              <a:solidFill>
                <a:srgbClr val="00FF00"/>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b="0" i="0" sz="1100" u="none" cap="none" strike="noStrike">
              <a:solidFill>
                <a:srgbClr val="00FF00"/>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b="0" i="0"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b="0" i="0"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r>
              <a:rPr b="0" i="0" lang="en-US" sz="1100">
                <a:solidFill>
                  <a:schemeClr val="dk1"/>
                </a:solidFill>
                <a:latin typeface="Arial"/>
                <a:ea typeface="Arial"/>
                <a:cs typeface="Arial"/>
                <a:sym typeface="Arial"/>
              </a:rPr>
              <a:t>String objects in Pyhon are immutable: once you create one, you can not change it. The best you can do is to create a new string that is a variation of the original one. Fo</a:t>
            </a:r>
            <a:endParaRPr b="0" i="0" sz="1100">
              <a:solidFill>
                <a:schemeClr val="dk1"/>
              </a:solidFill>
              <a:latin typeface="Arial"/>
              <a:ea typeface="Arial"/>
              <a:cs typeface="Arial"/>
              <a:sym typeface="Arial"/>
            </a:endParaRPr>
          </a:p>
          <a:p>
            <a:pPr indent="0" lvl="0" marL="0" rtl="0" algn="l">
              <a:lnSpc>
                <a:spcPct val="100000"/>
              </a:lnSpc>
              <a:spcBef>
                <a:spcPts val="0"/>
              </a:spcBef>
              <a:spcAft>
                <a:spcPts val="0"/>
              </a:spcAft>
              <a:buSzPts val="1400"/>
              <a:buNone/>
            </a:pPr>
            <a:br>
              <a:rPr lang="en-US"/>
            </a:br>
            <a:endParaRPr/>
          </a:p>
        </p:txBody>
      </p:sp>
      <p:sp>
        <p:nvSpPr>
          <p:cNvPr id="29" name="Google Shape;2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1100"/>
              <a:buFont typeface="Arial"/>
              <a:buNone/>
            </a:pPr>
            <a:r>
              <a:rPr lang="en-US" sz="1100" u="none" cap="none" strike="noStrike">
                <a:solidFill>
                  <a:schemeClr val="lt1"/>
                </a:solidFill>
                <a:latin typeface="Arial"/>
                <a:ea typeface="Arial"/>
                <a:cs typeface="Arial"/>
                <a:sym typeface="Arial"/>
              </a:rPr>
              <a:t>In your Python programs, it is a good practice to read data in using </a:t>
            </a:r>
            <a:r>
              <a:rPr lang="en-US" sz="1100" u="none" cap="none" strike="noStrike">
                <a:solidFill>
                  <a:srgbClr val="FF7F00"/>
                </a:solidFill>
                <a:latin typeface="Arial"/>
                <a:ea typeface="Arial"/>
                <a:cs typeface="Arial"/>
                <a:sym typeface="Arial"/>
              </a:rPr>
              <a:t>strings</a:t>
            </a:r>
            <a:r>
              <a:rPr lang="en-US" sz="1100" u="none" cap="none" strike="noStrike">
                <a:solidFill>
                  <a:schemeClr val="lt1"/>
                </a:solidFill>
                <a:latin typeface="Arial"/>
                <a:ea typeface="Arial"/>
                <a:cs typeface="Arial"/>
                <a:sym typeface="Arial"/>
              </a:rPr>
              <a:t> and then parse and convert the data as you need. This gives you more control over error situations and handle any bad user input. </a:t>
            </a:r>
            <a:r>
              <a:rPr lang="en-US"/>
              <a:t>In our earlier lectures, we have seen that we can use built-in function input() to read user input into our program. The input() function collects the user input as a string object. We can use other built-in functions such as float() and int() to convert any user input in numbers from strings to floating and integer numbers. For example, in the following code, the user input is stored in a variable called apple in string format. Another variable x is assigned a value of int(apple) – 10, where the value hold by the variable apple is first converted to an integer form. </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00FF00"/>
              </a:buClr>
              <a:buSzPts val="1100"/>
              <a:buFont typeface="Courier"/>
              <a:buNone/>
            </a:pPr>
            <a:r>
              <a:rPr i="0" lang="en-US" sz="1100" u="none" cap="none" strike="noStrike">
                <a:solidFill>
                  <a:srgbClr val="00FF00"/>
                </a:solidFill>
                <a:latin typeface="Courier"/>
                <a:ea typeface="Courier"/>
                <a:cs typeface="Courier"/>
                <a:sym typeface="Courier"/>
              </a:rPr>
              <a:t>apple</a:t>
            </a:r>
            <a:r>
              <a:rPr i="0" lang="en-US" sz="1100" u="none" cap="none" strike="noStrike">
                <a:solidFill>
                  <a:srgbClr val="FF7F00"/>
                </a:solidFill>
                <a:latin typeface="Courier"/>
                <a:ea typeface="Courier"/>
                <a:cs typeface="Courier"/>
                <a:sym typeface="Courier"/>
              </a:rPr>
              <a:t> </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 </a:t>
            </a:r>
            <a:r>
              <a:rPr i="0" lang="en-US" sz="1100" u="none" cap="none" strike="noStrike">
                <a:solidFill>
                  <a:srgbClr val="FF00FF"/>
                </a:solidFill>
                <a:latin typeface="Courier"/>
                <a:ea typeface="Courier"/>
                <a:cs typeface="Courier"/>
                <a:sym typeface="Courier"/>
              </a:rPr>
              <a:t>input</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'Enter:'</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x</a:t>
            </a:r>
            <a:r>
              <a:rPr i="0" lang="en-US" sz="1100" u="none" cap="none" strike="noStrike">
                <a:solidFill>
                  <a:srgbClr val="FF7F00"/>
                </a:solidFill>
                <a:latin typeface="Courier"/>
                <a:ea typeface="Courier"/>
                <a:cs typeface="Courier"/>
                <a:sym typeface="Courier"/>
              </a:rPr>
              <a:t> </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 </a:t>
            </a:r>
            <a:r>
              <a:rPr i="0" lang="en-US" sz="1100" u="none" cap="none" strike="noStrike">
                <a:solidFill>
                  <a:srgbClr val="FF00FF"/>
                </a:solidFill>
                <a:latin typeface="Courier"/>
                <a:ea typeface="Courier"/>
                <a:cs typeface="Courier"/>
                <a:sym typeface="Courier"/>
              </a:rPr>
              <a:t>int</a:t>
            </a:r>
            <a:r>
              <a:rPr i="0" lang="en-US" sz="1100" u="none" cap="none" strike="noStrike">
                <a:solidFill>
                  <a:srgbClr val="FF7F00"/>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apple</a:t>
            </a:r>
            <a:r>
              <a:rPr i="0" lang="en-US" sz="1100" u="none" cap="none" strike="noStrike">
                <a:solidFill>
                  <a:srgbClr val="FF7F00"/>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10</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x</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rPr lang="en-US"/>
              <a:t>If the user enters a value of 100 on keyboard, the value of 100 will be printed by the print() function. If we proceed the subtraction operation before converting the value hold by the variable apple into integer form, we are going to get a TypeError.</a:t>
            </a:r>
            <a:endParaRPr/>
          </a:p>
        </p:txBody>
      </p:sp>
      <p:sp>
        <p:nvSpPr>
          <p:cNvPr id="36" name="Google Shape;3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US" sz="1100">
                <a:solidFill>
                  <a:schemeClr val="dk1"/>
                </a:solidFill>
                <a:latin typeface="Arial"/>
                <a:ea typeface="Arial"/>
                <a:cs typeface="Arial"/>
                <a:sym typeface="Arial"/>
              </a:rPr>
              <a:t>For most people, the first letter of “banana” is “b”, not “a”. But in Python, the index is an offset from the beginning of the string, and the offset of the first letter is zero. You can access characters in a string one at a time by specifying an index value within a bracket ( [  ] ) operator. The index values are integers and start from zero. For example,</a:t>
            </a:r>
            <a:endParaRPr/>
          </a:p>
          <a:p>
            <a:pPr indent="0" lvl="0" marL="0" marR="0" rtl="0" algn="l">
              <a:lnSpc>
                <a:spcPct val="100000"/>
              </a:lnSpc>
              <a:spcBef>
                <a:spcPts val="0"/>
              </a:spcBef>
              <a:spcAft>
                <a:spcPts val="0"/>
              </a:spcAft>
              <a:buClr>
                <a:schemeClr val="dk1"/>
              </a:buClr>
              <a:buSzPts val="1100"/>
              <a:buFont typeface="Arial"/>
              <a:buNone/>
            </a:pPr>
            <a:r>
              <a:rPr b="0" i="0" lang="en-US" sz="1100">
                <a:solidFill>
                  <a:schemeClr val="dk1"/>
                </a:solidFill>
                <a:latin typeface="Arial"/>
                <a:ea typeface="Arial"/>
                <a:cs typeface="Arial"/>
                <a:sym typeface="Arial"/>
              </a:rPr>
              <a:t>“banana” has 6 characters. These characters are represented by the corresponding index values from zero to 5. </a:t>
            </a:r>
            <a:endParaRPr/>
          </a:p>
          <a:p>
            <a:pPr indent="0" lvl="0" marL="0" marR="0" rtl="0" algn="l">
              <a:lnSpc>
                <a:spcPct val="100000"/>
              </a:lnSpc>
              <a:spcBef>
                <a:spcPts val="0"/>
              </a:spcBef>
              <a:spcAft>
                <a:spcPts val="0"/>
              </a:spcAft>
              <a:buClr>
                <a:schemeClr val="dk1"/>
              </a:buClr>
              <a:buSzPts val="1100"/>
              <a:buFont typeface="Arial"/>
              <a:buNone/>
            </a:pPr>
            <a:r>
              <a:t/>
            </a:r>
            <a:endParaRPr b="0" i="0" sz="11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100">
                <a:solidFill>
                  <a:schemeClr val="dk1"/>
                </a:solidFill>
                <a:latin typeface="Arial"/>
                <a:ea typeface="Arial"/>
                <a:cs typeface="Arial"/>
                <a:sym typeface="Arial"/>
              </a:rPr>
              <a:t>fruit = ‘banana’</a:t>
            </a:r>
            <a:endParaRPr/>
          </a:p>
          <a:p>
            <a:pPr indent="0" lvl="0" marL="0" marR="0" rtl="0" algn="l">
              <a:lnSpc>
                <a:spcPct val="100000"/>
              </a:lnSpc>
              <a:spcBef>
                <a:spcPts val="0"/>
              </a:spcBef>
              <a:spcAft>
                <a:spcPts val="0"/>
              </a:spcAft>
              <a:buClr>
                <a:schemeClr val="dk1"/>
              </a:buClr>
              <a:buSzPts val="1100"/>
              <a:buFont typeface="Arial"/>
              <a:buNone/>
            </a:pPr>
            <a:r>
              <a:rPr b="0" i="0" lang="en-US" sz="1100">
                <a:solidFill>
                  <a:schemeClr val="dk1"/>
                </a:solidFill>
                <a:latin typeface="Arial"/>
                <a:ea typeface="Arial"/>
                <a:cs typeface="Arial"/>
                <a:sym typeface="Arial"/>
              </a:rPr>
              <a:t>letter = fruit[1]</a:t>
            </a:r>
            <a:endParaRPr/>
          </a:p>
          <a:p>
            <a:pPr indent="0" lvl="0" marL="0" marR="0" rtl="0" algn="l">
              <a:lnSpc>
                <a:spcPct val="100000"/>
              </a:lnSpc>
              <a:spcBef>
                <a:spcPts val="0"/>
              </a:spcBef>
              <a:spcAft>
                <a:spcPts val="0"/>
              </a:spcAft>
              <a:buClr>
                <a:schemeClr val="dk1"/>
              </a:buClr>
              <a:buSzPts val="1100"/>
              <a:buFont typeface="Arial"/>
              <a:buNone/>
            </a:pPr>
            <a:r>
              <a:rPr b="0" i="0" lang="en-US" sz="1100">
                <a:solidFill>
                  <a:schemeClr val="dk1"/>
                </a:solidFill>
                <a:latin typeface="Arial"/>
                <a:ea typeface="Arial"/>
                <a:cs typeface="Arial"/>
                <a:sym typeface="Arial"/>
              </a:rPr>
              <a:t>print(letter)</a:t>
            </a:r>
            <a:endParaRPr/>
          </a:p>
          <a:p>
            <a:pPr indent="0" lvl="0" marL="0" marR="0" rtl="0" algn="l">
              <a:lnSpc>
                <a:spcPct val="100000"/>
              </a:lnSpc>
              <a:spcBef>
                <a:spcPts val="0"/>
              </a:spcBef>
              <a:spcAft>
                <a:spcPts val="0"/>
              </a:spcAft>
              <a:buClr>
                <a:schemeClr val="dk1"/>
              </a:buClr>
              <a:buSzPts val="1100"/>
              <a:buFont typeface="Arial"/>
              <a:buNone/>
            </a:pPr>
            <a:r>
              <a:rPr b="0" i="0" lang="en-US" sz="1100">
                <a:solidFill>
                  <a:schemeClr val="dk1"/>
                </a:solidFill>
                <a:latin typeface="Arial"/>
                <a:ea typeface="Arial"/>
                <a:cs typeface="Arial"/>
                <a:sym typeface="Arial"/>
              </a:rPr>
              <a:t>a</a:t>
            </a:r>
            <a:endParaRPr/>
          </a:p>
          <a:p>
            <a:pPr indent="0" lvl="0" marL="0" marR="0" rtl="0" algn="l">
              <a:lnSpc>
                <a:spcPct val="100000"/>
              </a:lnSpc>
              <a:spcBef>
                <a:spcPts val="0"/>
              </a:spcBef>
              <a:spcAft>
                <a:spcPts val="0"/>
              </a:spcAft>
              <a:buClr>
                <a:schemeClr val="dk1"/>
              </a:buClr>
              <a:buSzPts val="1100"/>
              <a:buFont typeface="Arial"/>
              <a:buNone/>
            </a:pPr>
            <a:r>
              <a:t/>
            </a:r>
            <a:endParaRPr b="0" i="0" sz="11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100">
                <a:solidFill>
                  <a:schemeClr val="dk1"/>
                </a:solidFill>
                <a:latin typeface="Arial"/>
                <a:ea typeface="Arial"/>
                <a:cs typeface="Arial"/>
                <a:sym typeface="Arial"/>
              </a:rPr>
              <a:t>In the above code, we create a variable named fruit and assign a string value of  ‘banana’ to it. We then access to its character located at index 1 using the bracket operator and assign the accessed character to a variable called letter. The variable letter holds the character ‘a’. The index values can also be in the form of expressions to be evaluated. For example, the following code will access the character located at index 2 and will print n.</a:t>
            </a:r>
            <a:endParaRPr/>
          </a:p>
          <a:p>
            <a:pPr indent="0" lvl="0" marL="0" marR="0" rtl="0" algn="l">
              <a:lnSpc>
                <a:spcPct val="100000"/>
              </a:lnSpc>
              <a:spcBef>
                <a:spcPts val="0"/>
              </a:spcBef>
              <a:spcAft>
                <a:spcPts val="0"/>
              </a:spcAft>
              <a:buClr>
                <a:schemeClr val="dk1"/>
              </a:buClr>
              <a:buSzPts val="1100"/>
              <a:buFont typeface="Arial"/>
              <a:buNone/>
            </a:pPr>
            <a:r>
              <a:t/>
            </a:r>
            <a:endParaRPr b="0" i="0" sz="11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75"/>
              <a:buFont typeface="Cabin"/>
              <a:buNone/>
            </a:pPr>
            <a:r>
              <a:rPr lang="en-US" sz="1100">
                <a:solidFill>
                  <a:srgbClr val="00FF00"/>
                </a:solidFill>
                <a:latin typeface="Courier"/>
                <a:ea typeface="Courier"/>
                <a:cs typeface="Courier"/>
                <a:sym typeface="Courier"/>
              </a:rPr>
              <a:t>x</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3</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w</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fruit</a:t>
            </a:r>
            <a:r>
              <a:rPr i="0" lang="en-US" sz="1100" u="none" cap="none" strike="noStrike">
                <a:solidFill>
                  <a:srgbClr val="00FFFF"/>
                </a:solidFill>
                <a:latin typeface="Courier"/>
                <a:ea typeface="Courier"/>
                <a:cs typeface="Courier"/>
                <a:sym typeface="Courier"/>
              </a:rPr>
              <a:t>[</a:t>
            </a:r>
            <a:r>
              <a:rPr lang="en-US" sz="1100">
                <a:solidFill>
                  <a:srgbClr val="00FF00"/>
                </a:solidFill>
                <a:latin typeface="Courier"/>
                <a:ea typeface="Courier"/>
                <a:cs typeface="Courier"/>
                <a:sym typeface="Courier"/>
              </a:rPr>
              <a:t>x</a:t>
            </a:r>
            <a:r>
              <a:rPr i="0" lang="en-US" sz="1100" u="none" cap="none" strike="noStrike">
                <a:solidFill>
                  <a:srgbClr val="00FFFF"/>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1</a:t>
            </a:r>
            <a:r>
              <a:rPr i="0" lang="en-US" sz="1100" u="none" cap="none" strike="noStrike">
                <a:solidFill>
                  <a:srgbClr val="00FFFF"/>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w</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n</a:t>
            </a:r>
            <a:endParaRPr/>
          </a:p>
          <a:p>
            <a:pPr indent="0" lvl="0" marL="0" marR="0" rtl="0" algn="l">
              <a:lnSpc>
                <a:spcPct val="100000"/>
              </a:lnSpc>
              <a:spcBef>
                <a:spcPts val="0"/>
              </a:spcBef>
              <a:spcAft>
                <a:spcPts val="0"/>
              </a:spcAft>
              <a:buClr>
                <a:schemeClr val="dk1"/>
              </a:buClr>
              <a:buSzPts val="1100"/>
              <a:buFont typeface="Arial"/>
              <a:buNone/>
            </a:pPr>
            <a:r>
              <a:t/>
            </a:r>
            <a:endParaRPr b="0" i="0" sz="11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1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43" name="Google Shape;4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a:t>It is important to note that </a:t>
            </a:r>
            <a:r>
              <a:rPr lang="en-US" sz="1100" u="none" cap="none" strike="noStrike">
                <a:solidFill>
                  <a:schemeClr val="lt1"/>
                </a:solidFill>
                <a:latin typeface="Arial"/>
                <a:ea typeface="Arial"/>
                <a:cs typeface="Arial"/>
                <a:sym typeface="Arial"/>
              </a:rPr>
              <a:t>you will get a </a:t>
            </a:r>
            <a:r>
              <a:rPr lang="en-US" sz="1100" u="none" cap="none" strike="noStrike">
                <a:solidFill>
                  <a:srgbClr val="E06666"/>
                </a:solidFill>
                <a:latin typeface="Arial"/>
                <a:ea typeface="Arial"/>
                <a:cs typeface="Arial"/>
                <a:sym typeface="Arial"/>
              </a:rPr>
              <a:t>python IndexError</a:t>
            </a:r>
            <a:r>
              <a:rPr lang="en-US" sz="1100" u="none" cap="none" strike="noStrike">
                <a:solidFill>
                  <a:schemeClr val="lt1"/>
                </a:solidFill>
                <a:latin typeface="Arial"/>
                <a:ea typeface="Arial"/>
                <a:cs typeface="Arial"/>
                <a:sym typeface="Arial"/>
              </a:rPr>
              <a:t> if you attempt to access an index that is beyond the end of a string. Thus, you should be careful when constructing index values.</a:t>
            </a:r>
            <a:endParaRPr sz="1100" u="none" cap="none" strike="noStrike">
              <a:solidFill>
                <a:schemeClr val="lt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63" name="Google Shape;6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len is a very useful built-in function that returns the number of characters in a string. For example, the string ‘banana’ consists of 6 characters as indicated by the following code: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fruit = 'banana' </a:t>
            </a:r>
            <a:endParaRPr/>
          </a:p>
          <a:p>
            <a:pPr indent="0" lvl="0" marL="0" rtl="0" algn="l">
              <a:lnSpc>
                <a:spcPct val="100000"/>
              </a:lnSpc>
              <a:spcBef>
                <a:spcPts val="0"/>
              </a:spcBef>
              <a:spcAft>
                <a:spcPts val="0"/>
              </a:spcAft>
              <a:buClr>
                <a:schemeClr val="dk1"/>
              </a:buClr>
              <a:buSzPts val="1100"/>
              <a:buFont typeface="Arial"/>
              <a:buNone/>
            </a:pPr>
            <a:r>
              <a:rPr lang="en-US"/>
              <a:t>print(len(fruit)) </a:t>
            </a:r>
            <a:endParaRPr/>
          </a:p>
          <a:p>
            <a:pPr indent="0" lvl="0" marL="0" rtl="0" algn="l">
              <a:lnSpc>
                <a:spcPct val="100000"/>
              </a:lnSpc>
              <a:spcBef>
                <a:spcPts val="0"/>
              </a:spcBef>
              <a:spcAft>
                <a:spcPts val="0"/>
              </a:spcAft>
              <a:buClr>
                <a:schemeClr val="dk1"/>
              </a:buClr>
              <a:buSzPts val="1100"/>
              <a:buFont typeface="Arial"/>
              <a:buNone/>
            </a:pPr>
            <a:r>
              <a:rPr lang="en-US"/>
              <a:t>6</a:t>
            </a:r>
            <a:endParaRPr/>
          </a:p>
        </p:txBody>
      </p:sp>
      <p:sp>
        <p:nvSpPr>
          <p:cNvPr id="70" name="Google Shape;7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A lot of computations in Python involve processing a string one character at a time. We often start at the beginning, select each character in turn, do something to it, and continue until the end. This pattern of processing is called a traversal. We can use a while loop to write a traversal as follows: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fruit = 'banana'</a:t>
            </a: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index</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0</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while</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index</a:t>
            </a:r>
            <a:r>
              <a:rPr i="0" lang="en-US" sz="1100" u="none" cap="none" strike="noStrike">
                <a:solidFill>
                  <a:schemeClr val="lt1"/>
                </a:solidFill>
                <a:latin typeface="Courier"/>
                <a:ea typeface="Courier"/>
                <a:cs typeface="Courier"/>
                <a:sym typeface="Courier"/>
              </a:rPr>
              <a:t> &lt; </a:t>
            </a:r>
            <a:r>
              <a:rPr i="0" lang="en-US" sz="1100" u="none" cap="none" strike="noStrike">
                <a:solidFill>
                  <a:srgbClr val="FF00FF"/>
                </a:solidFill>
                <a:latin typeface="Courier"/>
                <a:ea typeface="Courier"/>
                <a:cs typeface="Courier"/>
                <a:sym typeface="Courier"/>
              </a:rPr>
              <a:t>len</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fruit</a:t>
            </a:r>
            <a:r>
              <a:rPr i="0" lang="en-US" sz="11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letter</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fruit</a:t>
            </a:r>
            <a:r>
              <a:rPr i="0" lang="en-US" sz="1100" u="none" cap="none" strike="noStrike">
                <a:solidFill>
                  <a:srgbClr val="00FFFF"/>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index</a:t>
            </a:r>
            <a:r>
              <a:rPr i="0" lang="en-US" sz="1100" u="none" cap="none" strike="noStrike">
                <a:solidFill>
                  <a:srgbClr val="00FFFF"/>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index, </a:t>
            </a:r>
            <a:r>
              <a:rPr i="0" lang="en-US" sz="1100" u="none" cap="none" strike="noStrike">
                <a:solidFill>
                  <a:srgbClr val="00FF00"/>
                </a:solidFill>
                <a:latin typeface="Courier"/>
                <a:ea typeface="Courier"/>
                <a:cs typeface="Courier"/>
                <a:sym typeface="Courier"/>
              </a:rPr>
              <a:t>letter</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index</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index</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1</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This loop traverses the string and displays each letter on a line by itself. The loop boolean condition is index &lt; len(fruit), so when index is equal to the length of the string, the condition yields false, and thus the body of the loop is not executed. The last character accessed is the one with the index len(fruit)-1, which is the last character ‘a’ in the string.</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89" name="Google Shape;8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Another way to write a traversal is with a for loop instead of a while loop:</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fruit = 'banana'</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letter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fruit</a:t>
            </a:r>
            <a:r>
              <a:rPr i="0" lang="en-US" sz="11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letter</a:t>
            </a:r>
            <a:r>
              <a:rPr i="0" lang="en-US" sz="1100" u="none" cap="none" strike="noStrike">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At each iteration through the loop, the next character in the string is assigned to the variable char. The loop continues until no characters are left in iteration process. This traversal mechanism through a for loop is much more elegant than the one through a while loop.</a:t>
            </a:r>
            <a:endParaRPr/>
          </a:p>
        </p:txBody>
      </p:sp>
      <p:sp>
        <p:nvSpPr>
          <p:cNvPr id="97" name="Google Shape;9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9: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The following program counts the number of times the character “a” appears in a string using a for loop along with an if statement: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word</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'banana'</a:t>
            </a: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count</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0</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rgbClr val="00FF00"/>
                </a:solidFill>
                <a:latin typeface="Courier"/>
                <a:ea typeface="Courier"/>
                <a:cs typeface="Courier"/>
                <a:sym typeface="Courier"/>
              </a:rPr>
              <a:t> letter </a:t>
            </a:r>
            <a:r>
              <a:rPr i="0" lang="en-US" sz="1100" u="none" cap="none" strike="noStrike">
                <a:solidFill>
                  <a:srgbClr val="FFFF00"/>
                </a:solidFill>
                <a:latin typeface="Courier"/>
                <a:ea typeface="Courier"/>
                <a:cs typeface="Courier"/>
                <a:sym typeface="Courier"/>
              </a:rPr>
              <a:t>in</a:t>
            </a:r>
            <a:r>
              <a:rPr i="0" lang="en-US" sz="1100" u="none" cap="none" strike="noStrike">
                <a:solidFill>
                  <a:srgbClr val="00FF00"/>
                </a:solidFill>
                <a:latin typeface="Courier"/>
                <a:ea typeface="Courier"/>
                <a:cs typeface="Courier"/>
                <a:sym typeface="Courier"/>
              </a:rPr>
              <a:t> word </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 if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letter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'a' </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 </a:t>
            </a:r>
            <a:endParaRPr/>
          </a:p>
          <a:p>
            <a:pPr indent="0" lvl="0" marL="0" marR="0" rtl="0" algn="l">
              <a:lnSpc>
                <a:spcPct val="100000"/>
              </a:lnSpc>
              <a:spcBef>
                <a:spcPts val="0"/>
              </a:spcBef>
              <a:spcAft>
                <a:spcPts val="0"/>
              </a:spcAft>
              <a:buClr>
                <a:srgbClr val="00FF00"/>
              </a:buClr>
              <a:buSzPts val="275"/>
              <a:buFont typeface="Cabin"/>
              <a:buNone/>
            </a:pPr>
            <a:r>
              <a:rPr i="0" lang="en-US" sz="1100" u="none" cap="none" strike="noStrike">
                <a:solidFill>
                  <a:srgbClr val="00FF00"/>
                </a:solidFill>
                <a:latin typeface="Courier"/>
                <a:ea typeface="Courier"/>
                <a:cs typeface="Courier"/>
                <a:sym typeface="Courier"/>
              </a:rPr>
              <a:t>       count </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count </a:t>
            </a:r>
            <a:r>
              <a:rPr i="0" lang="en-US" sz="1100" u="none" cap="none" strike="noStrike">
                <a:solidFill>
                  <a:srgbClr val="00FFFF"/>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1</a:t>
            </a:r>
            <a:endParaRPr/>
          </a:p>
          <a:p>
            <a:pPr indent="0" lvl="0" marL="0" marR="0" rtl="0" algn="l">
              <a:lnSpc>
                <a:spcPct val="100000"/>
              </a:lnSpc>
              <a:spcBef>
                <a:spcPts val="0"/>
              </a:spcBef>
              <a:spcAft>
                <a:spcPts val="0"/>
              </a:spcAft>
              <a:buClr>
                <a:srgbClr val="FFFF00"/>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count</a:t>
            </a:r>
            <a:r>
              <a:rPr i="0" lang="en-US" sz="1100" u="none" cap="none" strike="noStrike">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This program demonstrates another important pattern of computation in Python called using a counter. The variable count is initialized to 0 and then incremented each time an “a” is found. Its job is to count the number of times the condition we are looking for occurs. When the loop exits, count contains the result: the total number of a’s.</a:t>
            </a:r>
            <a:endParaRPr/>
          </a:p>
        </p:txBody>
      </p:sp>
      <p:sp>
        <p:nvSpPr>
          <p:cNvPr id="105" name="Google Shape;10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112" name="Google Shape;11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a:t>A segment of a string is called a slice. Selecting a slice is similar to selecting a character. The colon operator ( : ) returns the part of the string from the “n-th” character to the “m-th” character, including the first but excluding the last. If you omit the first index (before the colon), the slice starts at the beginning of the string. If you omit the second index, the slice goes to the end of the string. Also, </a:t>
            </a:r>
            <a:r>
              <a:rPr lang="en-US" sz="1100" u="none" cap="none" strike="noStrike">
                <a:solidFill>
                  <a:srgbClr val="FFFFFF"/>
                </a:solidFill>
                <a:latin typeface="Arial"/>
                <a:ea typeface="Arial"/>
                <a:cs typeface="Arial"/>
                <a:sym typeface="Arial"/>
              </a:rPr>
              <a:t>if the second index is </a:t>
            </a:r>
            <a:r>
              <a:rPr lang="en-US" sz="1100" u="none" cap="none" strike="noStrike">
                <a:solidFill>
                  <a:schemeClr val="lt1"/>
                </a:solidFill>
                <a:latin typeface="Arial"/>
                <a:ea typeface="Arial"/>
                <a:cs typeface="Arial"/>
                <a:sym typeface="Arial"/>
              </a:rPr>
              <a:t>beyond the end of the string, it stops at the end of the string. For example,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s</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'Monty Python'</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s</a:t>
            </a:r>
            <a:r>
              <a:rPr i="0" lang="en-US" sz="1100" u="none" cap="none" strike="noStrike">
                <a:solidFill>
                  <a:srgbClr val="00FFFF"/>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0</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4</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Mont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s</a:t>
            </a:r>
            <a:r>
              <a:rPr i="0" lang="en-US" sz="1100" u="none" cap="none" strike="noStrike">
                <a:solidFill>
                  <a:srgbClr val="00FFFF"/>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6:7</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P</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s</a:t>
            </a:r>
            <a:r>
              <a:rPr i="0" lang="en-US" sz="1100" u="none" cap="none" strike="noStrike">
                <a:solidFill>
                  <a:srgbClr val="00FFFF"/>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6</a:t>
            </a:r>
            <a:r>
              <a:rPr i="0" lang="en-US" sz="1100" u="none" cap="none" strike="noStrike">
                <a:solidFill>
                  <a:srgbClr val="00FFFF"/>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20</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Python</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s</a:t>
            </a:r>
            <a:r>
              <a:rPr i="0" lang="en-US" sz="1100" u="none" cap="none" strike="noStrike">
                <a:solidFill>
                  <a:srgbClr val="00FFFF"/>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2</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Mo</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s</a:t>
            </a:r>
            <a:r>
              <a:rPr i="0" lang="en-US" sz="1100" u="none" cap="none" strike="noStrike">
                <a:solidFill>
                  <a:srgbClr val="00FFFF"/>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8</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lang="en-US" sz="1100">
                <a:solidFill>
                  <a:schemeClr val="lt1"/>
                </a:solidFill>
                <a:latin typeface="Courier"/>
                <a:ea typeface="Courier"/>
                <a:cs typeface="Courier"/>
                <a:sym typeface="Courier"/>
              </a:rPr>
              <a:t>T</a:t>
            </a:r>
            <a:r>
              <a:rPr i="0" lang="en-US" sz="1100" u="none" cap="none" strike="noStrike">
                <a:solidFill>
                  <a:schemeClr val="lt1"/>
                </a:solidFill>
                <a:latin typeface="Courier"/>
                <a:ea typeface="Courier"/>
                <a:cs typeface="Courier"/>
                <a:sym typeface="Courier"/>
              </a:rPr>
              <a:t>hon</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s</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Monty Python</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117" name="Google Shape;11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It is important to note again that when you apply (+) operator to strings, it works as a concatenation operator – it simply creates a new string by joining the strings. For example, in the following Python code, several strings are concatenated by ( + ) operator:</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a</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'Hello'</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b</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a</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'There'</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b</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HelloThere</a:t>
            </a:r>
            <a:endParaRPr i="0" sz="11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c</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a</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a:t>
            </a:r>
            <a:r>
              <a:rPr lang="en-US" sz="1100">
                <a:solidFill>
                  <a:srgbClr val="FF7F00"/>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'There'</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c</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Hello There</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148" name="Google Shape;148;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In Python, the reserved keyword in is a boolean operator. It takes two strings and returns True if the first appears as a substring in the second. For example,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Arial"/>
              <a:buNone/>
            </a:pPr>
            <a:r>
              <a:rPr i="0" lang="en-US" sz="1100" u="none" cap="none" strike="noStrike">
                <a:solidFill>
                  <a:srgbClr val="00FF00"/>
                </a:solidFill>
                <a:latin typeface="Courier"/>
                <a:ea typeface="Courier"/>
                <a:cs typeface="Courier"/>
                <a:sym typeface="Courier"/>
              </a:rPr>
              <a:t>fruit</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'banana</a:t>
            </a:r>
            <a:r>
              <a:rPr lang="en-US" sz="1100">
                <a:solidFill>
                  <a:srgbClr val="FF7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Arial"/>
              <a:buNone/>
            </a:pPr>
            <a:r>
              <a:rPr i="0" lang="en-US" sz="1100" u="none" cap="none" strike="noStrike">
                <a:solidFill>
                  <a:srgbClr val="FF7F00"/>
                </a:solidFill>
                <a:latin typeface="Courier"/>
                <a:ea typeface="Courier"/>
                <a:cs typeface="Courier"/>
                <a:sym typeface="Courier"/>
              </a:rPr>
              <a:t>'n'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fruit</a:t>
            </a:r>
            <a:endParaRPr/>
          </a:p>
          <a:p>
            <a:pPr indent="0" lvl="0" marL="0" marR="0" rtl="0" algn="l">
              <a:lnSpc>
                <a:spcPct val="100000"/>
              </a:lnSpc>
              <a:spcBef>
                <a:spcPts val="0"/>
              </a:spcBef>
              <a:spcAft>
                <a:spcPts val="0"/>
              </a:spcAft>
              <a:buClr>
                <a:schemeClr val="lt1"/>
              </a:buClr>
              <a:buSzPts val="275"/>
              <a:buFont typeface="Arial"/>
              <a:buNone/>
            </a:pPr>
            <a:r>
              <a:rPr i="0" lang="en-US" sz="1100" u="none" cap="none" strike="noStrike">
                <a:solidFill>
                  <a:schemeClr val="lt1"/>
                </a:solidFill>
                <a:latin typeface="Courier"/>
                <a:ea typeface="Courier"/>
                <a:cs typeface="Courier"/>
                <a:sym typeface="Courier"/>
              </a:rPr>
              <a:t>True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Arial"/>
              <a:buNone/>
            </a:pPr>
            <a:r>
              <a:rPr i="0" lang="en-US" sz="1100" u="none" cap="none" strike="noStrike">
                <a:solidFill>
                  <a:srgbClr val="FF7F00"/>
                </a:solidFill>
                <a:latin typeface="Courier"/>
                <a:ea typeface="Courier"/>
                <a:cs typeface="Courier"/>
                <a:sym typeface="Courier"/>
              </a:rPr>
              <a:t>'m'</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fruit</a:t>
            </a:r>
            <a:endParaRPr/>
          </a:p>
          <a:p>
            <a:pPr indent="0" lvl="0" marL="0" marR="0" rtl="0" algn="l">
              <a:lnSpc>
                <a:spcPct val="100000"/>
              </a:lnSpc>
              <a:spcBef>
                <a:spcPts val="0"/>
              </a:spcBef>
              <a:spcAft>
                <a:spcPts val="0"/>
              </a:spcAft>
              <a:buClr>
                <a:schemeClr val="lt1"/>
              </a:buClr>
              <a:buSzPts val="275"/>
              <a:buFont typeface="Arial"/>
              <a:buNone/>
            </a:pPr>
            <a:r>
              <a:rPr i="0" lang="en-US" sz="1100" u="none" cap="none" strike="noStrike">
                <a:solidFill>
                  <a:schemeClr val="lt1"/>
                </a:solidFill>
                <a:latin typeface="Courier"/>
                <a:ea typeface="Courier"/>
                <a:cs typeface="Courier"/>
                <a:sym typeface="Courier"/>
              </a:rPr>
              <a:t>False</a:t>
            </a:r>
            <a:endParaRPr/>
          </a:p>
          <a:p>
            <a:pPr indent="0" lvl="0" marL="0" marR="0" rtl="0" algn="l">
              <a:lnSpc>
                <a:spcPct val="100000"/>
              </a:lnSpc>
              <a:spcBef>
                <a:spcPts val="0"/>
              </a:spcBef>
              <a:spcAft>
                <a:spcPts val="0"/>
              </a:spcAft>
              <a:buClr>
                <a:schemeClr val="lt1"/>
              </a:buClr>
              <a:buSzPts val="275"/>
              <a:buFont typeface="Arial"/>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Arial"/>
              <a:buNone/>
            </a:pPr>
            <a:r>
              <a:rPr i="0" lang="en-US" sz="1100" u="none" cap="none" strike="noStrike">
                <a:solidFill>
                  <a:srgbClr val="FF7F00"/>
                </a:solidFill>
                <a:latin typeface="Courier"/>
                <a:ea typeface="Courier"/>
                <a:cs typeface="Courier"/>
                <a:sym typeface="Courier"/>
              </a:rPr>
              <a:t>'nan'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 </a:t>
            </a:r>
            <a:r>
              <a:rPr i="0" lang="en-US" sz="1100" u="none" cap="none" strike="noStrike">
                <a:solidFill>
                  <a:srgbClr val="00FF00"/>
                </a:solidFill>
                <a:latin typeface="Courier"/>
                <a:ea typeface="Courier"/>
                <a:cs typeface="Courier"/>
                <a:sym typeface="Courier"/>
              </a:rPr>
              <a:t>fruit</a:t>
            </a:r>
            <a:endParaRPr/>
          </a:p>
          <a:p>
            <a:pPr indent="0" lvl="0" marL="0" marR="0" rtl="0" algn="l">
              <a:lnSpc>
                <a:spcPct val="100000"/>
              </a:lnSpc>
              <a:spcBef>
                <a:spcPts val="0"/>
              </a:spcBef>
              <a:spcAft>
                <a:spcPts val="0"/>
              </a:spcAft>
              <a:buClr>
                <a:schemeClr val="lt1"/>
              </a:buClr>
              <a:buSzPts val="275"/>
              <a:buFont typeface="Arial"/>
              <a:buNone/>
            </a:pPr>
            <a:r>
              <a:rPr i="0" lang="en-US" sz="1100" u="none" cap="none" strike="noStrike">
                <a:solidFill>
                  <a:schemeClr val="lt1"/>
                </a:solidFill>
                <a:latin typeface="Courier"/>
                <a:ea typeface="Courier"/>
                <a:cs typeface="Courier"/>
                <a:sym typeface="Courier"/>
              </a:rPr>
              <a:t>True</a:t>
            </a:r>
            <a:endParaRPr/>
          </a:p>
          <a:p>
            <a:pPr indent="0" lvl="0" marL="0" marR="0" rtl="0" algn="l">
              <a:lnSpc>
                <a:spcPct val="100000"/>
              </a:lnSpc>
              <a:spcBef>
                <a:spcPts val="0"/>
              </a:spcBef>
              <a:spcAft>
                <a:spcPts val="0"/>
              </a:spcAft>
              <a:buClr>
                <a:schemeClr val="lt1"/>
              </a:buClr>
              <a:buSzPts val="275"/>
              <a:buFont typeface="Arial"/>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Arial"/>
              <a:buNone/>
            </a:pPr>
            <a:r>
              <a:rPr i="0" lang="en-US" sz="1100" u="none" cap="none" strike="noStrike">
                <a:solidFill>
                  <a:srgbClr val="FFFF00"/>
                </a:solidFill>
                <a:latin typeface="Courier"/>
                <a:ea typeface="Courier"/>
                <a:cs typeface="Courier"/>
                <a:sym typeface="Courier"/>
              </a:rPr>
              <a:t>if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'a'</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fruit</a:t>
            </a:r>
            <a:r>
              <a:rPr i="0" lang="en-US" sz="11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275"/>
              <a:buFont typeface="Arial"/>
              <a:buNone/>
            </a:pPr>
            <a:r>
              <a:rPr lang="en-US" sz="1100">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'Found it!</a:t>
            </a:r>
            <a:r>
              <a:rPr lang="en-US" sz="1100">
                <a:solidFill>
                  <a:srgbClr val="FF7F00"/>
                </a:solidFill>
                <a:latin typeface="Courier"/>
                <a:ea typeface="Courier"/>
                <a:cs typeface="Courier"/>
                <a:sym typeface="Courier"/>
              </a:rPr>
              <a:t>'</a:t>
            </a:r>
            <a:r>
              <a:rPr lang="en-US" sz="1100">
                <a:solidFill>
                  <a:schemeClr val="lt1"/>
                </a:solidFill>
                <a:latin typeface="Courier"/>
                <a:ea typeface="Courier"/>
                <a:cs typeface="Courier"/>
                <a:sym typeface="Courier"/>
              </a:rPr>
              <a:t>)</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Arial"/>
              <a:buNone/>
            </a:pPr>
            <a:r>
              <a:rPr i="0" lang="en-US" sz="1100" u="none" cap="none" strike="noStrike">
                <a:solidFill>
                  <a:schemeClr val="lt1"/>
                </a:solidFill>
                <a:latin typeface="Courier"/>
                <a:ea typeface="Courier"/>
                <a:cs typeface="Courier"/>
                <a:sym typeface="Courier"/>
              </a:rPr>
              <a:t>Found it!</a:t>
            </a:r>
            <a:endParaRPr/>
          </a:p>
          <a:p>
            <a:pPr indent="0" lvl="0" marL="0" marR="0" rtl="0" algn="l">
              <a:lnSpc>
                <a:spcPct val="100000"/>
              </a:lnSpc>
              <a:spcBef>
                <a:spcPts val="0"/>
              </a:spcBef>
              <a:spcAft>
                <a:spcPts val="0"/>
              </a:spcAft>
              <a:buClr>
                <a:schemeClr val="lt1"/>
              </a:buClr>
              <a:buSzPts val="275"/>
              <a:buFont typeface="Arial"/>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Arial"/>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Arial"/>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Arial"/>
              <a:buNone/>
            </a:pPr>
            <a:r>
              <a:t/>
            </a:r>
            <a:endParaRPr i="0" sz="11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155" name="Google Shape;15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The comparison operators ( ==, !=, &gt;, &lt;, &lt;=, &gt;=)  work on strings. To see if two strings are equal, we could code as follows: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FFFF00"/>
              </a:buClr>
              <a:buSzPts val="275"/>
              <a:buFont typeface="Arial"/>
              <a:buNone/>
            </a:pPr>
            <a:r>
              <a:rPr i="0" lang="en-US" sz="1100" u="none" cap="none" strike="noStrike">
                <a:solidFill>
                  <a:srgbClr val="FFFF00"/>
                </a:solidFill>
                <a:latin typeface="Courier"/>
                <a:ea typeface="Courier"/>
                <a:cs typeface="Courier"/>
                <a:sym typeface="Courier"/>
              </a:rPr>
              <a:t>if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word</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'banana'</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Arial"/>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'All right, bananas.'</a:t>
            </a:r>
            <a:r>
              <a:rPr i="0" lang="en-US" sz="1100" u="none" cap="none" strike="noStrike">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Other comparison operators are useful for putting words in alphabetical order. For example,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rgbClr val="FFFF00"/>
              </a:buClr>
              <a:buSzPts val="275"/>
              <a:buFont typeface="Arial"/>
              <a:buNone/>
            </a:pPr>
            <a:r>
              <a:rPr i="0" lang="en-US" sz="1100" u="none" cap="none" strike="noStrike">
                <a:solidFill>
                  <a:srgbClr val="FFFF00"/>
                </a:solidFill>
                <a:latin typeface="Courier"/>
                <a:ea typeface="Courier"/>
                <a:cs typeface="Courier"/>
                <a:sym typeface="Courier"/>
              </a:rPr>
              <a:t>if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word</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&lt;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'banana'</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Arial"/>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'Your word,'</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word</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 comes before banana.</a:t>
            </a:r>
            <a:r>
              <a:rPr lang="en-US" sz="1100">
                <a:solidFill>
                  <a:srgbClr val="FF7F00"/>
                </a:solidFill>
                <a:latin typeface="Courier"/>
                <a:ea typeface="Courier"/>
                <a:cs typeface="Courier"/>
                <a:sym typeface="Courier"/>
              </a:rPr>
              <a:t>'</a:t>
            </a:r>
            <a:r>
              <a:rPr lang="en-US" sz="1100">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Arial"/>
              <a:buNone/>
            </a:pPr>
            <a:r>
              <a:rPr i="0" lang="en-US" sz="1100" u="none" cap="none" strike="noStrike">
                <a:solidFill>
                  <a:srgbClr val="FFFF00"/>
                </a:solidFill>
                <a:latin typeface="Courier"/>
                <a:ea typeface="Courier"/>
                <a:cs typeface="Courier"/>
                <a:sym typeface="Courier"/>
              </a:rPr>
              <a:t>elif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word</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&gt;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'banana'</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Arial"/>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'Your word,'</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word</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 comes after banana.</a:t>
            </a:r>
            <a:r>
              <a:rPr lang="en-US" sz="1100">
                <a:solidFill>
                  <a:srgbClr val="FF7F00"/>
                </a:solidFill>
                <a:latin typeface="Courier"/>
                <a:ea typeface="Courier"/>
                <a:cs typeface="Courier"/>
                <a:sym typeface="Courier"/>
              </a:rPr>
              <a:t>'</a:t>
            </a:r>
            <a:r>
              <a:rPr lang="en-US" sz="1100">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Arial"/>
              <a:buNone/>
            </a:pPr>
            <a:r>
              <a:rPr i="0" lang="en-US" sz="1100" u="none" cap="none" strike="noStrike">
                <a:solidFill>
                  <a:srgbClr val="FFFF00"/>
                </a:solidFill>
                <a:latin typeface="Courier"/>
                <a:ea typeface="Courier"/>
                <a:cs typeface="Courier"/>
                <a:sym typeface="Courier"/>
              </a:rPr>
              <a:t>else</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Arial"/>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'All right, bananas.')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rPr lang="en-US"/>
              <a:t>We have to note that Python does not handle uppercase and lowercase letters the same way that people do. In Python, all the uppercase letters come before all the lowercase letters. Therefore, the following code prints out: Your word, Pineapple, comes before banana</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word = ‘Pineapple’</a:t>
            </a:r>
            <a:endParaRPr/>
          </a:p>
          <a:p>
            <a:pPr indent="0" lvl="0" marL="0" marR="0" rtl="0" algn="l">
              <a:lnSpc>
                <a:spcPct val="100000"/>
              </a:lnSpc>
              <a:spcBef>
                <a:spcPts val="0"/>
              </a:spcBef>
              <a:spcAft>
                <a:spcPts val="0"/>
              </a:spcAft>
              <a:buClr>
                <a:srgbClr val="FFFF00"/>
              </a:buClr>
              <a:buSzPts val="275"/>
              <a:buFont typeface="Arial"/>
              <a:buNone/>
            </a:pPr>
            <a:r>
              <a:rPr i="0" lang="en-US" sz="1100" u="none" cap="none" strike="noStrike">
                <a:solidFill>
                  <a:srgbClr val="FFFF00"/>
                </a:solidFill>
                <a:latin typeface="Courier"/>
                <a:ea typeface="Courier"/>
                <a:cs typeface="Courier"/>
                <a:sym typeface="Courier"/>
              </a:rPr>
              <a:t>if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word</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&lt;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'banana'</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Arial"/>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'Your word,'</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word</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 comes before banana.</a:t>
            </a:r>
            <a:r>
              <a:rPr lang="en-US" sz="1100">
                <a:solidFill>
                  <a:srgbClr val="FF7F00"/>
                </a:solidFill>
                <a:latin typeface="Courier"/>
                <a:ea typeface="Courier"/>
                <a:cs typeface="Courier"/>
                <a:sym typeface="Courier"/>
              </a:rPr>
              <a:t>'</a:t>
            </a:r>
            <a:r>
              <a:rPr lang="en-US" sz="1100">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Arial"/>
              <a:buNone/>
            </a:pPr>
            <a:r>
              <a:rPr i="0" lang="en-US" sz="1100" u="none" cap="none" strike="noStrike">
                <a:solidFill>
                  <a:srgbClr val="FFFF00"/>
                </a:solidFill>
                <a:latin typeface="Courier"/>
                <a:ea typeface="Courier"/>
                <a:cs typeface="Courier"/>
                <a:sym typeface="Courier"/>
              </a:rPr>
              <a:t>elif</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word</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&gt;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'banana'</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Arial"/>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'Your word,'</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word</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 comes after banana.</a:t>
            </a:r>
            <a:r>
              <a:rPr lang="en-US" sz="1100">
                <a:solidFill>
                  <a:srgbClr val="FF7F00"/>
                </a:solidFill>
                <a:latin typeface="Courier"/>
                <a:ea typeface="Courier"/>
                <a:cs typeface="Courier"/>
                <a:sym typeface="Courier"/>
              </a:rPr>
              <a:t>'</a:t>
            </a:r>
            <a:r>
              <a:rPr lang="en-US" sz="1100">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275"/>
              <a:buFont typeface="Arial"/>
              <a:buNone/>
            </a:pPr>
            <a:r>
              <a:rPr i="0" lang="en-US" sz="1100" u="none" cap="none" strike="noStrike">
                <a:solidFill>
                  <a:srgbClr val="FFFF00"/>
                </a:solidFill>
                <a:latin typeface="Courier"/>
                <a:ea typeface="Courier"/>
                <a:cs typeface="Courier"/>
                <a:sym typeface="Courier"/>
              </a:rPr>
              <a:t>else</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Arial"/>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'All right, bananas.')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A common way to address this problem is to convert strings to a standard format, such as all lowercase, before performing the comparison operation.</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162" name="Google Shape;16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a:t>Strings are an example of Python objects. An object contains both data (the actual string itself) and methods, which are effectively functions that are built into the object and are available to any instance of the object. Calling a method is similar to calling a function (it takes arguments and returns a value) but the syntax is different. We call a method by appending the method name to the variable name using the period as a delimiter. For example, the method lower takes a string and returns a new string with all lowercase letters:</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greet</a:t>
            </a:r>
            <a:r>
              <a:rPr i="0" lang="en-US" sz="1100" u="none" cap="none" strike="noStrike">
                <a:solidFill>
                  <a:srgbClr val="FF7F00"/>
                </a:solidFill>
                <a:latin typeface="Courier"/>
                <a:ea typeface="Courier"/>
                <a:cs typeface="Courier"/>
                <a:sym typeface="Courier"/>
              </a:rPr>
              <a:t> </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FF00"/>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'Hello Bob'</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zap</a:t>
            </a:r>
            <a:r>
              <a:rPr i="0" lang="en-US" sz="1100" u="none" cap="none" strike="noStrike">
                <a:solidFill>
                  <a:srgbClr val="FF7F00"/>
                </a:solidFill>
                <a:latin typeface="Courier"/>
                <a:ea typeface="Courier"/>
                <a:cs typeface="Courier"/>
                <a:sym typeface="Courier"/>
              </a:rPr>
              <a:t> </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greet</a:t>
            </a:r>
            <a:r>
              <a:rPr i="0" lang="en-US" sz="1100" u="none" cap="none" strike="noStrike">
                <a:solidFill>
                  <a:srgbClr val="FF00FF"/>
                </a:solidFill>
                <a:latin typeface="Courier"/>
                <a:ea typeface="Courier"/>
                <a:cs typeface="Courier"/>
                <a:sym typeface="Courier"/>
              </a:rPr>
              <a:t>.lower</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zap</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hello bob</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greet)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Hello Bob</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rPr lang="en-US"/>
              <a:t>This form of dot notation specifies the name of the method, lower, and the name of the string to apply the method to, greet. The empty parentheses indicate that this method takes no argument. A method call on a Python object is called an invocation; in this case, we would say that we are invoking lower method on the string variable greet. We note that </a:t>
            </a:r>
            <a:r>
              <a:rPr lang="en-US" sz="1100" u="none" cap="none" strike="noStrike">
                <a:solidFill>
                  <a:schemeClr val="lt1"/>
                </a:solidFill>
                <a:latin typeface="Arial"/>
                <a:ea typeface="Arial"/>
                <a:cs typeface="Arial"/>
                <a:sym typeface="Arial"/>
              </a:rPr>
              <a:t>these </a:t>
            </a:r>
            <a:r>
              <a:rPr lang="en-US" sz="1100" u="none" cap="none" strike="noStrike">
                <a:solidFill>
                  <a:srgbClr val="FF00FF"/>
                </a:solidFill>
                <a:latin typeface="Arial"/>
                <a:ea typeface="Arial"/>
                <a:cs typeface="Arial"/>
                <a:sym typeface="Arial"/>
              </a:rPr>
              <a:t>functions</a:t>
            </a:r>
            <a:r>
              <a:rPr lang="en-US" sz="1100" u="none" cap="none" strike="noStrike">
                <a:solidFill>
                  <a:schemeClr val="lt1"/>
                </a:solidFill>
                <a:latin typeface="Arial"/>
                <a:ea typeface="Arial"/>
                <a:cs typeface="Arial"/>
                <a:sym typeface="Arial"/>
              </a:rPr>
              <a:t> do not modify the original string, instead they return a new string that has been altered by the method. </a:t>
            </a:r>
            <a:r>
              <a:rPr lang="en-US"/>
              <a:t>Another example is:</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'Hi There'</a:t>
            </a:r>
            <a:r>
              <a:rPr i="0" lang="en-US" sz="1100" u="none" cap="none" strike="noStrike">
                <a:solidFill>
                  <a:srgbClr val="FF00FF"/>
                </a:solidFill>
                <a:latin typeface="Courier"/>
                <a:ea typeface="Courier"/>
                <a:cs typeface="Courier"/>
                <a:sym typeface="Courier"/>
              </a:rPr>
              <a:t>.lower</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hi there</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168" name="Google Shape;168;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Python has a function called dir which lists the methods available for an object. The type function shows the type of an object and the dir function shows the available methods on this object. For example, we have the following string object stuff</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stuff</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'Hello world</a:t>
            </a:r>
            <a:r>
              <a:rPr lang="en-US" sz="1100">
                <a:solidFill>
                  <a:srgbClr val="FF7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type</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stuff</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&lt;class 'str'&gt;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We can list the available methods on this string object as follows: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dir</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stuff</a:t>
            </a:r>
            <a:r>
              <a:rPr i="0" lang="en-US" sz="1100" u="none" cap="none" strike="noStrike">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SzPts val="1400"/>
              <a:buNone/>
            </a:pPr>
            <a:r>
              <a:rPr lang="en-US" sz="1100">
                <a:solidFill>
                  <a:schemeClr val="lt1"/>
                </a:solidFill>
                <a:latin typeface="Courier"/>
                <a:ea typeface="Courier"/>
                <a:cs typeface="Courier"/>
                <a:sym typeface="Courier"/>
              </a:rPr>
              <a:t>['capitalize', 'casefold', 'center', 'count', 'encode', 'endswith', 'expandtabs', 'find', 'format', 'format_map', 'index', 'isalnum', 'isalpha', 'isdecimal', 'isdigit', 'isidentifier', 'islower', 'isnumeric', 'isprintable', 'isspace', 'istitle', 'isupper', 'join', 'ljust', 'lower', 'lstrip', 'maketrans', 'partition', 'replace', 'rfind', 'rindex', 'rjust', 'rpartition', 'rsplit', 'rstrip', 'split', 'splitlines', 'startswith', 'strip', 'swapcase', 'title', 'translate', 'upper', 'zfill']</a:t>
            </a:r>
            <a:endParaRPr i="0" sz="11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Furthermore, we can call help function on these methods to get more information as follows: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help(stuff.capitalize) </a:t>
            </a:r>
            <a:endParaRPr/>
          </a:p>
          <a:p>
            <a:pPr indent="0" lvl="0" marL="0" rtl="0" algn="l">
              <a:lnSpc>
                <a:spcPct val="100000"/>
              </a:lnSpc>
              <a:spcBef>
                <a:spcPts val="0"/>
              </a:spcBef>
              <a:spcAft>
                <a:spcPts val="0"/>
              </a:spcAft>
              <a:buClr>
                <a:schemeClr val="dk1"/>
              </a:buClr>
              <a:buSzPts val="1100"/>
              <a:buFont typeface="Arial"/>
              <a:buNone/>
            </a:pPr>
            <a:r>
              <a:rPr lang="en-US"/>
              <a:t>Help on method_descriptor: </a:t>
            </a:r>
            <a:endParaRPr/>
          </a:p>
          <a:p>
            <a:pPr indent="0" lvl="0" marL="0" rtl="0" algn="l">
              <a:lnSpc>
                <a:spcPct val="100000"/>
              </a:lnSpc>
              <a:spcBef>
                <a:spcPts val="0"/>
              </a:spcBef>
              <a:spcAft>
                <a:spcPts val="0"/>
              </a:spcAft>
              <a:buClr>
                <a:schemeClr val="dk1"/>
              </a:buClr>
              <a:buSzPts val="1100"/>
              <a:buFont typeface="Arial"/>
              <a:buNone/>
            </a:pPr>
            <a:r>
              <a:rPr lang="en-US"/>
              <a:t>capitalize(...) S.capitalize() -&gt; str Return a capitalized version of S, i.e. make the first character have upper case and the rest lower case.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While the dir function lists the methods, and you can use help to get some simple documentation on a method, a better source of documentation for string methods would be to refer to the online Python documentation about string methods: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https://docs.python.org/library/stdtypes.html#string-methods.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175" name="Google Shape;17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For example, there is a string method named find that searches for the position of one string within another. It  finds the first occurrence of the substring. If the substring is not found, it returns a negative integer value of -1. We should note that string position in Python starts at index zero. For example,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fruit</a:t>
            </a:r>
            <a:r>
              <a:rPr i="0" lang="en-US" sz="1100" u="none" cap="none" strike="noStrike">
                <a:solidFill>
                  <a:srgbClr val="FF7F00"/>
                </a:solidFill>
                <a:latin typeface="Courier"/>
                <a:ea typeface="Courier"/>
                <a:cs typeface="Courier"/>
                <a:sym typeface="Courier"/>
              </a:rPr>
              <a:t> </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 'banana'</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pos</a:t>
            </a:r>
            <a:r>
              <a:rPr i="0" lang="en-US" sz="1100" u="none" cap="none" strike="noStrike">
                <a:solidFill>
                  <a:srgbClr val="FF7F00"/>
                </a:solidFill>
                <a:latin typeface="Courier"/>
                <a:ea typeface="Courier"/>
                <a:cs typeface="Courier"/>
                <a:sym typeface="Courier"/>
              </a:rPr>
              <a:t> </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 fruit</a:t>
            </a:r>
            <a:r>
              <a:rPr i="0" lang="en-US" sz="1100" u="none" cap="none" strike="noStrike">
                <a:solidFill>
                  <a:srgbClr val="FF00FF"/>
                </a:solidFill>
                <a:latin typeface="Courier"/>
                <a:ea typeface="Courier"/>
                <a:cs typeface="Courier"/>
                <a:sym typeface="Courier"/>
              </a:rPr>
              <a:t>.find</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'na'</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pos</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2</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aa</a:t>
            </a:r>
            <a:r>
              <a:rPr i="0" lang="en-US" sz="1100" u="none" cap="none" strike="noStrike">
                <a:solidFill>
                  <a:srgbClr val="FF7F00"/>
                </a:solidFill>
                <a:latin typeface="Courier"/>
                <a:ea typeface="Courier"/>
                <a:cs typeface="Courier"/>
                <a:sym typeface="Courier"/>
              </a:rPr>
              <a:t> </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fruit</a:t>
            </a:r>
            <a:r>
              <a:rPr i="0" lang="en-US" sz="1100" u="none" cap="none" strike="noStrike">
                <a:solidFill>
                  <a:srgbClr val="FF00FF"/>
                </a:solidFill>
                <a:latin typeface="Courier"/>
                <a:ea typeface="Courier"/>
                <a:cs typeface="Courier"/>
                <a:sym typeface="Courier"/>
              </a:rPr>
              <a:t>.find</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'z'</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aa</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-1</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180" name="Google Shape;180;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a:t>There is a </a:t>
            </a:r>
            <a:r>
              <a:rPr lang="en-US" sz="1100" u="none" cap="none" strike="noStrike">
                <a:solidFill>
                  <a:srgbClr val="FF00FF"/>
                </a:solidFill>
                <a:latin typeface="Arial"/>
                <a:ea typeface="Arial"/>
                <a:cs typeface="Arial"/>
                <a:sym typeface="Arial"/>
              </a:rPr>
              <a:t>replace()</a:t>
            </a:r>
            <a:r>
              <a:rPr lang="en-US" sz="1100" u="none" cap="none" strike="noStrike">
                <a:solidFill>
                  <a:schemeClr val="lt1"/>
                </a:solidFill>
                <a:latin typeface="Arial"/>
                <a:ea typeface="Arial"/>
                <a:cs typeface="Arial"/>
                <a:sym typeface="Arial"/>
              </a:rPr>
              <a:t> string method that behaves like a </a:t>
            </a:r>
            <a:r>
              <a:rPr b="0" i="0" lang="en-US" sz="1100" u="none" cap="none" strike="noStrike">
                <a:solidFill>
                  <a:schemeClr val="lt1"/>
                </a:solidFill>
                <a:latin typeface="Arial"/>
                <a:ea typeface="Arial"/>
                <a:cs typeface="Arial"/>
                <a:sym typeface="Arial"/>
              </a:rPr>
              <a:t>“</a:t>
            </a:r>
            <a:r>
              <a:rPr lang="en-US" sz="1100" u="none" cap="none" strike="noStrike">
                <a:solidFill>
                  <a:schemeClr val="lt1"/>
                </a:solidFill>
                <a:latin typeface="Arial"/>
                <a:ea typeface="Arial"/>
                <a:cs typeface="Arial"/>
                <a:sym typeface="Arial"/>
              </a:rPr>
              <a:t>search and replace</a:t>
            </a:r>
            <a:r>
              <a:rPr b="0" i="0" lang="en-US" sz="1100" u="none" cap="none" strike="noStrike">
                <a:solidFill>
                  <a:schemeClr val="lt1"/>
                </a:solidFill>
                <a:latin typeface="Arial"/>
                <a:ea typeface="Arial"/>
                <a:cs typeface="Arial"/>
                <a:sym typeface="Arial"/>
              </a:rPr>
              <a:t>”</a:t>
            </a:r>
            <a:r>
              <a:rPr lang="en-US" sz="1100" u="none" cap="none" strike="noStrike">
                <a:solidFill>
                  <a:schemeClr val="lt1"/>
                </a:solidFill>
                <a:latin typeface="Arial"/>
                <a:ea typeface="Arial"/>
                <a:cs typeface="Arial"/>
                <a:sym typeface="Arial"/>
              </a:rPr>
              <a:t> operation in a word processor. It replaces all occurrences of the search string with the replacement string. For example, </a:t>
            </a:r>
            <a:endParaRPr/>
          </a:p>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7F00"/>
                </a:solidFill>
                <a:latin typeface="Courier"/>
                <a:ea typeface="Courier"/>
                <a:cs typeface="Courier"/>
                <a:sym typeface="Courier"/>
              </a:rPr>
              <a:t>greet = 'Hello </a:t>
            </a:r>
            <a:r>
              <a:rPr i="0" lang="en-US" sz="1100" u="none" cap="none" strike="noStrike">
                <a:solidFill>
                  <a:srgbClr val="00FF00"/>
                </a:solidFill>
                <a:latin typeface="Courier"/>
                <a:ea typeface="Courier"/>
                <a:cs typeface="Courier"/>
                <a:sym typeface="Courier"/>
              </a:rPr>
              <a:t>Bob</a:t>
            </a:r>
            <a:r>
              <a:rPr i="0" lang="en-US" sz="1100" u="none" cap="none" strike="noStrike">
                <a:solidFill>
                  <a:srgbClr val="FF7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7F00"/>
                </a:solidFill>
                <a:latin typeface="Courier"/>
                <a:ea typeface="Courier"/>
                <a:cs typeface="Courier"/>
                <a:sym typeface="Courier"/>
              </a:rPr>
              <a:t>nstr = greet.</a:t>
            </a:r>
            <a:r>
              <a:rPr i="0" lang="en-US" sz="1100" u="none" cap="none" strike="noStrike">
                <a:solidFill>
                  <a:srgbClr val="FF00FF"/>
                </a:solidFill>
                <a:latin typeface="Courier"/>
                <a:ea typeface="Courier"/>
                <a:cs typeface="Courier"/>
                <a:sym typeface="Courier"/>
              </a:rPr>
              <a:t>replace</a:t>
            </a:r>
            <a:r>
              <a:rPr i="0" lang="en-US" sz="1100" u="none" cap="none" strike="noStrike">
                <a:solidFill>
                  <a:srgbClr val="FF7F00"/>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'Bob'</a:t>
            </a:r>
            <a:r>
              <a:rPr i="0" lang="en-US" sz="1100" u="none" cap="none" strike="noStrike">
                <a:solidFill>
                  <a:srgbClr val="FF7F00"/>
                </a:solidFill>
                <a:latin typeface="Courier"/>
                <a:ea typeface="Courier"/>
                <a:cs typeface="Courier"/>
                <a:sym typeface="Courier"/>
              </a:rPr>
              <a:t>,</a:t>
            </a:r>
            <a:r>
              <a:rPr i="0" lang="en-US" sz="1100" u="none" cap="none" strike="noStrike">
                <a:solidFill>
                  <a:srgbClr val="00FFFF"/>
                </a:solidFill>
                <a:latin typeface="Courier"/>
                <a:ea typeface="Courier"/>
                <a:cs typeface="Courier"/>
                <a:sym typeface="Courier"/>
              </a:rPr>
              <a:t>'Jane'</a:t>
            </a:r>
            <a:r>
              <a:rPr i="0" lang="en-US" sz="1100" u="none" cap="none" strike="noStrike">
                <a:solidFill>
                  <a:srgbClr val="FF7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nstr</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Hello </a:t>
            </a:r>
            <a:r>
              <a:rPr i="0" lang="en-US" sz="1100" u="none" cap="none" strike="noStrike">
                <a:solidFill>
                  <a:srgbClr val="00FFFF"/>
                </a:solidFill>
                <a:latin typeface="Courier"/>
                <a:ea typeface="Courier"/>
                <a:cs typeface="Courier"/>
                <a:sym typeface="Courier"/>
              </a:rPr>
              <a:t>Jane</a:t>
            </a:r>
            <a:endParaRPr/>
          </a:p>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7F00"/>
                </a:solidFill>
                <a:latin typeface="Courier"/>
                <a:ea typeface="Courier"/>
                <a:cs typeface="Courier"/>
                <a:sym typeface="Courier"/>
              </a:rPr>
              <a:t>nstr = greet.</a:t>
            </a:r>
            <a:r>
              <a:rPr i="0" lang="en-US" sz="1100" u="none" cap="none" strike="noStrike">
                <a:solidFill>
                  <a:srgbClr val="FF00FF"/>
                </a:solidFill>
                <a:latin typeface="Courier"/>
                <a:ea typeface="Courier"/>
                <a:cs typeface="Courier"/>
                <a:sym typeface="Courier"/>
              </a:rPr>
              <a:t>replace</a:t>
            </a:r>
            <a:r>
              <a:rPr i="0" lang="en-US" sz="1100" u="none" cap="none" strike="noStrike">
                <a:solidFill>
                  <a:srgbClr val="FF7F00"/>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'o'</a:t>
            </a:r>
            <a:r>
              <a:rPr i="0" lang="en-US" sz="1100" u="none" cap="none" strike="noStrike">
                <a:solidFill>
                  <a:srgbClr val="FF7F00"/>
                </a:solidFill>
                <a:latin typeface="Courier"/>
                <a:ea typeface="Courier"/>
                <a:cs typeface="Courier"/>
                <a:sym typeface="Courier"/>
              </a:rPr>
              <a:t>,</a:t>
            </a:r>
            <a:r>
              <a:rPr i="0" lang="en-US" sz="1100" u="none" cap="none" strike="noStrike">
                <a:solidFill>
                  <a:srgbClr val="00FFFF"/>
                </a:solidFill>
                <a:latin typeface="Courier"/>
                <a:ea typeface="Courier"/>
                <a:cs typeface="Courier"/>
                <a:sym typeface="Courier"/>
              </a:rPr>
              <a:t>'X'</a:t>
            </a:r>
            <a:r>
              <a:rPr i="0" lang="en-US" sz="1100" u="none" cap="none" strike="noStrike">
                <a:solidFill>
                  <a:srgbClr val="FF7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lang="en-US" sz="1100">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nstr</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Hell</a:t>
            </a:r>
            <a:r>
              <a:rPr i="0" lang="en-US" sz="1100" u="none" cap="none" strike="noStrike">
                <a:solidFill>
                  <a:srgbClr val="00FFFF"/>
                </a:solidFill>
                <a:latin typeface="Courier"/>
                <a:ea typeface="Courier"/>
                <a:cs typeface="Courier"/>
                <a:sym typeface="Courier"/>
              </a:rPr>
              <a:t>X</a:t>
            </a:r>
            <a:r>
              <a:rPr i="0" lang="en-US" sz="1100" u="none" cap="none" strike="noStrike">
                <a:solidFill>
                  <a:schemeClr val="lt1"/>
                </a:solidFill>
                <a:latin typeface="Courier"/>
                <a:ea typeface="Courier"/>
                <a:cs typeface="Courier"/>
                <a:sym typeface="Courier"/>
              </a:rPr>
              <a:t> B</a:t>
            </a:r>
            <a:r>
              <a:rPr i="0" lang="en-US" sz="1100" u="none" cap="none" strike="noStrike">
                <a:solidFill>
                  <a:srgbClr val="00FFFF"/>
                </a:solidFill>
                <a:latin typeface="Courier"/>
                <a:ea typeface="Courier"/>
                <a:cs typeface="Courier"/>
                <a:sym typeface="Courier"/>
              </a:rPr>
              <a:t>X</a:t>
            </a:r>
            <a:r>
              <a:rPr i="0" lang="en-US" sz="1100" u="none" cap="none" strike="noStrike">
                <a:solidFill>
                  <a:schemeClr val="lt1"/>
                </a:solidFill>
                <a:latin typeface="Courier"/>
                <a:ea typeface="Courier"/>
                <a:cs typeface="Courier"/>
                <a:sym typeface="Courier"/>
              </a:rPr>
              <a:t>b</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chemeClr val="lt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200" name="Google Shape;200;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9: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1100"/>
              <a:buFont typeface="Arial"/>
              <a:buNone/>
            </a:pPr>
            <a:r>
              <a:rPr lang="en-US" sz="1100" u="none" cap="none" strike="noStrike">
                <a:solidFill>
                  <a:schemeClr val="lt1"/>
                </a:solidFill>
                <a:latin typeface="Arial"/>
                <a:ea typeface="Arial"/>
                <a:cs typeface="Arial"/>
                <a:sym typeface="Arial"/>
              </a:rPr>
              <a:t>Sometimes we want to take a string and remove whitespace (spaces, tabs, or newlines) from the beginning and end of a string using the strip method. The strip() method removes both the beginning and ending whitespace, whereas lstrip() and rstrip() remove whitespace at the left and right, respectively. For example,</a:t>
            </a:r>
            <a:endParaRPr/>
          </a:p>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greet</a:t>
            </a:r>
            <a:r>
              <a:rPr i="0" lang="en-US" sz="1100" u="none" cap="none" strike="noStrike">
                <a:solidFill>
                  <a:srgbClr val="FF7F00"/>
                </a:solidFill>
                <a:latin typeface="Courier"/>
                <a:ea typeface="Courier"/>
                <a:cs typeface="Courier"/>
                <a:sym typeface="Courier"/>
              </a:rPr>
              <a:t> </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 '   Hello Bob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greet</a:t>
            </a:r>
            <a:r>
              <a:rPr i="0" lang="en-US" sz="1100" u="none" cap="none" strike="noStrike">
                <a:solidFill>
                  <a:srgbClr val="FF00FF"/>
                </a:solidFill>
                <a:latin typeface="Courier"/>
                <a:ea typeface="Courier"/>
                <a:cs typeface="Courier"/>
                <a:sym typeface="Courier"/>
              </a:rPr>
              <a:t>.lstrip</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'Hello Bob  ’</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greet</a:t>
            </a:r>
            <a:r>
              <a:rPr i="0" lang="en-US" sz="1100" u="none" cap="none" strike="noStrike">
                <a:solidFill>
                  <a:srgbClr val="FF00FF"/>
                </a:solidFill>
                <a:latin typeface="Courier"/>
                <a:ea typeface="Courier"/>
                <a:cs typeface="Courier"/>
                <a:sym typeface="Courier"/>
              </a:rPr>
              <a:t>.rstrip</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   Hello Bob’</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greet</a:t>
            </a:r>
            <a:r>
              <a:rPr i="0" lang="en-US" sz="1100" u="none" cap="none" strike="noStrike">
                <a:solidFill>
                  <a:srgbClr val="FF00FF"/>
                </a:solidFill>
                <a:latin typeface="Courier"/>
                <a:ea typeface="Courier"/>
                <a:cs typeface="Courier"/>
                <a:sym typeface="Courier"/>
              </a:rPr>
              <a:t>.strip</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'Hello Bob'</a:t>
            </a:r>
            <a:endParaRPr/>
          </a:p>
          <a:p>
            <a:pPr indent="0" lvl="0" marL="0" marR="0" rtl="0" algn="l">
              <a:lnSpc>
                <a:spcPct val="100000"/>
              </a:lnSpc>
              <a:spcBef>
                <a:spcPts val="0"/>
              </a:spcBef>
              <a:spcAft>
                <a:spcPts val="0"/>
              </a:spcAft>
              <a:buClr>
                <a:schemeClr val="dk1"/>
              </a:buClr>
              <a:buSzPts val="1100"/>
              <a:buFont typeface="Arial"/>
              <a:buNone/>
            </a:pPr>
            <a:r>
              <a:t/>
            </a:r>
            <a:endParaRPr sz="1100" u="none" cap="none" strike="noStrike">
              <a:solidFill>
                <a:schemeClr val="lt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
        <p:nvSpPr>
          <p:cNvPr id="207" name="Google Shape;207;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0: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Some methods such as startswith return boolean values. For example,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'Please have a nice day</a:t>
            </a:r>
            <a:r>
              <a:rPr lang="en-US" sz="1100">
                <a:solidFill>
                  <a:srgbClr val="FF7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00FF"/>
                </a:solidFill>
                <a:latin typeface="Courier"/>
                <a:ea typeface="Courier"/>
                <a:cs typeface="Courier"/>
                <a:sym typeface="Courier"/>
              </a:rPr>
              <a:t>.startswith</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'Please'</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True</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00FF"/>
                </a:solidFill>
                <a:latin typeface="Courier"/>
                <a:ea typeface="Courier"/>
                <a:cs typeface="Courier"/>
                <a:sym typeface="Courier"/>
              </a:rPr>
              <a:t>.startswith</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'p'</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False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We have to note that startswith requires case to match, so sometimes we take a line and map it all to lowercase before we do any checking using the lower method. For example,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00FF"/>
                </a:solidFill>
                <a:latin typeface="Courier"/>
                <a:ea typeface="Courier"/>
                <a:cs typeface="Courier"/>
                <a:sym typeface="Courier"/>
              </a:rPr>
              <a:t>.lower().startswith</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’p'</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True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In the last example, the method lower is called and then we use startswith to see if the resulting lowercase string starts with the letter “p”. As long as we are careful with the order, we can make multiple method calls in a single expression.</a:t>
            </a:r>
            <a:endParaRPr/>
          </a:p>
        </p:txBody>
      </p:sp>
      <p:sp>
        <p:nvSpPr>
          <p:cNvPr id="214" name="Google Shape;214;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Often, we want to look into a string and find a substring. For example if we were presented a series of lines formatted as follows: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From stephen.marquard@ uct.ac.za Sat Jan 5 09:14:16 2008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and we wanted to pull out only the second half of the address (i.e., uct.ac.za) from each line, we can do this by using the find method and string slicing. </a:t>
            </a:r>
            <a:endParaRPr/>
          </a:p>
          <a:p>
            <a:pPr indent="0" lvl="0" marL="0" rtl="0" algn="l">
              <a:lnSpc>
                <a:spcPct val="100000"/>
              </a:lnSpc>
              <a:spcBef>
                <a:spcPts val="0"/>
              </a:spcBef>
              <a:spcAft>
                <a:spcPts val="0"/>
              </a:spcAft>
              <a:buClr>
                <a:schemeClr val="dk1"/>
              </a:buClr>
              <a:buSzPts val="1100"/>
              <a:buFont typeface="Arial"/>
              <a:buNone/>
            </a:pPr>
            <a:r>
              <a:rPr lang="en-US"/>
              <a:t>First, we will find the position of the at-sign in the string. Then we will find the position of the first space after the at-sign. And then we will use string slicing to extract the portion of the string which we are looking for. The following Python code achieves these tasks: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data</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'From stephen.marquard@uct.ac.za Sat Jan  5 09:14:16 2008</a:t>
            </a:r>
            <a:r>
              <a:rPr lang="en-US" sz="1100">
                <a:solidFill>
                  <a:srgbClr val="FF7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atpos</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data</a:t>
            </a:r>
            <a:r>
              <a:rPr i="0" lang="en-US" sz="1100" u="none" cap="none" strike="noStrike">
                <a:solidFill>
                  <a:srgbClr val="FF00FF"/>
                </a:solidFill>
                <a:latin typeface="Courier"/>
                <a:ea typeface="Courier"/>
                <a:cs typeface="Courier"/>
                <a:sym typeface="Courier"/>
              </a:rPr>
              <a:t>.find</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atpos</a:t>
            </a:r>
            <a:r>
              <a:rPr i="0" lang="en-US" sz="11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21</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sppos</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data</a:t>
            </a:r>
            <a:r>
              <a:rPr i="0" lang="en-US" sz="1100" u="none" cap="none" strike="noStrike">
                <a:solidFill>
                  <a:srgbClr val="FF00FF"/>
                </a:solidFill>
                <a:latin typeface="Courier"/>
                <a:ea typeface="Courier"/>
                <a:cs typeface="Courier"/>
                <a:sym typeface="Courier"/>
              </a:rPr>
              <a:t>.find</a:t>
            </a: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 '</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atpos</a:t>
            </a:r>
            <a:r>
              <a:rPr i="0" lang="en-US" sz="1100" u="none" cap="none" strike="noStrike">
                <a:solidFill>
                  <a:schemeClr val="lt1"/>
                </a:solidFill>
                <a:latin typeface="Courier"/>
                <a:ea typeface="Courier"/>
                <a:cs typeface="Courier"/>
                <a:sym typeface="Courier"/>
              </a:rPr>
              <a:t>)</a:t>
            </a:r>
            <a:endParaRPr/>
          </a:p>
          <a:p>
            <a:pPr indent="0" lvl="0" marL="0" rtl="0" algn="l">
              <a:lnSpc>
                <a:spcPct val="100000"/>
              </a:lnSpc>
              <a:spcBef>
                <a:spcPts val="0"/>
              </a:spcBef>
              <a:spcAft>
                <a:spcPts val="0"/>
              </a:spcAft>
              <a:buSzPts val="1400"/>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sppos</a:t>
            </a:r>
            <a:r>
              <a:rPr lang="en-US" sz="1100">
                <a:solidFill>
                  <a:srgbClr val="FFFF00"/>
                </a:solidFill>
                <a:latin typeface="Courier"/>
                <a:ea typeface="Courier"/>
                <a:cs typeface="Courier"/>
                <a:sym typeface="Courier"/>
              </a:rPr>
              <a:t>)</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31</a:t>
            </a:r>
            <a:endParaRPr/>
          </a:p>
          <a:p>
            <a:pPr indent="0" lvl="0" marL="0" marR="0" rtl="0" algn="l">
              <a:lnSpc>
                <a:spcPct val="100000"/>
              </a:lnSpc>
              <a:spcBef>
                <a:spcPts val="0"/>
              </a:spcBef>
              <a:spcAft>
                <a:spcPts val="0"/>
              </a:spcAft>
              <a:buClr>
                <a:schemeClr val="lt1"/>
              </a:buClr>
              <a:buSzPts val="275"/>
              <a:buFont typeface="Cabin"/>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rgbClr val="00FF00"/>
                </a:solidFill>
                <a:latin typeface="Courier"/>
                <a:ea typeface="Courier"/>
                <a:cs typeface="Courier"/>
                <a:sym typeface="Courier"/>
              </a:rPr>
              <a:t>host</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data</a:t>
            </a:r>
            <a:r>
              <a:rPr i="0" lang="en-US" sz="1100" u="none" cap="none" strike="noStrike">
                <a:solidFill>
                  <a:srgbClr val="00FFFF"/>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atpos</a:t>
            </a:r>
            <a:r>
              <a:rPr i="0" lang="en-US" sz="1100" u="none" cap="none" strike="noStrike">
                <a:solidFill>
                  <a:srgbClr val="00FFFF"/>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1</a:t>
            </a:r>
            <a:r>
              <a:rPr i="0" lang="en-US" sz="1100" u="none" cap="none" strike="noStrike">
                <a:solidFill>
                  <a:srgbClr val="00FFFF"/>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sppos</a:t>
            </a:r>
            <a:r>
              <a:rPr i="0" lang="en-US" sz="1100" u="none" cap="none" strike="noStrike">
                <a:solidFill>
                  <a:srgbClr val="00FFFF"/>
                </a:solidFill>
                <a:latin typeface="Courier"/>
                <a:ea typeface="Courier"/>
                <a:cs typeface="Courier"/>
                <a:sym typeface="Courier"/>
              </a:rPr>
              <a:t>]</a:t>
            </a:r>
            <a:endParaRPr/>
          </a:p>
          <a:p>
            <a:pPr indent="0" lvl="0" marL="0" rtl="0" algn="l">
              <a:lnSpc>
                <a:spcPct val="100000"/>
              </a:lnSpc>
              <a:spcBef>
                <a:spcPts val="0"/>
              </a:spcBef>
              <a:spcAft>
                <a:spcPts val="0"/>
              </a:spcAft>
              <a:buSzPts val="1400"/>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host</a:t>
            </a:r>
            <a:r>
              <a:rPr lang="en-US" sz="1100">
                <a:solidFill>
                  <a:srgbClr val="FFFF00"/>
                </a:solidFill>
                <a:latin typeface="Courier"/>
                <a:ea typeface="Courier"/>
                <a:cs typeface="Courier"/>
                <a:sym typeface="Courier"/>
              </a:rPr>
              <a:t>)</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abin"/>
              <a:buNone/>
            </a:pPr>
            <a:r>
              <a:rPr i="0" lang="en-US" sz="1100" u="none" cap="none" strike="noStrike">
                <a:solidFill>
                  <a:schemeClr val="lt1"/>
                </a:solidFill>
                <a:latin typeface="Courier"/>
                <a:ea typeface="Courier"/>
                <a:cs typeface="Courier"/>
                <a:sym typeface="Courier"/>
              </a:rPr>
              <a:t>uct.ac.za</a:t>
            </a:r>
            <a:endParaRPr i="0" sz="1100" u="none" cap="none" strike="noStrike">
              <a:solidFill>
                <a:schemeClr val="lt1"/>
              </a:solidFill>
              <a:latin typeface="Courier"/>
              <a:ea typeface="Courier"/>
              <a:cs typeface="Courier"/>
              <a:sym typeface="Courie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US"/>
              <a:t>Namely, we use the find method to specify a position in the string where we want to start looking. When we slice, we extract the characters from one beyond the at-sign through up to but not including the space character.</a:t>
            </a:r>
            <a:endParaRPr/>
          </a:p>
        </p:txBody>
      </p:sp>
      <p:sp>
        <p:nvSpPr>
          <p:cNvPr id="220" name="Google Shape;220;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232" name="Google Shape;232;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2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 name="Shape 10"/>
        <p:cNvGrpSpPr/>
        <p:nvPr/>
      </p:nvGrpSpPr>
      <p:grpSpPr>
        <a:xfrm>
          <a:off x="0" y="0"/>
          <a:ext cx="0" cy="0"/>
          <a:chOff x="0" y="0"/>
          <a:chExt cx="0" cy="0"/>
        </a:xfrm>
      </p:grpSpPr>
      <p:sp>
        <p:nvSpPr>
          <p:cNvPr id="11" name="Google Shape;11;p25"/>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FFFF00"/>
              </a:buClr>
              <a:buSzPts val="66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 name="Google Shape;12;p25"/>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0"/>
              </a:spcBef>
              <a:spcAft>
                <a:spcPts val="0"/>
              </a:spcAft>
              <a:buClr>
                <a:schemeClr val="lt1"/>
              </a:buClr>
              <a:buSzPts val="3200"/>
              <a:buFont typeface="Arial"/>
              <a:buNone/>
              <a:defRPr/>
            </a:lvl1pPr>
            <a:lvl2pPr indent="-228600" lvl="1" marL="914400" algn="ctr">
              <a:lnSpc>
                <a:spcPct val="100000"/>
              </a:lnSpc>
              <a:spcBef>
                <a:spcPts val="0"/>
              </a:spcBef>
              <a:spcAft>
                <a:spcPts val="0"/>
              </a:spcAft>
              <a:buClr>
                <a:srgbClr val="000000"/>
              </a:buClr>
              <a:buSzPts val="1400"/>
              <a:buFont typeface="Arial"/>
              <a:buNone/>
              <a:defRPr/>
            </a:lvl2pPr>
            <a:lvl3pPr indent="-228600" lvl="2" marL="1371600" algn="ctr">
              <a:lnSpc>
                <a:spcPct val="100000"/>
              </a:lnSpc>
              <a:spcBef>
                <a:spcPts val="0"/>
              </a:spcBef>
              <a:spcAft>
                <a:spcPts val="0"/>
              </a:spcAft>
              <a:buClr>
                <a:srgbClr val="000000"/>
              </a:buClr>
              <a:buSzPts val="1400"/>
              <a:buFont typeface="Arial"/>
              <a:buNone/>
              <a:defRPr/>
            </a:lvl3pPr>
            <a:lvl4pPr indent="-228600" lvl="3" marL="1828800" algn="ctr">
              <a:lnSpc>
                <a:spcPct val="100000"/>
              </a:lnSpc>
              <a:spcBef>
                <a:spcPts val="0"/>
              </a:spcBef>
              <a:spcAft>
                <a:spcPts val="0"/>
              </a:spcAft>
              <a:buClr>
                <a:srgbClr val="000000"/>
              </a:buClr>
              <a:buSzPts val="1400"/>
              <a:buFont typeface="Arial"/>
              <a:buNone/>
              <a:defRPr/>
            </a:lvl4pPr>
            <a:lvl5pPr indent="-228600" lvl="4" marL="2286000" algn="ctr">
              <a:lnSpc>
                <a:spcPct val="100000"/>
              </a:lnSpc>
              <a:spcBef>
                <a:spcPts val="0"/>
              </a:spcBef>
              <a:spcAft>
                <a:spcPts val="0"/>
              </a:spcAft>
              <a:buClr>
                <a:srgbClr val="000000"/>
              </a:buClr>
              <a:buSzPts val="1400"/>
              <a:buFont typeface="Arial"/>
              <a:buNone/>
              <a:defRPr/>
            </a:lvl5pPr>
            <a:lvl6pPr indent="-228600" lvl="5" marL="2743200" algn="ctr">
              <a:lnSpc>
                <a:spcPct val="100000"/>
              </a:lnSpc>
              <a:spcBef>
                <a:spcPts val="0"/>
              </a:spcBef>
              <a:spcAft>
                <a:spcPts val="0"/>
              </a:spcAft>
              <a:buClr>
                <a:srgbClr val="000000"/>
              </a:buClr>
              <a:buSzPts val="1400"/>
              <a:buFont typeface="Arial"/>
              <a:buNone/>
              <a:defRPr/>
            </a:lvl6pPr>
            <a:lvl7pPr indent="-228600" lvl="6" marL="3200400" algn="ctr">
              <a:lnSpc>
                <a:spcPct val="100000"/>
              </a:lnSpc>
              <a:spcBef>
                <a:spcPts val="0"/>
              </a:spcBef>
              <a:spcAft>
                <a:spcPts val="0"/>
              </a:spcAft>
              <a:buClr>
                <a:srgbClr val="000000"/>
              </a:buClr>
              <a:buSzPts val="1400"/>
              <a:buFont typeface="Arial"/>
              <a:buNone/>
              <a:defRPr/>
            </a:lvl7pPr>
            <a:lvl8pPr indent="-228600" lvl="7" marL="3657600" algn="ctr">
              <a:lnSpc>
                <a:spcPct val="100000"/>
              </a:lnSpc>
              <a:spcBef>
                <a:spcPts val="0"/>
              </a:spcBef>
              <a:spcAft>
                <a:spcPts val="0"/>
              </a:spcAft>
              <a:buClr>
                <a:srgbClr val="000000"/>
              </a:buClr>
              <a:buSzPts val="1400"/>
              <a:buFont typeface="Arial"/>
              <a:buNone/>
              <a:defRPr/>
            </a:lvl8pPr>
            <a:lvl9pPr indent="-228600" lvl="8" marL="4114800" algn="ctr">
              <a:lnSpc>
                <a:spcPct val="100000"/>
              </a:lnSpc>
              <a:spcBef>
                <a:spcPts val="0"/>
              </a:spcBef>
              <a:spcAft>
                <a:spcPts val="0"/>
              </a:spcAft>
              <a:buClr>
                <a:srgbClr val="000000"/>
              </a:buClr>
              <a:buSzPts val="1400"/>
              <a:buFont typeface="Arial"/>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s">
  <p:cSld name="TItle and Bullets">
    <p:spTree>
      <p:nvGrpSpPr>
        <p:cNvPr id="13" name="Shape 13"/>
        <p:cNvGrpSpPr/>
        <p:nvPr/>
      </p:nvGrpSpPr>
      <p:grpSpPr>
        <a:xfrm>
          <a:off x="0" y="0"/>
          <a:ext cx="0" cy="0"/>
          <a:chOff x="0" y="0"/>
          <a:chExt cx="0" cy="0"/>
        </a:xfrm>
      </p:grpSpPr>
      <p:sp>
        <p:nvSpPr>
          <p:cNvPr id="14" name="Google Shape;14;p26"/>
          <p:cNvSpPr txBox="1"/>
          <p:nvPr>
            <p:ph type="title"/>
          </p:nvPr>
        </p:nvSpPr>
        <p:spPr>
          <a:xfrm>
            <a:off x="1155700" y="833718"/>
            <a:ext cx="13932000" cy="1706182"/>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FFF00"/>
              </a:buClr>
              <a:buSzPts val="66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 name="Google Shape;15;p26"/>
          <p:cNvSpPr txBox="1"/>
          <p:nvPr>
            <p:ph idx="1" type="body"/>
          </p:nvPr>
        </p:nvSpPr>
        <p:spPr>
          <a:xfrm>
            <a:off x="1155700" y="2603500"/>
            <a:ext cx="13932000" cy="5702399"/>
          </a:xfrm>
          <a:prstGeom prst="rect">
            <a:avLst/>
          </a:prstGeom>
          <a:noFill/>
          <a:ln>
            <a:noFill/>
          </a:ln>
        </p:spPr>
        <p:txBody>
          <a:bodyPr anchorCtr="0" anchor="t" bIns="91425" lIns="91425" spcFirstLastPara="1" rIns="91425" wrap="square" tIns="91425">
            <a:noAutofit/>
          </a:bodyPr>
          <a:lstStyle>
            <a:lvl1pPr indent="-457200" lvl="0" marL="457200" algn="l">
              <a:lnSpc>
                <a:spcPct val="100000"/>
              </a:lnSpc>
              <a:spcBef>
                <a:spcPts val="3500"/>
              </a:spcBef>
              <a:spcAft>
                <a:spcPts val="0"/>
              </a:spcAft>
              <a:buClr>
                <a:schemeClr val="lt1"/>
              </a:buClr>
              <a:buSzPts val="3600"/>
              <a:buFont typeface="Cabin"/>
              <a:buChar char="•"/>
              <a:defRPr sz="3600"/>
            </a:lvl1pPr>
            <a:lvl2pPr indent="-317500" lvl="1" marL="914400" algn="l">
              <a:lnSpc>
                <a:spcPct val="100000"/>
              </a:lnSpc>
              <a:spcBef>
                <a:spcPts val="3500"/>
              </a:spcBef>
              <a:spcAft>
                <a:spcPts val="0"/>
              </a:spcAft>
              <a:buClr>
                <a:schemeClr val="lt1"/>
              </a:buClr>
              <a:buSzPts val="1400"/>
              <a:buFont typeface="Cabin"/>
              <a:buChar char="•"/>
              <a:defRPr/>
            </a:lvl2pPr>
            <a:lvl3pPr indent="-317500" lvl="2" marL="1371600" algn="l">
              <a:lnSpc>
                <a:spcPct val="100000"/>
              </a:lnSpc>
              <a:spcBef>
                <a:spcPts val="3500"/>
              </a:spcBef>
              <a:spcAft>
                <a:spcPts val="0"/>
              </a:spcAft>
              <a:buClr>
                <a:schemeClr val="lt1"/>
              </a:buClr>
              <a:buSzPts val="1400"/>
              <a:buFont typeface="Cabin"/>
              <a:buChar char="•"/>
              <a:defRPr/>
            </a:lvl3pPr>
            <a:lvl4pPr indent="-317500" lvl="3" marL="1828800" algn="l">
              <a:lnSpc>
                <a:spcPct val="100000"/>
              </a:lnSpc>
              <a:spcBef>
                <a:spcPts val="3500"/>
              </a:spcBef>
              <a:spcAft>
                <a:spcPts val="0"/>
              </a:spcAft>
              <a:buClr>
                <a:schemeClr val="lt1"/>
              </a:buClr>
              <a:buSzPts val="1400"/>
              <a:buFont typeface="Cabin"/>
              <a:buChar char="•"/>
              <a:defRPr/>
            </a:lvl4pPr>
            <a:lvl5pPr indent="-317500" lvl="4" marL="2286000" algn="l">
              <a:lnSpc>
                <a:spcPct val="100000"/>
              </a:lnSpc>
              <a:spcBef>
                <a:spcPts val="3500"/>
              </a:spcBef>
              <a:spcAft>
                <a:spcPts val="0"/>
              </a:spcAft>
              <a:buClr>
                <a:schemeClr val="lt1"/>
              </a:buClr>
              <a:buSzPts val="1400"/>
              <a:buFont typeface="Cabin"/>
              <a:buChar char="•"/>
              <a:defRPr/>
            </a:lvl5pPr>
            <a:lvl6pPr indent="-317500" lvl="5" marL="2743200" algn="l">
              <a:lnSpc>
                <a:spcPct val="100000"/>
              </a:lnSpc>
              <a:spcBef>
                <a:spcPts val="3500"/>
              </a:spcBef>
              <a:spcAft>
                <a:spcPts val="0"/>
              </a:spcAft>
              <a:buClr>
                <a:schemeClr val="lt1"/>
              </a:buClr>
              <a:buSzPts val="1400"/>
              <a:buFont typeface="Cabin"/>
              <a:buChar char="•"/>
              <a:defRPr/>
            </a:lvl6pPr>
            <a:lvl7pPr indent="-317500" lvl="6" marL="3200400" algn="l">
              <a:lnSpc>
                <a:spcPct val="100000"/>
              </a:lnSpc>
              <a:spcBef>
                <a:spcPts val="3500"/>
              </a:spcBef>
              <a:spcAft>
                <a:spcPts val="0"/>
              </a:spcAft>
              <a:buClr>
                <a:schemeClr val="lt1"/>
              </a:buClr>
              <a:buSzPts val="1400"/>
              <a:buFont typeface="Cabin"/>
              <a:buChar char="•"/>
              <a:defRPr/>
            </a:lvl7pPr>
            <a:lvl8pPr indent="-317500" lvl="7" marL="3657600" algn="l">
              <a:lnSpc>
                <a:spcPct val="100000"/>
              </a:lnSpc>
              <a:spcBef>
                <a:spcPts val="3500"/>
              </a:spcBef>
              <a:spcAft>
                <a:spcPts val="0"/>
              </a:spcAft>
              <a:buClr>
                <a:schemeClr val="lt1"/>
              </a:buClr>
              <a:buSzPts val="1400"/>
              <a:buFont typeface="Cabin"/>
              <a:buChar char="•"/>
              <a:defRPr/>
            </a:lvl8pPr>
            <a:lvl9pPr indent="-317500" lvl="8" marL="4114800" algn="l">
              <a:lnSpc>
                <a:spcPct val="100000"/>
              </a:lnSpc>
              <a:spcBef>
                <a:spcPts val="3500"/>
              </a:spcBef>
              <a:spcAft>
                <a:spcPts val="0"/>
              </a:spcAft>
              <a:buClr>
                <a:schemeClr val="lt1"/>
              </a:buClr>
              <a:buSzPts val="1400"/>
              <a:buFont typeface="Cabin"/>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spTree>
      <p:nvGrpSpPr>
        <p:cNvPr id="16" name="Shape 16"/>
        <p:cNvGrpSpPr/>
        <p:nvPr/>
      </p:nvGrpSpPr>
      <p:grpSpPr>
        <a:xfrm>
          <a:off x="0" y="0"/>
          <a:ext cx="0" cy="0"/>
          <a:chOff x="0" y="0"/>
          <a:chExt cx="0" cy="0"/>
        </a:xfrm>
      </p:grpSpPr>
      <p:sp>
        <p:nvSpPr>
          <p:cNvPr id="17" name="Google Shape;17;p27"/>
          <p:cNvSpPr txBox="1"/>
          <p:nvPr>
            <p:ph type="title"/>
          </p:nvPr>
        </p:nvSpPr>
        <p:spPr>
          <a:xfrm>
            <a:off x="1155700" y="833718"/>
            <a:ext cx="13932000" cy="1706182"/>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FFF00"/>
              </a:buClr>
              <a:buSzPts val="6600"/>
              <a:buFont typeface="Arial"/>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FFFF00"/>
              </a:buClr>
              <a:buSzPts val="6600"/>
              <a:buFont typeface="Arial"/>
              <a:buNone/>
              <a:defRPr b="0" i="0" sz="6600" u="none" cap="none" strike="noStrike">
                <a:solidFill>
                  <a:srgbClr val="FFFF00"/>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4"/>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marR="0" rtl="0" algn="ctr">
              <a:lnSpc>
                <a:spcPct val="100000"/>
              </a:lnSpc>
              <a:spcBef>
                <a:spcPts val="0"/>
              </a:spcBef>
              <a:spcAft>
                <a:spcPts val="0"/>
              </a:spcAft>
              <a:buClr>
                <a:schemeClr val="lt1"/>
              </a:buClr>
              <a:buSzPts val="3200"/>
              <a:buFont typeface="Arial"/>
              <a:buNone/>
              <a:defRPr b="0" i="0" sz="3200" u="none" cap="none" strike="noStrike">
                <a:solidFill>
                  <a:schemeClr val="lt1"/>
                </a:solidFill>
                <a:latin typeface="Arial"/>
                <a:ea typeface="Arial"/>
                <a:cs typeface="Arial"/>
                <a:sym typeface="Arial"/>
              </a:defRPr>
            </a:lvl1pPr>
            <a:lvl2pPr indent="-228600" lvl="1" marL="914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24"/>
          <p:cNvSpPr/>
          <p:nvPr/>
        </p:nvSpPr>
        <p:spPr>
          <a:xfrm>
            <a:off x="0" y="0"/>
            <a:ext cx="16256001" cy="768096"/>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
        <p:nvSpPr>
          <p:cNvPr id="9" name="Google Shape;9;p24"/>
          <p:cNvSpPr/>
          <p:nvPr/>
        </p:nvSpPr>
        <p:spPr>
          <a:xfrm>
            <a:off x="0" y="8357616"/>
            <a:ext cx="16256001" cy="786384"/>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pythonlearn.com" TargetMode="External"/><Relationship Id="rId4" Type="http://schemas.openxmlformats.org/officeDocument/2006/relationships/hyperlink" Target="http://www.pythonlearn.com" TargetMode="External"/><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hyperlink" Target="https://docs.python.org/2/library/stdtypes.html#string-methods" TargetMode="External"/><Relationship Id="rId4" Type="http://schemas.openxmlformats.org/officeDocument/2006/relationships/hyperlink" Target="https://docs.python.org/2/library/stdtypes.html#string-method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www.dr-chuck.com" TargetMode="External"/><Relationship Id="rId4" Type="http://schemas.openxmlformats.org/officeDocument/2006/relationships/hyperlink" Target="http://open.umich.edu/" TargetMode="External"/><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1"/>
          <p:cNvSpPr txBox="1"/>
          <p:nvPr>
            <p:ph type="title"/>
          </p:nvPr>
        </p:nvSpPr>
        <p:spPr>
          <a:xfrm>
            <a:off x="1155700" y="1536700"/>
            <a:ext cx="13931900" cy="3086099"/>
          </a:xfrm>
          <a:prstGeom prst="rect">
            <a:avLst/>
          </a:prstGeom>
          <a:noFill/>
          <a:ln>
            <a:noFill/>
          </a:ln>
        </p:spPr>
        <p:txBody>
          <a:bodyPr anchorCtr="0" anchor="b"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Strings</a:t>
            </a:r>
            <a:endParaRPr/>
          </a:p>
        </p:txBody>
      </p:sp>
      <p:sp>
        <p:nvSpPr>
          <p:cNvPr id="24" name="Google Shape;24;p1"/>
          <p:cNvSpPr txBox="1"/>
          <p:nvPr>
            <p:ph idx="1" type="body"/>
          </p:nvPr>
        </p:nvSpPr>
        <p:spPr>
          <a:xfrm>
            <a:off x="1155700" y="4711700"/>
            <a:ext cx="13931900" cy="10541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200"/>
              <a:buFont typeface="Cabin"/>
              <a:buNone/>
            </a:pPr>
            <a:r>
              <a:rPr lang="en-US" sz="4800" u="none" cap="none" strike="noStrike">
                <a:solidFill>
                  <a:schemeClr val="lt1"/>
                </a:solidFill>
                <a:latin typeface="Arial"/>
                <a:ea typeface="Arial"/>
                <a:cs typeface="Arial"/>
                <a:sym typeface="Arial"/>
              </a:rPr>
              <a:t>Chapter 6</a:t>
            </a:r>
            <a:endParaRPr/>
          </a:p>
        </p:txBody>
      </p:sp>
      <p:sp>
        <p:nvSpPr>
          <p:cNvPr id="25" name="Google Shape;25;p1"/>
          <p:cNvSpPr txBox="1"/>
          <p:nvPr/>
        </p:nvSpPr>
        <p:spPr>
          <a:xfrm>
            <a:off x="3865625" y="6973885"/>
            <a:ext cx="7926300" cy="10160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800"/>
              <a:buFont typeface="Cabin"/>
              <a:buNone/>
            </a:pPr>
            <a:r>
              <a:rPr b="0" i="0" lang="en-US" sz="3200" u="none" cap="none" strike="noStrike">
                <a:solidFill>
                  <a:srgbClr val="FFFF00"/>
                </a:solidFill>
                <a:latin typeface="Arial"/>
                <a:ea typeface="Arial"/>
                <a:cs typeface="Arial"/>
                <a:sym typeface="Arial"/>
              </a:rPr>
              <a:t>Python for Everybody</a:t>
            </a:r>
            <a:endParaRPr b="0" i="0" sz="3200" u="none" cap="none" strike="noStrike">
              <a:solidFill>
                <a:srgbClr val="FFFF00"/>
              </a:solidFill>
              <a:latin typeface="Arial"/>
              <a:ea typeface="Arial"/>
              <a:cs typeface="Arial"/>
              <a:sym typeface="Arial"/>
            </a:endParaRPr>
          </a:p>
          <a:p>
            <a:pPr indent="0" lvl="0" marL="0" marR="0" rtl="0" algn="ctr">
              <a:lnSpc>
                <a:spcPct val="100000"/>
              </a:lnSpc>
              <a:spcBef>
                <a:spcPts val="0"/>
              </a:spcBef>
              <a:spcAft>
                <a:spcPts val="0"/>
              </a:spcAft>
              <a:buClr>
                <a:srgbClr val="FFFF00"/>
              </a:buClr>
              <a:buSzPts val="800"/>
              <a:buFont typeface="Cabin"/>
              <a:buNone/>
            </a:pPr>
            <a:r>
              <a:rPr b="0" i="0" lang="en-US" sz="3200" u="sng" cap="none" strike="noStrike">
                <a:solidFill>
                  <a:srgbClr val="FFFF00"/>
                </a:solidFill>
                <a:latin typeface="Arial"/>
                <a:ea typeface="Arial"/>
                <a:cs typeface="Arial"/>
                <a:sym typeface="Arial"/>
                <a:hlinkClick r:id="rId3">
                  <a:extLst>
                    <a:ext uri="{A12FA001-AC4F-418D-AE19-62706E023703}">
                      <ahyp:hlinkClr val="tx"/>
                    </a:ext>
                  </a:extLst>
                </a:hlinkClick>
              </a:rPr>
              <a:t>www.py4e.com</a:t>
            </a:r>
            <a:endParaRPr b="0" i="0" sz="3200" u="sng" cap="none" strike="noStrike">
              <a:solidFill>
                <a:srgbClr val="FFFF00"/>
              </a:solidFill>
              <a:latin typeface="Arial"/>
              <a:ea typeface="Arial"/>
              <a:cs typeface="Arial"/>
              <a:sym typeface="Arial"/>
              <a:hlinkClick r:id="rId4">
                <a:extLst>
                  <a:ext uri="{A12FA001-AC4F-418D-AE19-62706E023703}">
                    <ahyp:hlinkClr val="tx"/>
                  </a:ext>
                </a:extLst>
              </a:hlinkClick>
            </a:endParaRPr>
          </a:p>
        </p:txBody>
      </p:sp>
      <p:pic>
        <p:nvPicPr>
          <p:cNvPr id="26" name="Google Shape;26;p1"/>
          <p:cNvPicPr preferRelativeResize="0"/>
          <p:nvPr/>
        </p:nvPicPr>
        <p:blipFill rotWithShape="1">
          <a:blip r:embed="rId5">
            <a:alphaModFix/>
          </a:blip>
          <a:srcRect b="0" l="0" r="0" t="0"/>
          <a:stretch/>
        </p:blipFill>
        <p:spPr>
          <a:xfrm>
            <a:off x="13739813" y="7332660"/>
            <a:ext cx="1968599" cy="668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2"/>
          <p:cNvSpPr txBox="1"/>
          <p:nvPr>
            <p:ph type="title"/>
          </p:nvPr>
        </p:nvSpPr>
        <p:spPr>
          <a:xfrm>
            <a:off x="1155700" y="833718"/>
            <a:ext cx="7416800" cy="17061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7F00"/>
              </a:buClr>
              <a:buSzPts val="1900"/>
              <a:buFont typeface="Cabin"/>
              <a:buNone/>
            </a:pPr>
            <a:r>
              <a:rPr lang="en-US" sz="7600" u="none" cap="none" strike="noStrike">
                <a:solidFill>
                  <a:srgbClr val="FFD966"/>
                </a:solidFill>
                <a:latin typeface="Arial"/>
                <a:ea typeface="Arial"/>
                <a:cs typeface="Arial"/>
                <a:sym typeface="Arial"/>
              </a:rPr>
              <a:t>String Data Type</a:t>
            </a:r>
            <a:endParaRPr/>
          </a:p>
        </p:txBody>
      </p:sp>
      <p:sp>
        <p:nvSpPr>
          <p:cNvPr id="32" name="Google Shape;32;p2"/>
          <p:cNvSpPr txBox="1"/>
          <p:nvPr>
            <p:ph idx="1" type="body"/>
          </p:nvPr>
        </p:nvSpPr>
        <p:spPr>
          <a:xfrm>
            <a:off x="1155700" y="2603500"/>
            <a:ext cx="7288213" cy="5702399"/>
          </a:xfrm>
          <a:prstGeom prst="rect">
            <a:avLst/>
          </a:prstGeom>
          <a:noFill/>
          <a:ln>
            <a:noFill/>
          </a:ln>
        </p:spPr>
        <p:txBody>
          <a:bodyPr anchorCtr="0" anchor="ctr" bIns="38100" lIns="38100" spcFirstLastPara="1" rIns="38100" wrap="square" tIns="38100">
            <a:noAutofit/>
          </a:bodyPr>
          <a:lstStyle/>
          <a:p>
            <a:pPr indent="-332994" lvl="0" marL="749300" marR="0" rtl="0" algn="l">
              <a:lnSpc>
                <a:spcPct val="100000"/>
              </a:lnSpc>
              <a:spcBef>
                <a:spcPts val="0"/>
              </a:spcBef>
              <a:spcAft>
                <a:spcPts val="0"/>
              </a:spcAft>
              <a:buClr>
                <a:srgbClr val="FF00FF"/>
              </a:buClr>
              <a:buSzPts val="3000"/>
              <a:buFont typeface="Cabin"/>
              <a:buChar char="•"/>
            </a:pPr>
            <a:r>
              <a:rPr lang="en-US" sz="3000" u="none" cap="none" strike="noStrike">
                <a:solidFill>
                  <a:srgbClr val="FF00FF"/>
                </a:solidFill>
                <a:latin typeface="Arial"/>
                <a:ea typeface="Arial"/>
                <a:cs typeface="Arial"/>
                <a:sym typeface="Arial"/>
              </a:rPr>
              <a:t>A string is a sequence of characters</a:t>
            </a:r>
            <a:endParaRPr/>
          </a:p>
          <a:p>
            <a:pPr indent="-332994" lvl="0" marL="749300" marR="0" rtl="0" algn="l">
              <a:lnSpc>
                <a:spcPct val="100000"/>
              </a:lnSpc>
              <a:spcBef>
                <a:spcPts val="3500"/>
              </a:spcBef>
              <a:spcAft>
                <a:spcPts val="0"/>
              </a:spcAft>
              <a:buClr>
                <a:srgbClr val="FF00FF"/>
              </a:buClr>
              <a:buSzPts val="3000"/>
              <a:buFont typeface="Cabin"/>
              <a:buChar char="•"/>
            </a:pPr>
            <a:r>
              <a:rPr lang="en-US" sz="3000" u="none" cap="none" strike="noStrike">
                <a:solidFill>
                  <a:srgbClr val="FF00FF"/>
                </a:solidFill>
                <a:latin typeface="Arial"/>
                <a:ea typeface="Arial"/>
                <a:cs typeface="Arial"/>
                <a:sym typeface="Arial"/>
              </a:rPr>
              <a:t>A string literal uses quotes  </a:t>
            </a:r>
            <a:br>
              <a:rPr lang="en-US" sz="3000" u="none" cap="none" strike="noStrike">
                <a:solidFill>
                  <a:srgbClr val="FF00FF"/>
                </a:solidFill>
                <a:latin typeface="Arial"/>
                <a:ea typeface="Arial"/>
                <a:cs typeface="Arial"/>
                <a:sym typeface="Arial"/>
              </a:rPr>
            </a:br>
            <a:r>
              <a:rPr b="0" i="0" lang="en-US" sz="3000" u="none" cap="none" strike="noStrike">
                <a:solidFill>
                  <a:srgbClr val="FF00FF"/>
                </a:solidFill>
                <a:latin typeface="Arial"/>
                <a:ea typeface="Arial"/>
                <a:cs typeface="Arial"/>
                <a:sym typeface="Arial"/>
              </a:rPr>
              <a:t>'</a:t>
            </a:r>
            <a:r>
              <a:rPr lang="en-US" sz="3000" u="none" cap="none" strike="noStrike">
                <a:solidFill>
                  <a:srgbClr val="FF00FF"/>
                </a:solidFill>
                <a:latin typeface="Arial"/>
                <a:ea typeface="Arial"/>
                <a:cs typeface="Arial"/>
                <a:sym typeface="Arial"/>
              </a:rPr>
              <a:t>Hello</a:t>
            </a:r>
            <a:r>
              <a:rPr b="0" i="0" lang="en-US" sz="3000" u="none" cap="none" strike="noStrike">
                <a:solidFill>
                  <a:srgbClr val="FF00FF"/>
                </a:solidFill>
                <a:latin typeface="Arial"/>
                <a:ea typeface="Arial"/>
                <a:cs typeface="Arial"/>
                <a:sym typeface="Arial"/>
              </a:rPr>
              <a:t>'</a:t>
            </a:r>
            <a:r>
              <a:rPr lang="en-US" sz="3000" u="none" cap="none" strike="noStrike">
                <a:solidFill>
                  <a:srgbClr val="FF00FF"/>
                </a:solidFill>
                <a:latin typeface="Arial"/>
                <a:ea typeface="Arial"/>
                <a:cs typeface="Arial"/>
                <a:sym typeface="Arial"/>
              </a:rPr>
              <a:t> or </a:t>
            </a:r>
            <a:r>
              <a:rPr lang="en-US" sz="3000">
                <a:solidFill>
                  <a:srgbClr val="FF00FF"/>
                </a:solidFill>
              </a:rPr>
              <a:t>"</a:t>
            </a:r>
            <a:r>
              <a:rPr lang="en-US" sz="3000" u="none" cap="none" strike="noStrike">
                <a:solidFill>
                  <a:srgbClr val="FF00FF"/>
                </a:solidFill>
                <a:latin typeface="Arial"/>
                <a:ea typeface="Arial"/>
                <a:cs typeface="Arial"/>
                <a:sym typeface="Arial"/>
              </a:rPr>
              <a:t>Hello</a:t>
            </a:r>
            <a:r>
              <a:rPr lang="en-US" sz="3000">
                <a:solidFill>
                  <a:srgbClr val="FF00FF"/>
                </a:solidFill>
              </a:rPr>
              <a:t>"</a:t>
            </a:r>
            <a:endParaRPr/>
          </a:p>
          <a:p>
            <a:pPr indent="-332994" lvl="0" marL="749300" marR="0" rtl="0" algn="l">
              <a:lnSpc>
                <a:spcPct val="100000"/>
              </a:lnSpc>
              <a:spcBef>
                <a:spcPts val="3500"/>
              </a:spcBef>
              <a:spcAft>
                <a:spcPts val="0"/>
              </a:spcAft>
              <a:buClr>
                <a:srgbClr val="00FF00"/>
              </a:buClr>
              <a:buSzPts val="3000"/>
              <a:buFont typeface="Cabin"/>
              <a:buChar char="•"/>
            </a:pPr>
            <a:r>
              <a:rPr lang="en-US" sz="3000" u="none" cap="none" strike="noStrike">
                <a:solidFill>
                  <a:srgbClr val="00FF00"/>
                </a:solidFill>
                <a:latin typeface="Arial"/>
                <a:ea typeface="Arial"/>
                <a:cs typeface="Arial"/>
                <a:sym typeface="Arial"/>
              </a:rPr>
              <a:t>For strings, + means </a:t>
            </a:r>
            <a:r>
              <a:rPr b="0" i="0" lang="en-US" sz="3000" u="none" cap="none" strike="noStrike">
                <a:solidFill>
                  <a:srgbClr val="00FF00"/>
                </a:solidFill>
                <a:latin typeface="Arial"/>
                <a:ea typeface="Arial"/>
                <a:cs typeface="Arial"/>
                <a:sym typeface="Arial"/>
              </a:rPr>
              <a:t>“</a:t>
            </a:r>
            <a:r>
              <a:rPr lang="en-US" sz="3000" u="none" cap="none" strike="noStrike">
                <a:solidFill>
                  <a:srgbClr val="00FF00"/>
                </a:solidFill>
                <a:latin typeface="Arial"/>
                <a:ea typeface="Arial"/>
                <a:cs typeface="Arial"/>
                <a:sym typeface="Arial"/>
              </a:rPr>
              <a:t>concatenate</a:t>
            </a:r>
            <a:r>
              <a:rPr b="0" i="0" lang="en-US" sz="3000" u="none" cap="none" strike="noStrike">
                <a:solidFill>
                  <a:srgbClr val="00FF00"/>
                </a:solidFill>
                <a:latin typeface="Arial"/>
                <a:ea typeface="Arial"/>
                <a:cs typeface="Arial"/>
                <a:sym typeface="Arial"/>
              </a:rPr>
              <a:t>”</a:t>
            </a:r>
            <a:endParaRPr/>
          </a:p>
          <a:p>
            <a:pPr indent="-332994" lvl="0" marL="749300" marR="0" rtl="0" algn="l">
              <a:lnSpc>
                <a:spcPct val="100000"/>
              </a:lnSpc>
              <a:spcBef>
                <a:spcPts val="3500"/>
              </a:spcBef>
              <a:spcAft>
                <a:spcPts val="0"/>
              </a:spcAft>
              <a:buClr>
                <a:srgbClr val="FF7F00"/>
              </a:buClr>
              <a:buSzPts val="3000"/>
              <a:buFont typeface="Cabin"/>
              <a:buChar char="•"/>
            </a:pPr>
            <a:r>
              <a:rPr lang="en-US" sz="3000" u="none" cap="none" strike="noStrike">
                <a:solidFill>
                  <a:srgbClr val="FF7F00"/>
                </a:solidFill>
                <a:latin typeface="Arial"/>
                <a:ea typeface="Arial"/>
                <a:cs typeface="Arial"/>
                <a:sym typeface="Arial"/>
              </a:rPr>
              <a:t>When a string contains numbers, it is still a string</a:t>
            </a:r>
            <a:endParaRPr/>
          </a:p>
          <a:p>
            <a:pPr indent="-332994" lvl="0" marL="749300" marR="0" rtl="0" algn="l">
              <a:lnSpc>
                <a:spcPct val="100000"/>
              </a:lnSpc>
              <a:spcBef>
                <a:spcPts val="3500"/>
              </a:spcBef>
              <a:spcAft>
                <a:spcPts val="0"/>
              </a:spcAft>
              <a:buClr>
                <a:srgbClr val="00FFFF"/>
              </a:buClr>
              <a:buSzPts val="3000"/>
              <a:buFont typeface="Cabin"/>
              <a:buChar char="•"/>
            </a:pPr>
            <a:r>
              <a:rPr lang="en-US" sz="3000" u="none" cap="none" strike="noStrike">
                <a:solidFill>
                  <a:srgbClr val="00FFFF"/>
                </a:solidFill>
                <a:latin typeface="Arial"/>
                <a:ea typeface="Arial"/>
                <a:cs typeface="Arial"/>
                <a:sym typeface="Arial"/>
              </a:rPr>
              <a:t>We can convert numbers in a string into a number using </a:t>
            </a:r>
            <a:r>
              <a:rPr lang="en-US" sz="3000" u="none" cap="none" strike="noStrike">
                <a:solidFill>
                  <a:srgbClr val="FF00FF"/>
                </a:solidFill>
                <a:latin typeface="Arial"/>
                <a:ea typeface="Arial"/>
                <a:cs typeface="Arial"/>
                <a:sym typeface="Arial"/>
              </a:rPr>
              <a:t>int</a:t>
            </a:r>
            <a:r>
              <a:rPr lang="en-US" sz="3000" u="none" cap="none" strike="noStrike">
                <a:solidFill>
                  <a:srgbClr val="00FFFF"/>
                </a:solidFill>
                <a:latin typeface="Arial"/>
                <a:ea typeface="Arial"/>
                <a:cs typeface="Arial"/>
                <a:sym typeface="Arial"/>
              </a:rPr>
              <a:t>()</a:t>
            </a:r>
            <a:endParaRPr/>
          </a:p>
        </p:txBody>
      </p:sp>
      <p:sp>
        <p:nvSpPr>
          <p:cNvPr id="33" name="Google Shape;33;p2"/>
          <p:cNvSpPr txBox="1"/>
          <p:nvPr/>
        </p:nvSpPr>
        <p:spPr>
          <a:xfrm>
            <a:off x="9040811" y="833718"/>
            <a:ext cx="6959599" cy="808168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rgbClr val="FF00FF"/>
                </a:solidFill>
                <a:latin typeface="Courier"/>
                <a:ea typeface="Courier"/>
                <a:cs typeface="Courier"/>
                <a:sym typeface="Courier"/>
              </a:rPr>
              <a:t>str1 = "Hello"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rgbClr val="FF00FF"/>
                </a:solidFill>
                <a:latin typeface="Courier"/>
                <a:ea typeface="Courier"/>
                <a:cs typeface="Courier"/>
                <a:sym typeface="Courier"/>
              </a:rPr>
              <a:t>str2 = 'there'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rgbClr val="00FF00"/>
                </a:solidFill>
                <a:latin typeface="Courier"/>
                <a:ea typeface="Courier"/>
                <a:cs typeface="Courier"/>
                <a:sym typeface="Courier"/>
              </a:rPr>
              <a:t>bob = str1 + str2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00FF00"/>
                </a:solidFill>
                <a:latin typeface="Courier"/>
                <a:ea typeface="Courier"/>
                <a:cs typeface="Courier"/>
                <a:sym typeface="Courier"/>
              </a:rPr>
              <a:t>bob</a:t>
            </a:r>
            <a:r>
              <a:rPr b="0" i="0" lang="en-US" sz="2800" u="none" cap="none" strike="noStrike">
                <a:solidFill>
                  <a:schemeClr val="lt1"/>
                </a:solidFill>
                <a:latin typeface="Courier"/>
                <a:ea typeface="Courier"/>
                <a:cs typeface="Courier"/>
                <a:sym typeface="Courier"/>
              </a:rPr>
              <a:t>)</a:t>
            </a:r>
            <a:endParaRPr b="0"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700"/>
              <a:buFont typeface="Cabin"/>
              <a:buNone/>
            </a:pPr>
            <a:r>
              <a:rPr b="0" i="0" lang="en-US" sz="2800" u="none" cap="none" strike="noStrike">
                <a:solidFill>
                  <a:srgbClr val="00FF00"/>
                </a:solidFill>
                <a:latin typeface="Courier"/>
                <a:ea typeface="Courier"/>
                <a:cs typeface="Courier"/>
                <a:sym typeface="Courier"/>
              </a:rPr>
              <a:t>Hellothere</a:t>
            </a:r>
            <a:endParaRPr b="0" i="0" sz="28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700"/>
              <a:buFont typeface="Cabin"/>
              <a:buNone/>
            </a:pPr>
            <a:r>
              <a:t/>
            </a:r>
            <a:endParaRPr b="0" i="0" sz="28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rgbClr val="FF7F00"/>
                </a:solidFill>
                <a:latin typeface="Courier"/>
                <a:ea typeface="Courier"/>
                <a:cs typeface="Courier"/>
                <a:sym typeface="Courier"/>
              </a:rPr>
              <a:t>str3 = '123'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rgbClr val="FF7F00"/>
                </a:solidFill>
                <a:latin typeface="Courier"/>
                <a:ea typeface="Courier"/>
                <a:cs typeface="Courier"/>
                <a:sym typeface="Courier"/>
              </a:rPr>
              <a:t>str3 = str3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700"/>
              <a:buFont typeface="Cabin"/>
              <a:buNone/>
            </a:pPr>
            <a:r>
              <a:rPr b="0" i="0" lang="en-US" sz="2800" u="none" cap="none" strike="noStrike">
                <a:solidFill>
                  <a:srgbClr val="E06666"/>
                </a:solidFill>
                <a:latin typeface="Courier"/>
                <a:ea typeface="Courier"/>
                <a:cs typeface="Courier"/>
                <a:sym typeface="Courier"/>
              </a:rPr>
              <a:t>Traceback (most recent call last):  File "&lt;stdin&gt;", line 1, in &lt;module&gt;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700"/>
              <a:buFont typeface="Cabin"/>
              <a:buNone/>
            </a:pPr>
            <a:r>
              <a:rPr b="0" i="0" lang="en-US" sz="2800" u="none" cap="none" strike="noStrike">
                <a:solidFill>
                  <a:srgbClr val="E06666"/>
                </a:solidFill>
                <a:latin typeface="Courier"/>
                <a:ea typeface="Courier"/>
                <a:cs typeface="Courier"/>
                <a:sym typeface="Courier"/>
              </a:rPr>
              <a:t>TypeError: cannot concatenate 'str' and 'int' objects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700"/>
              <a:buFont typeface="Cabin"/>
              <a:buNone/>
            </a:pPr>
            <a:r>
              <a:t/>
            </a:r>
            <a:endParaRPr b="0" i="0" sz="2800" u="none" cap="none" strike="noStrike">
              <a:solidFill>
                <a:srgbClr val="E06666"/>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rgbClr val="00FFFF"/>
                </a:solidFill>
                <a:latin typeface="Courier"/>
                <a:ea typeface="Courier"/>
                <a:cs typeface="Courier"/>
                <a:sym typeface="Courier"/>
              </a:rPr>
              <a:t>x = </a:t>
            </a:r>
            <a:r>
              <a:rPr b="0" i="0" lang="en-US" sz="2800" u="none" cap="none" strike="noStrike">
                <a:solidFill>
                  <a:srgbClr val="FF00FF"/>
                </a:solidFill>
                <a:latin typeface="Courier"/>
                <a:ea typeface="Courier"/>
                <a:cs typeface="Courier"/>
                <a:sym typeface="Courier"/>
              </a:rPr>
              <a:t>int</a:t>
            </a:r>
            <a:r>
              <a:rPr b="0" i="0" lang="en-US" sz="2800" u="none" cap="none" strike="noStrike">
                <a:solidFill>
                  <a:srgbClr val="00FFFF"/>
                </a:solidFill>
                <a:latin typeface="Courier"/>
                <a:ea typeface="Courier"/>
                <a:cs typeface="Courier"/>
                <a:sym typeface="Courier"/>
              </a:rPr>
              <a:t>(str3)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00FFFF"/>
                </a:solidFill>
                <a:latin typeface="Courier"/>
                <a:ea typeface="Courier"/>
                <a:cs typeface="Courier"/>
                <a:sym typeface="Courier"/>
              </a:rPr>
              <a:t>x</a:t>
            </a:r>
            <a:r>
              <a:rPr b="0" i="0" lang="en-US" sz="2800" u="none" cap="none" strike="noStrike">
                <a:solidFill>
                  <a:schemeClr val="lt1"/>
                </a:solidFill>
                <a:latin typeface="Courier"/>
                <a:ea typeface="Courier"/>
                <a:cs typeface="Courier"/>
                <a:sym typeface="Courier"/>
              </a:rPr>
              <a:t>)</a:t>
            </a:r>
            <a:endParaRPr b="0"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00FFFF"/>
              </a:buClr>
              <a:buSzPts val="700"/>
              <a:buFont typeface="Cabin"/>
              <a:buNone/>
            </a:pPr>
            <a:r>
              <a:rPr b="0" i="0" lang="en-US" sz="2800" u="none" cap="none" strike="noStrike">
                <a:solidFill>
                  <a:srgbClr val="00FFFF"/>
                </a:solidFill>
                <a:latin typeface="Courier"/>
                <a:ea typeface="Courier"/>
                <a:cs typeface="Courier"/>
                <a:sym typeface="Courier"/>
              </a:rPr>
              <a:t>124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abin"/>
              <a:buNone/>
            </a:pPr>
            <a:r>
              <a:t/>
            </a:r>
            <a:endParaRPr b="0" i="0" sz="2800" u="none" cap="none" strike="noStrike">
              <a:solidFill>
                <a:schemeClr val="lt1"/>
              </a:solidFill>
              <a:latin typeface="Courier"/>
              <a:ea typeface="Courier"/>
              <a:cs typeface="Courier"/>
              <a:sym typeface="Couri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3"/>
          <p:cNvSpPr txBox="1"/>
          <p:nvPr>
            <p:ph type="title"/>
          </p:nvPr>
        </p:nvSpPr>
        <p:spPr>
          <a:xfrm>
            <a:off x="1155700" y="833718"/>
            <a:ext cx="6416675" cy="17061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7F00"/>
              </a:buClr>
              <a:buSzPts val="1675"/>
              <a:buFont typeface="Cabin"/>
              <a:buNone/>
            </a:pPr>
            <a:r>
              <a:rPr lang="en-US" sz="6700" u="none" cap="none" strike="noStrike">
                <a:solidFill>
                  <a:srgbClr val="FFD966"/>
                </a:solidFill>
                <a:latin typeface="Arial"/>
                <a:ea typeface="Arial"/>
                <a:cs typeface="Arial"/>
                <a:sym typeface="Arial"/>
              </a:rPr>
              <a:t>Reading and Converting</a:t>
            </a:r>
            <a:endParaRPr/>
          </a:p>
        </p:txBody>
      </p:sp>
      <p:sp>
        <p:nvSpPr>
          <p:cNvPr id="39" name="Google Shape;39;p3"/>
          <p:cNvSpPr txBox="1"/>
          <p:nvPr>
            <p:ph idx="1" type="body"/>
          </p:nvPr>
        </p:nvSpPr>
        <p:spPr>
          <a:xfrm>
            <a:off x="1155700" y="2603500"/>
            <a:ext cx="6416675" cy="5702399"/>
          </a:xfrm>
          <a:prstGeom prst="rect">
            <a:avLst/>
          </a:prstGeom>
          <a:noFill/>
          <a:ln>
            <a:noFill/>
          </a:ln>
        </p:spPr>
        <p:txBody>
          <a:bodyPr anchorCtr="0" anchor="ctr" bIns="38100" lIns="38100" spcFirstLastPara="1" rIns="38100" wrap="square" tIns="38100">
            <a:noAutofit/>
          </a:bodyPr>
          <a:lstStyle/>
          <a:p>
            <a:pPr indent="-332994" lvl="0" marL="749300" marR="0" rtl="0" algn="l">
              <a:lnSpc>
                <a:spcPct val="100000"/>
              </a:lnSpc>
              <a:spcBef>
                <a:spcPts val="0"/>
              </a:spcBef>
              <a:spcAft>
                <a:spcPts val="0"/>
              </a:spcAft>
              <a:buClr>
                <a:schemeClr val="lt1"/>
              </a:buClr>
              <a:buSzPts val="3000"/>
              <a:buFont typeface="Cabin"/>
              <a:buChar char="•"/>
            </a:pPr>
            <a:r>
              <a:rPr lang="en-US" sz="3000" u="none" cap="none" strike="noStrike">
                <a:solidFill>
                  <a:schemeClr val="lt1"/>
                </a:solidFill>
                <a:latin typeface="Arial"/>
                <a:ea typeface="Arial"/>
                <a:cs typeface="Arial"/>
                <a:sym typeface="Arial"/>
              </a:rPr>
              <a:t>We prefer to read data in using </a:t>
            </a:r>
            <a:r>
              <a:rPr lang="en-US" sz="3000" u="none" cap="none" strike="noStrike">
                <a:solidFill>
                  <a:srgbClr val="FF7F00"/>
                </a:solidFill>
                <a:latin typeface="Arial"/>
                <a:ea typeface="Arial"/>
                <a:cs typeface="Arial"/>
                <a:sym typeface="Arial"/>
              </a:rPr>
              <a:t>strings</a:t>
            </a:r>
            <a:r>
              <a:rPr lang="en-US" sz="3000" u="none" cap="none" strike="noStrike">
                <a:solidFill>
                  <a:schemeClr val="lt1"/>
                </a:solidFill>
                <a:latin typeface="Arial"/>
                <a:ea typeface="Arial"/>
                <a:cs typeface="Arial"/>
                <a:sym typeface="Arial"/>
              </a:rPr>
              <a:t> and then parse and convert the data as we need</a:t>
            </a:r>
            <a:endParaRPr/>
          </a:p>
          <a:p>
            <a:pPr indent="-332994" lvl="0" marL="749300" marR="0" rtl="0" algn="l">
              <a:lnSpc>
                <a:spcPct val="100000"/>
              </a:lnSpc>
              <a:spcBef>
                <a:spcPts val="3500"/>
              </a:spcBef>
              <a:spcAft>
                <a:spcPts val="0"/>
              </a:spcAft>
              <a:buClr>
                <a:schemeClr val="lt1"/>
              </a:buClr>
              <a:buSzPts val="3000"/>
              <a:buFont typeface="Cabin"/>
              <a:buChar char="•"/>
            </a:pPr>
            <a:r>
              <a:rPr lang="en-US" sz="3000" u="none" cap="none" strike="noStrike">
                <a:solidFill>
                  <a:schemeClr val="lt1"/>
                </a:solidFill>
                <a:latin typeface="Arial"/>
                <a:ea typeface="Arial"/>
                <a:cs typeface="Arial"/>
                <a:sym typeface="Arial"/>
              </a:rPr>
              <a:t>This gives us more control over error situations and/or bad user input</a:t>
            </a:r>
            <a:endParaRPr/>
          </a:p>
          <a:p>
            <a:pPr indent="-332994" lvl="0" marL="749300" marR="0" rtl="0" algn="l">
              <a:lnSpc>
                <a:spcPct val="100000"/>
              </a:lnSpc>
              <a:spcBef>
                <a:spcPts val="3500"/>
              </a:spcBef>
              <a:spcAft>
                <a:spcPts val="0"/>
              </a:spcAft>
              <a:buClr>
                <a:schemeClr val="lt1"/>
              </a:buClr>
              <a:buSzPts val="3000"/>
              <a:buFont typeface="Cabin"/>
              <a:buChar char="•"/>
            </a:pPr>
            <a:r>
              <a:rPr lang="en-US" sz="3000" u="none" cap="none" strike="noStrike">
                <a:solidFill>
                  <a:schemeClr val="lt1"/>
                </a:solidFill>
                <a:latin typeface="Arial"/>
                <a:ea typeface="Arial"/>
                <a:cs typeface="Arial"/>
                <a:sym typeface="Arial"/>
              </a:rPr>
              <a:t>Input numbers must be </a:t>
            </a:r>
            <a:r>
              <a:rPr lang="en-US" sz="3000" u="none" cap="none" strike="noStrike">
                <a:solidFill>
                  <a:srgbClr val="FF00FF"/>
                </a:solidFill>
                <a:latin typeface="Arial"/>
                <a:ea typeface="Arial"/>
                <a:cs typeface="Arial"/>
                <a:sym typeface="Arial"/>
              </a:rPr>
              <a:t>converted</a:t>
            </a:r>
            <a:r>
              <a:rPr lang="en-US" sz="3000" u="none" cap="none" strike="noStrike">
                <a:solidFill>
                  <a:schemeClr val="lt1"/>
                </a:solidFill>
                <a:latin typeface="Arial"/>
                <a:ea typeface="Arial"/>
                <a:cs typeface="Arial"/>
                <a:sym typeface="Arial"/>
              </a:rPr>
              <a:t> from strings</a:t>
            </a:r>
            <a:endParaRPr/>
          </a:p>
        </p:txBody>
      </p:sp>
      <p:sp>
        <p:nvSpPr>
          <p:cNvPr id="40" name="Google Shape;40;p3"/>
          <p:cNvSpPr txBox="1"/>
          <p:nvPr/>
        </p:nvSpPr>
        <p:spPr>
          <a:xfrm>
            <a:off x="8342311" y="543379"/>
            <a:ext cx="7099200" cy="827404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name</a:t>
            </a:r>
            <a:r>
              <a:rPr b="0" i="0" lang="en-US" sz="3000" u="none" cap="none" strike="noStrike">
                <a:solidFill>
                  <a:srgbClr val="FF7F00"/>
                </a:solidFill>
                <a:latin typeface="Courier"/>
                <a:ea typeface="Courier"/>
                <a:cs typeface="Courier"/>
                <a:sym typeface="Courier"/>
              </a:rPr>
              <a:t> </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 </a:t>
            </a:r>
            <a:r>
              <a:rPr b="0" i="0" lang="en-US" sz="3000" u="none" cap="none" strike="noStrike">
                <a:solidFill>
                  <a:srgbClr val="FF00FF"/>
                </a:solidFill>
                <a:latin typeface="Courier"/>
                <a:ea typeface="Courier"/>
                <a:cs typeface="Courier"/>
                <a:sym typeface="Courier"/>
              </a:rPr>
              <a:t>input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'Enter:'</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Enter:</a:t>
            </a:r>
            <a:r>
              <a:rPr b="0" i="0" lang="en-US" sz="3000" u="none" cap="none" strike="noStrike">
                <a:solidFill>
                  <a:srgbClr val="00FF00"/>
                </a:solidFill>
                <a:latin typeface="Courier"/>
                <a:ea typeface="Courier"/>
                <a:cs typeface="Courier"/>
                <a:sym typeface="Courier"/>
              </a:rPr>
              <a:t>Chuck</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name</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Chuck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apple</a:t>
            </a:r>
            <a:r>
              <a:rPr b="0" i="0" lang="en-US" sz="3000" u="none" cap="none" strike="noStrike">
                <a:solidFill>
                  <a:srgbClr val="FF7F00"/>
                </a:solidFill>
                <a:latin typeface="Courier"/>
                <a:ea typeface="Courier"/>
                <a:cs typeface="Courier"/>
                <a:sym typeface="Courier"/>
              </a:rPr>
              <a:t> </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 </a:t>
            </a:r>
            <a:r>
              <a:rPr b="0" i="0" lang="en-US" sz="3000" u="none" cap="none" strike="noStrike">
                <a:solidFill>
                  <a:srgbClr val="FF00FF"/>
                </a:solidFill>
                <a:latin typeface="Courier"/>
                <a:ea typeface="Courier"/>
                <a:cs typeface="Courier"/>
                <a:sym typeface="Courier"/>
              </a:rPr>
              <a:t>input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'Enter:'</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Enter:</a:t>
            </a:r>
            <a:r>
              <a:rPr b="0" i="0" lang="en-US" sz="3000" u="none" cap="none" strike="noStrike">
                <a:solidFill>
                  <a:srgbClr val="00FF00"/>
                </a:solidFill>
                <a:latin typeface="Courier"/>
                <a:ea typeface="Courier"/>
                <a:cs typeface="Courier"/>
                <a:sym typeface="Courier"/>
              </a:rPr>
              <a:t>100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x </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apple</a:t>
            </a:r>
            <a:r>
              <a:rPr b="0" i="0" lang="en-US" sz="3000" u="none" cap="none" strike="noStrike">
                <a:solidFill>
                  <a:srgbClr val="FF7F00"/>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 </a:t>
            </a:r>
            <a:r>
              <a:rPr b="0" i="0" lang="en-US" sz="3000" u="none" cap="none" strike="noStrike">
                <a:solidFill>
                  <a:srgbClr val="FF7F00"/>
                </a:solidFill>
                <a:latin typeface="Courier"/>
                <a:ea typeface="Courier"/>
                <a:cs typeface="Courier"/>
                <a:sym typeface="Courier"/>
              </a:rPr>
              <a:t>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750"/>
              <a:buFont typeface="Cabin"/>
              <a:buNone/>
            </a:pPr>
            <a:r>
              <a:rPr b="0" i="0" lang="en-US" sz="3000" u="none" cap="none" strike="noStrike">
                <a:solidFill>
                  <a:srgbClr val="E06666"/>
                </a:solidFill>
                <a:latin typeface="Courier"/>
                <a:ea typeface="Courier"/>
                <a:cs typeface="Courier"/>
                <a:sym typeface="Courier"/>
              </a:rPr>
              <a:t>Traceback (most recent call last):  File "&lt;stdin&gt;", line 1, in &lt;module&gt;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750"/>
              <a:buFont typeface="Cabin"/>
              <a:buNone/>
            </a:pPr>
            <a:r>
              <a:rPr b="0" i="0" lang="en-US" sz="3000" u="none" cap="none" strike="noStrike">
                <a:solidFill>
                  <a:srgbClr val="E06666"/>
                </a:solidFill>
                <a:latin typeface="Courier"/>
                <a:ea typeface="Courier"/>
                <a:cs typeface="Courier"/>
                <a:sym typeface="Courier"/>
              </a:rPr>
              <a:t>TypeError: unsupported operand type(s) for -: 'str' and 'int’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750"/>
              <a:buFont typeface="Cabin"/>
              <a:buNone/>
            </a:pPr>
            <a:r>
              <a:t/>
            </a:r>
            <a:endParaRPr b="0" i="0" sz="3000" u="none" cap="none" strike="noStrike">
              <a:solidFill>
                <a:srgbClr val="E06666"/>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x</a:t>
            </a:r>
            <a:r>
              <a:rPr b="0" i="0" lang="en-US" sz="3000" u="none" cap="none" strike="noStrike">
                <a:solidFill>
                  <a:srgbClr val="FF7F00"/>
                </a:solidFill>
                <a:latin typeface="Courier"/>
                <a:ea typeface="Courier"/>
                <a:cs typeface="Courier"/>
                <a:sym typeface="Courier"/>
              </a:rPr>
              <a:t> </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 </a:t>
            </a:r>
            <a:r>
              <a:rPr b="0" i="0" lang="en-US" sz="3000" u="none" cap="none" strike="noStrike">
                <a:solidFill>
                  <a:srgbClr val="FF00FF"/>
                </a:solidFill>
                <a:latin typeface="Courier"/>
                <a:ea typeface="Courier"/>
                <a:cs typeface="Courier"/>
                <a:sym typeface="Courier"/>
              </a:rPr>
              <a:t>int</a:t>
            </a:r>
            <a:r>
              <a:rPr b="0" i="0" lang="en-US" sz="3000" u="none" cap="none" strike="noStrike">
                <a:solidFill>
                  <a:srgbClr val="FF7F00"/>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apple</a:t>
            </a:r>
            <a:r>
              <a:rPr b="0" i="0" lang="en-US" sz="3000" u="none" cap="none" strike="noStrike">
                <a:solidFill>
                  <a:srgbClr val="FF7F00"/>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x</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90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4"/>
          <p:cNvSpPr txBox="1"/>
          <p:nvPr>
            <p:ph type="title"/>
          </p:nvPr>
        </p:nvSpPr>
        <p:spPr>
          <a:xfrm>
            <a:off x="3028950" y="833718"/>
            <a:ext cx="12058750" cy="17061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Looking Inside Strings</a:t>
            </a:r>
            <a:endParaRPr/>
          </a:p>
        </p:txBody>
      </p:sp>
      <p:sp>
        <p:nvSpPr>
          <p:cNvPr id="46" name="Google Shape;46;p4"/>
          <p:cNvSpPr txBox="1"/>
          <p:nvPr>
            <p:ph idx="1" type="body"/>
          </p:nvPr>
        </p:nvSpPr>
        <p:spPr>
          <a:xfrm>
            <a:off x="1155700" y="2603500"/>
            <a:ext cx="8802688" cy="5702399"/>
          </a:xfrm>
          <a:prstGeom prst="rect">
            <a:avLst/>
          </a:prstGeom>
          <a:noFill/>
          <a:ln>
            <a:noFill/>
          </a:ln>
        </p:spPr>
        <p:txBody>
          <a:bodyPr anchorCtr="0" anchor="ctr" bIns="38100" lIns="38100" spcFirstLastPara="1" rIns="38100" wrap="square" tIns="38100">
            <a:noAutofit/>
          </a:bodyPr>
          <a:lstStyle/>
          <a:p>
            <a:pPr indent="-533400" lvl="0" marL="749300" marR="0" rtl="0" algn="l">
              <a:lnSpc>
                <a:spcPct val="100000"/>
              </a:lnSpc>
              <a:spcBef>
                <a:spcPts val="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We can get at any single character in a string using an index specified in</a:t>
            </a:r>
            <a:r>
              <a:rPr lang="en-US" sz="3600" u="none" cap="none" strike="noStrike">
                <a:solidFill>
                  <a:srgbClr val="00FFFF"/>
                </a:solidFill>
                <a:latin typeface="Arial"/>
                <a:ea typeface="Arial"/>
                <a:cs typeface="Arial"/>
                <a:sym typeface="Arial"/>
              </a:rPr>
              <a:t> square brackets</a:t>
            </a:r>
            <a:endParaRPr/>
          </a:p>
          <a:p>
            <a:pPr indent="-533400" lvl="0" marL="749300" marR="0" rtl="0" algn="l">
              <a:lnSpc>
                <a:spcPct val="100000"/>
              </a:lnSpc>
              <a:spcBef>
                <a:spcPts val="350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The index value must be an integer and starts at zero</a:t>
            </a:r>
            <a:endParaRPr/>
          </a:p>
          <a:p>
            <a:pPr indent="-533400" lvl="0" marL="749300" marR="0" rtl="0" algn="l">
              <a:lnSpc>
                <a:spcPct val="100000"/>
              </a:lnSpc>
              <a:spcBef>
                <a:spcPts val="350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The index value can be an expression that is computed</a:t>
            </a:r>
            <a:endParaRPr/>
          </a:p>
        </p:txBody>
      </p:sp>
      <p:sp>
        <p:nvSpPr>
          <p:cNvPr id="47" name="Google Shape;47;p4"/>
          <p:cNvSpPr txBox="1"/>
          <p:nvPr/>
        </p:nvSpPr>
        <p:spPr>
          <a:xfrm>
            <a:off x="10867921" y="4517526"/>
            <a:ext cx="4878899" cy="4332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fruit</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7F00"/>
                </a:solidFill>
                <a:latin typeface="Courier"/>
                <a:ea typeface="Courier"/>
                <a:cs typeface="Courier"/>
                <a:sym typeface="Courier"/>
              </a:rPr>
              <a:t>'banana'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letter</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00FF00"/>
                </a:solidFill>
                <a:latin typeface="Courier"/>
                <a:ea typeface="Courier"/>
                <a:cs typeface="Courier"/>
                <a:sym typeface="Courier"/>
              </a:rPr>
              <a:t>fruit</a:t>
            </a:r>
            <a:r>
              <a:rPr b="0" i="0" lang="en-US" sz="3000" u="none" cap="none" strike="noStrike">
                <a:solidFill>
                  <a:srgbClr val="00FFFF"/>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1</a:t>
            </a:r>
            <a:r>
              <a:rPr b="0" i="0" lang="en-US" sz="3000" u="none" cap="none" strike="noStrike">
                <a:solidFill>
                  <a:srgbClr val="00FFFF"/>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letter</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a</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x</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7F00"/>
                </a:solidFill>
                <a:latin typeface="Courier"/>
                <a:ea typeface="Courier"/>
                <a:cs typeface="Courier"/>
                <a:sym typeface="Courier"/>
              </a:rPr>
              <a:t>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w</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00FF00"/>
                </a:solidFill>
                <a:latin typeface="Courier"/>
                <a:ea typeface="Courier"/>
                <a:cs typeface="Courier"/>
                <a:sym typeface="Courier"/>
              </a:rPr>
              <a:t>fruit</a:t>
            </a:r>
            <a:r>
              <a:rPr b="0" i="0" lang="en-US" sz="3000" u="none" cap="none" strike="noStrike">
                <a:solidFill>
                  <a:srgbClr val="00FFFF"/>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x</a:t>
            </a:r>
            <a:r>
              <a:rPr b="0" i="0" lang="en-US" sz="3000" u="none" cap="none" strike="noStrike">
                <a:solidFill>
                  <a:srgbClr val="00FFFF"/>
                </a:solidFill>
                <a:latin typeface="Courier"/>
                <a:ea typeface="Courier"/>
                <a:cs typeface="Courier"/>
                <a:sym typeface="Courier"/>
              </a:rPr>
              <a:t> - </a:t>
            </a:r>
            <a:r>
              <a:rPr b="0" i="0" lang="en-US" sz="3000" u="none" cap="none" strike="noStrike">
                <a:solidFill>
                  <a:srgbClr val="FF7F00"/>
                </a:solidFill>
                <a:latin typeface="Courier"/>
                <a:ea typeface="Courier"/>
                <a:cs typeface="Courier"/>
                <a:sym typeface="Courier"/>
              </a:rPr>
              <a:t>1</a:t>
            </a:r>
            <a:r>
              <a:rPr b="0" i="0" lang="en-US" sz="3000" u="none" cap="none" strike="noStrike">
                <a:solidFill>
                  <a:srgbClr val="00FFFF"/>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w</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n</a:t>
            </a:r>
            <a:endParaRPr b="0" i="0" sz="1400" u="none" cap="none" strike="noStrike">
              <a:solidFill>
                <a:srgbClr val="000000"/>
              </a:solidFill>
              <a:latin typeface="Arial"/>
              <a:ea typeface="Arial"/>
              <a:cs typeface="Arial"/>
              <a:sym typeface="Arial"/>
            </a:endParaRPr>
          </a:p>
        </p:txBody>
      </p:sp>
      <p:pic>
        <p:nvPicPr>
          <p:cNvPr id="48" name="Google Shape;48;p4"/>
          <p:cNvPicPr preferRelativeResize="0"/>
          <p:nvPr/>
        </p:nvPicPr>
        <p:blipFill rotWithShape="1">
          <a:blip r:embed="rId3">
            <a:alphaModFix/>
          </a:blip>
          <a:srcRect b="0" l="0" r="0" t="0"/>
          <a:stretch/>
        </p:blipFill>
        <p:spPr>
          <a:xfrm>
            <a:off x="654050" y="908000"/>
            <a:ext cx="2489200" cy="1663317"/>
          </a:xfrm>
          <a:prstGeom prst="rect">
            <a:avLst/>
          </a:prstGeom>
          <a:noFill/>
          <a:ln>
            <a:noFill/>
          </a:ln>
        </p:spPr>
      </p:pic>
      <p:sp>
        <p:nvSpPr>
          <p:cNvPr id="49" name="Google Shape;49;p4"/>
          <p:cNvSpPr txBox="1"/>
          <p:nvPr/>
        </p:nvSpPr>
        <p:spPr>
          <a:xfrm>
            <a:off x="10566400" y="3670300"/>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50" name="Google Shape;50;p4"/>
          <p:cNvSpPr txBox="1"/>
          <p:nvPr/>
        </p:nvSpPr>
        <p:spPr>
          <a:xfrm>
            <a:off x="10566400" y="2933700"/>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b</a:t>
            </a:r>
            <a:endParaRPr b="0" i="0" sz="1400" u="none" cap="none" strike="noStrike">
              <a:solidFill>
                <a:srgbClr val="000000"/>
              </a:solidFill>
              <a:latin typeface="Arial"/>
              <a:ea typeface="Arial"/>
              <a:cs typeface="Arial"/>
              <a:sym typeface="Arial"/>
            </a:endParaRPr>
          </a:p>
        </p:txBody>
      </p:sp>
      <p:sp>
        <p:nvSpPr>
          <p:cNvPr id="51" name="Google Shape;51;p4"/>
          <p:cNvSpPr txBox="1"/>
          <p:nvPr/>
        </p:nvSpPr>
        <p:spPr>
          <a:xfrm>
            <a:off x="11315700" y="3670300"/>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52" name="Google Shape;52;p4"/>
          <p:cNvSpPr txBox="1"/>
          <p:nvPr/>
        </p:nvSpPr>
        <p:spPr>
          <a:xfrm>
            <a:off x="11315700" y="2933700"/>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p:txBody>
      </p:sp>
      <p:sp>
        <p:nvSpPr>
          <p:cNvPr id="53" name="Google Shape;53;p4"/>
          <p:cNvSpPr txBox="1"/>
          <p:nvPr/>
        </p:nvSpPr>
        <p:spPr>
          <a:xfrm>
            <a:off x="12090400" y="3670300"/>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54" name="Google Shape;54;p4"/>
          <p:cNvSpPr txBox="1"/>
          <p:nvPr/>
        </p:nvSpPr>
        <p:spPr>
          <a:xfrm>
            <a:off x="12090400" y="2933700"/>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n</a:t>
            </a:r>
            <a:endParaRPr b="0" i="0" sz="1400" u="none" cap="none" strike="noStrike">
              <a:solidFill>
                <a:srgbClr val="000000"/>
              </a:solidFill>
              <a:latin typeface="Arial"/>
              <a:ea typeface="Arial"/>
              <a:cs typeface="Arial"/>
              <a:sym typeface="Arial"/>
            </a:endParaRPr>
          </a:p>
        </p:txBody>
      </p:sp>
      <p:sp>
        <p:nvSpPr>
          <p:cNvPr id="55" name="Google Shape;55;p4"/>
          <p:cNvSpPr txBox="1"/>
          <p:nvPr/>
        </p:nvSpPr>
        <p:spPr>
          <a:xfrm>
            <a:off x="12839700" y="3670300"/>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56" name="Google Shape;56;p4"/>
          <p:cNvSpPr txBox="1"/>
          <p:nvPr/>
        </p:nvSpPr>
        <p:spPr>
          <a:xfrm>
            <a:off x="12839700" y="2933700"/>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p:txBody>
      </p:sp>
      <p:sp>
        <p:nvSpPr>
          <p:cNvPr id="57" name="Google Shape;57;p4"/>
          <p:cNvSpPr txBox="1"/>
          <p:nvPr/>
        </p:nvSpPr>
        <p:spPr>
          <a:xfrm>
            <a:off x="13563600" y="3670300"/>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58" name="Google Shape;58;p4"/>
          <p:cNvSpPr txBox="1"/>
          <p:nvPr/>
        </p:nvSpPr>
        <p:spPr>
          <a:xfrm>
            <a:off x="13563600" y="2933700"/>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n</a:t>
            </a:r>
            <a:endParaRPr b="0" i="0" sz="1400" u="none" cap="none" strike="noStrike">
              <a:solidFill>
                <a:srgbClr val="000000"/>
              </a:solidFill>
              <a:latin typeface="Arial"/>
              <a:ea typeface="Arial"/>
              <a:cs typeface="Arial"/>
              <a:sym typeface="Arial"/>
            </a:endParaRPr>
          </a:p>
        </p:txBody>
      </p:sp>
      <p:sp>
        <p:nvSpPr>
          <p:cNvPr id="59" name="Google Shape;59;p4"/>
          <p:cNvSpPr txBox="1"/>
          <p:nvPr/>
        </p:nvSpPr>
        <p:spPr>
          <a:xfrm>
            <a:off x="14312900" y="3670300"/>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60" name="Google Shape;60;p4"/>
          <p:cNvSpPr txBox="1"/>
          <p:nvPr/>
        </p:nvSpPr>
        <p:spPr>
          <a:xfrm>
            <a:off x="14312900" y="2933700"/>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5"/>
          <p:cNvSpPr txBox="1"/>
          <p:nvPr>
            <p:ph type="title"/>
          </p:nvPr>
        </p:nvSpPr>
        <p:spPr>
          <a:xfrm>
            <a:off x="1155700" y="833718"/>
            <a:ext cx="13932000" cy="17061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66FF"/>
              </a:buClr>
              <a:buSzPts val="1900"/>
              <a:buFont typeface="Cabin"/>
              <a:buNone/>
            </a:pPr>
            <a:r>
              <a:rPr lang="en-US" sz="7600" u="none" cap="none" strike="noStrike">
                <a:solidFill>
                  <a:srgbClr val="FFD966"/>
                </a:solidFill>
                <a:latin typeface="Arial"/>
                <a:ea typeface="Arial"/>
                <a:cs typeface="Arial"/>
                <a:sym typeface="Arial"/>
              </a:rPr>
              <a:t>A Character Too Far</a:t>
            </a:r>
            <a:endParaRPr/>
          </a:p>
        </p:txBody>
      </p:sp>
      <p:sp>
        <p:nvSpPr>
          <p:cNvPr id="66" name="Google Shape;66;p5"/>
          <p:cNvSpPr txBox="1"/>
          <p:nvPr>
            <p:ph idx="1" type="body"/>
          </p:nvPr>
        </p:nvSpPr>
        <p:spPr>
          <a:xfrm>
            <a:off x="1155700" y="2603500"/>
            <a:ext cx="6245225" cy="5188301"/>
          </a:xfrm>
          <a:prstGeom prst="rect">
            <a:avLst/>
          </a:prstGeom>
          <a:noFill/>
          <a:ln>
            <a:noFill/>
          </a:ln>
        </p:spPr>
        <p:txBody>
          <a:bodyPr anchorCtr="0" anchor="ctr" bIns="38100" lIns="38100" spcFirstLastPara="1" rIns="38100" wrap="square" tIns="38100">
            <a:noAutofit/>
          </a:bodyPr>
          <a:lstStyle/>
          <a:p>
            <a:pPr indent="-533400" lvl="0" marL="749300" marR="0" rtl="0" algn="l">
              <a:lnSpc>
                <a:spcPct val="100000"/>
              </a:lnSpc>
              <a:spcBef>
                <a:spcPts val="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You will get a </a:t>
            </a:r>
            <a:r>
              <a:rPr lang="en-US" sz="3600" u="none" cap="none" strike="noStrike">
                <a:solidFill>
                  <a:srgbClr val="E06666"/>
                </a:solidFill>
                <a:latin typeface="Arial"/>
                <a:ea typeface="Arial"/>
                <a:cs typeface="Arial"/>
                <a:sym typeface="Arial"/>
              </a:rPr>
              <a:t>python error</a:t>
            </a:r>
            <a:r>
              <a:rPr lang="en-US" sz="3600" u="none" cap="none" strike="noStrike">
                <a:solidFill>
                  <a:schemeClr val="lt1"/>
                </a:solidFill>
                <a:latin typeface="Arial"/>
                <a:ea typeface="Arial"/>
                <a:cs typeface="Arial"/>
                <a:sym typeface="Arial"/>
              </a:rPr>
              <a:t> if you attempt to index beyond the end of a string.</a:t>
            </a:r>
            <a:endParaRPr sz="3600" u="none" cap="none" strike="noStrike">
              <a:solidFill>
                <a:schemeClr val="lt1"/>
              </a:solidFill>
              <a:latin typeface="Arial"/>
              <a:ea typeface="Arial"/>
              <a:cs typeface="Arial"/>
              <a:sym typeface="Arial"/>
            </a:endParaRPr>
          </a:p>
          <a:p>
            <a:pPr indent="-533400" lvl="0" marL="749300" marR="0" rtl="0" algn="l">
              <a:lnSpc>
                <a:spcPct val="100000"/>
              </a:lnSpc>
              <a:spcBef>
                <a:spcPts val="350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So be careful when constructing index values.</a:t>
            </a:r>
            <a:endParaRPr sz="3600" u="none" cap="none" strike="noStrike">
              <a:solidFill>
                <a:schemeClr val="lt1"/>
              </a:solidFill>
              <a:latin typeface="Arial"/>
              <a:ea typeface="Arial"/>
              <a:cs typeface="Arial"/>
              <a:sym typeface="Arial"/>
            </a:endParaRPr>
          </a:p>
        </p:txBody>
      </p:sp>
      <p:sp>
        <p:nvSpPr>
          <p:cNvPr id="67" name="Google Shape;67;p5"/>
          <p:cNvSpPr txBox="1"/>
          <p:nvPr/>
        </p:nvSpPr>
        <p:spPr>
          <a:xfrm>
            <a:off x="8759825" y="3239110"/>
            <a:ext cx="6845400" cy="374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zot</a:t>
            </a:r>
            <a:r>
              <a:rPr b="0" i="0" lang="en-US" sz="3000" u="none" cap="none" strike="noStrike">
                <a:solidFill>
                  <a:srgbClr val="FF7F00"/>
                </a:solidFill>
                <a:latin typeface="Courier"/>
                <a:ea typeface="Courier"/>
                <a:cs typeface="Courier"/>
                <a:sym typeface="Courier"/>
              </a:rPr>
              <a:t> </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 'abc'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zot</a:t>
            </a:r>
            <a:r>
              <a:rPr b="0" i="0" lang="en-US" sz="3000" u="none" cap="none" strike="noStrike">
                <a:solidFill>
                  <a:srgbClr val="00FFFF"/>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5</a:t>
            </a:r>
            <a:r>
              <a:rPr b="0" i="0" lang="en-US" sz="3000" u="none" cap="none" strike="noStrike">
                <a:solidFill>
                  <a:srgbClr val="00FFFF"/>
                </a:solidFill>
                <a:latin typeface="Courier"/>
                <a:ea typeface="Courier"/>
                <a:cs typeface="Courier"/>
                <a:sym typeface="Courier"/>
              </a:rPr>
              <a:t>]</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66FF"/>
              </a:buClr>
              <a:buSzPts val="750"/>
              <a:buFont typeface="Cabin"/>
              <a:buNone/>
            </a:pPr>
            <a:r>
              <a:rPr b="0" i="0" lang="en-US" sz="3000" u="none" cap="none" strike="noStrike">
                <a:solidFill>
                  <a:srgbClr val="E06666"/>
                </a:solidFill>
                <a:latin typeface="Courier"/>
                <a:ea typeface="Courier"/>
                <a:cs typeface="Courier"/>
                <a:sym typeface="Courier"/>
              </a:rPr>
              <a:t>Traceback (most recent call last):  File "&lt;stdin&gt;", line 1, in &lt;module&gt;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66FF"/>
              </a:buClr>
              <a:buSzPts val="750"/>
              <a:buFont typeface="Cabin"/>
              <a:buNone/>
            </a:pPr>
            <a:r>
              <a:rPr b="0" i="0" lang="en-US" sz="3000" u="none" cap="none" strike="noStrike">
                <a:solidFill>
                  <a:srgbClr val="E06666"/>
                </a:solidFill>
                <a:latin typeface="Courier"/>
                <a:ea typeface="Courier"/>
                <a:cs typeface="Courier"/>
                <a:sym typeface="Courier"/>
              </a:rPr>
              <a:t>IndexError: string index out of range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6"/>
          <p:cNvSpPr txBox="1"/>
          <p:nvPr>
            <p:ph type="title"/>
          </p:nvPr>
        </p:nvSpPr>
        <p:spPr>
          <a:xfrm>
            <a:off x="1155700" y="833718"/>
            <a:ext cx="13932000" cy="17061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Strings Have Length</a:t>
            </a:r>
            <a:endParaRPr/>
          </a:p>
        </p:txBody>
      </p:sp>
      <p:sp>
        <p:nvSpPr>
          <p:cNvPr id="73" name="Google Shape;73;p6"/>
          <p:cNvSpPr txBox="1"/>
          <p:nvPr>
            <p:ph idx="1" type="body"/>
          </p:nvPr>
        </p:nvSpPr>
        <p:spPr>
          <a:xfrm>
            <a:off x="1155700" y="2603501"/>
            <a:ext cx="7386041" cy="4608474"/>
          </a:xfrm>
          <a:prstGeom prst="rect">
            <a:avLst/>
          </a:prstGeom>
          <a:noFill/>
          <a:ln>
            <a:noFill/>
          </a:ln>
        </p:spPr>
        <p:txBody>
          <a:bodyPr anchorCtr="0" anchor="ctr" bIns="38100" lIns="38100" spcFirstLastPara="1" rIns="38100" wrap="square" tIns="38100">
            <a:noAutofit/>
          </a:bodyPr>
          <a:lstStyle/>
          <a:p>
            <a:pPr indent="0" lvl="0" marL="215900" marR="0" rtl="0" algn="l">
              <a:lnSpc>
                <a:spcPct val="100000"/>
              </a:lnSpc>
              <a:spcBef>
                <a:spcPts val="0"/>
              </a:spcBef>
              <a:spcAft>
                <a:spcPts val="0"/>
              </a:spcAft>
              <a:buClr>
                <a:schemeClr val="lt1"/>
              </a:buClr>
              <a:buSzPts val="6840"/>
              <a:buNone/>
            </a:pPr>
            <a:r>
              <a:rPr lang="en-US" sz="4000" u="none" cap="none" strike="noStrike">
                <a:solidFill>
                  <a:schemeClr val="lt1"/>
                </a:solidFill>
                <a:latin typeface="Arial"/>
                <a:ea typeface="Arial"/>
                <a:cs typeface="Arial"/>
                <a:sym typeface="Arial"/>
              </a:rPr>
              <a:t>The built-in function </a:t>
            </a:r>
            <a:r>
              <a:rPr lang="en-US" sz="4000" u="none" cap="none" strike="noStrike">
                <a:solidFill>
                  <a:srgbClr val="FF00FF"/>
                </a:solidFill>
                <a:latin typeface="Arial"/>
                <a:ea typeface="Arial"/>
                <a:cs typeface="Arial"/>
                <a:sym typeface="Arial"/>
              </a:rPr>
              <a:t>len</a:t>
            </a:r>
            <a:r>
              <a:rPr lang="en-US" sz="4000" u="none" cap="none" strike="noStrike">
                <a:solidFill>
                  <a:schemeClr val="lt1"/>
                </a:solidFill>
                <a:latin typeface="Arial"/>
                <a:ea typeface="Arial"/>
                <a:cs typeface="Arial"/>
                <a:sym typeface="Arial"/>
              </a:rPr>
              <a:t> gives us the length of a string</a:t>
            </a:r>
            <a:endParaRPr/>
          </a:p>
        </p:txBody>
      </p:sp>
      <p:sp>
        <p:nvSpPr>
          <p:cNvPr id="74" name="Google Shape;74;p6"/>
          <p:cNvSpPr txBox="1"/>
          <p:nvPr/>
        </p:nvSpPr>
        <p:spPr>
          <a:xfrm>
            <a:off x="9947700" y="5551475"/>
            <a:ext cx="6308099" cy="16604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rgbClr val="00FF00"/>
                </a:solidFill>
                <a:latin typeface="Courier"/>
                <a:ea typeface="Courier"/>
                <a:cs typeface="Courier"/>
                <a:sym typeface="Courier"/>
              </a:rPr>
              <a:t>fruit</a:t>
            </a:r>
            <a:r>
              <a:rPr b="0" i="0" lang="en-US" sz="3600" u="none" cap="none" strike="noStrike">
                <a:solidFill>
                  <a:schemeClr val="lt1"/>
                </a:solidFill>
                <a:latin typeface="Courier"/>
                <a:ea typeface="Courier"/>
                <a:cs typeface="Courier"/>
                <a:sym typeface="Courier"/>
              </a:rPr>
              <a:t> = </a:t>
            </a:r>
            <a:r>
              <a:rPr b="0" i="0" lang="en-US" sz="3600" u="none" cap="none" strike="noStrike">
                <a:solidFill>
                  <a:srgbClr val="FF7F00"/>
                </a:solidFill>
                <a:latin typeface="Courier"/>
                <a:ea typeface="Courier"/>
                <a:cs typeface="Courier"/>
                <a:sym typeface="Courier"/>
              </a:rPr>
              <a:t>'banana'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rgbClr val="FFFF00"/>
                </a:solidFill>
                <a:latin typeface="Courier"/>
                <a:ea typeface="Courier"/>
                <a:cs typeface="Courier"/>
                <a:sym typeface="Courier"/>
              </a:rPr>
              <a:t>print</a:t>
            </a:r>
            <a:r>
              <a:rPr b="0" i="0" lang="en-US" sz="3600" u="none" cap="none" strike="noStrike">
                <a:solidFill>
                  <a:schemeClr val="lt1"/>
                </a:solidFill>
                <a:latin typeface="Courier"/>
                <a:ea typeface="Courier"/>
                <a:cs typeface="Courier"/>
                <a:sym typeface="Courier"/>
              </a:rPr>
              <a:t>(</a:t>
            </a:r>
            <a:r>
              <a:rPr b="0" i="0" lang="en-US" sz="3600" u="none" cap="none" strike="noStrike">
                <a:solidFill>
                  <a:srgbClr val="FF00FF"/>
                </a:solidFill>
                <a:latin typeface="Courier"/>
                <a:ea typeface="Courier"/>
                <a:cs typeface="Courier"/>
                <a:sym typeface="Courier"/>
              </a:rPr>
              <a:t>len</a:t>
            </a:r>
            <a:r>
              <a:rPr b="0" i="0" lang="en-US" sz="3600" u="none" cap="none" strike="noStrike">
                <a:solidFill>
                  <a:schemeClr val="lt1"/>
                </a:solidFill>
                <a:latin typeface="Courier"/>
                <a:ea typeface="Courier"/>
                <a:cs typeface="Courier"/>
                <a:sym typeface="Courier"/>
              </a:rPr>
              <a:t>(</a:t>
            </a:r>
            <a:r>
              <a:rPr b="0" i="0" lang="en-US" sz="3600" u="none" cap="none" strike="noStrike">
                <a:solidFill>
                  <a:srgbClr val="00FF00"/>
                </a:solidFill>
                <a:latin typeface="Courier"/>
                <a:ea typeface="Courier"/>
                <a:cs typeface="Courier"/>
                <a:sym typeface="Courier"/>
              </a:rPr>
              <a:t>fruit</a:t>
            </a:r>
            <a:r>
              <a:rPr b="0" i="0" lang="en-US" sz="3600" u="none" cap="none" strike="noStrike">
                <a:solidFill>
                  <a:schemeClr val="lt1"/>
                </a:solidFill>
                <a:latin typeface="Courier"/>
                <a:ea typeface="Courier"/>
                <a:cs typeface="Courier"/>
                <a:sym typeface="Courier"/>
              </a:rPr>
              <a:t>))</a:t>
            </a:r>
            <a:endParaRPr b="0" i="0" sz="3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Courier"/>
                <a:ea typeface="Courier"/>
                <a:cs typeface="Courier"/>
                <a:sym typeface="Courier"/>
              </a:rPr>
              <a:t>6</a:t>
            </a:r>
            <a:endParaRPr b="0" i="0" sz="1400" u="none" cap="none" strike="noStrike">
              <a:solidFill>
                <a:srgbClr val="000000"/>
              </a:solidFill>
              <a:latin typeface="Arial"/>
              <a:ea typeface="Arial"/>
              <a:cs typeface="Arial"/>
              <a:sym typeface="Arial"/>
            </a:endParaRPr>
          </a:p>
        </p:txBody>
      </p:sp>
      <p:sp>
        <p:nvSpPr>
          <p:cNvPr id="75" name="Google Shape;75;p6"/>
          <p:cNvSpPr txBox="1"/>
          <p:nvPr/>
        </p:nvSpPr>
        <p:spPr>
          <a:xfrm>
            <a:off x="10375900" y="4216400"/>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76" name="Google Shape;76;p6"/>
          <p:cNvSpPr txBox="1"/>
          <p:nvPr/>
        </p:nvSpPr>
        <p:spPr>
          <a:xfrm>
            <a:off x="10375900" y="3479800"/>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b</a:t>
            </a:r>
            <a:endParaRPr b="0" i="0" sz="1400" u="none" cap="none" strike="noStrike">
              <a:solidFill>
                <a:srgbClr val="000000"/>
              </a:solidFill>
              <a:latin typeface="Arial"/>
              <a:ea typeface="Arial"/>
              <a:cs typeface="Arial"/>
              <a:sym typeface="Arial"/>
            </a:endParaRPr>
          </a:p>
        </p:txBody>
      </p:sp>
      <p:sp>
        <p:nvSpPr>
          <p:cNvPr id="77" name="Google Shape;77;p6"/>
          <p:cNvSpPr txBox="1"/>
          <p:nvPr/>
        </p:nvSpPr>
        <p:spPr>
          <a:xfrm>
            <a:off x="11125200" y="4216400"/>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78" name="Google Shape;78;p6"/>
          <p:cNvSpPr txBox="1"/>
          <p:nvPr/>
        </p:nvSpPr>
        <p:spPr>
          <a:xfrm>
            <a:off x="11125200" y="3479800"/>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p:txBody>
      </p:sp>
      <p:sp>
        <p:nvSpPr>
          <p:cNvPr id="79" name="Google Shape;79;p6"/>
          <p:cNvSpPr txBox="1"/>
          <p:nvPr/>
        </p:nvSpPr>
        <p:spPr>
          <a:xfrm>
            <a:off x="11899900" y="4216400"/>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80" name="Google Shape;80;p6"/>
          <p:cNvSpPr txBox="1"/>
          <p:nvPr/>
        </p:nvSpPr>
        <p:spPr>
          <a:xfrm>
            <a:off x="11899900" y="3479800"/>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n</a:t>
            </a:r>
            <a:endParaRPr b="0" i="0" sz="1400" u="none" cap="none" strike="noStrike">
              <a:solidFill>
                <a:srgbClr val="000000"/>
              </a:solidFill>
              <a:latin typeface="Arial"/>
              <a:ea typeface="Arial"/>
              <a:cs typeface="Arial"/>
              <a:sym typeface="Arial"/>
            </a:endParaRPr>
          </a:p>
        </p:txBody>
      </p:sp>
      <p:sp>
        <p:nvSpPr>
          <p:cNvPr id="81" name="Google Shape;81;p6"/>
          <p:cNvSpPr txBox="1"/>
          <p:nvPr/>
        </p:nvSpPr>
        <p:spPr>
          <a:xfrm>
            <a:off x="12649200" y="4216400"/>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82" name="Google Shape;82;p6"/>
          <p:cNvSpPr txBox="1"/>
          <p:nvPr/>
        </p:nvSpPr>
        <p:spPr>
          <a:xfrm>
            <a:off x="12649200" y="3479800"/>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p:txBody>
      </p:sp>
      <p:sp>
        <p:nvSpPr>
          <p:cNvPr id="83" name="Google Shape;83;p6"/>
          <p:cNvSpPr txBox="1"/>
          <p:nvPr/>
        </p:nvSpPr>
        <p:spPr>
          <a:xfrm>
            <a:off x="13373100" y="4216400"/>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84" name="Google Shape;84;p6"/>
          <p:cNvSpPr txBox="1"/>
          <p:nvPr/>
        </p:nvSpPr>
        <p:spPr>
          <a:xfrm>
            <a:off x="13373100" y="3479800"/>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n</a:t>
            </a:r>
            <a:endParaRPr b="0" i="0" sz="1400" u="none" cap="none" strike="noStrike">
              <a:solidFill>
                <a:srgbClr val="000000"/>
              </a:solidFill>
              <a:latin typeface="Arial"/>
              <a:ea typeface="Arial"/>
              <a:cs typeface="Arial"/>
              <a:sym typeface="Arial"/>
            </a:endParaRPr>
          </a:p>
        </p:txBody>
      </p:sp>
      <p:sp>
        <p:nvSpPr>
          <p:cNvPr id="85" name="Google Shape;85;p6"/>
          <p:cNvSpPr txBox="1"/>
          <p:nvPr/>
        </p:nvSpPr>
        <p:spPr>
          <a:xfrm>
            <a:off x="14122400" y="4216400"/>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86" name="Google Shape;86;p6"/>
          <p:cNvSpPr txBox="1"/>
          <p:nvPr/>
        </p:nvSpPr>
        <p:spPr>
          <a:xfrm>
            <a:off x="14122400" y="3479800"/>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7"/>
          <p:cNvSpPr txBox="1"/>
          <p:nvPr>
            <p:ph type="title"/>
          </p:nvPr>
        </p:nvSpPr>
        <p:spPr>
          <a:xfrm>
            <a:off x="1155700" y="833718"/>
            <a:ext cx="13932000" cy="17061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Looping Through Strings</a:t>
            </a:r>
            <a:endParaRPr/>
          </a:p>
        </p:txBody>
      </p:sp>
      <p:sp>
        <p:nvSpPr>
          <p:cNvPr id="92" name="Google Shape;92;p7"/>
          <p:cNvSpPr txBox="1"/>
          <p:nvPr>
            <p:ph idx="1" type="body"/>
          </p:nvPr>
        </p:nvSpPr>
        <p:spPr>
          <a:xfrm>
            <a:off x="1155701" y="2603500"/>
            <a:ext cx="5711410" cy="5702399"/>
          </a:xfrm>
          <a:prstGeom prst="rect">
            <a:avLst/>
          </a:prstGeom>
          <a:noFill/>
          <a:ln>
            <a:noFill/>
          </a:ln>
        </p:spPr>
        <p:txBody>
          <a:bodyPr anchorCtr="0" anchor="ctr" bIns="38100" lIns="38100" spcFirstLastPara="1" rIns="38100" wrap="square" tIns="38100">
            <a:noAutofit/>
          </a:bodyPr>
          <a:lstStyle/>
          <a:p>
            <a:pPr indent="0" lvl="0" marL="215900" marR="0" rtl="0" algn="l">
              <a:lnSpc>
                <a:spcPct val="100000"/>
              </a:lnSpc>
              <a:spcBef>
                <a:spcPts val="0"/>
              </a:spcBef>
              <a:spcAft>
                <a:spcPts val="0"/>
              </a:spcAft>
              <a:buClr>
                <a:schemeClr val="lt1"/>
              </a:buClr>
              <a:buSzPts val="6156"/>
              <a:buNone/>
            </a:pPr>
            <a:r>
              <a:rPr lang="en-US" sz="3600" u="none" cap="none" strike="noStrike">
                <a:solidFill>
                  <a:schemeClr val="lt1"/>
                </a:solidFill>
                <a:latin typeface="Arial"/>
                <a:ea typeface="Arial"/>
                <a:cs typeface="Arial"/>
                <a:sym typeface="Arial"/>
              </a:rPr>
              <a:t>Using a </a:t>
            </a:r>
            <a:r>
              <a:rPr lang="en-US" sz="3600" u="none" cap="none" strike="noStrike">
                <a:solidFill>
                  <a:srgbClr val="FFFF00"/>
                </a:solidFill>
                <a:latin typeface="Arial"/>
                <a:ea typeface="Arial"/>
                <a:cs typeface="Arial"/>
                <a:sym typeface="Arial"/>
              </a:rPr>
              <a:t>while</a:t>
            </a:r>
            <a:r>
              <a:rPr lang="en-US" sz="3600" u="none" cap="none" strike="noStrike">
                <a:solidFill>
                  <a:schemeClr val="lt1"/>
                </a:solidFill>
                <a:latin typeface="Arial"/>
                <a:ea typeface="Arial"/>
                <a:cs typeface="Arial"/>
                <a:sym typeface="Arial"/>
              </a:rPr>
              <a:t> statement, an </a:t>
            </a:r>
            <a:r>
              <a:rPr lang="en-US" sz="3600" u="none" cap="none" strike="noStrike">
                <a:solidFill>
                  <a:srgbClr val="00FF00"/>
                </a:solidFill>
                <a:latin typeface="Arial"/>
                <a:ea typeface="Arial"/>
                <a:cs typeface="Arial"/>
                <a:sym typeface="Arial"/>
              </a:rPr>
              <a:t>iteration variable</a:t>
            </a:r>
            <a:r>
              <a:rPr lang="en-US" sz="3600" u="none" cap="none" strike="noStrike">
                <a:solidFill>
                  <a:schemeClr val="lt1"/>
                </a:solidFill>
                <a:latin typeface="Arial"/>
                <a:ea typeface="Arial"/>
                <a:cs typeface="Arial"/>
                <a:sym typeface="Arial"/>
              </a:rPr>
              <a:t>, and the </a:t>
            </a:r>
            <a:r>
              <a:rPr lang="en-US" sz="3600" u="none" cap="none" strike="noStrike">
                <a:solidFill>
                  <a:srgbClr val="FF00FF"/>
                </a:solidFill>
                <a:latin typeface="Arial"/>
                <a:ea typeface="Arial"/>
                <a:cs typeface="Arial"/>
                <a:sym typeface="Arial"/>
              </a:rPr>
              <a:t>len</a:t>
            </a:r>
            <a:r>
              <a:rPr lang="en-US" sz="3600" u="none" cap="none" strike="noStrike">
                <a:solidFill>
                  <a:schemeClr val="lt1"/>
                </a:solidFill>
                <a:latin typeface="Arial"/>
                <a:ea typeface="Arial"/>
                <a:cs typeface="Arial"/>
                <a:sym typeface="Arial"/>
              </a:rPr>
              <a:t> function, we can construct a loop to look at each of the letters in a string individually</a:t>
            </a:r>
            <a:endParaRPr/>
          </a:p>
        </p:txBody>
      </p:sp>
      <p:sp>
        <p:nvSpPr>
          <p:cNvPr id="93" name="Google Shape;93;p7"/>
          <p:cNvSpPr txBox="1"/>
          <p:nvPr/>
        </p:nvSpPr>
        <p:spPr>
          <a:xfrm>
            <a:off x="8239813" y="3690900"/>
            <a:ext cx="5945399" cy="332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fruit = 'banana'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750"/>
              <a:buFont typeface="Cabin"/>
              <a:buNone/>
            </a:pPr>
            <a:r>
              <a:rPr b="0" i="0" lang="en-US" sz="3000" u="none" cap="none" strike="noStrike">
                <a:solidFill>
                  <a:srgbClr val="00FF00"/>
                </a:solidFill>
                <a:latin typeface="Courier"/>
                <a:ea typeface="Courier"/>
                <a:cs typeface="Courier"/>
                <a:sym typeface="Courier"/>
              </a:rPr>
              <a:t>index</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7F00"/>
                </a:solidFill>
                <a:latin typeface="Courier"/>
                <a:ea typeface="Courier"/>
                <a:cs typeface="Courier"/>
                <a:sym typeface="Courier"/>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750"/>
              <a:buFont typeface="Cabin"/>
              <a:buNone/>
            </a:pPr>
            <a:r>
              <a:rPr b="0" i="0" lang="en-US" sz="3000" u="none" cap="none" strike="noStrike">
                <a:solidFill>
                  <a:srgbClr val="FFFF00"/>
                </a:solidFill>
                <a:latin typeface="Courier"/>
                <a:ea typeface="Courier"/>
                <a:cs typeface="Courier"/>
                <a:sym typeface="Courier"/>
              </a:rPr>
              <a:t>while</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index</a:t>
            </a:r>
            <a:r>
              <a:rPr b="0" i="0" lang="en-US" sz="3000" u="none" cap="none" strike="noStrike">
                <a:solidFill>
                  <a:schemeClr val="lt1"/>
                </a:solidFill>
                <a:latin typeface="Courier"/>
                <a:ea typeface="Courier"/>
                <a:cs typeface="Courier"/>
                <a:sym typeface="Courier"/>
              </a:rPr>
              <a:t> &lt; </a:t>
            </a:r>
            <a:r>
              <a:rPr b="0" i="0" lang="en-US" sz="3000" u="none" cap="none" strike="noStrike">
                <a:solidFill>
                  <a:srgbClr val="FF00FF"/>
                </a:solidFill>
                <a:latin typeface="Courier"/>
                <a:ea typeface="Courier"/>
                <a:cs typeface="Courier"/>
                <a:sym typeface="Courier"/>
              </a:rPr>
              <a:t>len</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fruit</a:t>
            </a:r>
            <a:r>
              <a:rPr b="0" i="0" lang="en-US" sz="3000" u="none" cap="none" strike="noStrike">
                <a:solidFill>
                  <a:schemeClr val="lt1"/>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letter</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00FF00"/>
                </a:solidFill>
                <a:latin typeface="Courier"/>
                <a:ea typeface="Courier"/>
                <a:cs typeface="Courier"/>
                <a:sym typeface="Courier"/>
              </a:rPr>
              <a:t>fruit</a:t>
            </a:r>
            <a:r>
              <a:rPr b="0" i="0" lang="en-US" sz="3000" u="none" cap="none" strike="noStrike">
                <a:solidFill>
                  <a:srgbClr val="00FFFF"/>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index</a:t>
            </a:r>
            <a:r>
              <a:rPr b="0" i="0" lang="en-US" sz="3000" u="none" cap="none" strike="noStrike">
                <a:solidFill>
                  <a:srgbClr val="00FFFF"/>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(index, </a:t>
            </a:r>
            <a:r>
              <a:rPr b="0" i="0" lang="en-US" sz="3000" u="none" cap="none" strike="noStrike">
                <a:solidFill>
                  <a:srgbClr val="00FF00"/>
                </a:solidFill>
                <a:latin typeface="Courier"/>
                <a:ea typeface="Courier"/>
                <a:cs typeface="Courier"/>
                <a:sym typeface="Courier"/>
              </a:rPr>
              <a:t>letter</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index</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00FF00"/>
                </a:solidFill>
                <a:latin typeface="Courier"/>
                <a:ea typeface="Courier"/>
                <a:cs typeface="Courier"/>
                <a:sym typeface="Courier"/>
              </a:rPr>
              <a:t>index</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7F00"/>
                </a:solidFill>
                <a:latin typeface="Courier"/>
                <a:ea typeface="Courier"/>
                <a:cs typeface="Courier"/>
                <a:sym typeface="Courier"/>
              </a:rPr>
              <a:t>1</a:t>
            </a:r>
            <a:endParaRPr b="0" i="0" sz="1400" u="none" cap="none" strike="noStrike">
              <a:solidFill>
                <a:srgbClr val="000000"/>
              </a:solidFill>
              <a:latin typeface="Arial"/>
              <a:ea typeface="Arial"/>
              <a:cs typeface="Arial"/>
              <a:sym typeface="Arial"/>
            </a:endParaRPr>
          </a:p>
        </p:txBody>
      </p:sp>
      <p:sp>
        <p:nvSpPr>
          <p:cNvPr id="94" name="Google Shape;94;p7"/>
          <p:cNvSpPr txBox="1"/>
          <p:nvPr/>
        </p:nvSpPr>
        <p:spPr>
          <a:xfrm>
            <a:off x="14728825" y="3740150"/>
            <a:ext cx="698400" cy="32258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0 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1 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2 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3 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4 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5 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8"/>
          <p:cNvSpPr txBox="1"/>
          <p:nvPr>
            <p:ph type="title"/>
          </p:nvPr>
        </p:nvSpPr>
        <p:spPr>
          <a:xfrm>
            <a:off x="1155700" y="833718"/>
            <a:ext cx="13932000" cy="17061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Looping Through Strings</a:t>
            </a:r>
            <a:endParaRPr/>
          </a:p>
        </p:txBody>
      </p:sp>
      <p:sp>
        <p:nvSpPr>
          <p:cNvPr id="100" name="Google Shape;100;p8"/>
          <p:cNvSpPr txBox="1"/>
          <p:nvPr>
            <p:ph idx="1" type="body"/>
          </p:nvPr>
        </p:nvSpPr>
        <p:spPr>
          <a:xfrm>
            <a:off x="1155701" y="2603500"/>
            <a:ext cx="5947431" cy="5702399"/>
          </a:xfrm>
          <a:prstGeom prst="rect">
            <a:avLst/>
          </a:prstGeom>
          <a:noFill/>
          <a:ln>
            <a:noFill/>
          </a:ln>
        </p:spPr>
        <p:txBody>
          <a:bodyPr anchorCtr="0" anchor="ctr" bIns="38100" lIns="38100" spcFirstLastPara="1" rIns="38100" wrap="square" tIns="38100">
            <a:noAutofit/>
          </a:bodyPr>
          <a:lstStyle/>
          <a:p>
            <a:pPr indent="-533400" lvl="0" marL="749300" marR="0" rtl="0" algn="l">
              <a:lnSpc>
                <a:spcPct val="100000"/>
              </a:lnSpc>
              <a:spcBef>
                <a:spcPts val="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A definite loop using a </a:t>
            </a:r>
            <a:r>
              <a:rPr lang="en-US" sz="3600" u="none" cap="none" strike="noStrike">
                <a:solidFill>
                  <a:srgbClr val="FFFF00"/>
                </a:solidFill>
                <a:latin typeface="Arial"/>
                <a:ea typeface="Arial"/>
                <a:cs typeface="Arial"/>
                <a:sym typeface="Arial"/>
              </a:rPr>
              <a:t>for</a:t>
            </a:r>
            <a:r>
              <a:rPr lang="en-US" sz="3600" u="none" cap="none" strike="noStrike">
                <a:solidFill>
                  <a:schemeClr val="lt1"/>
                </a:solidFill>
                <a:latin typeface="Arial"/>
                <a:ea typeface="Arial"/>
                <a:cs typeface="Arial"/>
                <a:sym typeface="Arial"/>
              </a:rPr>
              <a:t> statement is much more elegant</a:t>
            </a:r>
            <a:endParaRPr/>
          </a:p>
          <a:p>
            <a:pPr indent="-533400" lvl="0" marL="749300" marR="0" rtl="0" algn="l">
              <a:lnSpc>
                <a:spcPct val="100000"/>
              </a:lnSpc>
              <a:spcBef>
                <a:spcPts val="350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The </a:t>
            </a:r>
            <a:r>
              <a:rPr lang="en-US" sz="3600" u="none" cap="none" strike="noStrike">
                <a:solidFill>
                  <a:srgbClr val="00FF00"/>
                </a:solidFill>
                <a:latin typeface="Arial"/>
                <a:ea typeface="Arial"/>
                <a:cs typeface="Arial"/>
                <a:sym typeface="Arial"/>
              </a:rPr>
              <a:t>iteration variable</a:t>
            </a:r>
            <a:r>
              <a:rPr lang="en-US" sz="3600" u="none" cap="none" strike="noStrike">
                <a:solidFill>
                  <a:schemeClr val="lt1"/>
                </a:solidFill>
                <a:latin typeface="Arial"/>
                <a:ea typeface="Arial"/>
                <a:cs typeface="Arial"/>
                <a:sym typeface="Arial"/>
              </a:rPr>
              <a:t> is completely taken care of by the </a:t>
            </a:r>
            <a:r>
              <a:rPr lang="en-US" sz="3600" u="none" cap="none" strike="noStrike">
                <a:solidFill>
                  <a:srgbClr val="FFFF00"/>
                </a:solidFill>
                <a:latin typeface="Arial"/>
                <a:ea typeface="Arial"/>
                <a:cs typeface="Arial"/>
                <a:sym typeface="Arial"/>
              </a:rPr>
              <a:t>for</a:t>
            </a:r>
            <a:r>
              <a:rPr lang="en-US" sz="3600" u="none" cap="none" strike="noStrike">
                <a:solidFill>
                  <a:schemeClr val="lt1"/>
                </a:solidFill>
                <a:latin typeface="Arial"/>
                <a:ea typeface="Arial"/>
                <a:cs typeface="Arial"/>
                <a:sym typeface="Arial"/>
              </a:rPr>
              <a:t> loop</a:t>
            </a:r>
            <a:endParaRPr/>
          </a:p>
        </p:txBody>
      </p:sp>
      <p:sp>
        <p:nvSpPr>
          <p:cNvPr id="101" name="Google Shape;101;p8"/>
          <p:cNvSpPr txBox="1"/>
          <p:nvPr/>
        </p:nvSpPr>
        <p:spPr>
          <a:xfrm>
            <a:off x="15122525" y="3740150"/>
            <a:ext cx="342899" cy="322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p:txBody>
      </p:sp>
      <p:sp>
        <p:nvSpPr>
          <p:cNvPr id="102" name="Google Shape;102;p8"/>
          <p:cNvSpPr txBox="1"/>
          <p:nvPr/>
        </p:nvSpPr>
        <p:spPr>
          <a:xfrm>
            <a:off x="8774825" y="4454221"/>
            <a:ext cx="6059999" cy="166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900"/>
              <a:buFont typeface="Cabin"/>
              <a:buNone/>
            </a:pPr>
            <a:r>
              <a:rPr b="0" i="0" lang="en-US" sz="3600" u="none" cap="none" strike="noStrike">
                <a:solidFill>
                  <a:srgbClr val="FFFF00"/>
                </a:solidFill>
                <a:latin typeface="Courier"/>
                <a:ea typeface="Courier"/>
                <a:cs typeface="Courier"/>
                <a:sym typeface="Courier"/>
              </a:rPr>
              <a:t>fruit = 'banana'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900"/>
              <a:buFont typeface="Cabin"/>
              <a:buNone/>
            </a:pPr>
            <a:r>
              <a:rPr b="0" i="0" lang="en-US" sz="3600" u="none" cap="none" strike="noStrike">
                <a:solidFill>
                  <a:srgbClr val="FFFF00"/>
                </a:solidFill>
                <a:latin typeface="Courier"/>
                <a:ea typeface="Courier"/>
                <a:cs typeface="Courier"/>
                <a:sym typeface="Courier"/>
              </a:rPr>
              <a:t>for</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00FF00"/>
                </a:solidFill>
                <a:latin typeface="Courier"/>
                <a:ea typeface="Courier"/>
                <a:cs typeface="Courier"/>
                <a:sym typeface="Courier"/>
              </a:rPr>
              <a:t>letter</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FFFF00"/>
                </a:solidFill>
                <a:latin typeface="Courier"/>
                <a:ea typeface="Courier"/>
                <a:cs typeface="Courier"/>
                <a:sym typeface="Courier"/>
              </a:rPr>
              <a:t>in</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00FF00"/>
                </a:solidFill>
                <a:latin typeface="Courier"/>
                <a:ea typeface="Courier"/>
                <a:cs typeface="Courier"/>
                <a:sym typeface="Courier"/>
              </a:rPr>
              <a:t>fruit</a:t>
            </a:r>
            <a:r>
              <a:rPr b="0" i="0" lang="en-US" sz="3600" u="none" cap="none" strike="noStrike">
                <a:solidFill>
                  <a:schemeClr val="lt1"/>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FFFF00"/>
                </a:solidFill>
                <a:latin typeface="Courier"/>
                <a:ea typeface="Courier"/>
                <a:cs typeface="Courier"/>
                <a:sym typeface="Courier"/>
              </a:rPr>
              <a:t>print</a:t>
            </a:r>
            <a:r>
              <a:rPr b="0" i="0" lang="en-US" sz="3600" u="none" cap="none" strike="noStrike">
                <a:solidFill>
                  <a:schemeClr val="lt1"/>
                </a:solidFill>
                <a:latin typeface="Courier"/>
                <a:ea typeface="Courier"/>
                <a:cs typeface="Courier"/>
                <a:sym typeface="Courier"/>
              </a:rPr>
              <a:t>(</a:t>
            </a:r>
            <a:r>
              <a:rPr b="0" i="0" lang="en-US" sz="3600" u="none" cap="none" strike="noStrike">
                <a:solidFill>
                  <a:srgbClr val="00FF00"/>
                </a:solidFill>
                <a:latin typeface="Courier"/>
                <a:ea typeface="Courier"/>
                <a:cs typeface="Courier"/>
                <a:sym typeface="Courier"/>
              </a:rPr>
              <a:t>letter</a:t>
            </a:r>
            <a:r>
              <a:rPr b="0" i="0" lang="en-US" sz="3600" u="none" cap="none" strike="noStrike">
                <a:solidFill>
                  <a:schemeClr val="lt1"/>
                </a:solidFill>
                <a:latin typeface="Courier"/>
                <a:ea typeface="Courier"/>
                <a:cs typeface="Courier"/>
                <a:sym typeface="Courier"/>
              </a:rPr>
              <a:t>)</a:t>
            </a:r>
            <a:endParaRPr b="0" i="0" sz="3600" u="none" cap="none" strike="noStrike">
              <a:solidFill>
                <a:schemeClr val="lt1"/>
              </a:solidFill>
              <a:latin typeface="Courier"/>
              <a:ea typeface="Courier"/>
              <a:cs typeface="Courier"/>
              <a:sym typeface="Couri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9"/>
          <p:cNvSpPr txBox="1"/>
          <p:nvPr>
            <p:ph type="title"/>
          </p:nvPr>
        </p:nvSpPr>
        <p:spPr>
          <a:xfrm>
            <a:off x="1155700" y="833718"/>
            <a:ext cx="13932000" cy="17061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Looping and Counting</a:t>
            </a:r>
            <a:endParaRPr/>
          </a:p>
        </p:txBody>
      </p:sp>
      <p:sp>
        <p:nvSpPr>
          <p:cNvPr id="108" name="Google Shape;108;p9"/>
          <p:cNvSpPr txBox="1"/>
          <p:nvPr>
            <p:ph idx="1" type="body"/>
          </p:nvPr>
        </p:nvSpPr>
        <p:spPr>
          <a:xfrm>
            <a:off x="1155700" y="3025790"/>
            <a:ext cx="6273800" cy="4436780"/>
          </a:xfrm>
          <a:prstGeom prst="rect">
            <a:avLst/>
          </a:prstGeom>
          <a:noFill/>
          <a:ln>
            <a:noFill/>
          </a:ln>
        </p:spPr>
        <p:txBody>
          <a:bodyPr anchorCtr="0" anchor="ctr" bIns="38100" lIns="38100" spcFirstLastPara="1" rIns="38100" wrap="square" tIns="38100">
            <a:noAutofit/>
          </a:bodyPr>
          <a:lstStyle/>
          <a:p>
            <a:pPr indent="0" lvl="0" marL="215900" marR="0" rtl="0" algn="l">
              <a:lnSpc>
                <a:spcPct val="100000"/>
              </a:lnSpc>
              <a:spcBef>
                <a:spcPts val="0"/>
              </a:spcBef>
              <a:spcAft>
                <a:spcPts val="0"/>
              </a:spcAft>
              <a:buClr>
                <a:schemeClr val="lt1"/>
              </a:buClr>
              <a:buSzPts val="6156"/>
              <a:buNone/>
            </a:pPr>
            <a:r>
              <a:rPr lang="en-US" sz="3600" u="none" cap="none" strike="noStrike">
                <a:solidFill>
                  <a:schemeClr val="lt1"/>
                </a:solidFill>
                <a:latin typeface="Arial"/>
                <a:ea typeface="Arial"/>
                <a:cs typeface="Arial"/>
                <a:sym typeface="Arial"/>
              </a:rPr>
              <a:t>This is a simple loop that loops through each letter in a string and counts the number of times the loop encounters the 'a' character</a:t>
            </a:r>
            <a:endParaRPr/>
          </a:p>
        </p:txBody>
      </p:sp>
      <p:sp>
        <p:nvSpPr>
          <p:cNvPr id="109" name="Google Shape;109;p9"/>
          <p:cNvSpPr txBox="1"/>
          <p:nvPr/>
        </p:nvSpPr>
        <p:spPr>
          <a:xfrm>
            <a:off x="8753100" y="3468675"/>
            <a:ext cx="6885000" cy="332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900"/>
              <a:buFont typeface="Cabin"/>
              <a:buNone/>
            </a:pPr>
            <a:r>
              <a:rPr b="0" i="0" lang="en-US" sz="3600" u="none" cap="none" strike="noStrike">
                <a:solidFill>
                  <a:srgbClr val="00FF00"/>
                </a:solidFill>
                <a:latin typeface="Courier"/>
                <a:ea typeface="Courier"/>
                <a:cs typeface="Courier"/>
                <a:sym typeface="Courier"/>
              </a:rPr>
              <a:t>word</a:t>
            </a:r>
            <a:r>
              <a:rPr b="0" i="0" lang="en-US" sz="3600" u="none" cap="none" strike="noStrike">
                <a:solidFill>
                  <a:schemeClr val="lt1"/>
                </a:solidFill>
                <a:latin typeface="Courier"/>
                <a:ea typeface="Courier"/>
                <a:cs typeface="Courier"/>
                <a:sym typeface="Courier"/>
              </a:rPr>
              <a:t> = </a:t>
            </a:r>
            <a:r>
              <a:rPr b="0" i="0" lang="en-US" sz="3600" u="none" cap="none" strike="noStrike">
                <a:solidFill>
                  <a:srgbClr val="FF7F00"/>
                </a:solidFill>
                <a:latin typeface="Courier"/>
                <a:ea typeface="Courier"/>
                <a:cs typeface="Courier"/>
                <a:sym typeface="Courier"/>
              </a:rPr>
              <a:t>'banana'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900"/>
              <a:buFont typeface="Cabin"/>
              <a:buNone/>
            </a:pPr>
            <a:r>
              <a:rPr b="0" i="0" lang="en-US" sz="3600" u="none" cap="none" strike="noStrike">
                <a:solidFill>
                  <a:srgbClr val="00FF00"/>
                </a:solidFill>
                <a:latin typeface="Courier"/>
                <a:ea typeface="Courier"/>
                <a:cs typeface="Courier"/>
                <a:sym typeface="Courier"/>
              </a:rPr>
              <a:t>count</a:t>
            </a:r>
            <a:r>
              <a:rPr b="0" i="0" lang="en-US" sz="3600" u="none" cap="none" strike="noStrike">
                <a:solidFill>
                  <a:schemeClr val="lt1"/>
                </a:solidFill>
                <a:latin typeface="Courier"/>
                <a:ea typeface="Courier"/>
                <a:cs typeface="Courier"/>
                <a:sym typeface="Courier"/>
              </a:rPr>
              <a:t> = </a:t>
            </a:r>
            <a:r>
              <a:rPr b="0" i="0" lang="en-US" sz="3600" u="none" cap="none" strike="noStrike">
                <a:solidFill>
                  <a:srgbClr val="FF7F00"/>
                </a:solidFill>
                <a:latin typeface="Courier"/>
                <a:ea typeface="Courier"/>
                <a:cs typeface="Courier"/>
                <a:sym typeface="Courier"/>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900"/>
              <a:buFont typeface="Cabin"/>
              <a:buNone/>
            </a:pPr>
            <a:r>
              <a:rPr b="0" i="0" lang="en-US" sz="3600" u="none" cap="none" strike="noStrike">
                <a:solidFill>
                  <a:srgbClr val="FFFF00"/>
                </a:solidFill>
                <a:latin typeface="Courier"/>
                <a:ea typeface="Courier"/>
                <a:cs typeface="Courier"/>
                <a:sym typeface="Courier"/>
              </a:rPr>
              <a:t>for</a:t>
            </a:r>
            <a:r>
              <a:rPr b="0" i="0" lang="en-US" sz="3600" u="none" cap="none" strike="noStrike">
                <a:solidFill>
                  <a:srgbClr val="00FF00"/>
                </a:solidFill>
                <a:latin typeface="Courier"/>
                <a:ea typeface="Courier"/>
                <a:cs typeface="Courier"/>
                <a:sym typeface="Courier"/>
              </a:rPr>
              <a:t> letter </a:t>
            </a:r>
            <a:r>
              <a:rPr b="0" i="0" lang="en-US" sz="3600" u="none" cap="none" strike="noStrike">
                <a:solidFill>
                  <a:srgbClr val="FFFF00"/>
                </a:solidFill>
                <a:latin typeface="Courier"/>
                <a:ea typeface="Courier"/>
                <a:cs typeface="Courier"/>
                <a:sym typeface="Courier"/>
              </a:rPr>
              <a:t>in</a:t>
            </a:r>
            <a:r>
              <a:rPr b="0" i="0" lang="en-US" sz="3600" u="none" cap="none" strike="noStrike">
                <a:solidFill>
                  <a:srgbClr val="00FF00"/>
                </a:solidFill>
                <a:latin typeface="Courier"/>
                <a:ea typeface="Courier"/>
                <a:cs typeface="Courier"/>
                <a:sym typeface="Courier"/>
              </a:rPr>
              <a:t> word </a:t>
            </a:r>
            <a:r>
              <a:rPr b="0" i="0" lang="en-US" sz="36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FFFF00"/>
                </a:solidFill>
                <a:latin typeface="Courier"/>
                <a:ea typeface="Courier"/>
                <a:cs typeface="Courier"/>
                <a:sym typeface="Courier"/>
              </a:rPr>
              <a:t> if</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00FF00"/>
                </a:solidFill>
                <a:latin typeface="Courier"/>
                <a:ea typeface="Courier"/>
                <a:cs typeface="Courier"/>
                <a:sym typeface="Courier"/>
              </a:rPr>
              <a:t>letter</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00FFFF"/>
                </a:solidFill>
                <a:latin typeface="Courier"/>
                <a:ea typeface="Courier"/>
                <a:cs typeface="Courier"/>
                <a:sym typeface="Courier"/>
              </a:rPr>
              <a:t>==</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FF7F00"/>
                </a:solidFill>
                <a:latin typeface="Courier"/>
                <a:ea typeface="Courier"/>
                <a:cs typeface="Courier"/>
                <a:sym typeface="Courier"/>
              </a:rPr>
              <a:t>'a' </a:t>
            </a:r>
            <a:r>
              <a:rPr b="0" i="0" lang="en-US" sz="3600" u="none" cap="none" strike="noStrike">
                <a:solidFill>
                  <a:schemeClr val="lt1"/>
                </a:solidFill>
                <a:latin typeface="Courier"/>
                <a:ea typeface="Courier"/>
                <a:cs typeface="Courier"/>
                <a:sym typeface="Courier"/>
              </a:rPr>
              <a:t>:</a:t>
            </a:r>
            <a:r>
              <a:rPr b="0" i="0" lang="en-US" sz="3600" u="none" cap="none" strike="noStrike">
                <a:solidFill>
                  <a:srgbClr val="00FF00"/>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900"/>
              <a:buFont typeface="Cabin"/>
              <a:buNone/>
            </a:pPr>
            <a:r>
              <a:rPr b="0" i="0" lang="en-US" sz="3600" u="none" cap="none" strike="noStrike">
                <a:solidFill>
                  <a:srgbClr val="00FF00"/>
                </a:solidFill>
                <a:latin typeface="Courier"/>
                <a:ea typeface="Courier"/>
                <a:cs typeface="Courier"/>
                <a:sym typeface="Courier"/>
              </a:rPr>
              <a:t>       count </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00FF00"/>
                </a:solidFill>
                <a:latin typeface="Courier"/>
                <a:ea typeface="Courier"/>
                <a:cs typeface="Courier"/>
                <a:sym typeface="Courier"/>
              </a:rPr>
              <a:t>count </a:t>
            </a:r>
            <a:r>
              <a:rPr b="0" i="0" lang="en-US" sz="3600" u="none" cap="none" strike="noStrike">
                <a:solidFill>
                  <a:srgbClr val="00FFFF"/>
                </a:solidFill>
                <a:latin typeface="Courier"/>
                <a:ea typeface="Courier"/>
                <a:cs typeface="Courier"/>
                <a:sym typeface="Courier"/>
              </a:rPr>
              <a:t>+</a:t>
            </a:r>
            <a:r>
              <a:rPr b="0" i="0" lang="en-US" sz="3600" u="none" cap="none" strike="noStrike">
                <a:solidFill>
                  <a:srgbClr val="00FF00"/>
                </a:solidFill>
                <a:latin typeface="Courier"/>
                <a:ea typeface="Courier"/>
                <a:cs typeface="Courier"/>
                <a:sym typeface="Courier"/>
              </a:rPr>
              <a:t> </a:t>
            </a:r>
            <a:r>
              <a:rPr b="0" i="0" lang="en-US" sz="3600" u="none" cap="none" strike="noStrike">
                <a:solidFill>
                  <a:srgbClr val="FF7F00"/>
                </a:solidFill>
                <a:latin typeface="Courier"/>
                <a:ea typeface="Courier"/>
                <a:cs typeface="Courier"/>
                <a:sym typeface="Courier"/>
              </a:rPr>
              <a:t>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00"/>
              </a:buClr>
              <a:buSzPts val="900"/>
              <a:buFont typeface="Cabin"/>
              <a:buNone/>
            </a:pPr>
            <a:r>
              <a:rPr b="0" i="0" lang="en-US" sz="3600" u="none" cap="none" strike="noStrike">
                <a:solidFill>
                  <a:srgbClr val="FFFF00"/>
                </a:solidFill>
                <a:latin typeface="Courier"/>
                <a:ea typeface="Courier"/>
                <a:cs typeface="Courier"/>
                <a:sym typeface="Courier"/>
              </a:rPr>
              <a:t>print</a:t>
            </a:r>
            <a:r>
              <a:rPr b="0" i="0" lang="en-US" sz="3600" u="none" cap="none" strike="noStrike">
                <a:solidFill>
                  <a:schemeClr val="lt1"/>
                </a:solidFill>
                <a:latin typeface="Courier"/>
                <a:ea typeface="Courier"/>
                <a:cs typeface="Courier"/>
                <a:sym typeface="Courier"/>
              </a:rPr>
              <a:t>(</a:t>
            </a:r>
            <a:r>
              <a:rPr b="0" i="0" lang="en-US" sz="3600" u="none" cap="none" strike="noStrike">
                <a:solidFill>
                  <a:srgbClr val="00FF00"/>
                </a:solidFill>
                <a:latin typeface="Courier"/>
                <a:ea typeface="Courier"/>
                <a:cs typeface="Courier"/>
                <a:sym typeface="Courier"/>
              </a:rPr>
              <a:t>count</a:t>
            </a:r>
            <a:r>
              <a:rPr b="0" i="0" lang="en-US" sz="3600" u="none" cap="none" strike="noStrike">
                <a:solidFill>
                  <a:schemeClr val="lt1"/>
                </a:solidFill>
                <a:latin typeface="Courier"/>
                <a:ea typeface="Courier"/>
                <a:cs typeface="Courier"/>
                <a:sym typeface="Courier"/>
              </a:rPr>
              <a:t>)</a:t>
            </a:r>
            <a:endParaRPr b="0" i="0" sz="3600" u="none" cap="none" strike="noStrike">
              <a:solidFill>
                <a:schemeClr val="lt1"/>
              </a:solidFill>
              <a:latin typeface="Courier"/>
              <a:ea typeface="Courier"/>
              <a:cs typeface="Courier"/>
              <a:sym typeface="Couri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0"/>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rgbClr val="FFD966"/>
              </a:buClr>
              <a:buSzPts val="7200"/>
              <a:buFont typeface="Arial"/>
              <a:buNone/>
            </a:pPr>
            <a:r>
              <a:rPr lang="en-US" sz="7200">
                <a:solidFill>
                  <a:srgbClr val="FFD966"/>
                </a:solidFill>
              </a:rPr>
              <a:t>More String Operations</a:t>
            </a:r>
            <a:endParaRPr sz="7200">
              <a:solidFill>
                <a:srgbClr val="FFD966"/>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1"/>
          <p:cNvSpPr txBox="1"/>
          <p:nvPr>
            <p:ph type="title"/>
          </p:nvPr>
        </p:nvSpPr>
        <p:spPr>
          <a:xfrm>
            <a:off x="1155700" y="833718"/>
            <a:ext cx="5059363" cy="17061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500"/>
              <a:buFont typeface="Cabin"/>
              <a:buNone/>
            </a:pPr>
            <a:r>
              <a:rPr lang="en-US" sz="6000" u="none" cap="none" strike="noStrike">
                <a:solidFill>
                  <a:srgbClr val="FFD966"/>
                </a:solidFill>
                <a:latin typeface="Arial"/>
                <a:ea typeface="Arial"/>
                <a:cs typeface="Arial"/>
                <a:sym typeface="Arial"/>
              </a:rPr>
              <a:t>Slicing Strings</a:t>
            </a:r>
            <a:endParaRPr/>
          </a:p>
        </p:txBody>
      </p:sp>
      <p:sp>
        <p:nvSpPr>
          <p:cNvPr id="120" name="Google Shape;120;p11"/>
          <p:cNvSpPr txBox="1"/>
          <p:nvPr>
            <p:ph idx="1" type="body"/>
          </p:nvPr>
        </p:nvSpPr>
        <p:spPr>
          <a:xfrm>
            <a:off x="1155700" y="2603500"/>
            <a:ext cx="6602413" cy="5702399"/>
          </a:xfrm>
          <a:prstGeom prst="rect">
            <a:avLst/>
          </a:prstGeom>
          <a:noFill/>
          <a:ln>
            <a:noFill/>
          </a:ln>
        </p:spPr>
        <p:txBody>
          <a:bodyPr anchorCtr="0" anchor="ctr" bIns="38100" lIns="38100" spcFirstLastPara="1" rIns="38100" wrap="square" tIns="38100">
            <a:noAutofit/>
          </a:bodyPr>
          <a:lstStyle/>
          <a:p>
            <a:pPr indent="-358394" lvl="0" marL="749300" marR="0" rtl="0" algn="l">
              <a:lnSpc>
                <a:spcPct val="100000"/>
              </a:lnSpc>
              <a:spcBef>
                <a:spcPts val="0"/>
              </a:spcBef>
              <a:spcAft>
                <a:spcPts val="0"/>
              </a:spcAft>
              <a:buClr>
                <a:schemeClr val="lt1"/>
              </a:buClr>
              <a:buSzPts val="3400"/>
              <a:buFont typeface="Cabin"/>
              <a:buChar char="•"/>
            </a:pPr>
            <a:r>
              <a:rPr lang="en-US" sz="3400" u="none" cap="none" strike="noStrike">
                <a:solidFill>
                  <a:schemeClr val="lt1"/>
                </a:solidFill>
                <a:latin typeface="Arial"/>
                <a:ea typeface="Arial"/>
                <a:cs typeface="Arial"/>
                <a:sym typeface="Arial"/>
              </a:rPr>
              <a:t>We can also look at any continuous section of a string using a </a:t>
            </a:r>
            <a:r>
              <a:rPr lang="en-US" sz="3400" u="none" cap="none" strike="noStrike">
                <a:solidFill>
                  <a:srgbClr val="00FFFF"/>
                </a:solidFill>
                <a:latin typeface="Arial"/>
                <a:ea typeface="Arial"/>
                <a:cs typeface="Arial"/>
                <a:sym typeface="Arial"/>
              </a:rPr>
              <a:t>colon operator</a:t>
            </a:r>
            <a:endParaRPr/>
          </a:p>
          <a:p>
            <a:pPr indent="-358394" lvl="0" marL="749300" marR="0" rtl="0" algn="l">
              <a:lnSpc>
                <a:spcPct val="100000"/>
              </a:lnSpc>
              <a:spcBef>
                <a:spcPts val="3500"/>
              </a:spcBef>
              <a:spcAft>
                <a:spcPts val="0"/>
              </a:spcAft>
              <a:buClr>
                <a:srgbClr val="FFFFFF"/>
              </a:buClr>
              <a:buSzPts val="3400"/>
              <a:buFont typeface="Cabin"/>
              <a:buChar char="•"/>
            </a:pPr>
            <a:r>
              <a:rPr lang="en-US" sz="3400" u="none" cap="none" strike="noStrike">
                <a:solidFill>
                  <a:srgbClr val="FFFFFF"/>
                </a:solidFill>
                <a:latin typeface="Arial"/>
                <a:ea typeface="Arial"/>
                <a:cs typeface="Arial"/>
                <a:sym typeface="Arial"/>
              </a:rPr>
              <a:t>The second number is one beyond the end of the slice - </a:t>
            </a:r>
            <a:r>
              <a:rPr b="0" i="0" lang="en-US" sz="3400" u="none" cap="none" strike="noStrike">
                <a:solidFill>
                  <a:srgbClr val="FFFFFF"/>
                </a:solidFill>
                <a:latin typeface="Arial"/>
                <a:ea typeface="Arial"/>
                <a:cs typeface="Arial"/>
                <a:sym typeface="Arial"/>
              </a:rPr>
              <a:t>“</a:t>
            </a:r>
            <a:r>
              <a:rPr lang="en-US" sz="3400" u="none" cap="none" strike="noStrike">
                <a:solidFill>
                  <a:srgbClr val="FFFFFF"/>
                </a:solidFill>
                <a:latin typeface="Arial"/>
                <a:ea typeface="Arial"/>
                <a:cs typeface="Arial"/>
                <a:sym typeface="Arial"/>
              </a:rPr>
              <a:t>up to but not including</a:t>
            </a:r>
            <a:r>
              <a:rPr b="0" i="0" lang="en-US" sz="3400" u="none" cap="none" strike="noStrike">
                <a:solidFill>
                  <a:srgbClr val="FFFFFF"/>
                </a:solidFill>
                <a:latin typeface="Arial"/>
                <a:ea typeface="Arial"/>
                <a:cs typeface="Arial"/>
                <a:sym typeface="Arial"/>
              </a:rPr>
              <a:t>”</a:t>
            </a:r>
            <a:endParaRPr/>
          </a:p>
          <a:p>
            <a:pPr indent="-358394" lvl="0" marL="749300" marR="0" rtl="0" algn="l">
              <a:lnSpc>
                <a:spcPct val="100000"/>
              </a:lnSpc>
              <a:spcBef>
                <a:spcPts val="3500"/>
              </a:spcBef>
              <a:spcAft>
                <a:spcPts val="0"/>
              </a:spcAft>
              <a:buClr>
                <a:schemeClr val="lt1"/>
              </a:buClr>
              <a:buSzPts val="3400"/>
              <a:buFont typeface="Cabin"/>
              <a:buChar char="•"/>
            </a:pPr>
            <a:r>
              <a:rPr lang="en-US" sz="3400" u="none" cap="none" strike="noStrike">
                <a:solidFill>
                  <a:srgbClr val="FFFFFF"/>
                </a:solidFill>
                <a:latin typeface="Arial"/>
                <a:ea typeface="Arial"/>
                <a:cs typeface="Arial"/>
                <a:sym typeface="Arial"/>
              </a:rPr>
              <a:t>If the second number is </a:t>
            </a:r>
            <a:r>
              <a:rPr lang="en-US" sz="3400" u="none" cap="none" strike="noStrike">
                <a:solidFill>
                  <a:schemeClr val="lt1"/>
                </a:solidFill>
                <a:latin typeface="Arial"/>
                <a:ea typeface="Arial"/>
                <a:cs typeface="Arial"/>
                <a:sym typeface="Arial"/>
              </a:rPr>
              <a:t>beyond the end of the string, it stops at the end </a:t>
            </a:r>
            <a:endParaRPr/>
          </a:p>
        </p:txBody>
      </p:sp>
      <p:sp>
        <p:nvSpPr>
          <p:cNvPr id="121" name="Google Shape;121;p11"/>
          <p:cNvSpPr txBox="1"/>
          <p:nvPr/>
        </p:nvSpPr>
        <p:spPr>
          <a:xfrm>
            <a:off x="9069093" y="3351837"/>
            <a:ext cx="6553499" cy="495406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rgbClr val="00FF00"/>
                </a:solidFill>
                <a:latin typeface="Courier"/>
                <a:ea typeface="Courier"/>
                <a:cs typeface="Courier"/>
                <a:sym typeface="Courier"/>
              </a:rPr>
              <a:t>s</a:t>
            </a:r>
            <a:r>
              <a:rPr b="0" i="0" lang="en-US" sz="3600" u="none" cap="none" strike="noStrike">
                <a:solidFill>
                  <a:schemeClr val="lt1"/>
                </a:solidFill>
                <a:latin typeface="Courier"/>
                <a:ea typeface="Courier"/>
                <a:cs typeface="Courier"/>
                <a:sym typeface="Courier"/>
              </a:rPr>
              <a:t> = </a:t>
            </a:r>
            <a:r>
              <a:rPr b="0" i="0" lang="en-US" sz="3600" u="none" cap="none" strike="noStrike">
                <a:solidFill>
                  <a:srgbClr val="FF7F00"/>
                </a:solidFill>
                <a:latin typeface="Courier"/>
                <a:ea typeface="Courier"/>
                <a:cs typeface="Courier"/>
                <a:sym typeface="Courier"/>
              </a:rPr>
              <a:t>'Monty Python'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rgbClr val="FFFF00"/>
                </a:solidFill>
                <a:latin typeface="Courier"/>
                <a:ea typeface="Courier"/>
                <a:cs typeface="Courier"/>
                <a:sym typeface="Courier"/>
              </a:rPr>
              <a:t>print</a:t>
            </a:r>
            <a:r>
              <a:rPr b="0" i="0" lang="en-US" sz="3600" u="none" cap="none" strike="noStrike">
                <a:solidFill>
                  <a:schemeClr val="lt1"/>
                </a:solidFill>
                <a:latin typeface="Courier"/>
                <a:ea typeface="Courier"/>
                <a:cs typeface="Courier"/>
                <a:sym typeface="Courier"/>
              </a:rPr>
              <a:t>(</a:t>
            </a:r>
            <a:r>
              <a:rPr b="0" i="0" lang="en-US" sz="3600" u="none" cap="none" strike="noStrike">
                <a:solidFill>
                  <a:srgbClr val="00FF00"/>
                </a:solidFill>
                <a:latin typeface="Courier"/>
                <a:ea typeface="Courier"/>
                <a:cs typeface="Courier"/>
                <a:sym typeface="Courier"/>
              </a:rPr>
              <a:t>s</a:t>
            </a:r>
            <a:r>
              <a:rPr b="0" i="0" lang="en-US" sz="3600" u="none" cap="none" strike="noStrike">
                <a:solidFill>
                  <a:srgbClr val="00FFFF"/>
                </a:solidFill>
                <a:latin typeface="Courier"/>
                <a:ea typeface="Courier"/>
                <a:cs typeface="Courier"/>
                <a:sym typeface="Courier"/>
              </a:rPr>
              <a:t>[</a:t>
            </a:r>
            <a:r>
              <a:rPr b="0" i="0" lang="en-US" sz="3600" u="none" cap="none" strike="noStrike">
                <a:solidFill>
                  <a:srgbClr val="FF7F00"/>
                </a:solidFill>
                <a:latin typeface="Courier"/>
                <a:ea typeface="Courier"/>
                <a:cs typeface="Courier"/>
                <a:sym typeface="Courier"/>
              </a:rPr>
              <a:t>0</a:t>
            </a:r>
            <a:r>
              <a:rPr b="0" i="0" lang="en-US" sz="3600" u="none" cap="none" strike="noStrike">
                <a:solidFill>
                  <a:schemeClr val="lt1"/>
                </a:solidFill>
                <a:latin typeface="Courier"/>
                <a:ea typeface="Courier"/>
                <a:cs typeface="Courier"/>
                <a:sym typeface="Courier"/>
              </a:rPr>
              <a:t>:</a:t>
            </a:r>
            <a:r>
              <a:rPr b="0" i="0" lang="en-US" sz="3600" u="none" cap="none" strike="noStrike">
                <a:solidFill>
                  <a:srgbClr val="FF7F00"/>
                </a:solidFill>
                <a:latin typeface="Courier"/>
                <a:ea typeface="Courier"/>
                <a:cs typeface="Courier"/>
                <a:sym typeface="Courier"/>
              </a:rPr>
              <a:t>4</a:t>
            </a:r>
            <a:r>
              <a:rPr b="0" i="0" lang="en-US" sz="3600" u="none" cap="none" strike="noStrike">
                <a:solidFill>
                  <a:srgbClr val="00FFFF"/>
                </a:solidFill>
                <a:latin typeface="Courier"/>
                <a:ea typeface="Courier"/>
                <a:cs typeface="Courier"/>
                <a:sym typeface="Courier"/>
              </a:rPr>
              <a:t>]</a:t>
            </a:r>
            <a:r>
              <a:rPr b="0" i="0" lang="en-US" sz="3600" u="none" cap="none" strike="noStrike">
                <a:solidFill>
                  <a:schemeClr val="lt1"/>
                </a:solidFill>
                <a:latin typeface="Courier"/>
                <a:ea typeface="Courier"/>
                <a:cs typeface="Courier"/>
                <a:sym typeface="Courier"/>
              </a:rPr>
              <a:t>)</a:t>
            </a:r>
            <a:endParaRPr b="0" i="0" sz="3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Courier"/>
                <a:ea typeface="Courier"/>
                <a:cs typeface="Courier"/>
                <a:sym typeface="Courier"/>
              </a:rPr>
              <a:t>Mont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abin"/>
              <a:buNone/>
            </a:pPr>
            <a:r>
              <a:t/>
            </a:r>
            <a:endParaRPr b="0" i="0" sz="3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rgbClr val="FFFF00"/>
                </a:solidFill>
                <a:latin typeface="Courier"/>
                <a:ea typeface="Courier"/>
                <a:cs typeface="Courier"/>
                <a:sym typeface="Courier"/>
              </a:rPr>
              <a:t>print</a:t>
            </a:r>
            <a:r>
              <a:rPr b="0" i="0" lang="en-US" sz="3600" u="none" cap="none" strike="noStrike">
                <a:solidFill>
                  <a:schemeClr val="lt1"/>
                </a:solidFill>
                <a:latin typeface="Courier"/>
                <a:ea typeface="Courier"/>
                <a:cs typeface="Courier"/>
                <a:sym typeface="Courier"/>
              </a:rPr>
              <a:t>(</a:t>
            </a:r>
            <a:r>
              <a:rPr b="0" i="0" lang="en-US" sz="3600" u="none" cap="none" strike="noStrike">
                <a:solidFill>
                  <a:srgbClr val="00FF00"/>
                </a:solidFill>
                <a:latin typeface="Courier"/>
                <a:ea typeface="Courier"/>
                <a:cs typeface="Courier"/>
                <a:sym typeface="Courier"/>
              </a:rPr>
              <a:t>s</a:t>
            </a:r>
            <a:r>
              <a:rPr b="0" i="0" lang="en-US" sz="3600" u="none" cap="none" strike="noStrike">
                <a:solidFill>
                  <a:srgbClr val="00FFFF"/>
                </a:solidFill>
                <a:latin typeface="Courier"/>
                <a:ea typeface="Courier"/>
                <a:cs typeface="Courier"/>
                <a:sym typeface="Courier"/>
              </a:rPr>
              <a:t>[</a:t>
            </a:r>
            <a:r>
              <a:rPr b="0" i="0" lang="en-US" sz="3600" u="none" cap="none" strike="noStrike">
                <a:solidFill>
                  <a:srgbClr val="FF7F00"/>
                </a:solidFill>
                <a:latin typeface="Courier"/>
                <a:ea typeface="Courier"/>
                <a:cs typeface="Courier"/>
                <a:sym typeface="Courier"/>
              </a:rPr>
              <a:t>6:7</a:t>
            </a:r>
            <a:r>
              <a:rPr b="0" i="0" lang="en-US" sz="3600" u="none" cap="none" strike="noStrike">
                <a:solidFill>
                  <a:srgbClr val="00FFFF"/>
                </a:solidFill>
                <a:latin typeface="Courier"/>
                <a:ea typeface="Courier"/>
                <a:cs typeface="Courier"/>
                <a:sym typeface="Courier"/>
              </a:rPr>
              <a:t>]</a:t>
            </a:r>
            <a:r>
              <a:rPr b="0" i="0" lang="en-US" sz="3600" u="none" cap="none" strike="noStrike">
                <a:solidFill>
                  <a:schemeClr val="lt1"/>
                </a:solidFill>
                <a:latin typeface="Courier"/>
                <a:ea typeface="Courier"/>
                <a:cs typeface="Courier"/>
                <a:sym typeface="Courier"/>
              </a:rPr>
              <a:t>)</a:t>
            </a:r>
            <a:endParaRPr b="0" i="0" sz="3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Courier"/>
                <a:ea typeface="Courier"/>
                <a:cs typeface="Courier"/>
                <a:sym typeface="Courier"/>
              </a:rPr>
              <a:t>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abin"/>
              <a:buNone/>
            </a:pPr>
            <a:r>
              <a:t/>
            </a:r>
            <a:endParaRPr b="0" i="0" sz="3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rgbClr val="FFFF00"/>
                </a:solidFill>
                <a:latin typeface="Courier"/>
                <a:ea typeface="Courier"/>
                <a:cs typeface="Courier"/>
                <a:sym typeface="Courier"/>
              </a:rPr>
              <a:t>print</a:t>
            </a:r>
            <a:r>
              <a:rPr b="0" i="0" lang="en-US" sz="3600" u="none" cap="none" strike="noStrike">
                <a:solidFill>
                  <a:schemeClr val="lt1"/>
                </a:solidFill>
                <a:latin typeface="Courier"/>
                <a:ea typeface="Courier"/>
                <a:cs typeface="Courier"/>
                <a:sym typeface="Courier"/>
              </a:rPr>
              <a:t>(</a:t>
            </a:r>
            <a:r>
              <a:rPr b="0" i="0" lang="en-US" sz="3600" u="none" cap="none" strike="noStrike">
                <a:solidFill>
                  <a:srgbClr val="00FF00"/>
                </a:solidFill>
                <a:latin typeface="Courier"/>
                <a:ea typeface="Courier"/>
                <a:cs typeface="Courier"/>
                <a:sym typeface="Courier"/>
              </a:rPr>
              <a:t>s</a:t>
            </a:r>
            <a:r>
              <a:rPr b="0" i="0" lang="en-US" sz="3600" u="none" cap="none" strike="noStrike">
                <a:solidFill>
                  <a:srgbClr val="00FFFF"/>
                </a:solidFill>
                <a:latin typeface="Courier"/>
                <a:ea typeface="Courier"/>
                <a:cs typeface="Courier"/>
                <a:sym typeface="Courier"/>
              </a:rPr>
              <a:t>[</a:t>
            </a:r>
            <a:r>
              <a:rPr b="0" i="0" lang="en-US" sz="3600" u="none" cap="none" strike="noStrike">
                <a:solidFill>
                  <a:srgbClr val="FF7F00"/>
                </a:solidFill>
                <a:latin typeface="Courier"/>
                <a:ea typeface="Courier"/>
                <a:cs typeface="Courier"/>
                <a:sym typeface="Courier"/>
              </a:rPr>
              <a:t>6</a:t>
            </a:r>
            <a:r>
              <a:rPr b="0" i="0" lang="en-US" sz="3600" u="none" cap="none" strike="noStrike">
                <a:solidFill>
                  <a:srgbClr val="00FFFF"/>
                </a:solidFill>
                <a:latin typeface="Courier"/>
                <a:ea typeface="Courier"/>
                <a:cs typeface="Courier"/>
                <a:sym typeface="Courier"/>
              </a:rPr>
              <a:t>:</a:t>
            </a:r>
            <a:r>
              <a:rPr b="0" i="0" lang="en-US" sz="3600" u="none" cap="none" strike="noStrike">
                <a:solidFill>
                  <a:srgbClr val="FF7F00"/>
                </a:solidFill>
                <a:latin typeface="Courier"/>
                <a:ea typeface="Courier"/>
                <a:cs typeface="Courier"/>
                <a:sym typeface="Courier"/>
              </a:rPr>
              <a:t>20</a:t>
            </a:r>
            <a:r>
              <a:rPr b="0" i="0" lang="en-US" sz="3600" u="none" cap="none" strike="noStrike">
                <a:solidFill>
                  <a:srgbClr val="00FFFF"/>
                </a:solidFill>
                <a:latin typeface="Courier"/>
                <a:ea typeface="Courier"/>
                <a:cs typeface="Courier"/>
                <a:sym typeface="Courier"/>
              </a:rPr>
              <a:t>]</a:t>
            </a:r>
            <a:r>
              <a:rPr b="0" i="0" lang="en-US" sz="3600" u="none" cap="none" strike="noStrike">
                <a:solidFill>
                  <a:schemeClr val="lt1"/>
                </a:solidFill>
                <a:latin typeface="Courier"/>
                <a:ea typeface="Courier"/>
                <a:cs typeface="Courier"/>
                <a:sym typeface="Courier"/>
              </a:rPr>
              <a:t>)</a:t>
            </a:r>
            <a:endParaRPr b="0" i="0" sz="3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Courier"/>
                <a:ea typeface="Courier"/>
                <a:cs typeface="Courier"/>
                <a:sym typeface="Courier"/>
              </a:rPr>
              <a:t>Python</a:t>
            </a:r>
            <a:endParaRPr b="0" i="0" sz="1400" u="none" cap="none" strike="noStrike">
              <a:solidFill>
                <a:srgbClr val="000000"/>
              </a:solidFill>
              <a:latin typeface="Arial"/>
              <a:ea typeface="Arial"/>
              <a:cs typeface="Arial"/>
              <a:sym typeface="Arial"/>
            </a:endParaRPr>
          </a:p>
        </p:txBody>
      </p:sp>
      <p:sp>
        <p:nvSpPr>
          <p:cNvPr id="122" name="Google Shape;122;p11"/>
          <p:cNvSpPr txBox="1"/>
          <p:nvPr/>
        </p:nvSpPr>
        <p:spPr>
          <a:xfrm>
            <a:off x="7062793" y="1995492"/>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123" name="Google Shape;123;p11"/>
          <p:cNvSpPr txBox="1"/>
          <p:nvPr/>
        </p:nvSpPr>
        <p:spPr>
          <a:xfrm>
            <a:off x="7062793" y="1258892"/>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M</a:t>
            </a:r>
            <a:endParaRPr b="0" i="0" sz="1400" u="none" cap="none" strike="noStrike">
              <a:solidFill>
                <a:srgbClr val="000000"/>
              </a:solidFill>
              <a:latin typeface="Arial"/>
              <a:ea typeface="Arial"/>
              <a:cs typeface="Arial"/>
              <a:sym typeface="Arial"/>
            </a:endParaRPr>
          </a:p>
        </p:txBody>
      </p:sp>
      <p:sp>
        <p:nvSpPr>
          <p:cNvPr id="124" name="Google Shape;124;p11"/>
          <p:cNvSpPr txBox="1"/>
          <p:nvPr/>
        </p:nvSpPr>
        <p:spPr>
          <a:xfrm>
            <a:off x="7812093" y="1995492"/>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25" name="Google Shape;125;p11"/>
          <p:cNvSpPr txBox="1"/>
          <p:nvPr/>
        </p:nvSpPr>
        <p:spPr>
          <a:xfrm>
            <a:off x="7812093" y="1258892"/>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o</a:t>
            </a:r>
            <a:endParaRPr b="0" i="0" sz="1400" u="none" cap="none" strike="noStrike">
              <a:solidFill>
                <a:srgbClr val="000000"/>
              </a:solidFill>
              <a:latin typeface="Arial"/>
              <a:ea typeface="Arial"/>
              <a:cs typeface="Arial"/>
              <a:sym typeface="Arial"/>
            </a:endParaRPr>
          </a:p>
        </p:txBody>
      </p:sp>
      <p:sp>
        <p:nvSpPr>
          <p:cNvPr id="126" name="Google Shape;126;p11"/>
          <p:cNvSpPr txBox="1"/>
          <p:nvPr/>
        </p:nvSpPr>
        <p:spPr>
          <a:xfrm>
            <a:off x="8586793" y="1995492"/>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27" name="Google Shape;127;p11"/>
          <p:cNvSpPr txBox="1"/>
          <p:nvPr/>
        </p:nvSpPr>
        <p:spPr>
          <a:xfrm>
            <a:off x="8586793" y="1258892"/>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n</a:t>
            </a:r>
            <a:endParaRPr b="0" i="0" sz="1400" u="none" cap="none" strike="noStrike">
              <a:solidFill>
                <a:srgbClr val="000000"/>
              </a:solidFill>
              <a:latin typeface="Arial"/>
              <a:ea typeface="Arial"/>
              <a:cs typeface="Arial"/>
              <a:sym typeface="Arial"/>
            </a:endParaRPr>
          </a:p>
        </p:txBody>
      </p:sp>
      <p:sp>
        <p:nvSpPr>
          <p:cNvPr id="128" name="Google Shape;128;p11"/>
          <p:cNvSpPr txBox="1"/>
          <p:nvPr/>
        </p:nvSpPr>
        <p:spPr>
          <a:xfrm>
            <a:off x="9336093" y="1995492"/>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129" name="Google Shape;129;p11"/>
          <p:cNvSpPr txBox="1"/>
          <p:nvPr/>
        </p:nvSpPr>
        <p:spPr>
          <a:xfrm>
            <a:off x="9336093" y="1258892"/>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t</a:t>
            </a:r>
            <a:endParaRPr b="0" i="0" sz="1400" u="none" cap="none" strike="noStrike">
              <a:solidFill>
                <a:srgbClr val="000000"/>
              </a:solidFill>
              <a:latin typeface="Arial"/>
              <a:ea typeface="Arial"/>
              <a:cs typeface="Arial"/>
              <a:sym typeface="Arial"/>
            </a:endParaRPr>
          </a:p>
        </p:txBody>
      </p:sp>
      <p:sp>
        <p:nvSpPr>
          <p:cNvPr id="130" name="Google Shape;130;p11"/>
          <p:cNvSpPr txBox="1"/>
          <p:nvPr/>
        </p:nvSpPr>
        <p:spPr>
          <a:xfrm>
            <a:off x="10059993" y="1995492"/>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131" name="Google Shape;131;p11"/>
          <p:cNvSpPr txBox="1"/>
          <p:nvPr/>
        </p:nvSpPr>
        <p:spPr>
          <a:xfrm>
            <a:off x="10059993" y="1258892"/>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y</a:t>
            </a:r>
            <a:endParaRPr b="0" i="0" sz="1400" u="none" cap="none" strike="noStrike">
              <a:solidFill>
                <a:srgbClr val="000000"/>
              </a:solidFill>
              <a:latin typeface="Arial"/>
              <a:ea typeface="Arial"/>
              <a:cs typeface="Arial"/>
              <a:sym typeface="Arial"/>
            </a:endParaRPr>
          </a:p>
        </p:txBody>
      </p:sp>
      <p:sp>
        <p:nvSpPr>
          <p:cNvPr id="132" name="Google Shape;132;p11"/>
          <p:cNvSpPr txBox="1"/>
          <p:nvPr/>
        </p:nvSpPr>
        <p:spPr>
          <a:xfrm>
            <a:off x="10809293" y="1995492"/>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133" name="Google Shape;133;p11"/>
          <p:cNvSpPr txBox="1"/>
          <p:nvPr/>
        </p:nvSpPr>
        <p:spPr>
          <a:xfrm>
            <a:off x="10809293" y="1258892"/>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34" name="Google Shape;134;p11"/>
          <p:cNvSpPr txBox="1"/>
          <p:nvPr/>
        </p:nvSpPr>
        <p:spPr>
          <a:xfrm>
            <a:off x="11507793" y="1995492"/>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sp>
        <p:nvSpPr>
          <p:cNvPr id="135" name="Google Shape;135;p11"/>
          <p:cNvSpPr txBox="1"/>
          <p:nvPr/>
        </p:nvSpPr>
        <p:spPr>
          <a:xfrm>
            <a:off x="11507793" y="1258892"/>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P</a:t>
            </a:r>
            <a:endParaRPr b="0" i="0" sz="1400" u="none" cap="none" strike="noStrike">
              <a:solidFill>
                <a:srgbClr val="000000"/>
              </a:solidFill>
              <a:latin typeface="Arial"/>
              <a:ea typeface="Arial"/>
              <a:cs typeface="Arial"/>
              <a:sym typeface="Arial"/>
            </a:endParaRPr>
          </a:p>
        </p:txBody>
      </p:sp>
      <p:sp>
        <p:nvSpPr>
          <p:cNvPr id="136" name="Google Shape;136;p11"/>
          <p:cNvSpPr txBox="1"/>
          <p:nvPr/>
        </p:nvSpPr>
        <p:spPr>
          <a:xfrm>
            <a:off x="12257093" y="1995492"/>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7</a:t>
            </a:r>
            <a:endParaRPr b="0" i="0" sz="1400" u="none" cap="none" strike="noStrike">
              <a:solidFill>
                <a:srgbClr val="000000"/>
              </a:solidFill>
              <a:latin typeface="Arial"/>
              <a:ea typeface="Arial"/>
              <a:cs typeface="Arial"/>
              <a:sym typeface="Arial"/>
            </a:endParaRPr>
          </a:p>
        </p:txBody>
      </p:sp>
      <p:sp>
        <p:nvSpPr>
          <p:cNvPr id="137" name="Google Shape;137;p11"/>
          <p:cNvSpPr txBox="1"/>
          <p:nvPr/>
        </p:nvSpPr>
        <p:spPr>
          <a:xfrm>
            <a:off x="12257093" y="1258892"/>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y</a:t>
            </a:r>
            <a:endParaRPr b="0" i="0" sz="1400" u="none" cap="none" strike="noStrike">
              <a:solidFill>
                <a:srgbClr val="000000"/>
              </a:solidFill>
              <a:latin typeface="Arial"/>
              <a:ea typeface="Arial"/>
              <a:cs typeface="Arial"/>
              <a:sym typeface="Arial"/>
            </a:endParaRPr>
          </a:p>
        </p:txBody>
      </p:sp>
      <p:sp>
        <p:nvSpPr>
          <p:cNvPr id="138" name="Google Shape;138;p11"/>
          <p:cNvSpPr txBox="1"/>
          <p:nvPr/>
        </p:nvSpPr>
        <p:spPr>
          <a:xfrm>
            <a:off x="13031793" y="1995492"/>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139" name="Google Shape;139;p11"/>
          <p:cNvSpPr txBox="1"/>
          <p:nvPr/>
        </p:nvSpPr>
        <p:spPr>
          <a:xfrm>
            <a:off x="13031793" y="1258892"/>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t</a:t>
            </a:r>
            <a:endParaRPr b="0" i="0" sz="1400" u="none" cap="none" strike="noStrike">
              <a:solidFill>
                <a:srgbClr val="000000"/>
              </a:solidFill>
              <a:latin typeface="Arial"/>
              <a:ea typeface="Arial"/>
              <a:cs typeface="Arial"/>
              <a:sym typeface="Arial"/>
            </a:endParaRPr>
          </a:p>
        </p:txBody>
      </p:sp>
      <p:sp>
        <p:nvSpPr>
          <p:cNvPr id="140" name="Google Shape;140;p11"/>
          <p:cNvSpPr txBox="1"/>
          <p:nvPr/>
        </p:nvSpPr>
        <p:spPr>
          <a:xfrm>
            <a:off x="13781094" y="1995492"/>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9</a:t>
            </a:r>
            <a:endParaRPr b="0" i="0" sz="1400" u="none" cap="none" strike="noStrike">
              <a:solidFill>
                <a:srgbClr val="000000"/>
              </a:solidFill>
              <a:latin typeface="Arial"/>
              <a:ea typeface="Arial"/>
              <a:cs typeface="Arial"/>
              <a:sym typeface="Arial"/>
            </a:endParaRPr>
          </a:p>
        </p:txBody>
      </p:sp>
      <p:sp>
        <p:nvSpPr>
          <p:cNvPr id="141" name="Google Shape;141;p11"/>
          <p:cNvSpPr txBox="1"/>
          <p:nvPr/>
        </p:nvSpPr>
        <p:spPr>
          <a:xfrm>
            <a:off x="13781094" y="1258892"/>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h</a:t>
            </a:r>
            <a:endParaRPr b="0" i="0" sz="1400" u="none" cap="none" strike="noStrike">
              <a:solidFill>
                <a:srgbClr val="000000"/>
              </a:solidFill>
              <a:latin typeface="Arial"/>
              <a:ea typeface="Arial"/>
              <a:cs typeface="Arial"/>
              <a:sym typeface="Arial"/>
            </a:endParaRPr>
          </a:p>
        </p:txBody>
      </p:sp>
      <p:sp>
        <p:nvSpPr>
          <p:cNvPr id="142" name="Google Shape;142;p11"/>
          <p:cNvSpPr txBox="1"/>
          <p:nvPr/>
        </p:nvSpPr>
        <p:spPr>
          <a:xfrm>
            <a:off x="14504994" y="1995492"/>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143" name="Google Shape;143;p11"/>
          <p:cNvSpPr txBox="1"/>
          <p:nvPr/>
        </p:nvSpPr>
        <p:spPr>
          <a:xfrm>
            <a:off x="14504994" y="1258892"/>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o</a:t>
            </a:r>
            <a:endParaRPr b="0" i="0" sz="1400" u="none" cap="none" strike="noStrike">
              <a:solidFill>
                <a:srgbClr val="000000"/>
              </a:solidFill>
              <a:latin typeface="Arial"/>
              <a:ea typeface="Arial"/>
              <a:cs typeface="Arial"/>
              <a:sym typeface="Arial"/>
            </a:endParaRPr>
          </a:p>
        </p:txBody>
      </p:sp>
      <p:sp>
        <p:nvSpPr>
          <p:cNvPr id="144" name="Google Shape;144;p11"/>
          <p:cNvSpPr txBox="1"/>
          <p:nvPr/>
        </p:nvSpPr>
        <p:spPr>
          <a:xfrm>
            <a:off x="15254294" y="1995492"/>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145" name="Google Shape;145;p11"/>
          <p:cNvSpPr txBox="1"/>
          <p:nvPr/>
        </p:nvSpPr>
        <p:spPr>
          <a:xfrm>
            <a:off x="15254294" y="1258892"/>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2"/>
          <p:cNvSpPr txBox="1"/>
          <p:nvPr>
            <p:ph type="title"/>
          </p:nvPr>
        </p:nvSpPr>
        <p:spPr>
          <a:xfrm>
            <a:off x="1155700" y="833718"/>
            <a:ext cx="13932000" cy="17061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FF"/>
              </a:buClr>
              <a:buSzPts val="1900"/>
              <a:buFont typeface="Cabin"/>
              <a:buNone/>
            </a:pPr>
            <a:r>
              <a:rPr lang="en-US" sz="7600" u="none" cap="none" strike="noStrike">
                <a:solidFill>
                  <a:srgbClr val="FFD966"/>
                </a:solidFill>
                <a:latin typeface="Arial"/>
                <a:ea typeface="Arial"/>
                <a:cs typeface="Arial"/>
                <a:sym typeface="Arial"/>
              </a:rPr>
              <a:t>String Concatenation</a:t>
            </a:r>
            <a:endParaRPr/>
          </a:p>
        </p:txBody>
      </p:sp>
      <p:sp>
        <p:nvSpPr>
          <p:cNvPr id="151" name="Google Shape;151;p12"/>
          <p:cNvSpPr txBox="1"/>
          <p:nvPr>
            <p:ph idx="1" type="body"/>
          </p:nvPr>
        </p:nvSpPr>
        <p:spPr>
          <a:xfrm>
            <a:off x="1155700" y="2603501"/>
            <a:ext cx="6059488" cy="4757778"/>
          </a:xfrm>
          <a:prstGeom prst="rect">
            <a:avLst/>
          </a:prstGeom>
          <a:noFill/>
          <a:ln>
            <a:noFill/>
          </a:ln>
        </p:spPr>
        <p:txBody>
          <a:bodyPr anchorCtr="0" anchor="ctr" bIns="38100" lIns="38100" spcFirstLastPara="1" rIns="38100" wrap="square" tIns="38100">
            <a:noAutofit/>
          </a:bodyPr>
          <a:lstStyle/>
          <a:p>
            <a:pPr indent="0" lvl="0" marL="215900" marR="0" rtl="0" algn="l">
              <a:lnSpc>
                <a:spcPct val="100000"/>
              </a:lnSpc>
              <a:spcBef>
                <a:spcPts val="0"/>
              </a:spcBef>
              <a:spcAft>
                <a:spcPts val="0"/>
              </a:spcAft>
              <a:buClr>
                <a:schemeClr val="lt1"/>
              </a:buClr>
              <a:buSzPts val="6156"/>
              <a:buNone/>
            </a:pPr>
            <a:r>
              <a:rPr lang="en-US" sz="3600" u="none" cap="none" strike="noStrike">
                <a:solidFill>
                  <a:schemeClr val="lt1"/>
                </a:solidFill>
                <a:latin typeface="Arial"/>
                <a:ea typeface="Arial"/>
                <a:cs typeface="Arial"/>
                <a:sym typeface="Arial"/>
              </a:rPr>
              <a:t>When the  </a:t>
            </a:r>
            <a:r>
              <a:rPr lang="en-US" sz="3600" u="none" cap="none" strike="noStrike">
                <a:solidFill>
                  <a:srgbClr val="00FFFF"/>
                </a:solidFill>
                <a:latin typeface="Arial"/>
                <a:ea typeface="Arial"/>
                <a:cs typeface="Arial"/>
                <a:sym typeface="Arial"/>
              </a:rPr>
              <a:t>+ </a:t>
            </a:r>
            <a:r>
              <a:rPr lang="en-US" sz="3600" u="none" cap="none" strike="noStrike">
                <a:solidFill>
                  <a:schemeClr val="lt1"/>
                </a:solidFill>
                <a:latin typeface="Arial"/>
                <a:ea typeface="Arial"/>
                <a:cs typeface="Arial"/>
                <a:sym typeface="Arial"/>
              </a:rPr>
              <a:t> operator is applied to strings, it means </a:t>
            </a:r>
            <a:r>
              <a:rPr lang="en-US" sz="3600">
                <a:solidFill>
                  <a:schemeClr val="lt1"/>
                </a:solidFill>
                <a:latin typeface="Arial"/>
                <a:ea typeface="Arial"/>
                <a:cs typeface="Arial"/>
                <a:sym typeface="Arial"/>
              </a:rPr>
              <a:t>“</a:t>
            </a:r>
            <a:r>
              <a:rPr lang="en-US" sz="3600" u="none" cap="none" strike="noStrike">
                <a:solidFill>
                  <a:srgbClr val="00FFFF"/>
                </a:solidFill>
                <a:latin typeface="Arial"/>
                <a:ea typeface="Arial"/>
                <a:cs typeface="Arial"/>
                <a:sym typeface="Arial"/>
              </a:rPr>
              <a:t>concatenation</a:t>
            </a:r>
            <a:r>
              <a:rPr lang="en-US" sz="3600">
                <a:solidFill>
                  <a:schemeClr val="lt1"/>
                </a:solidFill>
                <a:latin typeface="Arial"/>
                <a:ea typeface="Arial"/>
                <a:cs typeface="Arial"/>
                <a:sym typeface="Arial"/>
              </a:rPr>
              <a:t>”</a:t>
            </a:r>
            <a:endParaRPr/>
          </a:p>
        </p:txBody>
      </p:sp>
      <p:sp>
        <p:nvSpPr>
          <p:cNvPr id="152" name="Google Shape;152;p12"/>
          <p:cNvSpPr txBox="1"/>
          <p:nvPr/>
        </p:nvSpPr>
        <p:spPr>
          <a:xfrm>
            <a:off x="7900200" y="3101750"/>
            <a:ext cx="7187400" cy="55197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rgbClr val="00FF00"/>
                </a:solidFill>
                <a:latin typeface="Courier"/>
                <a:ea typeface="Courier"/>
                <a:cs typeface="Courier"/>
                <a:sym typeface="Courier"/>
              </a:rPr>
              <a:t>a</a:t>
            </a:r>
            <a:r>
              <a:rPr b="0" i="0" lang="en-US" sz="3600" u="none" cap="none" strike="noStrike">
                <a:solidFill>
                  <a:schemeClr val="lt1"/>
                </a:solidFill>
                <a:latin typeface="Courier"/>
                <a:ea typeface="Courier"/>
                <a:cs typeface="Courier"/>
                <a:sym typeface="Courier"/>
              </a:rPr>
              <a:t> = </a:t>
            </a:r>
            <a:r>
              <a:rPr b="0" i="0" lang="en-US" sz="3600" u="none" cap="none" strike="noStrike">
                <a:solidFill>
                  <a:srgbClr val="FF7F00"/>
                </a:solidFill>
                <a:latin typeface="Courier"/>
                <a:ea typeface="Courier"/>
                <a:cs typeface="Courier"/>
                <a:sym typeface="Courier"/>
              </a:rPr>
              <a:t>'Hello'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rgbClr val="00FF00"/>
                </a:solidFill>
                <a:latin typeface="Courier"/>
                <a:ea typeface="Courier"/>
                <a:cs typeface="Courier"/>
                <a:sym typeface="Courier"/>
              </a:rPr>
              <a:t>b</a:t>
            </a:r>
            <a:r>
              <a:rPr b="0" i="0" lang="en-US" sz="3600" u="none" cap="none" strike="noStrike">
                <a:solidFill>
                  <a:schemeClr val="lt1"/>
                </a:solidFill>
                <a:latin typeface="Courier"/>
                <a:ea typeface="Courier"/>
                <a:cs typeface="Courier"/>
                <a:sym typeface="Courier"/>
              </a:rPr>
              <a:t> = </a:t>
            </a:r>
            <a:r>
              <a:rPr b="0" i="0" lang="en-US" sz="3600" u="none" cap="none" strike="noStrike">
                <a:solidFill>
                  <a:srgbClr val="00FF00"/>
                </a:solidFill>
                <a:latin typeface="Courier"/>
                <a:ea typeface="Courier"/>
                <a:cs typeface="Courier"/>
                <a:sym typeface="Courier"/>
              </a:rPr>
              <a:t>a</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00FFFF"/>
                </a:solidFill>
                <a:latin typeface="Courier"/>
                <a:ea typeface="Courier"/>
                <a:cs typeface="Courier"/>
                <a:sym typeface="Courier"/>
              </a:rPr>
              <a:t>+</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FF7F00"/>
                </a:solidFill>
                <a:latin typeface="Courier"/>
                <a:ea typeface="Courier"/>
                <a:cs typeface="Courier"/>
                <a:sym typeface="Courier"/>
              </a:rPr>
              <a:t>'There'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rgbClr val="FFFF00"/>
                </a:solidFill>
                <a:latin typeface="Courier"/>
                <a:ea typeface="Courier"/>
                <a:cs typeface="Courier"/>
                <a:sym typeface="Courier"/>
              </a:rPr>
              <a:t>print</a:t>
            </a:r>
            <a:r>
              <a:rPr b="0" i="0" lang="en-US" sz="3600" u="none" cap="none" strike="noStrike">
                <a:solidFill>
                  <a:schemeClr val="lt1"/>
                </a:solidFill>
                <a:latin typeface="Courier"/>
                <a:ea typeface="Courier"/>
                <a:cs typeface="Courier"/>
                <a:sym typeface="Courier"/>
              </a:rPr>
              <a:t>(</a:t>
            </a:r>
            <a:r>
              <a:rPr b="0" i="0" lang="en-US" sz="3600" u="none" cap="none" strike="noStrike">
                <a:solidFill>
                  <a:srgbClr val="00FF00"/>
                </a:solidFill>
                <a:latin typeface="Courier"/>
                <a:ea typeface="Courier"/>
                <a:cs typeface="Courier"/>
                <a:sym typeface="Courier"/>
              </a:rPr>
              <a:t>b</a:t>
            </a:r>
            <a:r>
              <a:rPr b="0" i="0" lang="en-US" sz="3600" u="none" cap="none" strike="noStrike">
                <a:solidFill>
                  <a:schemeClr val="lt1"/>
                </a:solidFill>
                <a:latin typeface="Courier"/>
                <a:ea typeface="Courier"/>
                <a:cs typeface="Courier"/>
                <a:sym typeface="Courier"/>
              </a:rPr>
              <a:t>)</a:t>
            </a:r>
            <a:endParaRPr b="0" i="0" sz="3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Courier"/>
                <a:ea typeface="Courier"/>
                <a:cs typeface="Courier"/>
                <a:sym typeface="Courier"/>
              </a:rPr>
              <a:t>HelloThere</a:t>
            </a:r>
            <a:endParaRPr b="0" i="0" sz="3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900"/>
              <a:buFont typeface="Cabin"/>
              <a:buNone/>
            </a:pPr>
            <a:r>
              <a:t/>
            </a:r>
            <a:endParaRPr b="0" i="0" sz="3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rgbClr val="00FF00"/>
                </a:solidFill>
                <a:latin typeface="Courier"/>
                <a:ea typeface="Courier"/>
                <a:cs typeface="Courier"/>
                <a:sym typeface="Courier"/>
              </a:rPr>
              <a:t>c</a:t>
            </a:r>
            <a:r>
              <a:rPr b="0" i="0" lang="en-US" sz="3600" u="none" cap="none" strike="noStrike">
                <a:solidFill>
                  <a:schemeClr val="lt1"/>
                </a:solidFill>
                <a:latin typeface="Courier"/>
                <a:ea typeface="Courier"/>
                <a:cs typeface="Courier"/>
                <a:sym typeface="Courier"/>
              </a:rPr>
              <a:t> = </a:t>
            </a:r>
            <a:r>
              <a:rPr b="0" i="0" lang="en-US" sz="3600" u="none" cap="none" strike="noStrike">
                <a:solidFill>
                  <a:srgbClr val="00FF00"/>
                </a:solidFill>
                <a:latin typeface="Courier"/>
                <a:ea typeface="Courier"/>
                <a:cs typeface="Courier"/>
                <a:sym typeface="Courier"/>
              </a:rPr>
              <a:t>a</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00FFFF"/>
                </a:solidFill>
                <a:latin typeface="Courier"/>
                <a:ea typeface="Courier"/>
                <a:cs typeface="Courier"/>
                <a:sym typeface="Courier"/>
              </a:rPr>
              <a:t>+</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FF7F00"/>
                </a:solidFill>
                <a:latin typeface="Courier"/>
                <a:ea typeface="Courier"/>
                <a:cs typeface="Courier"/>
                <a:sym typeface="Courier"/>
              </a:rPr>
              <a:t>' '</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00FFFF"/>
                </a:solidFill>
                <a:latin typeface="Courier"/>
                <a:ea typeface="Courier"/>
                <a:cs typeface="Courier"/>
                <a:sym typeface="Courier"/>
              </a:rPr>
              <a:t>+ </a:t>
            </a:r>
            <a:r>
              <a:rPr b="0" i="0" lang="en-US" sz="3600" u="none" cap="none" strike="noStrike">
                <a:solidFill>
                  <a:srgbClr val="FF7F00"/>
                </a:solidFill>
                <a:latin typeface="Courier"/>
                <a:ea typeface="Courier"/>
                <a:cs typeface="Courier"/>
                <a:sym typeface="Courier"/>
              </a:rPr>
              <a:t>'There'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rgbClr val="FFFF00"/>
                </a:solidFill>
                <a:latin typeface="Courier"/>
                <a:ea typeface="Courier"/>
                <a:cs typeface="Courier"/>
                <a:sym typeface="Courier"/>
              </a:rPr>
              <a:t>print</a:t>
            </a:r>
            <a:r>
              <a:rPr b="0" i="0" lang="en-US" sz="3600" u="none" cap="none" strike="noStrike">
                <a:solidFill>
                  <a:schemeClr val="lt1"/>
                </a:solidFill>
                <a:latin typeface="Courier"/>
                <a:ea typeface="Courier"/>
                <a:cs typeface="Courier"/>
                <a:sym typeface="Courier"/>
              </a:rPr>
              <a:t>(</a:t>
            </a:r>
            <a:r>
              <a:rPr b="0" i="0" lang="en-US" sz="3600" u="none" cap="none" strike="noStrike">
                <a:solidFill>
                  <a:srgbClr val="00FF00"/>
                </a:solidFill>
                <a:latin typeface="Courier"/>
                <a:ea typeface="Courier"/>
                <a:cs typeface="Courier"/>
                <a:sym typeface="Courier"/>
              </a:rPr>
              <a:t>c</a:t>
            </a:r>
            <a:r>
              <a:rPr b="0" i="0" lang="en-US" sz="3600" u="none" cap="none" strike="noStrike">
                <a:solidFill>
                  <a:schemeClr val="lt1"/>
                </a:solidFill>
                <a:latin typeface="Courier"/>
                <a:ea typeface="Courier"/>
                <a:cs typeface="Courier"/>
                <a:sym typeface="Courier"/>
              </a:rPr>
              <a:t>)</a:t>
            </a:r>
            <a:endParaRPr b="0" i="0" sz="3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Courier"/>
                <a:ea typeface="Courier"/>
                <a:cs typeface="Courier"/>
                <a:sym typeface="Courier"/>
              </a:rPr>
              <a:t>Hello There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abin"/>
              <a:buNone/>
            </a:pPr>
            <a:r>
              <a:t/>
            </a:r>
            <a:endParaRPr b="1" i="0" sz="3600" u="none" cap="none" strike="noStrike">
              <a:solidFill>
                <a:schemeClr val="lt1"/>
              </a:solidFill>
              <a:latin typeface="Courier"/>
              <a:ea typeface="Courier"/>
              <a:cs typeface="Courier"/>
              <a:sym typeface="Couri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3"/>
          <p:cNvSpPr txBox="1"/>
          <p:nvPr>
            <p:ph type="title"/>
          </p:nvPr>
        </p:nvSpPr>
        <p:spPr>
          <a:xfrm>
            <a:off x="1155700" y="833718"/>
            <a:ext cx="13932000" cy="17061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Using</a:t>
            </a:r>
            <a:r>
              <a:rPr lang="en-US" sz="7600" u="none" cap="none" strike="noStrike">
                <a:solidFill>
                  <a:srgbClr val="FFFFFF"/>
                </a:solidFill>
                <a:latin typeface="Arial"/>
                <a:ea typeface="Arial"/>
                <a:cs typeface="Arial"/>
                <a:sym typeface="Arial"/>
              </a:rPr>
              <a:t> </a:t>
            </a:r>
            <a:r>
              <a:rPr lang="en-US" sz="7600" u="none" cap="none" strike="noStrike">
                <a:solidFill>
                  <a:srgbClr val="FFFF00"/>
                </a:solidFill>
                <a:latin typeface="Arial"/>
                <a:ea typeface="Arial"/>
                <a:cs typeface="Arial"/>
                <a:sym typeface="Arial"/>
              </a:rPr>
              <a:t>in</a:t>
            </a:r>
            <a:r>
              <a:rPr lang="en-US" sz="7600" u="none" cap="none" strike="noStrike">
                <a:solidFill>
                  <a:srgbClr val="FFFFFF"/>
                </a:solidFill>
                <a:latin typeface="Arial"/>
                <a:ea typeface="Arial"/>
                <a:cs typeface="Arial"/>
                <a:sym typeface="Arial"/>
              </a:rPr>
              <a:t> </a:t>
            </a:r>
            <a:r>
              <a:rPr lang="en-US" sz="7600" u="none" cap="none" strike="noStrike">
                <a:solidFill>
                  <a:srgbClr val="FFD966"/>
                </a:solidFill>
                <a:latin typeface="Arial"/>
                <a:ea typeface="Arial"/>
                <a:cs typeface="Arial"/>
                <a:sym typeface="Arial"/>
              </a:rPr>
              <a:t>as a</a:t>
            </a:r>
            <a:r>
              <a:rPr lang="en-US" sz="7600">
                <a:solidFill>
                  <a:srgbClr val="FFD966"/>
                </a:solidFill>
                <a:latin typeface="Arial"/>
                <a:ea typeface="Arial"/>
                <a:cs typeface="Arial"/>
                <a:sym typeface="Arial"/>
              </a:rPr>
              <a:t> Logical</a:t>
            </a:r>
            <a:r>
              <a:rPr lang="en-US" sz="7600" u="none" cap="none" strike="noStrike">
                <a:solidFill>
                  <a:srgbClr val="FFD966"/>
                </a:solidFill>
                <a:latin typeface="Arial"/>
                <a:ea typeface="Arial"/>
                <a:cs typeface="Arial"/>
                <a:sym typeface="Arial"/>
              </a:rPr>
              <a:t> Operator</a:t>
            </a:r>
            <a:endParaRPr/>
          </a:p>
        </p:txBody>
      </p:sp>
      <p:sp>
        <p:nvSpPr>
          <p:cNvPr id="158" name="Google Shape;158;p13"/>
          <p:cNvSpPr txBox="1"/>
          <p:nvPr>
            <p:ph idx="1" type="body"/>
          </p:nvPr>
        </p:nvSpPr>
        <p:spPr>
          <a:xfrm>
            <a:off x="1155700" y="2603500"/>
            <a:ext cx="6659563" cy="5702399"/>
          </a:xfrm>
          <a:prstGeom prst="rect">
            <a:avLst/>
          </a:prstGeom>
          <a:noFill/>
          <a:ln>
            <a:noFill/>
          </a:ln>
        </p:spPr>
        <p:txBody>
          <a:bodyPr anchorCtr="0" anchor="ctr" bIns="38100" lIns="38100" spcFirstLastPara="1" rIns="38100" wrap="square" tIns="38100">
            <a:noAutofit/>
          </a:bodyPr>
          <a:lstStyle/>
          <a:p>
            <a:pPr indent="-533400" lvl="0" marL="749300" marR="0" rtl="0" algn="l">
              <a:lnSpc>
                <a:spcPct val="100000"/>
              </a:lnSpc>
              <a:spcBef>
                <a:spcPts val="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The </a:t>
            </a:r>
            <a:r>
              <a:rPr lang="en-US" sz="3600" u="none" cap="none" strike="noStrike">
                <a:solidFill>
                  <a:srgbClr val="FFFF00"/>
                </a:solidFill>
                <a:latin typeface="Arial"/>
                <a:ea typeface="Arial"/>
                <a:cs typeface="Arial"/>
                <a:sym typeface="Arial"/>
              </a:rPr>
              <a:t>in</a:t>
            </a:r>
            <a:r>
              <a:rPr lang="en-US" sz="3600" u="none" cap="none" strike="noStrike">
                <a:solidFill>
                  <a:schemeClr val="lt1"/>
                </a:solidFill>
                <a:latin typeface="Arial"/>
                <a:ea typeface="Arial"/>
                <a:cs typeface="Arial"/>
                <a:sym typeface="Arial"/>
              </a:rPr>
              <a:t> keyword can also be used to check to see if one string is </a:t>
            </a:r>
            <a:r>
              <a:rPr lang="en-US" sz="3600">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in</a:t>
            </a:r>
            <a:r>
              <a:rPr lang="en-US" sz="3600">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 another string</a:t>
            </a:r>
            <a:endParaRPr/>
          </a:p>
          <a:p>
            <a:pPr indent="-533400" lvl="0" marL="749300" marR="0" rtl="0" algn="l">
              <a:lnSpc>
                <a:spcPct val="100000"/>
              </a:lnSpc>
              <a:spcBef>
                <a:spcPts val="350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The </a:t>
            </a:r>
            <a:r>
              <a:rPr lang="en-US" sz="3600" u="none" cap="none" strike="noStrike">
                <a:solidFill>
                  <a:srgbClr val="FFFF00"/>
                </a:solidFill>
                <a:latin typeface="Arial"/>
                <a:ea typeface="Arial"/>
                <a:cs typeface="Arial"/>
                <a:sym typeface="Arial"/>
              </a:rPr>
              <a:t>in</a:t>
            </a:r>
            <a:r>
              <a:rPr lang="en-US" sz="3600" u="none" cap="none" strike="noStrike">
                <a:solidFill>
                  <a:schemeClr val="lt1"/>
                </a:solidFill>
                <a:latin typeface="Arial"/>
                <a:ea typeface="Arial"/>
                <a:cs typeface="Arial"/>
                <a:sym typeface="Arial"/>
              </a:rPr>
              <a:t> expression is a logical expression </a:t>
            </a:r>
            <a:r>
              <a:rPr lang="en-US" sz="3600">
                <a:solidFill>
                  <a:schemeClr val="lt1"/>
                </a:solidFill>
                <a:latin typeface="Arial"/>
                <a:ea typeface="Arial"/>
                <a:cs typeface="Arial"/>
                <a:sym typeface="Arial"/>
              </a:rPr>
              <a:t>that</a:t>
            </a:r>
            <a:r>
              <a:rPr lang="en-US" sz="3600" u="none" cap="none" strike="noStrike">
                <a:solidFill>
                  <a:schemeClr val="lt1"/>
                </a:solidFill>
                <a:latin typeface="Arial"/>
                <a:ea typeface="Arial"/>
                <a:cs typeface="Arial"/>
                <a:sym typeface="Arial"/>
              </a:rPr>
              <a:t> returns </a:t>
            </a:r>
            <a:r>
              <a:rPr lang="en-US" sz="3600" u="none" cap="none" strike="noStrike">
                <a:solidFill>
                  <a:srgbClr val="FF7F00"/>
                </a:solidFill>
                <a:latin typeface="Arial"/>
                <a:ea typeface="Arial"/>
                <a:cs typeface="Arial"/>
                <a:sym typeface="Arial"/>
              </a:rPr>
              <a:t>True</a:t>
            </a:r>
            <a:r>
              <a:rPr lang="en-US" sz="3600" u="none" cap="none" strike="noStrike">
                <a:solidFill>
                  <a:schemeClr val="lt1"/>
                </a:solidFill>
                <a:latin typeface="Arial"/>
                <a:ea typeface="Arial"/>
                <a:cs typeface="Arial"/>
                <a:sym typeface="Arial"/>
              </a:rPr>
              <a:t> or </a:t>
            </a:r>
            <a:r>
              <a:rPr lang="en-US" sz="3600" u="none" cap="none" strike="noStrike">
                <a:solidFill>
                  <a:srgbClr val="FF7F00"/>
                </a:solidFill>
                <a:latin typeface="Arial"/>
                <a:ea typeface="Arial"/>
                <a:cs typeface="Arial"/>
                <a:sym typeface="Arial"/>
              </a:rPr>
              <a:t>False</a:t>
            </a:r>
            <a:r>
              <a:rPr lang="en-US" sz="3600" u="none" cap="none" strike="noStrike">
                <a:solidFill>
                  <a:schemeClr val="lt1"/>
                </a:solidFill>
                <a:latin typeface="Arial"/>
                <a:ea typeface="Arial"/>
                <a:cs typeface="Arial"/>
                <a:sym typeface="Arial"/>
              </a:rPr>
              <a:t> and can be used in an</a:t>
            </a:r>
            <a:r>
              <a:rPr lang="en-US" sz="3600" u="none" cap="none" strike="noStrike">
                <a:solidFill>
                  <a:srgbClr val="FFFF00"/>
                </a:solidFill>
                <a:latin typeface="Arial"/>
                <a:ea typeface="Arial"/>
                <a:cs typeface="Arial"/>
                <a:sym typeface="Arial"/>
              </a:rPr>
              <a:t> if </a:t>
            </a:r>
            <a:r>
              <a:rPr lang="en-US" sz="3600" u="none" cap="none" strike="noStrike">
                <a:solidFill>
                  <a:schemeClr val="lt1"/>
                </a:solidFill>
                <a:latin typeface="Arial"/>
                <a:ea typeface="Arial"/>
                <a:cs typeface="Arial"/>
                <a:sym typeface="Arial"/>
              </a:rPr>
              <a:t>statement</a:t>
            </a:r>
            <a:endParaRPr/>
          </a:p>
        </p:txBody>
      </p:sp>
      <p:sp>
        <p:nvSpPr>
          <p:cNvPr id="159" name="Google Shape;159;p13"/>
          <p:cNvSpPr txBox="1"/>
          <p:nvPr/>
        </p:nvSpPr>
        <p:spPr>
          <a:xfrm>
            <a:off x="9255125" y="2690584"/>
            <a:ext cx="6721474" cy="631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Arial"/>
              <a:buNone/>
            </a:pPr>
            <a:r>
              <a:rPr b="0" i="0" lang="en-US" sz="3000" u="none" cap="none" strike="noStrike">
                <a:solidFill>
                  <a:srgbClr val="00FF00"/>
                </a:solidFill>
                <a:latin typeface="Courier"/>
                <a:ea typeface="Courier"/>
                <a:cs typeface="Courier"/>
                <a:sym typeface="Courier"/>
              </a:rPr>
              <a:t>fruit</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7F00"/>
                </a:solidFill>
                <a:latin typeface="Courier"/>
                <a:ea typeface="Courier"/>
                <a:cs typeface="Courier"/>
                <a:sym typeface="Courier"/>
              </a:rPr>
              <a:t>'banana'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Arial"/>
              <a:buNone/>
            </a:pPr>
            <a:r>
              <a:rPr b="0" i="0" lang="en-US" sz="3000" u="none" cap="none" strike="noStrike">
                <a:solidFill>
                  <a:srgbClr val="FF7F00"/>
                </a:solidFill>
                <a:latin typeface="Courier"/>
                <a:ea typeface="Courier"/>
                <a:cs typeface="Courier"/>
                <a:sym typeface="Courier"/>
              </a:rPr>
              <a:t>'n'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fruit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Arial"/>
              <a:buNone/>
            </a:pPr>
            <a:r>
              <a:rPr b="0" i="0" lang="en-US" sz="3000" u="none" cap="none" strike="noStrike">
                <a:solidFill>
                  <a:schemeClr val="lt1"/>
                </a:solidFill>
                <a:latin typeface="Courier"/>
                <a:ea typeface="Courier"/>
                <a:cs typeface="Courier"/>
                <a:sym typeface="Courier"/>
              </a:rPr>
              <a:t>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Arial"/>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Arial"/>
              <a:buNone/>
            </a:pPr>
            <a:r>
              <a:rPr b="0" i="0" lang="en-US" sz="3000" u="none" cap="none" strike="noStrike">
                <a:solidFill>
                  <a:srgbClr val="FF7F00"/>
                </a:solidFill>
                <a:latin typeface="Courier"/>
                <a:ea typeface="Courier"/>
                <a:cs typeface="Courier"/>
                <a:sym typeface="Courier"/>
              </a:rPr>
              <a:t>'m'</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fruit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Arial"/>
              <a:buNone/>
            </a:pPr>
            <a:r>
              <a:rPr b="0" i="0" lang="en-US" sz="3000" u="none" cap="none" strike="noStrike">
                <a:solidFill>
                  <a:schemeClr val="lt1"/>
                </a:solidFill>
                <a:latin typeface="Courier"/>
                <a:ea typeface="Courier"/>
                <a:cs typeface="Courier"/>
                <a:sym typeface="Courier"/>
              </a:rPr>
              <a:t>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Arial"/>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Arial"/>
              <a:buNone/>
            </a:pPr>
            <a:r>
              <a:rPr b="0" i="0" lang="en-US" sz="3000" u="none" cap="none" strike="noStrike">
                <a:solidFill>
                  <a:srgbClr val="FF7F00"/>
                </a:solidFill>
                <a:latin typeface="Courier"/>
                <a:ea typeface="Courier"/>
                <a:cs typeface="Courier"/>
                <a:sym typeface="Courier"/>
              </a:rPr>
              <a:t>'nan'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 </a:t>
            </a:r>
            <a:r>
              <a:rPr b="0" i="0" lang="en-US" sz="3000" u="none" cap="none" strike="noStrike">
                <a:solidFill>
                  <a:srgbClr val="00FF00"/>
                </a:solidFill>
                <a:latin typeface="Courier"/>
                <a:ea typeface="Courier"/>
                <a:cs typeface="Courier"/>
                <a:sym typeface="Courier"/>
              </a:rPr>
              <a:t>fruit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Arial"/>
              <a:buNone/>
            </a:pPr>
            <a:r>
              <a:rPr b="0" i="0" lang="en-US" sz="3000" u="none" cap="none" strike="noStrike">
                <a:solidFill>
                  <a:schemeClr val="lt1"/>
                </a:solidFill>
                <a:latin typeface="Courier"/>
                <a:ea typeface="Courier"/>
                <a:cs typeface="Courier"/>
                <a:sym typeface="Courier"/>
              </a:rPr>
              <a:t>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Arial"/>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Arial"/>
              <a:buNone/>
            </a:pPr>
            <a:r>
              <a:rPr b="0" i="0" lang="en-US" sz="3000" u="none" cap="none" strike="noStrike">
                <a:solidFill>
                  <a:srgbClr val="FFFF00"/>
                </a:solidFill>
                <a:latin typeface="Courier"/>
                <a:ea typeface="Courier"/>
                <a:cs typeface="Courier"/>
                <a:sym typeface="Courier"/>
              </a:rPr>
              <a:t>if</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7F00"/>
                </a:solidFill>
                <a:latin typeface="Courier"/>
                <a:ea typeface="Courier"/>
                <a:cs typeface="Courier"/>
                <a:sym typeface="Courier"/>
              </a:rPr>
              <a:t>'a'</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fruit</a:t>
            </a:r>
            <a:r>
              <a:rPr b="0" i="0" lang="en-US" sz="3000" u="none" cap="none" strike="noStrike">
                <a:solidFill>
                  <a:schemeClr val="lt1"/>
                </a:solidFill>
                <a:latin typeface="Courier"/>
                <a:ea typeface="Courier"/>
                <a:cs typeface="Courier"/>
                <a:sym typeface="Courier"/>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Arial"/>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'Found it!'</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Arial"/>
              <a:buNone/>
            </a:pPr>
            <a:r>
              <a:rPr b="0" i="0" lang="en-US" sz="3000" u="none" cap="none" strike="noStrike">
                <a:solidFill>
                  <a:schemeClr val="lt1"/>
                </a:solidFill>
                <a:latin typeface="Courier"/>
                <a:ea typeface="Courier"/>
                <a:cs typeface="Courier"/>
                <a:sym typeface="Courier"/>
              </a:rPr>
              <a:t>Found 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Arial"/>
              <a:buNone/>
            </a:pPr>
            <a:r>
              <a:t/>
            </a:r>
            <a:endParaRPr b="0" i="0" sz="3000" u="none" cap="none" strike="noStrike">
              <a:solidFill>
                <a:schemeClr val="lt1"/>
              </a:solidFill>
              <a:latin typeface="Courier"/>
              <a:ea typeface="Courier"/>
              <a:cs typeface="Courier"/>
              <a:sym typeface="Couri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4"/>
          <p:cNvSpPr txBox="1"/>
          <p:nvPr>
            <p:ph type="title"/>
          </p:nvPr>
        </p:nvSpPr>
        <p:spPr>
          <a:xfrm>
            <a:off x="1155700" y="833718"/>
            <a:ext cx="13932000" cy="17061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FF"/>
              </a:buClr>
              <a:buSzPts val="1900"/>
              <a:buFont typeface="Cabin"/>
              <a:buNone/>
            </a:pPr>
            <a:r>
              <a:rPr lang="en-US" sz="7600" u="none" cap="none" strike="noStrike">
                <a:solidFill>
                  <a:srgbClr val="FFD966"/>
                </a:solidFill>
                <a:latin typeface="Arial"/>
                <a:ea typeface="Arial"/>
                <a:cs typeface="Arial"/>
                <a:sym typeface="Arial"/>
              </a:rPr>
              <a:t>String Comparison</a:t>
            </a:r>
            <a:endParaRPr/>
          </a:p>
        </p:txBody>
      </p:sp>
      <p:sp>
        <p:nvSpPr>
          <p:cNvPr id="165" name="Google Shape;165;p14"/>
          <p:cNvSpPr txBox="1"/>
          <p:nvPr/>
        </p:nvSpPr>
        <p:spPr>
          <a:xfrm>
            <a:off x="927100" y="2667000"/>
            <a:ext cx="15328900" cy="5321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00"/>
              </a:buClr>
              <a:buSzPts val="850"/>
              <a:buFont typeface="Arial"/>
              <a:buNone/>
            </a:pPr>
            <a:r>
              <a:rPr b="0" i="0" lang="en-US" sz="3400" u="none" cap="none" strike="noStrike">
                <a:solidFill>
                  <a:srgbClr val="FFFF00"/>
                </a:solidFill>
                <a:latin typeface="Courier"/>
                <a:ea typeface="Courier"/>
                <a:cs typeface="Courier"/>
                <a:sym typeface="Courier"/>
              </a:rPr>
              <a:t>if</a:t>
            </a: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00FF00"/>
                </a:solidFill>
                <a:latin typeface="Courier"/>
                <a:ea typeface="Courier"/>
                <a:cs typeface="Courier"/>
                <a:sym typeface="Courier"/>
              </a:rPr>
              <a:t>word</a:t>
            </a: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00FFFF"/>
                </a:solidFill>
                <a:latin typeface="Courier"/>
                <a:ea typeface="Courier"/>
                <a:cs typeface="Courier"/>
                <a:sym typeface="Courier"/>
              </a:rPr>
              <a:t>==</a:t>
            </a: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FF7F00"/>
                </a:solidFill>
                <a:latin typeface="Courier"/>
                <a:ea typeface="Courier"/>
                <a:cs typeface="Courier"/>
                <a:sym typeface="Courier"/>
              </a:rPr>
              <a:t>'banana'</a:t>
            </a:r>
            <a:r>
              <a:rPr b="0" i="0" lang="en-US" sz="3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Arial"/>
              <a:buNone/>
            </a:pP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FFFF00"/>
                </a:solidFill>
                <a:latin typeface="Courier"/>
                <a:ea typeface="Courier"/>
                <a:cs typeface="Courier"/>
                <a:sym typeface="Courier"/>
              </a:rPr>
              <a:t>print</a:t>
            </a:r>
            <a:r>
              <a:rPr b="0" i="0" lang="en-US" sz="3400" u="none" cap="none" strike="noStrike">
                <a:solidFill>
                  <a:schemeClr val="lt1"/>
                </a:solidFill>
                <a:latin typeface="Courier"/>
                <a:ea typeface="Courier"/>
                <a:cs typeface="Courier"/>
                <a:sym typeface="Courier"/>
              </a:rPr>
              <a:t>(</a:t>
            </a:r>
            <a:r>
              <a:rPr b="0" i="0" lang="en-US" sz="3400" u="none" cap="none" strike="noStrike">
                <a:solidFill>
                  <a:srgbClr val="FF7F00"/>
                </a:solidFill>
                <a:latin typeface="Courier"/>
                <a:ea typeface="Courier"/>
                <a:cs typeface="Courier"/>
                <a:sym typeface="Courier"/>
              </a:rPr>
              <a:t>'All right, bananas.'</a:t>
            </a:r>
            <a:r>
              <a:rPr b="0" i="0" lang="en-US" sz="3400" u="none" cap="none" strike="noStrike">
                <a:solidFill>
                  <a:schemeClr val="lt1"/>
                </a:solidFill>
                <a:latin typeface="Courier"/>
                <a:ea typeface="Courier"/>
                <a:cs typeface="Courier"/>
                <a:sym typeface="Courier"/>
              </a:rPr>
              <a:t>)</a:t>
            </a:r>
            <a:endParaRPr b="0" i="0" sz="3400" u="none" cap="none" strike="noStrike">
              <a:solidFill>
                <a:schemeClr val="lt1"/>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3400"/>
              <a:buFont typeface="Arial"/>
              <a:buNone/>
            </a:pPr>
            <a:r>
              <a:t/>
            </a:r>
            <a:endParaRPr b="0" i="0" sz="3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850"/>
              <a:buFont typeface="Arial"/>
              <a:buNone/>
            </a:pPr>
            <a:r>
              <a:rPr b="0" i="0" lang="en-US" sz="3400" u="none" cap="none" strike="noStrike">
                <a:solidFill>
                  <a:srgbClr val="FFFF00"/>
                </a:solidFill>
                <a:latin typeface="Courier"/>
                <a:ea typeface="Courier"/>
                <a:cs typeface="Courier"/>
                <a:sym typeface="Courier"/>
              </a:rPr>
              <a:t>if</a:t>
            </a: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00FF00"/>
                </a:solidFill>
                <a:latin typeface="Courier"/>
                <a:ea typeface="Courier"/>
                <a:cs typeface="Courier"/>
                <a:sym typeface="Courier"/>
              </a:rPr>
              <a:t>word</a:t>
            </a: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00FFFF"/>
                </a:solidFill>
                <a:latin typeface="Courier"/>
                <a:ea typeface="Courier"/>
                <a:cs typeface="Courier"/>
                <a:sym typeface="Courier"/>
              </a:rPr>
              <a:t>&lt;</a:t>
            </a: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FF7F00"/>
                </a:solidFill>
                <a:latin typeface="Courier"/>
                <a:ea typeface="Courier"/>
                <a:cs typeface="Courier"/>
                <a:sym typeface="Courier"/>
              </a:rPr>
              <a:t>'banana'</a:t>
            </a:r>
            <a:r>
              <a:rPr b="0" i="0" lang="en-US" sz="3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Arial"/>
              <a:buNone/>
            </a:pP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FFFF00"/>
                </a:solidFill>
                <a:latin typeface="Courier"/>
                <a:ea typeface="Courier"/>
                <a:cs typeface="Courier"/>
                <a:sym typeface="Courier"/>
              </a:rPr>
              <a:t>print</a:t>
            </a:r>
            <a:r>
              <a:rPr b="0" i="0" lang="en-US" sz="3400" u="none" cap="none" strike="noStrike">
                <a:solidFill>
                  <a:schemeClr val="lt1"/>
                </a:solidFill>
                <a:latin typeface="Courier"/>
                <a:ea typeface="Courier"/>
                <a:cs typeface="Courier"/>
                <a:sym typeface="Courier"/>
              </a:rPr>
              <a:t>(</a:t>
            </a:r>
            <a:r>
              <a:rPr b="0" i="0" lang="en-US" sz="3400" u="none" cap="none" strike="noStrike">
                <a:solidFill>
                  <a:srgbClr val="FF7F00"/>
                </a:solidFill>
                <a:latin typeface="Courier"/>
                <a:ea typeface="Courier"/>
                <a:cs typeface="Courier"/>
                <a:sym typeface="Courier"/>
              </a:rPr>
              <a:t>'Your word,'</a:t>
            </a: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00FFFF"/>
                </a:solidFill>
                <a:latin typeface="Courier"/>
                <a:ea typeface="Courier"/>
                <a:cs typeface="Courier"/>
                <a:sym typeface="Courier"/>
              </a:rPr>
              <a:t>+</a:t>
            </a: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00FF00"/>
                </a:solidFill>
                <a:latin typeface="Courier"/>
                <a:ea typeface="Courier"/>
                <a:cs typeface="Courier"/>
                <a:sym typeface="Courier"/>
              </a:rPr>
              <a:t>word</a:t>
            </a: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00FFFF"/>
                </a:solidFill>
                <a:latin typeface="Courier"/>
                <a:ea typeface="Courier"/>
                <a:cs typeface="Courier"/>
                <a:sym typeface="Courier"/>
              </a:rPr>
              <a:t>+</a:t>
            </a: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FF7F00"/>
                </a:solidFill>
                <a:latin typeface="Courier"/>
                <a:ea typeface="Courier"/>
                <a:cs typeface="Courier"/>
                <a:sym typeface="Courier"/>
              </a:rPr>
              <a:t>', comes before banana.'</a:t>
            </a:r>
            <a:r>
              <a:rPr b="0" i="0" lang="en-US" sz="3400" u="none" cap="none" strike="noStrike">
                <a:solidFill>
                  <a:schemeClr val="lt1"/>
                </a:solidFill>
                <a:latin typeface="Courier"/>
                <a:ea typeface="Courier"/>
                <a:cs typeface="Courier"/>
                <a:sym typeface="Courier"/>
              </a:rPr>
              <a:t>)</a:t>
            </a:r>
            <a:endParaRPr b="0" i="0" sz="3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850"/>
              <a:buFont typeface="Arial"/>
              <a:buNone/>
            </a:pPr>
            <a:r>
              <a:rPr b="0" i="0" lang="en-US" sz="3400" u="none" cap="none" strike="noStrike">
                <a:solidFill>
                  <a:srgbClr val="FFFF00"/>
                </a:solidFill>
                <a:latin typeface="Courier"/>
                <a:ea typeface="Courier"/>
                <a:cs typeface="Courier"/>
                <a:sym typeface="Courier"/>
              </a:rPr>
              <a:t>elif</a:t>
            </a: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00FF00"/>
                </a:solidFill>
                <a:latin typeface="Courier"/>
                <a:ea typeface="Courier"/>
                <a:cs typeface="Courier"/>
                <a:sym typeface="Courier"/>
              </a:rPr>
              <a:t>word</a:t>
            </a: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00FFFF"/>
                </a:solidFill>
                <a:latin typeface="Courier"/>
                <a:ea typeface="Courier"/>
                <a:cs typeface="Courier"/>
                <a:sym typeface="Courier"/>
              </a:rPr>
              <a:t>&gt;</a:t>
            </a: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FF7F00"/>
                </a:solidFill>
                <a:latin typeface="Courier"/>
                <a:ea typeface="Courier"/>
                <a:cs typeface="Courier"/>
                <a:sym typeface="Courier"/>
              </a:rPr>
              <a:t>'banana'</a:t>
            </a:r>
            <a:r>
              <a:rPr b="0" i="0" lang="en-US" sz="3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Arial"/>
              <a:buNone/>
            </a:pP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FFFF00"/>
                </a:solidFill>
                <a:latin typeface="Courier"/>
                <a:ea typeface="Courier"/>
                <a:cs typeface="Courier"/>
                <a:sym typeface="Courier"/>
              </a:rPr>
              <a:t>print</a:t>
            </a:r>
            <a:r>
              <a:rPr b="0" i="0" lang="en-US" sz="3400" u="none" cap="none" strike="noStrike">
                <a:solidFill>
                  <a:schemeClr val="lt1"/>
                </a:solidFill>
                <a:latin typeface="Courier"/>
                <a:ea typeface="Courier"/>
                <a:cs typeface="Courier"/>
                <a:sym typeface="Courier"/>
              </a:rPr>
              <a:t>(</a:t>
            </a:r>
            <a:r>
              <a:rPr b="0" i="0" lang="en-US" sz="3400" u="none" cap="none" strike="noStrike">
                <a:solidFill>
                  <a:srgbClr val="FF7F00"/>
                </a:solidFill>
                <a:latin typeface="Courier"/>
                <a:ea typeface="Courier"/>
                <a:cs typeface="Courier"/>
                <a:sym typeface="Courier"/>
              </a:rPr>
              <a:t>'Your word,'</a:t>
            </a: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00FFFF"/>
                </a:solidFill>
                <a:latin typeface="Courier"/>
                <a:ea typeface="Courier"/>
                <a:cs typeface="Courier"/>
                <a:sym typeface="Courier"/>
              </a:rPr>
              <a:t>+</a:t>
            </a: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00FF00"/>
                </a:solidFill>
                <a:latin typeface="Courier"/>
                <a:ea typeface="Courier"/>
                <a:cs typeface="Courier"/>
                <a:sym typeface="Courier"/>
              </a:rPr>
              <a:t>word</a:t>
            </a: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00FFFF"/>
                </a:solidFill>
                <a:latin typeface="Courier"/>
                <a:ea typeface="Courier"/>
                <a:cs typeface="Courier"/>
                <a:sym typeface="Courier"/>
              </a:rPr>
              <a:t>+</a:t>
            </a: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FF7F00"/>
                </a:solidFill>
                <a:latin typeface="Courier"/>
                <a:ea typeface="Courier"/>
                <a:cs typeface="Courier"/>
                <a:sym typeface="Courier"/>
              </a:rPr>
              <a:t>', comes after banana.'</a:t>
            </a:r>
            <a:r>
              <a:rPr b="0" i="0" lang="en-US" sz="3400" u="none" cap="none" strike="noStrike">
                <a:solidFill>
                  <a:schemeClr val="lt1"/>
                </a:solidFill>
                <a:latin typeface="Courier"/>
                <a:ea typeface="Courier"/>
                <a:cs typeface="Courier"/>
                <a:sym typeface="Courier"/>
              </a:rPr>
              <a:t>)</a:t>
            </a:r>
            <a:endParaRPr b="0" i="0" sz="3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850"/>
              <a:buFont typeface="Arial"/>
              <a:buNone/>
            </a:pPr>
            <a:r>
              <a:rPr b="0" i="0" lang="en-US" sz="3400" u="none" cap="none" strike="noStrike">
                <a:solidFill>
                  <a:srgbClr val="FFFF00"/>
                </a:solidFill>
                <a:latin typeface="Courier"/>
                <a:ea typeface="Courier"/>
                <a:cs typeface="Courier"/>
                <a:sym typeface="Courier"/>
              </a:rPr>
              <a:t>else</a:t>
            </a:r>
            <a:r>
              <a:rPr b="0" i="0" lang="en-US" sz="3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Arial"/>
              <a:buNone/>
            </a:pPr>
            <a:r>
              <a:rPr b="0" i="0" lang="en-US" sz="3400" u="none" cap="none" strike="noStrike">
                <a:solidFill>
                  <a:schemeClr val="lt1"/>
                </a:solidFill>
                <a:latin typeface="Courier"/>
                <a:ea typeface="Courier"/>
                <a:cs typeface="Courier"/>
                <a:sym typeface="Courier"/>
              </a:rPr>
              <a:t>    </a:t>
            </a:r>
            <a:r>
              <a:rPr b="0" i="0" lang="en-US" sz="3400" u="none" cap="none" strike="noStrike">
                <a:solidFill>
                  <a:srgbClr val="FFFF00"/>
                </a:solidFill>
                <a:latin typeface="Courier"/>
                <a:ea typeface="Courier"/>
                <a:cs typeface="Courier"/>
                <a:sym typeface="Courier"/>
              </a:rPr>
              <a:t>print</a:t>
            </a:r>
            <a:r>
              <a:rPr b="0" i="0" lang="en-US" sz="3400" u="none" cap="none" strike="noStrike">
                <a:solidFill>
                  <a:schemeClr val="lt1"/>
                </a:solidFill>
                <a:latin typeface="Courier"/>
                <a:ea typeface="Courier"/>
                <a:cs typeface="Courier"/>
                <a:sym typeface="Courier"/>
              </a:rPr>
              <a:t>(</a:t>
            </a:r>
            <a:r>
              <a:rPr b="0" i="0" lang="en-US" sz="3400" u="none" cap="none" strike="noStrike">
                <a:solidFill>
                  <a:srgbClr val="FF7F00"/>
                </a:solidFill>
                <a:latin typeface="Courier"/>
                <a:ea typeface="Courier"/>
                <a:cs typeface="Courier"/>
                <a:sym typeface="Courier"/>
              </a:rPr>
              <a:t>'All right, bananas.')</a:t>
            </a:r>
            <a:endParaRPr b="0" i="0" sz="3400" u="none" cap="none" strike="noStrike">
              <a:solidFill>
                <a:srgbClr val="FF7F00"/>
              </a:solidFill>
              <a:latin typeface="Courier"/>
              <a:ea typeface="Courier"/>
              <a:cs typeface="Courier"/>
              <a:sym typeface="Couri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5"/>
          <p:cNvSpPr txBox="1"/>
          <p:nvPr>
            <p:ph type="title"/>
          </p:nvPr>
        </p:nvSpPr>
        <p:spPr>
          <a:xfrm>
            <a:off x="7986713" y="673718"/>
            <a:ext cx="6800950" cy="17061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String Library</a:t>
            </a:r>
            <a:endParaRPr/>
          </a:p>
        </p:txBody>
      </p:sp>
      <p:sp>
        <p:nvSpPr>
          <p:cNvPr id="171" name="Google Shape;171;p15"/>
          <p:cNvSpPr txBox="1"/>
          <p:nvPr>
            <p:ph idx="1" type="body"/>
          </p:nvPr>
        </p:nvSpPr>
        <p:spPr>
          <a:xfrm>
            <a:off x="1155700" y="1452218"/>
            <a:ext cx="6831013" cy="6977161"/>
          </a:xfrm>
          <a:prstGeom prst="rect">
            <a:avLst/>
          </a:prstGeom>
          <a:noFill/>
          <a:ln>
            <a:noFill/>
          </a:ln>
        </p:spPr>
        <p:txBody>
          <a:bodyPr anchorCtr="0" anchor="ctr" bIns="38100" lIns="38100" spcFirstLastPara="1" rIns="38100" wrap="square" tIns="38100">
            <a:noAutofit/>
          </a:bodyPr>
          <a:lstStyle/>
          <a:p>
            <a:pPr indent="-358394" lvl="0" marL="749300" marR="0" rtl="0" algn="l">
              <a:lnSpc>
                <a:spcPct val="100000"/>
              </a:lnSpc>
              <a:spcBef>
                <a:spcPts val="0"/>
              </a:spcBef>
              <a:spcAft>
                <a:spcPts val="0"/>
              </a:spcAft>
              <a:buClr>
                <a:schemeClr val="lt1"/>
              </a:buClr>
              <a:buSzPts val="3400"/>
              <a:buFont typeface="Cabin"/>
              <a:buChar char="•"/>
            </a:pPr>
            <a:r>
              <a:rPr lang="en-US" sz="3400" u="none" cap="none" strike="noStrike">
                <a:solidFill>
                  <a:schemeClr val="lt1"/>
                </a:solidFill>
                <a:latin typeface="Arial"/>
                <a:ea typeface="Arial"/>
                <a:cs typeface="Arial"/>
                <a:sym typeface="Arial"/>
              </a:rPr>
              <a:t>Python has a number of string </a:t>
            </a:r>
            <a:r>
              <a:rPr lang="en-US" sz="3400" u="none" cap="none" strike="noStrike">
                <a:solidFill>
                  <a:srgbClr val="FF00FF"/>
                </a:solidFill>
                <a:latin typeface="Arial"/>
                <a:ea typeface="Arial"/>
                <a:cs typeface="Arial"/>
                <a:sym typeface="Arial"/>
              </a:rPr>
              <a:t>functions</a:t>
            </a:r>
            <a:r>
              <a:rPr lang="en-US" sz="3400" u="none" cap="none" strike="noStrike">
                <a:solidFill>
                  <a:schemeClr val="lt1"/>
                </a:solidFill>
                <a:latin typeface="Arial"/>
                <a:ea typeface="Arial"/>
                <a:cs typeface="Arial"/>
                <a:sym typeface="Arial"/>
              </a:rPr>
              <a:t> which are in the</a:t>
            </a:r>
            <a:r>
              <a:rPr lang="en-US" sz="3400" u="none" cap="none" strike="noStrike">
                <a:solidFill>
                  <a:srgbClr val="FF00FF"/>
                </a:solidFill>
                <a:latin typeface="Arial"/>
                <a:ea typeface="Arial"/>
                <a:cs typeface="Arial"/>
                <a:sym typeface="Arial"/>
              </a:rPr>
              <a:t> string library</a:t>
            </a:r>
            <a:endParaRPr/>
          </a:p>
          <a:p>
            <a:pPr indent="-358394" lvl="0" marL="749300" marR="0" rtl="0" algn="l">
              <a:lnSpc>
                <a:spcPct val="100000"/>
              </a:lnSpc>
              <a:spcBef>
                <a:spcPts val="3500"/>
              </a:spcBef>
              <a:spcAft>
                <a:spcPts val="0"/>
              </a:spcAft>
              <a:buClr>
                <a:schemeClr val="lt1"/>
              </a:buClr>
              <a:buSzPts val="3400"/>
              <a:buFont typeface="Cabin"/>
              <a:buChar char="•"/>
            </a:pPr>
            <a:r>
              <a:rPr lang="en-US" sz="3400" u="none" cap="none" strike="noStrike">
                <a:solidFill>
                  <a:schemeClr val="lt1"/>
                </a:solidFill>
                <a:latin typeface="Arial"/>
                <a:ea typeface="Arial"/>
                <a:cs typeface="Arial"/>
                <a:sym typeface="Arial"/>
              </a:rPr>
              <a:t>These </a:t>
            </a:r>
            <a:r>
              <a:rPr lang="en-US" sz="3400" u="none" cap="none" strike="noStrike">
                <a:solidFill>
                  <a:srgbClr val="FF00FF"/>
                </a:solidFill>
                <a:latin typeface="Arial"/>
                <a:ea typeface="Arial"/>
                <a:cs typeface="Arial"/>
                <a:sym typeface="Arial"/>
              </a:rPr>
              <a:t>functions</a:t>
            </a:r>
            <a:r>
              <a:rPr lang="en-US" sz="3400" u="none" cap="none" strike="noStrike">
                <a:solidFill>
                  <a:schemeClr val="lt1"/>
                </a:solidFill>
                <a:latin typeface="Arial"/>
                <a:ea typeface="Arial"/>
                <a:cs typeface="Arial"/>
                <a:sym typeface="Arial"/>
              </a:rPr>
              <a:t> are already </a:t>
            </a:r>
            <a:r>
              <a:rPr lang="en-US" sz="3400" u="none" cap="none" strike="noStrike">
                <a:solidFill>
                  <a:srgbClr val="FF00FF"/>
                </a:solidFill>
                <a:latin typeface="Arial"/>
                <a:ea typeface="Arial"/>
                <a:cs typeface="Arial"/>
                <a:sym typeface="Arial"/>
              </a:rPr>
              <a:t>built into</a:t>
            </a:r>
            <a:r>
              <a:rPr lang="en-US" sz="3400" u="none" cap="none" strike="noStrike">
                <a:solidFill>
                  <a:schemeClr val="lt1"/>
                </a:solidFill>
                <a:latin typeface="Arial"/>
                <a:ea typeface="Arial"/>
                <a:cs typeface="Arial"/>
                <a:sym typeface="Arial"/>
              </a:rPr>
              <a:t> every string - we invoke them by appending the function to the string variable</a:t>
            </a:r>
            <a:endParaRPr/>
          </a:p>
          <a:p>
            <a:pPr indent="-358394" lvl="0" marL="749300" marR="0" rtl="0" algn="l">
              <a:lnSpc>
                <a:spcPct val="100000"/>
              </a:lnSpc>
              <a:spcBef>
                <a:spcPts val="3500"/>
              </a:spcBef>
              <a:spcAft>
                <a:spcPts val="0"/>
              </a:spcAft>
              <a:buClr>
                <a:schemeClr val="lt1"/>
              </a:buClr>
              <a:buSzPts val="3400"/>
              <a:buFont typeface="Cabin"/>
              <a:buChar char="•"/>
            </a:pPr>
            <a:r>
              <a:rPr lang="en-US" sz="3400" u="none" cap="none" strike="noStrike">
                <a:solidFill>
                  <a:schemeClr val="lt1"/>
                </a:solidFill>
                <a:latin typeface="Arial"/>
                <a:ea typeface="Arial"/>
                <a:cs typeface="Arial"/>
                <a:sym typeface="Arial"/>
              </a:rPr>
              <a:t>These </a:t>
            </a:r>
            <a:r>
              <a:rPr lang="en-US" sz="3400" u="none" cap="none" strike="noStrike">
                <a:solidFill>
                  <a:srgbClr val="FF00FF"/>
                </a:solidFill>
                <a:latin typeface="Arial"/>
                <a:ea typeface="Arial"/>
                <a:cs typeface="Arial"/>
                <a:sym typeface="Arial"/>
              </a:rPr>
              <a:t>functions</a:t>
            </a:r>
            <a:r>
              <a:rPr lang="en-US" sz="3400" u="none" cap="none" strike="noStrike">
                <a:solidFill>
                  <a:schemeClr val="lt1"/>
                </a:solidFill>
                <a:latin typeface="Arial"/>
                <a:ea typeface="Arial"/>
                <a:cs typeface="Arial"/>
                <a:sym typeface="Arial"/>
              </a:rPr>
              <a:t> do not modify the original string, instead they return a new string that has been altered</a:t>
            </a:r>
            <a:endParaRPr/>
          </a:p>
        </p:txBody>
      </p:sp>
      <p:sp>
        <p:nvSpPr>
          <p:cNvPr id="172" name="Google Shape;172;p15"/>
          <p:cNvSpPr txBox="1"/>
          <p:nvPr/>
        </p:nvSpPr>
        <p:spPr>
          <a:xfrm>
            <a:off x="8484325" y="2379900"/>
            <a:ext cx="7557299" cy="58955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850"/>
              <a:buFont typeface="Cabin"/>
              <a:buNone/>
            </a:pPr>
            <a:r>
              <a:rPr b="0" i="0" lang="en-US" sz="3400" u="none" cap="none" strike="noStrike">
                <a:solidFill>
                  <a:srgbClr val="00FF00"/>
                </a:solidFill>
                <a:latin typeface="Courier"/>
                <a:ea typeface="Courier"/>
                <a:cs typeface="Courier"/>
                <a:sym typeface="Courier"/>
              </a:rPr>
              <a:t>greet</a:t>
            </a:r>
            <a:r>
              <a:rPr b="0" i="0" lang="en-US" sz="3400" u="none" cap="none" strike="noStrike">
                <a:solidFill>
                  <a:srgbClr val="FF7F00"/>
                </a:solidFill>
                <a:latin typeface="Courier"/>
                <a:ea typeface="Courier"/>
                <a:cs typeface="Courier"/>
                <a:sym typeface="Courier"/>
              </a:rPr>
              <a:t> </a:t>
            </a:r>
            <a:r>
              <a:rPr b="0" i="0" lang="en-US" sz="3400" u="none" cap="none" strike="noStrike">
                <a:solidFill>
                  <a:schemeClr val="lt1"/>
                </a:solidFill>
                <a:latin typeface="Courier"/>
                <a:ea typeface="Courier"/>
                <a:cs typeface="Courier"/>
                <a:sym typeface="Courier"/>
              </a:rPr>
              <a:t>=</a:t>
            </a:r>
            <a:r>
              <a:rPr b="0" i="0" lang="en-US" sz="3400" u="none" cap="none" strike="noStrike">
                <a:solidFill>
                  <a:srgbClr val="FFFF00"/>
                </a:solidFill>
                <a:latin typeface="Courier"/>
                <a:ea typeface="Courier"/>
                <a:cs typeface="Courier"/>
                <a:sym typeface="Courier"/>
              </a:rPr>
              <a:t> </a:t>
            </a:r>
            <a:r>
              <a:rPr b="0" i="0" lang="en-US" sz="3400" u="none" cap="none" strike="noStrike">
                <a:solidFill>
                  <a:srgbClr val="FF7F00"/>
                </a:solidFill>
                <a:latin typeface="Courier"/>
                <a:ea typeface="Courier"/>
                <a:cs typeface="Courier"/>
                <a:sym typeface="Courier"/>
              </a:rPr>
              <a:t>'Hello Bob'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Cabin"/>
              <a:buNone/>
            </a:pPr>
            <a:r>
              <a:rPr b="0" i="0" lang="en-US" sz="3400" u="none" cap="none" strike="noStrike">
                <a:solidFill>
                  <a:srgbClr val="00FF00"/>
                </a:solidFill>
                <a:latin typeface="Courier"/>
                <a:ea typeface="Courier"/>
                <a:cs typeface="Courier"/>
                <a:sym typeface="Courier"/>
              </a:rPr>
              <a:t>zap</a:t>
            </a:r>
            <a:r>
              <a:rPr b="0" i="0" lang="en-US" sz="3400" u="none" cap="none" strike="noStrike">
                <a:solidFill>
                  <a:srgbClr val="FF7F00"/>
                </a:solidFill>
                <a:latin typeface="Courier"/>
                <a:ea typeface="Courier"/>
                <a:cs typeface="Courier"/>
                <a:sym typeface="Courier"/>
              </a:rPr>
              <a:t> </a:t>
            </a:r>
            <a:r>
              <a:rPr b="0" i="0" lang="en-US" sz="3400" u="none" cap="none" strike="noStrike">
                <a:solidFill>
                  <a:schemeClr val="lt1"/>
                </a:solidFill>
                <a:latin typeface="Courier"/>
                <a:ea typeface="Courier"/>
                <a:cs typeface="Courier"/>
                <a:sym typeface="Courier"/>
              </a:rPr>
              <a:t>=</a:t>
            </a:r>
            <a:r>
              <a:rPr b="0" i="0" lang="en-US" sz="3400" u="none" cap="none" strike="noStrike">
                <a:solidFill>
                  <a:srgbClr val="FF7F00"/>
                </a:solidFill>
                <a:latin typeface="Courier"/>
                <a:ea typeface="Courier"/>
                <a:cs typeface="Courier"/>
                <a:sym typeface="Courier"/>
              </a:rPr>
              <a:t> </a:t>
            </a:r>
            <a:r>
              <a:rPr b="0" i="0" lang="en-US" sz="3400" u="none" cap="none" strike="noStrike">
                <a:solidFill>
                  <a:srgbClr val="00FF00"/>
                </a:solidFill>
                <a:latin typeface="Courier"/>
                <a:ea typeface="Courier"/>
                <a:cs typeface="Courier"/>
                <a:sym typeface="Courier"/>
              </a:rPr>
              <a:t>greet</a:t>
            </a:r>
            <a:r>
              <a:rPr b="0" i="0" lang="en-US" sz="3400" u="none" cap="none" strike="noStrike">
                <a:solidFill>
                  <a:srgbClr val="FF00FF"/>
                </a:solidFill>
                <a:latin typeface="Courier"/>
                <a:ea typeface="Courier"/>
                <a:cs typeface="Courier"/>
                <a:sym typeface="Courier"/>
              </a:rPr>
              <a:t>.lower</a:t>
            </a:r>
            <a:r>
              <a:rPr b="0" i="0" lang="en-US" sz="34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Cabin"/>
              <a:buNone/>
            </a:pPr>
            <a:r>
              <a:rPr b="0" i="0" lang="en-US" sz="3400" u="none" cap="none" strike="noStrike">
                <a:solidFill>
                  <a:srgbClr val="FFFF00"/>
                </a:solidFill>
                <a:latin typeface="Courier"/>
                <a:ea typeface="Courier"/>
                <a:cs typeface="Courier"/>
                <a:sym typeface="Courier"/>
              </a:rPr>
              <a:t>print</a:t>
            </a:r>
            <a:r>
              <a:rPr b="0" i="0" lang="en-US" sz="3400" u="none" cap="none" strike="noStrike">
                <a:solidFill>
                  <a:schemeClr val="lt1"/>
                </a:solidFill>
                <a:latin typeface="Courier"/>
                <a:ea typeface="Courier"/>
                <a:cs typeface="Courier"/>
                <a:sym typeface="Courier"/>
              </a:rPr>
              <a:t>(</a:t>
            </a:r>
            <a:r>
              <a:rPr b="0" i="0" lang="en-US" sz="3400" u="none" cap="none" strike="noStrike">
                <a:solidFill>
                  <a:srgbClr val="00FF00"/>
                </a:solidFill>
                <a:latin typeface="Courier"/>
                <a:ea typeface="Courier"/>
                <a:cs typeface="Courier"/>
                <a:sym typeface="Courier"/>
              </a:rPr>
              <a:t>zap</a:t>
            </a:r>
            <a:r>
              <a:rPr b="0" i="0" lang="en-US" sz="3400" u="none" cap="none" strike="noStrike">
                <a:solidFill>
                  <a:schemeClr val="lt1"/>
                </a:solidFill>
                <a:latin typeface="Courier"/>
                <a:ea typeface="Courier"/>
                <a:cs typeface="Courier"/>
                <a:sym typeface="Courier"/>
              </a:rPr>
              <a:t>)</a:t>
            </a:r>
            <a:endParaRPr b="0" i="0" sz="3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50"/>
              <a:buFont typeface="Cabin"/>
              <a:buNone/>
            </a:pPr>
            <a:r>
              <a:rPr b="0" i="0" lang="en-US" sz="3400" u="none" cap="none" strike="noStrike">
                <a:solidFill>
                  <a:schemeClr val="lt1"/>
                </a:solidFill>
                <a:latin typeface="Courier"/>
                <a:ea typeface="Courier"/>
                <a:cs typeface="Courier"/>
                <a:sym typeface="Courier"/>
              </a:rPr>
              <a:t>hello bob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Cabin"/>
              <a:buNone/>
            </a:pPr>
            <a:r>
              <a:t/>
            </a:r>
            <a:endParaRPr b="0" i="0" sz="3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50"/>
              <a:buFont typeface="Cabin"/>
              <a:buNone/>
            </a:pPr>
            <a:r>
              <a:rPr b="0" i="0" lang="en-US" sz="3400" u="none" cap="none" strike="noStrike">
                <a:solidFill>
                  <a:srgbClr val="FFFF00"/>
                </a:solidFill>
                <a:latin typeface="Courier"/>
                <a:ea typeface="Courier"/>
                <a:cs typeface="Courier"/>
                <a:sym typeface="Courier"/>
              </a:rPr>
              <a:t>print</a:t>
            </a:r>
            <a:r>
              <a:rPr b="0" i="0" lang="en-US" sz="3400" u="none" cap="none" strike="noStrike">
                <a:solidFill>
                  <a:schemeClr val="lt1"/>
                </a:solidFill>
                <a:latin typeface="Courier"/>
                <a:ea typeface="Courier"/>
                <a:cs typeface="Courier"/>
                <a:sym typeface="Courier"/>
              </a:rPr>
              <a:t>(</a:t>
            </a:r>
            <a:r>
              <a:rPr b="0" i="0" lang="en-US" sz="3400" u="none" cap="none" strike="noStrike">
                <a:solidFill>
                  <a:srgbClr val="00FF00"/>
                </a:solidFill>
                <a:latin typeface="Courier"/>
                <a:ea typeface="Courier"/>
                <a:cs typeface="Courier"/>
                <a:sym typeface="Courier"/>
              </a:rPr>
              <a:t>greet)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Cabin"/>
              <a:buNone/>
            </a:pPr>
            <a:r>
              <a:rPr b="0" i="0" lang="en-US" sz="3400" u="none" cap="none" strike="noStrike">
                <a:solidFill>
                  <a:schemeClr val="lt1"/>
                </a:solidFill>
                <a:latin typeface="Courier"/>
                <a:ea typeface="Courier"/>
                <a:cs typeface="Courier"/>
                <a:sym typeface="Courier"/>
              </a:rPr>
              <a:t>Hello Bob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Cabin"/>
              <a:buNone/>
            </a:pPr>
            <a:r>
              <a:t/>
            </a:r>
            <a:endParaRPr b="0" i="0" sz="3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50"/>
              <a:buFont typeface="Cabin"/>
              <a:buNone/>
            </a:pPr>
            <a:r>
              <a:rPr b="0" i="0" lang="en-US" sz="3400" u="none" cap="none" strike="noStrike">
                <a:solidFill>
                  <a:srgbClr val="FFFF00"/>
                </a:solidFill>
                <a:latin typeface="Courier"/>
                <a:ea typeface="Courier"/>
                <a:cs typeface="Courier"/>
                <a:sym typeface="Courier"/>
              </a:rPr>
              <a:t>print</a:t>
            </a:r>
            <a:r>
              <a:rPr b="0" i="0" lang="en-US" sz="3400" u="none" cap="none" strike="noStrike">
                <a:solidFill>
                  <a:schemeClr val="lt1"/>
                </a:solidFill>
                <a:latin typeface="Courier"/>
                <a:ea typeface="Courier"/>
                <a:cs typeface="Courier"/>
                <a:sym typeface="Courier"/>
              </a:rPr>
              <a:t>(</a:t>
            </a:r>
            <a:r>
              <a:rPr b="0" i="0" lang="en-US" sz="3400" u="none" cap="none" strike="noStrike">
                <a:solidFill>
                  <a:srgbClr val="FF7F00"/>
                </a:solidFill>
                <a:latin typeface="Courier"/>
                <a:ea typeface="Courier"/>
                <a:cs typeface="Courier"/>
                <a:sym typeface="Courier"/>
              </a:rPr>
              <a:t>'Hi There'</a:t>
            </a:r>
            <a:r>
              <a:rPr b="0" i="0" lang="en-US" sz="3400" u="none" cap="none" strike="noStrike">
                <a:solidFill>
                  <a:srgbClr val="FF00FF"/>
                </a:solidFill>
                <a:latin typeface="Courier"/>
                <a:ea typeface="Courier"/>
                <a:cs typeface="Courier"/>
                <a:sym typeface="Courier"/>
              </a:rPr>
              <a:t>.lower</a:t>
            </a:r>
            <a:r>
              <a:rPr b="0" i="0" lang="en-US" sz="3400" u="none" cap="none" strike="noStrike">
                <a:solidFill>
                  <a:schemeClr val="lt1"/>
                </a:solidFill>
                <a:latin typeface="Courier"/>
                <a:ea typeface="Courier"/>
                <a:cs typeface="Courier"/>
                <a:sym typeface="Courier"/>
              </a:rPr>
              <a:t>())</a:t>
            </a:r>
            <a:endParaRPr b="0" i="0" sz="3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50"/>
              <a:buFont typeface="Cabin"/>
              <a:buNone/>
            </a:pPr>
            <a:r>
              <a:rPr b="0" i="0" lang="en-US" sz="3400" u="none" cap="none" strike="noStrike">
                <a:solidFill>
                  <a:schemeClr val="lt1"/>
                </a:solidFill>
                <a:latin typeface="Courier"/>
                <a:ea typeface="Courier"/>
                <a:cs typeface="Courier"/>
                <a:sym typeface="Courier"/>
              </a:rPr>
              <a:t>hi there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850"/>
              <a:buFont typeface="Cabin"/>
              <a:buNone/>
            </a:pPr>
            <a:r>
              <a:t/>
            </a:r>
            <a:endParaRPr b="0" i="0" sz="3400" u="none" cap="none" strike="noStrike">
              <a:solidFill>
                <a:schemeClr val="lt1"/>
              </a:solidFill>
              <a:latin typeface="Courier"/>
              <a:ea typeface="Courier"/>
              <a:cs typeface="Courier"/>
              <a:sym typeface="Couri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6"/>
          <p:cNvSpPr txBox="1"/>
          <p:nvPr/>
        </p:nvSpPr>
        <p:spPr>
          <a:xfrm>
            <a:off x="902991" y="692855"/>
            <a:ext cx="14919600" cy="77887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stuff</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7F00"/>
                </a:solidFill>
                <a:latin typeface="Courier"/>
                <a:ea typeface="Courier"/>
                <a:cs typeface="Courier"/>
                <a:sym typeface="Courier"/>
              </a:rPr>
              <a:t>'Hello world'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type</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stuff</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&lt;class 'str'&gt;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dir</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stuff</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['capitalize', 'casefold', 'center', 'count', 'encode', 'endswith', 'expandtabs', 'find', 'format', 'format_map', 'index', 'isalnum', 'isalpha', 'isdecimal', 'isdigit', 'isidentifier', 'islower', 'isnumeric', 'isprintable', 'isspace', 'istitle', 'isupper', 'join', 'ljust', 'lower', 'lstrip', 'maketrans', 'partition', 'replace', 'rfind', 'rindex', 'rjust', 'rpartition', 'rsplit', 'rstrip', 'split', 'splitlines', 'startswith', 'strip', 'swapcase', 'title', 'translate', 'upper', 'zfill']</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800"/>
              <a:buFont typeface="Cabin"/>
              <a:buNone/>
            </a:pPr>
            <a:r>
              <a:t/>
            </a:r>
            <a:endParaRPr b="1"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800"/>
              <a:buFont typeface="Cabin"/>
              <a:buNone/>
            </a:pPr>
            <a:r>
              <a:t/>
            </a:r>
            <a:endParaRPr b="1"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abin"/>
              <a:buNone/>
            </a:pPr>
            <a:r>
              <a:rPr b="1" i="0" lang="en-US" sz="2800" u="none" cap="none" strike="noStrike">
                <a:solidFill>
                  <a:schemeClr val="lt1"/>
                </a:solidFill>
                <a:latin typeface="Courier"/>
                <a:ea typeface="Courier"/>
                <a:cs typeface="Courier"/>
                <a:sym typeface="Courier"/>
              </a:rPr>
              <a:t>          </a:t>
            </a:r>
            <a:r>
              <a:rPr b="0" i="0" lang="en-US" sz="2800" u="sng" cap="none" strike="noStrike">
                <a:solidFill>
                  <a:srgbClr val="FFFF00"/>
                </a:solidFill>
                <a:latin typeface="Arial"/>
                <a:ea typeface="Arial"/>
                <a:cs typeface="Arial"/>
                <a:sym typeface="Arial"/>
                <a:hlinkClick r:id="rId3">
                  <a:extLst>
                    <a:ext uri="{A12FA001-AC4F-418D-AE19-62706E023703}">
                      <ahyp:hlinkClr val="tx"/>
                    </a:ext>
                  </a:extLst>
                </a:hlinkClick>
              </a:rPr>
              <a:t>https://docs.python.org/3/library/stdtypes.html#string-methods</a:t>
            </a:r>
            <a:endParaRPr b="0" i="0" sz="2800" u="sng" cap="none" strike="noStrike">
              <a:solidFill>
                <a:srgbClr val="FFFF00"/>
              </a:solidFill>
              <a:latin typeface="Arial"/>
              <a:ea typeface="Arial"/>
              <a:cs typeface="Arial"/>
              <a:sym typeface="Arial"/>
              <a:hlinkClick r:id="rId4">
                <a:extLst>
                  <a:ext uri="{A12FA001-AC4F-418D-AE19-62706E023703}">
                    <ahyp:hlinkClr val="tx"/>
                  </a:ext>
                </a:extLst>
              </a:hlinkClick>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7"/>
          <p:cNvSpPr txBox="1"/>
          <p:nvPr>
            <p:ph type="title"/>
          </p:nvPr>
        </p:nvSpPr>
        <p:spPr>
          <a:xfrm>
            <a:off x="1155700" y="833718"/>
            <a:ext cx="7635874" cy="17061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675"/>
              <a:buFont typeface="Cabin"/>
              <a:buNone/>
            </a:pPr>
            <a:r>
              <a:rPr lang="en-US" sz="6700" u="none" cap="none" strike="noStrike">
                <a:solidFill>
                  <a:srgbClr val="FFD966"/>
                </a:solidFill>
                <a:latin typeface="Arial"/>
                <a:ea typeface="Arial"/>
                <a:cs typeface="Arial"/>
                <a:sym typeface="Arial"/>
              </a:rPr>
              <a:t>Searching a String</a:t>
            </a:r>
            <a:endParaRPr/>
          </a:p>
        </p:txBody>
      </p:sp>
      <p:sp>
        <p:nvSpPr>
          <p:cNvPr id="183" name="Google Shape;183;p17"/>
          <p:cNvSpPr txBox="1"/>
          <p:nvPr>
            <p:ph idx="1" type="body"/>
          </p:nvPr>
        </p:nvSpPr>
        <p:spPr>
          <a:xfrm>
            <a:off x="1155700" y="2603500"/>
            <a:ext cx="7886700" cy="5702399"/>
          </a:xfrm>
          <a:prstGeom prst="rect">
            <a:avLst/>
          </a:prstGeom>
          <a:noFill/>
          <a:ln>
            <a:noFill/>
          </a:ln>
        </p:spPr>
        <p:txBody>
          <a:bodyPr anchorCtr="0" anchor="ctr" bIns="38100" lIns="38100" spcFirstLastPara="1" rIns="38100" wrap="square" tIns="38100">
            <a:noAutofit/>
          </a:bodyPr>
          <a:lstStyle/>
          <a:p>
            <a:pPr indent="-358394" lvl="0" marL="749300" marR="0" rtl="0" algn="l">
              <a:lnSpc>
                <a:spcPct val="100000"/>
              </a:lnSpc>
              <a:spcBef>
                <a:spcPts val="0"/>
              </a:spcBef>
              <a:spcAft>
                <a:spcPts val="0"/>
              </a:spcAft>
              <a:buClr>
                <a:schemeClr val="lt1"/>
              </a:buClr>
              <a:buSzPts val="3400"/>
              <a:buFont typeface="Cabin"/>
              <a:buChar char="•"/>
            </a:pPr>
            <a:r>
              <a:rPr lang="en-US" sz="3400" u="none" cap="none" strike="noStrike">
                <a:solidFill>
                  <a:schemeClr val="lt1"/>
                </a:solidFill>
                <a:latin typeface="Arial"/>
                <a:ea typeface="Arial"/>
                <a:cs typeface="Arial"/>
                <a:sym typeface="Arial"/>
              </a:rPr>
              <a:t>We use the</a:t>
            </a:r>
            <a:r>
              <a:rPr lang="en-US" sz="3400" u="none" cap="none" strike="noStrike">
                <a:solidFill>
                  <a:srgbClr val="FF00FF"/>
                </a:solidFill>
                <a:latin typeface="Arial"/>
                <a:ea typeface="Arial"/>
                <a:cs typeface="Arial"/>
                <a:sym typeface="Arial"/>
              </a:rPr>
              <a:t> find()</a:t>
            </a:r>
            <a:r>
              <a:rPr lang="en-US" sz="3400" u="none" cap="none" strike="noStrike">
                <a:solidFill>
                  <a:schemeClr val="lt1"/>
                </a:solidFill>
                <a:latin typeface="Arial"/>
                <a:ea typeface="Arial"/>
                <a:cs typeface="Arial"/>
                <a:sym typeface="Arial"/>
              </a:rPr>
              <a:t> function to search for a substring within another string</a:t>
            </a:r>
            <a:endParaRPr/>
          </a:p>
          <a:p>
            <a:pPr indent="-358394" lvl="0" marL="749300" marR="0" rtl="0" algn="l">
              <a:lnSpc>
                <a:spcPct val="100000"/>
              </a:lnSpc>
              <a:spcBef>
                <a:spcPts val="3500"/>
              </a:spcBef>
              <a:spcAft>
                <a:spcPts val="0"/>
              </a:spcAft>
              <a:buClr>
                <a:srgbClr val="FF00FF"/>
              </a:buClr>
              <a:buSzPts val="3400"/>
              <a:buFont typeface="Cabin"/>
              <a:buChar char="•"/>
            </a:pPr>
            <a:r>
              <a:rPr lang="en-US" sz="3400" u="none" cap="none" strike="noStrike">
                <a:solidFill>
                  <a:srgbClr val="FF00FF"/>
                </a:solidFill>
                <a:latin typeface="Arial"/>
                <a:ea typeface="Arial"/>
                <a:cs typeface="Arial"/>
                <a:sym typeface="Arial"/>
              </a:rPr>
              <a:t>find()</a:t>
            </a:r>
            <a:r>
              <a:rPr lang="en-US" sz="3400" u="none" cap="none" strike="noStrike">
                <a:solidFill>
                  <a:schemeClr val="lt1"/>
                </a:solidFill>
                <a:latin typeface="Arial"/>
                <a:ea typeface="Arial"/>
                <a:cs typeface="Arial"/>
                <a:sym typeface="Arial"/>
              </a:rPr>
              <a:t> finds the first </a:t>
            </a:r>
            <a:r>
              <a:rPr lang="en-US" sz="3400">
                <a:solidFill>
                  <a:schemeClr val="lt1"/>
                </a:solidFill>
                <a:latin typeface="Arial"/>
                <a:ea typeface="Arial"/>
                <a:cs typeface="Arial"/>
                <a:sym typeface="Arial"/>
              </a:rPr>
              <a:t>occurrence</a:t>
            </a:r>
            <a:r>
              <a:rPr lang="en-US" sz="3400" u="none" cap="none" strike="noStrike">
                <a:solidFill>
                  <a:schemeClr val="lt1"/>
                </a:solidFill>
                <a:latin typeface="Arial"/>
                <a:ea typeface="Arial"/>
                <a:cs typeface="Arial"/>
                <a:sym typeface="Arial"/>
              </a:rPr>
              <a:t> of the substring</a:t>
            </a:r>
            <a:endParaRPr/>
          </a:p>
          <a:p>
            <a:pPr indent="-358394" lvl="0" marL="749300" marR="0" rtl="0" algn="l">
              <a:lnSpc>
                <a:spcPct val="100000"/>
              </a:lnSpc>
              <a:spcBef>
                <a:spcPts val="3500"/>
              </a:spcBef>
              <a:spcAft>
                <a:spcPts val="0"/>
              </a:spcAft>
              <a:buClr>
                <a:schemeClr val="lt1"/>
              </a:buClr>
              <a:buSzPts val="3400"/>
              <a:buFont typeface="Cabin"/>
              <a:buChar char="•"/>
            </a:pPr>
            <a:r>
              <a:rPr lang="en-US" sz="3400" u="none" cap="none" strike="noStrike">
                <a:solidFill>
                  <a:schemeClr val="lt1"/>
                </a:solidFill>
                <a:latin typeface="Arial"/>
                <a:ea typeface="Arial"/>
                <a:cs typeface="Arial"/>
                <a:sym typeface="Arial"/>
              </a:rPr>
              <a:t>If the substring is not found, </a:t>
            </a:r>
            <a:r>
              <a:rPr lang="en-US" sz="3400" u="none" cap="none" strike="noStrike">
                <a:solidFill>
                  <a:srgbClr val="FF00FF"/>
                </a:solidFill>
                <a:latin typeface="Arial"/>
                <a:ea typeface="Arial"/>
                <a:cs typeface="Arial"/>
                <a:sym typeface="Arial"/>
              </a:rPr>
              <a:t>find()</a:t>
            </a:r>
            <a:r>
              <a:rPr lang="en-US" sz="3400" u="none" cap="none" strike="noStrike">
                <a:solidFill>
                  <a:schemeClr val="lt1"/>
                </a:solidFill>
                <a:latin typeface="Arial"/>
                <a:ea typeface="Arial"/>
                <a:cs typeface="Arial"/>
                <a:sym typeface="Arial"/>
              </a:rPr>
              <a:t> returns </a:t>
            </a:r>
            <a:r>
              <a:rPr lang="en-US" sz="3400" u="none" cap="none" strike="noStrike">
                <a:solidFill>
                  <a:srgbClr val="00FF00"/>
                </a:solidFill>
                <a:latin typeface="Arial"/>
                <a:ea typeface="Arial"/>
                <a:cs typeface="Arial"/>
                <a:sym typeface="Arial"/>
              </a:rPr>
              <a:t>-1</a:t>
            </a:r>
            <a:endParaRPr/>
          </a:p>
          <a:p>
            <a:pPr indent="-358394" lvl="0" marL="749300" marR="0" rtl="0" algn="l">
              <a:lnSpc>
                <a:spcPct val="100000"/>
              </a:lnSpc>
              <a:spcBef>
                <a:spcPts val="3500"/>
              </a:spcBef>
              <a:spcAft>
                <a:spcPts val="0"/>
              </a:spcAft>
              <a:buClr>
                <a:srgbClr val="FFFF00"/>
              </a:buClr>
              <a:buSzPts val="3400"/>
              <a:buFont typeface="Cabin"/>
              <a:buChar char="•"/>
            </a:pPr>
            <a:r>
              <a:rPr lang="en-US" sz="3400" u="none" cap="none" strike="noStrike">
                <a:solidFill>
                  <a:srgbClr val="FFFF00"/>
                </a:solidFill>
                <a:latin typeface="Arial"/>
                <a:ea typeface="Arial"/>
                <a:cs typeface="Arial"/>
                <a:sym typeface="Arial"/>
              </a:rPr>
              <a:t>Remember that string position starts at zero</a:t>
            </a:r>
            <a:endParaRPr/>
          </a:p>
        </p:txBody>
      </p:sp>
      <p:sp>
        <p:nvSpPr>
          <p:cNvPr id="184" name="Google Shape;184;p17"/>
          <p:cNvSpPr txBox="1"/>
          <p:nvPr/>
        </p:nvSpPr>
        <p:spPr>
          <a:xfrm>
            <a:off x="9677400" y="3986200"/>
            <a:ext cx="6246600" cy="470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fruit</a:t>
            </a:r>
            <a:r>
              <a:rPr b="0" i="0" lang="en-US" sz="3000" u="none" cap="none" strike="noStrike">
                <a:solidFill>
                  <a:srgbClr val="FF7F00"/>
                </a:solidFill>
                <a:latin typeface="Courier"/>
                <a:ea typeface="Courier"/>
                <a:cs typeface="Courier"/>
                <a:sym typeface="Courier"/>
              </a:rPr>
              <a:t> </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 'banana'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pos</a:t>
            </a:r>
            <a:r>
              <a:rPr b="0" i="0" lang="en-US" sz="3000" u="none" cap="none" strike="noStrike">
                <a:solidFill>
                  <a:srgbClr val="FF7F00"/>
                </a:solidFill>
                <a:latin typeface="Courier"/>
                <a:ea typeface="Courier"/>
                <a:cs typeface="Courier"/>
                <a:sym typeface="Courier"/>
              </a:rPr>
              <a:t> </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 fruit</a:t>
            </a:r>
            <a:r>
              <a:rPr b="0" i="0" lang="en-US" sz="3000" u="none" cap="none" strike="noStrike">
                <a:solidFill>
                  <a:srgbClr val="FF00FF"/>
                </a:solidFill>
                <a:latin typeface="Courier"/>
                <a:ea typeface="Courier"/>
                <a:cs typeface="Courier"/>
                <a:sym typeface="Courier"/>
              </a:rPr>
              <a:t>.find</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'na'</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pos</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aa</a:t>
            </a:r>
            <a:r>
              <a:rPr b="0" i="0" lang="en-US" sz="3000" u="none" cap="none" strike="noStrike">
                <a:solidFill>
                  <a:srgbClr val="FF7F00"/>
                </a:solidFill>
                <a:latin typeface="Courier"/>
                <a:ea typeface="Courier"/>
                <a:cs typeface="Courier"/>
                <a:sym typeface="Courier"/>
              </a:rPr>
              <a:t> </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fruit</a:t>
            </a:r>
            <a:r>
              <a:rPr b="0" i="0" lang="en-US" sz="3000" u="none" cap="none" strike="noStrike">
                <a:solidFill>
                  <a:srgbClr val="FF00FF"/>
                </a:solidFill>
                <a:latin typeface="Courier"/>
                <a:ea typeface="Courier"/>
                <a:cs typeface="Courier"/>
                <a:sym typeface="Courier"/>
              </a:rPr>
              <a:t>.find</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'z'</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aa</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-1</a:t>
            </a:r>
            <a:endParaRPr b="0" i="0" sz="1400" u="none" cap="none" strike="noStrike">
              <a:solidFill>
                <a:srgbClr val="000000"/>
              </a:solidFill>
              <a:latin typeface="Arial"/>
              <a:ea typeface="Arial"/>
              <a:cs typeface="Arial"/>
              <a:sym typeface="Arial"/>
            </a:endParaRPr>
          </a:p>
        </p:txBody>
      </p:sp>
      <p:cxnSp>
        <p:nvCxnSpPr>
          <p:cNvPr id="185" name="Google Shape;185;p17"/>
          <p:cNvCxnSpPr/>
          <p:nvPr/>
        </p:nvCxnSpPr>
        <p:spPr>
          <a:xfrm rot="10800000">
            <a:off x="10302875" y="1084262"/>
            <a:ext cx="1295910" cy="826299"/>
          </a:xfrm>
          <a:prstGeom prst="straightConnector1">
            <a:avLst/>
          </a:prstGeom>
          <a:noFill/>
          <a:ln cap="rnd" cmpd="sng" w="63500">
            <a:solidFill>
              <a:srgbClr val="FFFF00"/>
            </a:solidFill>
            <a:prstDash val="solid"/>
            <a:miter lim="8000"/>
            <a:headEnd len="med" w="med" type="stealth"/>
            <a:tailEnd len="sm" w="sm" type="none"/>
          </a:ln>
        </p:spPr>
      </p:cxnSp>
      <p:sp>
        <p:nvSpPr>
          <p:cNvPr id="186" name="Google Shape;186;p17"/>
          <p:cNvSpPr txBox="1"/>
          <p:nvPr/>
        </p:nvSpPr>
        <p:spPr>
          <a:xfrm>
            <a:off x="9766300" y="2857500"/>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187" name="Google Shape;187;p17"/>
          <p:cNvSpPr txBox="1"/>
          <p:nvPr/>
        </p:nvSpPr>
        <p:spPr>
          <a:xfrm>
            <a:off x="9766300" y="2120900"/>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b</a:t>
            </a:r>
            <a:endParaRPr b="0" i="0" sz="1400" u="none" cap="none" strike="noStrike">
              <a:solidFill>
                <a:srgbClr val="000000"/>
              </a:solidFill>
              <a:latin typeface="Arial"/>
              <a:ea typeface="Arial"/>
              <a:cs typeface="Arial"/>
              <a:sym typeface="Arial"/>
            </a:endParaRPr>
          </a:p>
        </p:txBody>
      </p:sp>
      <p:sp>
        <p:nvSpPr>
          <p:cNvPr id="188" name="Google Shape;188;p17"/>
          <p:cNvSpPr txBox="1"/>
          <p:nvPr/>
        </p:nvSpPr>
        <p:spPr>
          <a:xfrm>
            <a:off x="10515600" y="2857500"/>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89" name="Google Shape;189;p17"/>
          <p:cNvSpPr txBox="1"/>
          <p:nvPr/>
        </p:nvSpPr>
        <p:spPr>
          <a:xfrm>
            <a:off x="10515600" y="2120900"/>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p:txBody>
      </p:sp>
      <p:sp>
        <p:nvSpPr>
          <p:cNvPr id="190" name="Google Shape;190;p17"/>
          <p:cNvSpPr txBox="1"/>
          <p:nvPr/>
        </p:nvSpPr>
        <p:spPr>
          <a:xfrm>
            <a:off x="11290300" y="2857500"/>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91" name="Google Shape;191;p17"/>
          <p:cNvSpPr txBox="1"/>
          <p:nvPr/>
        </p:nvSpPr>
        <p:spPr>
          <a:xfrm>
            <a:off x="11290300" y="2120900"/>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n</a:t>
            </a:r>
            <a:endParaRPr b="0" i="0" sz="1400" u="none" cap="none" strike="noStrike">
              <a:solidFill>
                <a:srgbClr val="000000"/>
              </a:solidFill>
              <a:latin typeface="Arial"/>
              <a:ea typeface="Arial"/>
              <a:cs typeface="Arial"/>
              <a:sym typeface="Arial"/>
            </a:endParaRPr>
          </a:p>
        </p:txBody>
      </p:sp>
      <p:sp>
        <p:nvSpPr>
          <p:cNvPr id="192" name="Google Shape;192;p17"/>
          <p:cNvSpPr txBox="1"/>
          <p:nvPr/>
        </p:nvSpPr>
        <p:spPr>
          <a:xfrm>
            <a:off x="12039600" y="2857500"/>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193" name="Google Shape;193;p17"/>
          <p:cNvSpPr txBox="1"/>
          <p:nvPr/>
        </p:nvSpPr>
        <p:spPr>
          <a:xfrm>
            <a:off x="12039600" y="2120900"/>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p:txBody>
      </p:sp>
      <p:sp>
        <p:nvSpPr>
          <p:cNvPr id="194" name="Google Shape;194;p17"/>
          <p:cNvSpPr txBox="1"/>
          <p:nvPr/>
        </p:nvSpPr>
        <p:spPr>
          <a:xfrm>
            <a:off x="12763500" y="2857500"/>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195" name="Google Shape;195;p17"/>
          <p:cNvSpPr txBox="1"/>
          <p:nvPr/>
        </p:nvSpPr>
        <p:spPr>
          <a:xfrm>
            <a:off x="12763500" y="2120900"/>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n</a:t>
            </a:r>
            <a:endParaRPr b="0" i="0" sz="1400" u="none" cap="none" strike="noStrike">
              <a:solidFill>
                <a:srgbClr val="000000"/>
              </a:solidFill>
              <a:latin typeface="Arial"/>
              <a:ea typeface="Arial"/>
              <a:cs typeface="Arial"/>
              <a:sym typeface="Arial"/>
            </a:endParaRPr>
          </a:p>
        </p:txBody>
      </p:sp>
      <p:sp>
        <p:nvSpPr>
          <p:cNvPr id="196" name="Google Shape;196;p17"/>
          <p:cNvSpPr txBox="1"/>
          <p:nvPr/>
        </p:nvSpPr>
        <p:spPr>
          <a:xfrm>
            <a:off x="13512800" y="2857500"/>
            <a:ext cx="736599" cy="7365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197" name="Google Shape;197;p17"/>
          <p:cNvSpPr txBox="1"/>
          <p:nvPr/>
        </p:nvSpPr>
        <p:spPr>
          <a:xfrm>
            <a:off x="13512800" y="2120900"/>
            <a:ext cx="736599" cy="736599"/>
          </a:xfrm>
          <a:prstGeom prst="rect">
            <a:avLst/>
          </a:prstGeom>
          <a:noFill/>
          <a:ln cap="rnd" cmpd="sng" w="50800">
            <a:solidFill>
              <a:srgbClr val="FF7F00"/>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000"/>
              <a:buFont typeface="Cabin"/>
              <a:buNone/>
            </a:pPr>
            <a:r>
              <a:rPr b="0" i="0" lang="en-US" sz="4000" u="none" cap="none" strike="noStrike">
                <a:solidFill>
                  <a:schemeClr val="lt1"/>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8"/>
          <p:cNvSpPr txBox="1"/>
          <p:nvPr>
            <p:ph type="title"/>
          </p:nvPr>
        </p:nvSpPr>
        <p:spPr>
          <a:xfrm>
            <a:off x="1155700" y="833718"/>
            <a:ext cx="13932000" cy="17061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Search and Replace</a:t>
            </a:r>
            <a:endParaRPr/>
          </a:p>
        </p:txBody>
      </p:sp>
      <p:sp>
        <p:nvSpPr>
          <p:cNvPr id="203" name="Google Shape;203;p18"/>
          <p:cNvSpPr txBox="1"/>
          <p:nvPr>
            <p:ph idx="1" type="body"/>
          </p:nvPr>
        </p:nvSpPr>
        <p:spPr>
          <a:xfrm>
            <a:off x="1155700" y="2603500"/>
            <a:ext cx="5659438" cy="5702399"/>
          </a:xfrm>
          <a:prstGeom prst="rect">
            <a:avLst/>
          </a:prstGeom>
          <a:noFill/>
          <a:ln>
            <a:noFill/>
          </a:ln>
        </p:spPr>
        <p:txBody>
          <a:bodyPr anchorCtr="0" anchor="ctr" bIns="38100" lIns="38100" spcFirstLastPara="1" rIns="38100" wrap="square" tIns="38100">
            <a:noAutofit/>
          </a:bodyPr>
          <a:lstStyle/>
          <a:p>
            <a:pPr indent="-533400" lvl="0" marL="749300" marR="0" rtl="0" algn="l">
              <a:lnSpc>
                <a:spcPct val="100000"/>
              </a:lnSpc>
              <a:spcBef>
                <a:spcPts val="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The</a:t>
            </a:r>
            <a:r>
              <a:rPr lang="en-US" sz="3600" u="none" cap="none" strike="noStrike">
                <a:solidFill>
                  <a:srgbClr val="00FF00"/>
                </a:solidFill>
                <a:latin typeface="Arial"/>
                <a:ea typeface="Arial"/>
                <a:cs typeface="Arial"/>
                <a:sym typeface="Arial"/>
              </a:rPr>
              <a:t> </a:t>
            </a:r>
            <a:r>
              <a:rPr lang="en-US" sz="3600" u="none" cap="none" strike="noStrike">
                <a:solidFill>
                  <a:srgbClr val="FF00FF"/>
                </a:solidFill>
                <a:latin typeface="Arial"/>
                <a:ea typeface="Arial"/>
                <a:cs typeface="Arial"/>
                <a:sym typeface="Arial"/>
              </a:rPr>
              <a:t>replace()</a:t>
            </a:r>
            <a:r>
              <a:rPr lang="en-US" sz="3600" u="none" cap="none" strike="noStrike">
                <a:solidFill>
                  <a:schemeClr val="lt1"/>
                </a:solidFill>
                <a:latin typeface="Arial"/>
                <a:ea typeface="Arial"/>
                <a:cs typeface="Arial"/>
                <a:sym typeface="Arial"/>
              </a:rPr>
              <a:t> function is like a </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search and replace</a:t>
            </a:r>
            <a:r>
              <a:rPr b="0" i="0" lang="en-US" sz="3600" u="none" cap="none" strike="noStrike">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 operation in a word processor</a:t>
            </a:r>
            <a:endParaRPr/>
          </a:p>
          <a:p>
            <a:pPr indent="-533400" lvl="0" marL="749300" marR="0" rtl="0" algn="l">
              <a:lnSpc>
                <a:spcPct val="100000"/>
              </a:lnSpc>
              <a:spcBef>
                <a:spcPts val="350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It replaces </a:t>
            </a:r>
            <a:r>
              <a:rPr lang="en-US" sz="3600" u="none" cap="none" strike="noStrike">
                <a:solidFill>
                  <a:srgbClr val="FF7F00"/>
                </a:solidFill>
                <a:latin typeface="Arial"/>
                <a:ea typeface="Arial"/>
                <a:cs typeface="Arial"/>
                <a:sym typeface="Arial"/>
              </a:rPr>
              <a:t>all occurrences</a:t>
            </a:r>
            <a:r>
              <a:rPr lang="en-US" sz="3600" u="none" cap="none" strike="noStrike">
                <a:solidFill>
                  <a:schemeClr val="lt1"/>
                </a:solidFill>
                <a:latin typeface="Arial"/>
                <a:ea typeface="Arial"/>
                <a:cs typeface="Arial"/>
                <a:sym typeface="Arial"/>
              </a:rPr>
              <a:t> of the </a:t>
            </a:r>
            <a:r>
              <a:rPr lang="en-US" sz="3600" u="none" cap="none" strike="noStrike">
                <a:solidFill>
                  <a:srgbClr val="00FF00"/>
                </a:solidFill>
                <a:latin typeface="Arial"/>
                <a:ea typeface="Arial"/>
                <a:cs typeface="Arial"/>
                <a:sym typeface="Arial"/>
              </a:rPr>
              <a:t>search string</a:t>
            </a:r>
            <a:r>
              <a:rPr lang="en-US" sz="3600" u="none" cap="none" strike="noStrike">
                <a:solidFill>
                  <a:schemeClr val="lt1"/>
                </a:solidFill>
                <a:latin typeface="Arial"/>
                <a:ea typeface="Arial"/>
                <a:cs typeface="Arial"/>
                <a:sym typeface="Arial"/>
              </a:rPr>
              <a:t> with the </a:t>
            </a:r>
            <a:r>
              <a:rPr lang="en-US" sz="3600" u="none" cap="none" strike="noStrike">
                <a:solidFill>
                  <a:srgbClr val="00FFFF"/>
                </a:solidFill>
                <a:latin typeface="Arial"/>
                <a:ea typeface="Arial"/>
                <a:cs typeface="Arial"/>
                <a:sym typeface="Arial"/>
              </a:rPr>
              <a:t>replacement string</a:t>
            </a:r>
            <a:endParaRPr/>
          </a:p>
        </p:txBody>
      </p:sp>
      <p:sp>
        <p:nvSpPr>
          <p:cNvPr id="204" name="Google Shape;204;p18"/>
          <p:cNvSpPr txBox="1"/>
          <p:nvPr/>
        </p:nvSpPr>
        <p:spPr>
          <a:xfrm>
            <a:off x="7366000" y="3516300"/>
            <a:ext cx="8889899" cy="47895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7F00"/>
                </a:solidFill>
                <a:latin typeface="Courier"/>
                <a:ea typeface="Courier"/>
                <a:cs typeface="Courier"/>
                <a:sym typeface="Courier"/>
              </a:rPr>
              <a:t>greet = 'Hello </a:t>
            </a:r>
            <a:r>
              <a:rPr b="0" i="0" lang="en-US" sz="3000" u="none" cap="none" strike="noStrike">
                <a:solidFill>
                  <a:srgbClr val="00FF00"/>
                </a:solidFill>
                <a:latin typeface="Courier"/>
                <a:ea typeface="Courier"/>
                <a:cs typeface="Courier"/>
                <a:sym typeface="Courier"/>
              </a:rPr>
              <a:t>Bob</a:t>
            </a:r>
            <a:r>
              <a:rPr b="0" i="0" lang="en-US" sz="3000" u="none" cap="none" strike="noStrike">
                <a:solidFill>
                  <a:srgbClr val="FF7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7F00"/>
                </a:solidFill>
                <a:latin typeface="Courier"/>
                <a:ea typeface="Courier"/>
                <a:cs typeface="Courier"/>
                <a:sym typeface="Courier"/>
              </a:rPr>
              <a:t>nstr = greet.</a:t>
            </a:r>
            <a:r>
              <a:rPr b="0" i="0" lang="en-US" sz="3000" u="none" cap="none" strike="noStrike">
                <a:solidFill>
                  <a:srgbClr val="FF00FF"/>
                </a:solidFill>
                <a:latin typeface="Courier"/>
                <a:ea typeface="Courier"/>
                <a:cs typeface="Courier"/>
                <a:sym typeface="Courier"/>
              </a:rPr>
              <a:t>replace</a:t>
            </a:r>
            <a:r>
              <a:rPr b="0" i="0" lang="en-US" sz="3000" u="none" cap="none" strike="noStrike">
                <a:solidFill>
                  <a:srgbClr val="FF7F00"/>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'Bob'</a:t>
            </a:r>
            <a:r>
              <a:rPr b="0" i="0" lang="en-US" sz="3000" u="none" cap="none" strike="noStrike">
                <a:solidFill>
                  <a:srgbClr val="FF7F00"/>
                </a:solidFill>
                <a:latin typeface="Courier"/>
                <a:ea typeface="Courier"/>
                <a:cs typeface="Courier"/>
                <a:sym typeface="Courier"/>
              </a:rPr>
              <a:t>,</a:t>
            </a:r>
            <a:r>
              <a:rPr b="0" i="0" lang="en-US" sz="3000" u="none" cap="none" strike="noStrike">
                <a:solidFill>
                  <a:srgbClr val="00FFFF"/>
                </a:solidFill>
                <a:latin typeface="Courier"/>
                <a:ea typeface="Courier"/>
                <a:cs typeface="Courier"/>
                <a:sym typeface="Courier"/>
              </a:rPr>
              <a:t>'Jane'</a:t>
            </a:r>
            <a:r>
              <a:rPr b="0" i="0" lang="en-US" sz="3000" u="none" cap="none" strike="noStrike">
                <a:solidFill>
                  <a:srgbClr val="FF7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nstr</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Hello </a:t>
            </a:r>
            <a:r>
              <a:rPr b="0" i="0" lang="en-US" sz="3000" u="none" cap="none" strike="noStrike">
                <a:solidFill>
                  <a:srgbClr val="00FFFF"/>
                </a:solidFill>
                <a:latin typeface="Courier"/>
                <a:ea typeface="Courier"/>
                <a:cs typeface="Courier"/>
                <a:sym typeface="Courier"/>
              </a:rPr>
              <a:t>Jane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rgbClr val="00FFFF"/>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7F00"/>
                </a:solidFill>
                <a:latin typeface="Courier"/>
                <a:ea typeface="Courier"/>
                <a:cs typeface="Courier"/>
                <a:sym typeface="Courier"/>
              </a:rPr>
              <a:t>nstr = greet.</a:t>
            </a:r>
            <a:r>
              <a:rPr b="0" i="0" lang="en-US" sz="3000" u="none" cap="none" strike="noStrike">
                <a:solidFill>
                  <a:srgbClr val="FF00FF"/>
                </a:solidFill>
                <a:latin typeface="Courier"/>
                <a:ea typeface="Courier"/>
                <a:cs typeface="Courier"/>
                <a:sym typeface="Courier"/>
              </a:rPr>
              <a:t>replace</a:t>
            </a:r>
            <a:r>
              <a:rPr b="0" i="0" lang="en-US" sz="3000" u="none" cap="none" strike="noStrike">
                <a:solidFill>
                  <a:srgbClr val="FF7F00"/>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'o'</a:t>
            </a:r>
            <a:r>
              <a:rPr b="0" i="0" lang="en-US" sz="3000" u="none" cap="none" strike="noStrike">
                <a:solidFill>
                  <a:srgbClr val="FF7F00"/>
                </a:solidFill>
                <a:latin typeface="Courier"/>
                <a:ea typeface="Courier"/>
                <a:cs typeface="Courier"/>
                <a:sym typeface="Courier"/>
              </a:rPr>
              <a:t>,</a:t>
            </a:r>
            <a:r>
              <a:rPr b="0" i="0" lang="en-US" sz="3000" u="none" cap="none" strike="noStrike">
                <a:solidFill>
                  <a:srgbClr val="00FFFF"/>
                </a:solidFill>
                <a:latin typeface="Courier"/>
                <a:ea typeface="Courier"/>
                <a:cs typeface="Courier"/>
                <a:sym typeface="Courier"/>
              </a:rPr>
              <a:t>'X'</a:t>
            </a:r>
            <a:r>
              <a:rPr b="0" i="0" lang="en-US" sz="3000" u="none" cap="none" strike="noStrike">
                <a:solidFill>
                  <a:srgbClr val="FF7F00"/>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nstr</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Hell</a:t>
            </a:r>
            <a:r>
              <a:rPr b="0" i="0" lang="en-US" sz="3000" u="none" cap="none" strike="noStrike">
                <a:solidFill>
                  <a:srgbClr val="00FFFF"/>
                </a:solidFill>
                <a:latin typeface="Courier"/>
                <a:ea typeface="Courier"/>
                <a:cs typeface="Courier"/>
                <a:sym typeface="Courier"/>
              </a:rPr>
              <a:t>X</a:t>
            </a:r>
            <a:r>
              <a:rPr b="0" i="0" lang="en-US" sz="3000" u="none" cap="none" strike="noStrike">
                <a:solidFill>
                  <a:schemeClr val="lt1"/>
                </a:solidFill>
                <a:latin typeface="Courier"/>
                <a:ea typeface="Courier"/>
                <a:cs typeface="Courier"/>
                <a:sym typeface="Courier"/>
              </a:rPr>
              <a:t> B</a:t>
            </a:r>
            <a:r>
              <a:rPr b="0" i="0" lang="en-US" sz="3000" u="none" cap="none" strike="noStrike">
                <a:solidFill>
                  <a:srgbClr val="00FFFF"/>
                </a:solidFill>
                <a:latin typeface="Courier"/>
                <a:ea typeface="Courier"/>
                <a:cs typeface="Courier"/>
                <a:sym typeface="Courier"/>
              </a:rPr>
              <a:t>X</a:t>
            </a:r>
            <a:r>
              <a:rPr b="0" i="0" lang="en-US" sz="3000" u="none" cap="none" strike="noStrike">
                <a:solidFill>
                  <a:schemeClr val="lt1"/>
                </a:solidFill>
                <a:latin typeface="Courier"/>
                <a:ea typeface="Courier"/>
                <a:cs typeface="Courier"/>
                <a:sym typeface="Courier"/>
              </a:rPr>
              <a:t>b</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9"/>
          <p:cNvSpPr txBox="1"/>
          <p:nvPr>
            <p:ph type="title"/>
          </p:nvPr>
        </p:nvSpPr>
        <p:spPr>
          <a:xfrm>
            <a:off x="1155700" y="833718"/>
            <a:ext cx="13932000" cy="17061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Stripping Whitespace</a:t>
            </a:r>
            <a:endParaRPr/>
          </a:p>
        </p:txBody>
      </p:sp>
      <p:sp>
        <p:nvSpPr>
          <p:cNvPr id="210" name="Google Shape;210;p19"/>
          <p:cNvSpPr txBox="1"/>
          <p:nvPr>
            <p:ph idx="1" type="body"/>
          </p:nvPr>
        </p:nvSpPr>
        <p:spPr>
          <a:xfrm>
            <a:off x="1155700" y="2603500"/>
            <a:ext cx="6788150" cy="5702399"/>
          </a:xfrm>
          <a:prstGeom prst="rect">
            <a:avLst/>
          </a:prstGeom>
          <a:noFill/>
          <a:ln>
            <a:noFill/>
          </a:ln>
        </p:spPr>
        <p:txBody>
          <a:bodyPr anchorCtr="0" anchor="ctr" bIns="38100" lIns="38100" spcFirstLastPara="1" rIns="38100" wrap="square" tIns="38100">
            <a:noAutofit/>
          </a:bodyPr>
          <a:lstStyle/>
          <a:p>
            <a:pPr indent="-533400" lvl="0" marL="749300" marR="0" rtl="0" algn="l">
              <a:lnSpc>
                <a:spcPct val="100000"/>
              </a:lnSpc>
              <a:spcBef>
                <a:spcPts val="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Sometimes we want to take a string and remove whitespace at the beginning and/or end</a:t>
            </a:r>
            <a:endParaRPr/>
          </a:p>
          <a:p>
            <a:pPr indent="-533400" lvl="0" marL="749300" marR="0" rtl="0" algn="l">
              <a:lnSpc>
                <a:spcPct val="100000"/>
              </a:lnSpc>
              <a:spcBef>
                <a:spcPts val="3500"/>
              </a:spcBef>
              <a:spcAft>
                <a:spcPts val="0"/>
              </a:spcAft>
              <a:buClr>
                <a:srgbClr val="FF00FF"/>
              </a:buClr>
              <a:buSzPts val="6156"/>
              <a:buFont typeface="Cabin"/>
              <a:buChar char="•"/>
            </a:pPr>
            <a:r>
              <a:rPr lang="en-US" sz="3600" u="none" cap="none" strike="noStrike">
                <a:solidFill>
                  <a:srgbClr val="FF00FF"/>
                </a:solidFill>
                <a:latin typeface="Arial"/>
                <a:ea typeface="Arial"/>
                <a:cs typeface="Arial"/>
                <a:sym typeface="Arial"/>
              </a:rPr>
              <a:t>lstrip()</a:t>
            </a:r>
            <a:r>
              <a:rPr lang="en-US" sz="3600" u="none" cap="none" strike="noStrike">
                <a:solidFill>
                  <a:schemeClr val="lt1"/>
                </a:solidFill>
                <a:latin typeface="Arial"/>
                <a:ea typeface="Arial"/>
                <a:cs typeface="Arial"/>
                <a:sym typeface="Arial"/>
              </a:rPr>
              <a:t> and </a:t>
            </a:r>
            <a:r>
              <a:rPr lang="en-US" sz="3600" u="none" cap="none" strike="noStrike">
                <a:solidFill>
                  <a:srgbClr val="FF00FF"/>
                </a:solidFill>
                <a:latin typeface="Arial"/>
                <a:ea typeface="Arial"/>
                <a:cs typeface="Arial"/>
                <a:sym typeface="Arial"/>
              </a:rPr>
              <a:t>rstrip()</a:t>
            </a:r>
            <a:r>
              <a:rPr lang="en-US" sz="3600" u="none" cap="none" strike="noStrike">
                <a:solidFill>
                  <a:schemeClr val="lt1"/>
                </a:solidFill>
                <a:latin typeface="Arial"/>
                <a:ea typeface="Arial"/>
                <a:cs typeface="Arial"/>
                <a:sym typeface="Arial"/>
              </a:rPr>
              <a:t> remove whitespace </a:t>
            </a:r>
            <a:r>
              <a:rPr lang="en-US" sz="3600">
                <a:solidFill>
                  <a:schemeClr val="lt1"/>
                </a:solidFill>
                <a:latin typeface="Arial"/>
                <a:ea typeface="Arial"/>
                <a:cs typeface="Arial"/>
                <a:sym typeface="Arial"/>
              </a:rPr>
              <a:t>at </a:t>
            </a:r>
            <a:r>
              <a:rPr lang="en-US" sz="3600" u="none" cap="none" strike="noStrike">
                <a:solidFill>
                  <a:schemeClr val="lt1"/>
                </a:solidFill>
                <a:latin typeface="Arial"/>
                <a:ea typeface="Arial"/>
                <a:cs typeface="Arial"/>
                <a:sym typeface="Arial"/>
              </a:rPr>
              <a:t>the left </a:t>
            </a:r>
            <a:r>
              <a:rPr lang="en-US" sz="3600">
                <a:solidFill>
                  <a:schemeClr val="lt1"/>
                </a:solidFill>
                <a:latin typeface="Arial"/>
                <a:ea typeface="Arial"/>
                <a:cs typeface="Arial"/>
                <a:sym typeface="Arial"/>
              </a:rPr>
              <a:t>or</a:t>
            </a:r>
            <a:r>
              <a:rPr lang="en-US" sz="3600" u="none" cap="none" strike="noStrike">
                <a:solidFill>
                  <a:schemeClr val="lt1"/>
                </a:solidFill>
                <a:latin typeface="Arial"/>
                <a:ea typeface="Arial"/>
                <a:cs typeface="Arial"/>
                <a:sym typeface="Arial"/>
              </a:rPr>
              <a:t> right</a:t>
            </a:r>
            <a:endParaRPr/>
          </a:p>
          <a:p>
            <a:pPr indent="-533400" lvl="0" marL="749300" marR="0" rtl="0" algn="l">
              <a:lnSpc>
                <a:spcPct val="100000"/>
              </a:lnSpc>
              <a:spcBef>
                <a:spcPts val="3500"/>
              </a:spcBef>
              <a:spcAft>
                <a:spcPts val="0"/>
              </a:spcAft>
              <a:buClr>
                <a:srgbClr val="FF00FF"/>
              </a:buClr>
              <a:buSzPts val="6156"/>
              <a:buFont typeface="Cabin"/>
              <a:buChar char="•"/>
            </a:pPr>
            <a:r>
              <a:rPr lang="en-US" sz="3600" u="none" cap="none" strike="noStrike">
                <a:solidFill>
                  <a:srgbClr val="FF00FF"/>
                </a:solidFill>
                <a:latin typeface="Arial"/>
                <a:ea typeface="Arial"/>
                <a:cs typeface="Arial"/>
                <a:sym typeface="Arial"/>
              </a:rPr>
              <a:t>strip() </a:t>
            </a:r>
            <a:r>
              <a:rPr lang="en-US" sz="3600">
                <a:solidFill>
                  <a:schemeClr val="lt1"/>
                </a:solidFill>
                <a:latin typeface="Arial"/>
                <a:ea typeface="Arial"/>
                <a:cs typeface="Arial"/>
                <a:sym typeface="Arial"/>
              </a:rPr>
              <a:t>r</a:t>
            </a:r>
            <a:r>
              <a:rPr lang="en-US" sz="3600" u="none" cap="none" strike="noStrike">
                <a:solidFill>
                  <a:schemeClr val="lt1"/>
                </a:solidFill>
                <a:latin typeface="Arial"/>
                <a:ea typeface="Arial"/>
                <a:cs typeface="Arial"/>
                <a:sym typeface="Arial"/>
              </a:rPr>
              <a:t>emoves both beginning and ending whitespace</a:t>
            </a:r>
            <a:endParaRPr/>
          </a:p>
        </p:txBody>
      </p:sp>
      <p:sp>
        <p:nvSpPr>
          <p:cNvPr id="211" name="Google Shape;211;p19"/>
          <p:cNvSpPr txBox="1"/>
          <p:nvPr/>
        </p:nvSpPr>
        <p:spPr>
          <a:xfrm>
            <a:off x="8818275" y="3244850"/>
            <a:ext cx="6863400" cy="54419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greet</a:t>
            </a:r>
            <a:r>
              <a:rPr b="0" i="0" lang="en-US" sz="3000" u="none" cap="none" strike="noStrike">
                <a:solidFill>
                  <a:srgbClr val="FF7F00"/>
                </a:solidFill>
                <a:latin typeface="Courier"/>
                <a:ea typeface="Courier"/>
                <a:cs typeface="Courier"/>
                <a:sym typeface="Courier"/>
              </a:rPr>
              <a:t> </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 '   Hello Bob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greet</a:t>
            </a:r>
            <a:r>
              <a:rPr b="0" i="0" lang="en-US" sz="3000" u="none" cap="none" strike="noStrike">
                <a:solidFill>
                  <a:srgbClr val="FF00FF"/>
                </a:solidFill>
                <a:latin typeface="Courier"/>
                <a:ea typeface="Courier"/>
                <a:cs typeface="Courier"/>
                <a:sym typeface="Courier"/>
              </a:rPr>
              <a:t>.lstrip</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'Hello Bob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greet</a:t>
            </a:r>
            <a:r>
              <a:rPr b="0" i="0" lang="en-US" sz="3000" u="none" cap="none" strike="noStrike">
                <a:solidFill>
                  <a:srgbClr val="FF00FF"/>
                </a:solidFill>
                <a:latin typeface="Courier"/>
                <a:ea typeface="Courier"/>
                <a:cs typeface="Courier"/>
                <a:sym typeface="Courier"/>
              </a:rPr>
              <a:t>.rstrip</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   Hello Bob’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rgbClr val="00FF00"/>
                </a:solidFill>
                <a:latin typeface="Courier"/>
                <a:ea typeface="Courier"/>
                <a:cs typeface="Courier"/>
                <a:sym typeface="Courier"/>
              </a:rPr>
              <a:t>greet</a:t>
            </a:r>
            <a:r>
              <a:rPr b="0" i="0" lang="en-US" sz="3000" u="none" cap="none" strike="noStrike">
                <a:solidFill>
                  <a:srgbClr val="FF00FF"/>
                </a:solidFill>
                <a:latin typeface="Courier"/>
                <a:ea typeface="Courier"/>
                <a:cs typeface="Courier"/>
                <a:sym typeface="Courier"/>
              </a:rPr>
              <a:t>.strip</a:t>
            </a:r>
            <a:r>
              <a:rPr b="0" i="0" lang="en-US" sz="30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rPr b="0" i="0" lang="en-US" sz="3000" u="none" cap="none" strike="noStrike">
                <a:solidFill>
                  <a:schemeClr val="lt1"/>
                </a:solidFill>
                <a:latin typeface="Courier"/>
                <a:ea typeface="Courier"/>
                <a:cs typeface="Courier"/>
                <a:sym typeface="Courier"/>
              </a:rPr>
              <a:t>'Hello Bob'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50"/>
              <a:buFont typeface="Cabin"/>
              <a:buNone/>
            </a:pPr>
            <a:r>
              <a:t/>
            </a:r>
            <a:endParaRPr b="0" i="0" sz="3000" u="none" cap="none" strike="noStrike">
              <a:solidFill>
                <a:schemeClr val="lt1"/>
              </a:solidFill>
              <a:latin typeface="Courier"/>
              <a:ea typeface="Courier"/>
              <a:cs typeface="Courier"/>
              <a:sym typeface="Couri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0"/>
          <p:cNvSpPr txBox="1"/>
          <p:nvPr/>
        </p:nvSpPr>
        <p:spPr>
          <a:xfrm>
            <a:off x="1155700" y="2539998"/>
            <a:ext cx="13010701" cy="598351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rgbClr val="00FF00"/>
                </a:solidFill>
                <a:latin typeface="Courier"/>
                <a:ea typeface="Courier"/>
                <a:cs typeface="Courier"/>
                <a:sym typeface="Courier"/>
              </a:rPr>
              <a:t>line</a:t>
            </a:r>
            <a:r>
              <a:rPr b="0" i="0" lang="en-US" sz="3600" u="none" cap="none" strike="noStrike">
                <a:solidFill>
                  <a:schemeClr val="lt1"/>
                </a:solidFill>
                <a:latin typeface="Courier"/>
                <a:ea typeface="Courier"/>
                <a:cs typeface="Courier"/>
                <a:sym typeface="Courier"/>
              </a:rPr>
              <a:t> = </a:t>
            </a:r>
            <a:r>
              <a:rPr b="0" i="0" lang="en-US" sz="3600" u="none" cap="none" strike="noStrike">
                <a:solidFill>
                  <a:srgbClr val="FF7F00"/>
                </a:solidFill>
                <a:latin typeface="Courier"/>
                <a:ea typeface="Courier"/>
                <a:cs typeface="Courier"/>
                <a:sym typeface="Courier"/>
              </a:rPr>
              <a:t>'Please have a nice day'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rgbClr val="00FF00"/>
                </a:solidFill>
                <a:latin typeface="Courier"/>
                <a:ea typeface="Courier"/>
                <a:cs typeface="Courier"/>
                <a:sym typeface="Courier"/>
              </a:rPr>
              <a:t>line</a:t>
            </a:r>
            <a:r>
              <a:rPr b="0" i="0" lang="en-US" sz="3600" u="none" cap="none" strike="noStrike">
                <a:solidFill>
                  <a:srgbClr val="FF00FF"/>
                </a:solidFill>
                <a:latin typeface="Courier"/>
                <a:ea typeface="Courier"/>
                <a:cs typeface="Courier"/>
                <a:sym typeface="Courier"/>
              </a:rPr>
              <a:t>.startswith</a:t>
            </a:r>
            <a:r>
              <a:rPr b="0" i="0" lang="en-US" sz="3600" u="none" cap="none" strike="noStrike">
                <a:solidFill>
                  <a:schemeClr val="lt1"/>
                </a:solidFill>
                <a:latin typeface="Courier"/>
                <a:ea typeface="Courier"/>
                <a:cs typeface="Courier"/>
                <a:sym typeface="Courier"/>
              </a:rPr>
              <a:t>(</a:t>
            </a:r>
            <a:r>
              <a:rPr b="0" i="0" lang="en-US" sz="3600" u="none" cap="none" strike="noStrike">
                <a:solidFill>
                  <a:srgbClr val="FF7F00"/>
                </a:solidFill>
                <a:latin typeface="Courier"/>
                <a:ea typeface="Courier"/>
                <a:cs typeface="Courier"/>
                <a:sym typeface="Courier"/>
              </a:rPr>
              <a:t>'Please'</a:t>
            </a:r>
            <a:r>
              <a:rPr b="0" i="0" lang="en-US" sz="36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Courier"/>
                <a:ea typeface="Courier"/>
                <a:cs typeface="Courier"/>
                <a:sym typeface="Courier"/>
              </a:rPr>
              <a:t>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abin"/>
              <a:buNone/>
            </a:pPr>
            <a:r>
              <a:t/>
            </a:r>
            <a:endParaRPr b="0" i="0" sz="3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900"/>
              <a:buFont typeface="Cabin"/>
              <a:buNone/>
            </a:pPr>
            <a:r>
              <a:t/>
            </a:r>
            <a:endParaRPr b="0" i="0" sz="3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rgbClr val="00FF00"/>
                </a:solidFill>
                <a:latin typeface="Courier"/>
                <a:ea typeface="Courier"/>
                <a:cs typeface="Courier"/>
                <a:sym typeface="Courier"/>
              </a:rPr>
              <a:t>line</a:t>
            </a:r>
            <a:r>
              <a:rPr b="0" i="0" lang="en-US" sz="3600" u="none" cap="none" strike="noStrike">
                <a:solidFill>
                  <a:srgbClr val="FF00FF"/>
                </a:solidFill>
                <a:latin typeface="Courier"/>
                <a:ea typeface="Courier"/>
                <a:cs typeface="Courier"/>
                <a:sym typeface="Courier"/>
              </a:rPr>
              <a:t>.startswith</a:t>
            </a:r>
            <a:r>
              <a:rPr b="0" i="0" lang="en-US" sz="3600" u="none" cap="none" strike="noStrike">
                <a:solidFill>
                  <a:schemeClr val="lt1"/>
                </a:solidFill>
                <a:latin typeface="Courier"/>
                <a:ea typeface="Courier"/>
                <a:cs typeface="Courier"/>
                <a:sym typeface="Courier"/>
              </a:rPr>
              <a:t>(</a:t>
            </a:r>
            <a:r>
              <a:rPr b="0" i="0" lang="en-US" sz="3600" u="none" cap="none" strike="noStrike">
                <a:solidFill>
                  <a:srgbClr val="FF7F00"/>
                </a:solidFill>
                <a:latin typeface="Courier"/>
                <a:ea typeface="Courier"/>
                <a:cs typeface="Courier"/>
                <a:sym typeface="Courier"/>
              </a:rPr>
              <a:t>'p'</a:t>
            </a:r>
            <a:r>
              <a:rPr b="0" i="0" lang="en-US" sz="3600" u="none" cap="none" strike="noStrike">
                <a:solidFill>
                  <a:schemeClr val="lt1"/>
                </a:solidFill>
                <a:latin typeface="Courier"/>
                <a:ea typeface="Courier"/>
                <a:cs typeface="Courier"/>
                <a:sym typeface="Courier"/>
              </a:rPr>
              <a:t>)</a:t>
            </a:r>
            <a:endParaRPr b="0" i="0" sz="3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Courier"/>
                <a:ea typeface="Courier"/>
                <a:cs typeface="Courier"/>
                <a:sym typeface="Courier"/>
              </a:rPr>
              <a:t>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abin"/>
              <a:buNone/>
            </a:pPr>
            <a:r>
              <a:t/>
            </a:r>
            <a:endParaRPr b="0" i="0" sz="3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900"/>
              <a:buFont typeface="Courier"/>
              <a:buNone/>
            </a:pPr>
            <a:r>
              <a:rPr b="0" i="0" lang="en-US" sz="3600" u="none" cap="none" strike="noStrike">
                <a:solidFill>
                  <a:srgbClr val="00FF00"/>
                </a:solidFill>
                <a:latin typeface="Courier"/>
                <a:ea typeface="Courier"/>
                <a:cs typeface="Courier"/>
                <a:sym typeface="Courier"/>
              </a:rPr>
              <a:t>line</a:t>
            </a:r>
            <a:r>
              <a:rPr b="0" i="0" lang="en-US" sz="3600" u="none" cap="none" strike="noStrike">
                <a:solidFill>
                  <a:srgbClr val="FF00FF"/>
                </a:solidFill>
                <a:latin typeface="Courier"/>
                <a:ea typeface="Courier"/>
                <a:cs typeface="Courier"/>
                <a:sym typeface="Courier"/>
              </a:rPr>
              <a:t>.lower().startswith</a:t>
            </a:r>
            <a:r>
              <a:rPr b="0" i="0" lang="en-US" sz="3600" u="none" cap="none" strike="noStrike">
                <a:solidFill>
                  <a:schemeClr val="lt1"/>
                </a:solidFill>
                <a:latin typeface="Courier"/>
                <a:ea typeface="Courier"/>
                <a:cs typeface="Courier"/>
                <a:sym typeface="Courier"/>
              </a:rPr>
              <a:t>(</a:t>
            </a:r>
            <a:r>
              <a:rPr b="0" i="0" lang="en-US" sz="3600" u="none" cap="none" strike="noStrike">
                <a:solidFill>
                  <a:srgbClr val="FF7F00"/>
                </a:solidFill>
                <a:latin typeface="Courier"/>
                <a:ea typeface="Courier"/>
                <a:cs typeface="Courier"/>
                <a:sym typeface="Courier"/>
              </a:rPr>
              <a:t>’p'</a:t>
            </a:r>
            <a:r>
              <a:rPr b="0" i="0" lang="en-US" sz="36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ourier"/>
              <a:buNone/>
            </a:pPr>
            <a:r>
              <a:rPr b="0" i="0" lang="en-US" sz="3600" u="none" cap="none" strike="noStrike">
                <a:solidFill>
                  <a:schemeClr val="lt1"/>
                </a:solidFill>
                <a:latin typeface="Courier"/>
                <a:ea typeface="Courier"/>
                <a:cs typeface="Courier"/>
                <a:sym typeface="Courier"/>
              </a:rPr>
              <a:t>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900"/>
              <a:buFont typeface="Cabin"/>
              <a:buNone/>
            </a:pPr>
            <a:r>
              <a:t/>
            </a:r>
            <a:endParaRPr b="0" i="0" sz="3600" u="none" cap="none" strike="noStrike">
              <a:solidFill>
                <a:schemeClr val="lt1"/>
              </a:solidFill>
              <a:latin typeface="Courier"/>
              <a:ea typeface="Courier"/>
              <a:cs typeface="Courier"/>
              <a:sym typeface="Courier"/>
            </a:endParaRPr>
          </a:p>
        </p:txBody>
      </p:sp>
      <p:sp>
        <p:nvSpPr>
          <p:cNvPr id="217" name="Google Shape;217;p20"/>
          <p:cNvSpPr txBox="1"/>
          <p:nvPr/>
        </p:nvSpPr>
        <p:spPr>
          <a:xfrm>
            <a:off x="1155700" y="241300"/>
            <a:ext cx="13931900" cy="2298699"/>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b="0" i="0" lang="en-US" sz="7600" u="none" cap="none" strike="noStrike">
                <a:solidFill>
                  <a:srgbClr val="FFD966"/>
                </a:solidFill>
                <a:latin typeface="Arial"/>
                <a:ea typeface="Arial"/>
                <a:cs typeface="Arial"/>
                <a:sym typeface="Arial"/>
              </a:rPr>
              <a:t>Prefixes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1"/>
          <p:cNvSpPr txBox="1"/>
          <p:nvPr/>
        </p:nvSpPr>
        <p:spPr>
          <a:xfrm>
            <a:off x="832600" y="3383450"/>
            <a:ext cx="15316200" cy="55403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rgbClr val="00FF00"/>
                </a:solidFill>
                <a:latin typeface="Courier"/>
                <a:ea typeface="Courier"/>
                <a:cs typeface="Courier"/>
                <a:sym typeface="Courier"/>
              </a:rPr>
              <a:t>data</a:t>
            </a:r>
            <a:r>
              <a:rPr b="0" i="0" lang="en-US" sz="2800" u="none" cap="none" strike="noStrike">
                <a:solidFill>
                  <a:schemeClr val="lt1"/>
                </a:solidFill>
                <a:latin typeface="Courier"/>
                <a:ea typeface="Courier"/>
                <a:cs typeface="Courier"/>
                <a:sym typeface="Courier"/>
              </a:rPr>
              <a:t> = </a:t>
            </a:r>
            <a:r>
              <a:rPr b="0" i="0" lang="en-US" sz="2800" u="none" cap="none" strike="noStrike">
                <a:solidFill>
                  <a:srgbClr val="FF7F00"/>
                </a:solidFill>
                <a:latin typeface="Courier"/>
                <a:ea typeface="Courier"/>
                <a:cs typeface="Courier"/>
                <a:sym typeface="Courier"/>
              </a:rPr>
              <a:t>'From stephen.marquard@uct.ac.za Sat Jan  5 09:14:16 2008'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rgbClr val="00FF00"/>
                </a:solidFill>
                <a:latin typeface="Courier"/>
                <a:ea typeface="Courier"/>
                <a:cs typeface="Courier"/>
                <a:sym typeface="Courier"/>
              </a:rPr>
              <a:t>atpos</a:t>
            </a:r>
            <a:r>
              <a:rPr b="0" i="0" lang="en-US" sz="2800" u="none" cap="none" strike="noStrike">
                <a:solidFill>
                  <a:schemeClr val="lt1"/>
                </a:solidFill>
                <a:latin typeface="Courier"/>
                <a:ea typeface="Courier"/>
                <a:cs typeface="Courier"/>
                <a:sym typeface="Courier"/>
              </a:rPr>
              <a:t> = </a:t>
            </a:r>
            <a:r>
              <a:rPr b="0" i="0" lang="en-US" sz="2800" u="none" cap="none" strike="noStrike">
                <a:solidFill>
                  <a:srgbClr val="00FF00"/>
                </a:solidFill>
                <a:latin typeface="Courier"/>
                <a:ea typeface="Courier"/>
                <a:cs typeface="Courier"/>
                <a:sym typeface="Courier"/>
              </a:rPr>
              <a:t>data</a:t>
            </a:r>
            <a:r>
              <a:rPr b="0" i="0" lang="en-US" sz="2800" u="none" cap="none" strike="noStrike">
                <a:solidFill>
                  <a:srgbClr val="FF00FF"/>
                </a:solidFill>
                <a:latin typeface="Courier"/>
                <a:ea typeface="Courier"/>
                <a:cs typeface="Courier"/>
                <a:sym typeface="Courier"/>
              </a:rPr>
              <a:t>.find</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FF7F00"/>
                </a:solidFill>
                <a:latin typeface="Courier"/>
                <a:ea typeface="Courier"/>
                <a:cs typeface="Courier"/>
                <a:sym typeface="Courier"/>
              </a:rPr>
              <a:t>'@</a:t>
            </a:r>
            <a:r>
              <a:rPr b="0" i="0" lang="en-US" sz="28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rgbClr val="00FF00"/>
                </a:solidFill>
                <a:latin typeface="Courier"/>
                <a:ea typeface="Courier"/>
                <a:cs typeface="Courier"/>
                <a:sym typeface="Courier"/>
              </a:rPr>
              <a:t>atpos</a:t>
            </a:r>
            <a:r>
              <a:rPr b="0" i="0" lang="en-US" sz="2800" u="none" cap="none" strike="noStrike">
                <a:solidFill>
                  <a:srgbClr val="FFFF00"/>
                </a:solidFill>
                <a:latin typeface="Courier"/>
                <a:ea typeface="Courier"/>
                <a:cs typeface="Courier"/>
                <a:sym typeface="Courier"/>
              </a:rPr>
              <a:t>)</a:t>
            </a:r>
            <a:endParaRPr b="0" i="0" sz="28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chemeClr val="lt1"/>
                </a:solidFill>
                <a:latin typeface="Courier"/>
                <a:ea typeface="Courier"/>
                <a:cs typeface="Courier"/>
                <a:sym typeface="Courier"/>
              </a:rPr>
              <a:t>21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abin"/>
              <a:buNone/>
            </a:pPr>
            <a:r>
              <a:t/>
            </a:r>
            <a:endParaRPr b="0"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rgbClr val="00FF00"/>
                </a:solidFill>
                <a:latin typeface="Courier"/>
                <a:ea typeface="Courier"/>
                <a:cs typeface="Courier"/>
                <a:sym typeface="Courier"/>
              </a:rPr>
              <a:t>sppos</a:t>
            </a:r>
            <a:r>
              <a:rPr b="0" i="0" lang="en-US" sz="2800" u="none" cap="none" strike="noStrike">
                <a:solidFill>
                  <a:schemeClr val="lt1"/>
                </a:solidFill>
                <a:latin typeface="Courier"/>
                <a:ea typeface="Courier"/>
                <a:cs typeface="Courier"/>
                <a:sym typeface="Courier"/>
              </a:rPr>
              <a:t> = </a:t>
            </a:r>
            <a:r>
              <a:rPr b="0" i="0" lang="en-US" sz="2800" u="none" cap="none" strike="noStrike">
                <a:solidFill>
                  <a:srgbClr val="00FF00"/>
                </a:solidFill>
                <a:latin typeface="Courier"/>
                <a:ea typeface="Courier"/>
                <a:cs typeface="Courier"/>
                <a:sym typeface="Courier"/>
              </a:rPr>
              <a:t>data</a:t>
            </a:r>
            <a:r>
              <a:rPr b="0" i="0" lang="en-US" sz="2800" u="none" cap="none" strike="noStrike">
                <a:solidFill>
                  <a:srgbClr val="FF00FF"/>
                </a:solidFill>
                <a:latin typeface="Courier"/>
                <a:ea typeface="Courier"/>
                <a:cs typeface="Courier"/>
                <a:sym typeface="Courier"/>
              </a:rPr>
              <a:t>.find</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FF7F00"/>
                </a:solidFill>
                <a:latin typeface="Courier"/>
                <a:ea typeface="Courier"/>
                <a:cs typeface="Courier"/>
                <a:sym typeface="Courier"/>
              </a:rPr>
              <a:t>' '</a:t>
            </a:r>
            <a:r>
              <a:rPr b="0" i="0" lang="en-US" sz="2800" u="none" cap="none" strike="noStrike">
                <a:solidFill>
                  <a:schemeClr val="lt1"/>
                </a:solidFill>
                <a:latin typeface="Courier"/>
                <a:ea typeface="Courier"/>
                <a:cs typeface="Courier"/>
                <a:sym typeface="Courier"/>
              </a:rPr>
              <a:t>,</a:t>
            </a:r>
            <a:r>
              <a:rPr b="0" i="0" lang="en-US" sz="2800" u="none" cap="none" strike="noStrike">
                <a:solidFill>
                  <a:srgbClr val="00FF00"/>
                </a:solidFill>
                <a:latin typeface="Courier"/>
                <a:ea typeface="Courier"/>
                <a:cs typeface="Courier"/>
                <a:sym typeface="Courier"/>
              </a:rPr>
              <a:t>atpos</a:t>
            </a:r>
            <a:r>
              <a:rPr b="0" i="0" lang="en-US" sz="2800" u="none" cap="none" strike="noStrike">
                <a:solidFill>
                  <a:schemeClr val="lt1"/>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rgbClr val="00FF00"/>
                </a:solidFill>
                <a:latin typeface="Courier"/>
                <a:ea typeface="Courier"/>
                <a:cs typeface="Courier"/>
                <a:sym typeface="Courier"/>
              </a:rPr>
              <a:t>sppos</a:t>
            </a:r>
            <a:r>
              <a:rPr b="0" i="0" lang="en-US" sz="2800" u="none" cap="none" strike="noStrike">
                <a:solidFill>
                  <a:srgbClr val="FFFF00"/>
                </a:solidFill>
                <a:latin typeface="Courier"/>
                <a:ea typeface="Courier"/>
                <a:cs typeface="Courier"/>
                <a:sym typeface="Courier"/>
              </a:rPr>
              <a:t>)</a:t>
            </a:r>
            <a:endParaRPr b="0" i="0" sz="28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chemeClr val="lt1"/>
                </a:solidFill>
                <a:latin typeface="Courier"/>
                <a:ea typeface="Courier"/>
                <a:cs typeface="Courier"/>
                <a:sym typeface="Courier"/>
              </a:rPr>
              <a:t>31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abin"/>
              <a:buNone/>
            </a:pPr>
            <a:r>
              <a:t/>
            </a:r>
            <a:endParaRPr b="0"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rgbClr val="00FF00"/>
                </a:solidFill>
                <a:latin typeface="Courier"/>
                <a:ea typeface="Courier"/>
                <a:cs typeface="Courier"/>
                <a:sym typeface="Courier"/>
              </a:rPr>
              <a:t>host</a:t>
            </a:r>
            <a:r>
              <a:rPr b="0" i="0" lang="en-US" sz="2800" u="none" cap="none" strike="noStrike">
                <a:solidFill>
                  <a:schemeClr val="lt1"/>
                </a:solidFill>
                <a:latin typeface="Courier"/>
                <a:ea typeface="Courier"/>
                <a:cs typeface="Courier"/>
                <a:sym typeface="Courier"/>
              </a:rPr>
              <a:t> = </a:t>
            </a:r>
            <a:r>
              <a:rPr b="0" i="0" lang="en-US" sz="2800" u="none" cap="none" strike="noStrike">
                <a:solidFill>
                  <a:srgbClr val="00FF00"/>
                </a:solidFill>
                <a:latin typeface="Courier"/>
                <a:ea typeface="Courier"/>
                <a:cs typeface="Courier"/>
                <a:sym typeface="Courier"/>
              </a:rPr>
              <a:t>data</a:t>
            </a:r>
            <a:r>
              <a:rPr b="0" i="0" lang="en-US" sz="2800" u="none" cap="none" strike="noStrike">
                <a:solidFill>
                  <a:srgbClr val="00FFFF"/>
                </a:solidFill>
                <a:latin typeface="Courier"/>
                <a:ea typeface="Courier"/>
                <a:cs typeface="Courier"/>
                <a:sym typeface="Courier"/>
              </a:rPr>
              <a:t>[</a:t>
            </a:r>
            <a:r>
              <a:rPr b="0" i="0" lang="en-US" sz="2800" u="none" cap="none" strike="noStrike">
                <a:solidFill>
                  <a:srgbClr val="00FF00"/>
                </a:solidFill>
                <a:latin typeface="Courier"/>
                <a:ea typeface="Courier"/>
                <a:cs typeface="Courier"/>
                <a:sym typeface="Courier"/>
              </a:rPr>
              <a:t>atpos</a:t>
            </a:r>
            <a:r>
              <a:rPr b="0" i="0" lang="en-US" sz="2800" u="none" cap="none" strike="noStrike">
                <a:solidFill>
                  <a:srgbClr val="00FFFF"/>
                </a:solidFill>
                <a:latin typeface="Courier"/>
                <a:ea typeface="Courier"/>
                <a:cs typeface="Courier"/>
                <a:sym typeface="Courier"/>
              </a:rPr>
              <a:t>+</a:t>
            </a:r>
            <a:r>
              <a:rPr b="0" i="0" lang="en-US" sz="2800" u="none" cap="none" strike="noStrike">
                <a:solidFill>
                  <a:srgbClr val="FF7F00"/>
                </a:solidFill>
                <a:latin typeface="Courier"/>
                <a:ea typeface="Courier"/>
                <a:cs typeface="Courier"/>
                <a:sym typeface="Courier"/>
              </a:rPr>
              <a:t>1</a:t>
            </a:r>
            <a:r>
              <a:rPr b="0" i="0" lang="en-US" sz="2800" u="none" cap="none" strike="noStrike">
                <a:solidFill>
                  <a:srgbClr val="00FFFF"/>
                </a:solidFill>
                <a:latin typeface="Courier"/>
                <a:ea typeface="Courier"/>
                <a:cs typeface="Courier"/>
                <a:sym typeface="Courier"/>
              </a:rPr>
              <a:t> : </a:t>
            </a:r>
            <a:r>
              <a:rPr b="0" i="0" lang="en-US" sz="2800" u="none" cap="none" strike="noStrike">
                <a:solidFill>
                  <a:srgbClr val="00FF00"/>
                </a:solidFill>
                <a:latin typeface="Courier"/>
                <a:ea typeface="Courier"/>
                <a:cs typeface="Courier"/>
                <a:sym typeface="Courier"/>
              </a:rPr>
              <a:t>sppos</a:t>
            </a:r>
            <a:r>
              <a:rPr b="0" i="0" lang="en-US" sz="2800" u="none" cap="none" strike="noStrike">
                <a:solidFill>
                  <a:srgbClr val="00FFFF"/>
                </a:solidFill>
                <a:latin typeface="Courier"/>
                <a:ea typeface="Courier"/>
                <a:cs typeface="Courier"/>
                <a:sym typeface="Courier"/>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700"/>
              <a:buFont typeface="Courier"/>
              <a:buNone/>
            </a:pPr>
            <a:r>
              <a:rPr b="0" i="0" lang="en-US" sz="2800" u="none" cap="none" strike="noStrike">
                <a:solidFill>
                  <a:srgbClr val="FFFF00"/>
                </a:solidFill>
                <a:latin typeface="Courier"/>
                <a:ea typeface="Courier"/>
                <a:cs typeface="Courier"/>
                <a:sym typeface="Courier"/>
              </a:rPr>
              <a:t>print(</a:t>
            </a:r>
            <a:r>
              <a:rPr b="0" i="0" lang="en-US" sz="2800" u="none" cap="none" strike="noStrike">
                <a:solidFill>
                  <a:srgbClr val="00FF00"/>
                </a:solidFill>
                <a:latin typeface="Courier"/>
                <a:ea typeface="Courier"/>
                <a:cs typeface="Courier"/>
                <a:sym typeface="Courier"/>
              </a:rPr>
              <a:t>host</a:t>
            </a:r>
            <a:r>
              <a:rPr b="0" i="0" lang="en-US" sz="2800" u="none" cap="none" strike="noStrike">
                <a:solidFill>
                  <a:srgbClr val="FFFF00"/>
                </a:solidFill>
                <a:latin typeface="Courier"/>
                <a:ea typeface="Courier"/>
                <a:cs typeface="Courier"/>
                <a:sym typeface="Courier"/>
              </a:rPr>
              <a:t>)</a:t>
            </a:r>
            <a:endParaRPr b="0" i="0" sz="28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abin"/>
              <a:buNone/>
            </a:pPr>
            <a:r>
              <a:rPr b="0" i="0" lang="en-US" sz="2800" u="none" cap="none" strike="noStrike">
                <a:solidFill>
                  <a:schemeClr val="lt1"/>
                </a:solidFill>
                <a:latin typeface="Courier"/>
                <a:ea typeface="Courier"/>
                <a:cs typeface="Courier"/>
                <a:sym typeface="Courier"/>
              </a:rPr>
              <a:t>uct.ac.za</a:t>
            </a:r>
            <a:endParaRPr b="0" i="0" sz="2800" u="none" cap="none" strike="noStrike">
              <a:solidFill>
                <a:schemeClr val="lt1"/>
              </a:solidFill>
              <a:latin typeface="Courier"/>
              <a:ea typeface="Courier"/>
              <a:cs typeface="Courier"/>
              <a:sym typeface="Courier"/>
            </a:endParaRPr>
          </a:p>
        </p:txBody>
      </p:sp>
      <p:sp>
        <p:nvSpPr>
          <p:cNvPr id="223" name="Google Shape;223;p21"/>
          <p:cNvSpPr txBox="1"/>
          <p:nvPr/>
        </p:nvSpPr>
        <p:spPr>
          <a:xfrm>
            <a:off x="1016000" y="2749550"/>
            <a:ext cx="14649899" cy="6731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Arial"/>
              <a:buNone/>
            </a:pPr>
            <a:r>
              <a:rPr b="0" i="0" lang="en-US" sz="3000" u="none" cap="none" strike="noStrike">
                <a:solidFill>
                  <a:schemeClr val="lt1"/>
                </a:solidFill>
                <a:latin typeface="Courier"/>
                <a:ea typeface="Courier"/>
                <a:cs typeface="Courier"/>
                <a:sym typeface="Courier"/>
              </a:rPr>
              <a:t>From stephen.marquard</a:t>
            </a:r>
            <a:r>
              <a:rPr b="0" i="0" lang="en-US" sz="3000" u="none" cap="none" strike="noStrike">
                <a:solidFill>
                  <a:srgbClr val="FFFF00"/>
                </a:solidFill>
                <a:latin typeface="Courier"/>
                <a:ea typeface="Courier"/>
                <a:cs typeface="Courier"/>
                <a:sym typeface="Courier"/>
              </a:rPr>
              <a:t>@</a:t>
            </a:r>
            <a:r>
              <a:rPr b="0" i="0" lang="en-US" sz="3000" u="none" cap="none" strike="noStrike">
                <a:solidFill>
                  <a:schemeClr val="lt1"/>
                </a:solidFill>
                <a:latin typeface="Courier"/>
                <a:ea typeface="Courier"/>
                <a:cs typeface="Courier"/>
                <a:sym typeface="Courier"/>
              </a:rPr>
              <a:t>uct.ac.za Sat Jan  5 09:14:16 2008</a:t>
            </a:r>
            <a:endParaRPr b="0" i="0" sz="1400" u="none" cap="none" strike="noStrike">
              <a:solidFill>
                <a:srgbClr val="000000"/>
              </a:solidFill>
              <a:latin typeface="Arial"/>
              <a:ea typeface="Arial"/>
              <a:cs typeface="Arial"/>
              <a:sym typeface="Arial"/>
            </a:endParaRPr>
          </a:p>
        </p:txBody>
      </p:sp>
      <p:sp>
        <p:nvSpPr>
          <p:cNvPr id="224" name="Google Shape;224;p21"/>
          <p:cNvSpPr txBox="1"/>
          <p:nvPr/>
        </p:nvSpPr>
        <p:spPr>
          <a:xfrm>
            <a:off x="5599987" y="1764575"/>
            <a:ext cx="537300"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00"/>
              </a:buClr>
              <a:buSzPts val="900"/>
              <a:buFont typeface="Cabin"/>
              <a:buNone/>
            </a:pPr>
            <a:r>
              <a:rPr b="0" i="0" lang="en-US" sz="3600" u="none" cap="none" strike="noStrike">
                <a:solidFill>
                  <a:srgbClr val="00FF00"/>
                </a:solidFill>
                <a:latin typeface="Arial"/>
                <a:ea typeface="Arial"/>
                <a:cs typeface="Arial"/>
                <a:sym typeface="Arial"/>
              </a:rPr>
              <a:t>21</a:t>
            </a:r>
            <a:endParaRPr b="0" i="0" sz="1400" u="none" cap="none" strike="noStrike">
              <a:solidFill>
                <a:srgbClr val="000000"/>
              </a:solidFill>
              <a:latin typeface="Arial"/>
              <a:ea typeface="Arial"/>
              <a:cs typeface="Arial"/>
              <a:sym typeface="Arial"/>
            </a:endParaRPr>
          </a:p>
        </p:txBody>
      </p:sp>
      <p:sp>
        <p:nvSpPr>
          <p:cNvPr id="225" name="Google Shape;225;p21"/>
          <p:cNvSpPr txBox="1"/>
          <p:nvPr/>
        </p:nvSpPr>
        <p:spPr>
          <a:xfrm>
            <a:off x="7917521" y="1816100"/>
            <a:ext cx="537300"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00"/>
              </a:buClr>
              <a:buSzPts val="900"/>
              <a:buFont typeface="Cabin"/>
              <a:buNone/>
            </a:pPr>
            <a:r>
              <a:rPr b="0" i="0" lang="en-US" sz="3600" u="none" cap="none" strike="noStrike">
                <a:solidFill>
                  <a:srgbClr val="00FF00"/>
                </a:solidFill>
                <a:latin typeface="Arial"/>
                <a:ea typeface="Arial"/>
                <a:cs typeface="Arial"/>
                <a:sym typeface="Arial"/>
              </a:rPr>
              <a:t>31</a:t>
            </a:r>
            <a:endParaRPr b="0" i="0" sz="1400" u="none" cap="none" strike="noStrike">
              <a:solidFill>
                <a:srgbClr val="000000"/>
              </a:solidFill>
              <a:latin typeface="Arial"/>
              <a:ea typeface="Arial"/>
              <a:cs typeface="Arial"/>
              <a:sym typeface="Arial"/>
            </a:endParaRPr>
          </a:p>
        </p:txBody>
      </p:sp>
      <p:cxnSp>
        <p:nvCxnSpPr>
          <p:cNvPr id="226" name="Google Shape;226;p21"/>
          <p:cNvCxnSpPr/>
          <p:nvPr/>
        </p:nvCxnSpPr>
        <p:spPr>
          <a:xfrm rot="10800000">
            <a:off x="5859764" y="2395399"/>
            <a:ext cx="17700" cy="373199"/>
          </a:xfrm>
          <a:prstGeom prst="straightConnector1">
            <a:avLst/>
          </a:prstGeom>
          <a:noFill/>
          <a:ln cap="rnd" cmpd="sng" w="50800">
            <a:solidFill>
              <a:srgbClr val="00FF00"/>
            </a:solidFill>
            <a:prstDash val="solid"/>
            <a:miter lim="8000"/>
            <a:headEnd len="med" w="med" type="stealth"/>
            <a:tailEnd len="sm" w="sm" type="none"/>
          </a:ln>
        </p:spPr>
      </p:cxnSp>
      <p:cxnSp>
        <p:nvCxnSpPr>
          <p:cNvPr id="227" name="Google Shape;227;p21"/>
          <p:cNvCxnSpPr/>
          <p:nvPr/>
        </p:nvCxnSpPr>
        <p:spPr>
          <a:xfrm rot="10800000">
            <a:off x="8180110" y="2476361"/>
            <a:ext cx="16499" cy="373199"/>
          </a:xfrm>
          <a:prstGeom prst="straightConnector1">
            <a:avLst/>
          </a:prstGeom>
          <a:noFill/>
          <a:ln cap="rnd" cmpd="sng" w="50800">
            <a:solidFill>
              <a:srgbClr val="00FF00"/>
            </a:solidFill>
            <a:prstDash val="solid"/>
            <a:miter lim="8000"/>
            <a:headEnd len="med" w="med" type="stealth"/>
            <a:tailEnd len="sm" w="sm" type="none"/>
          </a:ln>
        </p:spPr>
      </p:cxnSp>
      <p:cxnSp>
        <p:nvCxnSpPr>
          <p:cNvPr id="228" name="Google Shape;228;p21"/>
          <p:cNvCxnSpPr/>
          <p:nvPr/>
        </p:nvCxnSpPr>
        <p:spPr>
          <a:xfrm flipH="1" rot="10800000">
            <a:off x="6116450" y="3362449"/>
            <a:ext cx="1877699" cy="17700"/>
          </a:xfrm>
          <a:prstGeom prst="straightConnector1">
            <a:avLst/>
          </a:prstGeom>
          <a:noFill/>
          <a:ln cap="rnd" cmpd="sng" w="76200">
            <a:solidFill>
              <a:srgbClr val="FF00FF"/>
            </a:solidFill>
            <a:prstDash val="solid"/>
            <a:miter lim="8000"/>
            <a:headEnd len="sm" w="sm" type="none"/>
            <a:tailEnd len="sm" w="sm" type="none"/>
          </a:ln>
        </p:spPr>
      </p:cxnSp>
      <p:sp>
        <p:nvSpPr>
          <p:cNvPr id="229" name="Google Shape;229;p21"/>
          <p:cNvSpPr txBox="1"/>
          <p:nvPr/>
        </p:nvSpPr>
        <p:spPr>
          <a:xfrm>
            <a:off x="10159724" y="776149"/>
            <a:ext cx="5506176" cy="140025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FF"/>
              </a:buClr>
              <a:buSzPts val="1500"/>
              <a:buFont typeface="Cabin"/>
              <a:buNone/>
            </a:pPr>
            <a:r>
              <a:rPr b="0" i="0" lang="en-US" sz="6000" u="none" cap="none" strike="noStrike">
                <a:solidFill>
                  <a:srgbClr val="FFD966"/>
                </a:solidFill>
                <a:latin typeface="Arial"/>
                <a:ea typeface="Arial"/>
                <a:cs typeface="Arial"/>
                <a:sym typeface="Arial"/>
              </a:rPr>
              <a:t>Parsing and Extracting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2"/>
          <p:cNvSpPr txBox="1"/>
          <p:nvPr>
            <p:ph type="title"/>
          </p:nvPr>
        </p:nvSpPr>
        <p:spPr>
          <a:xfrm>
            <a:off x="1155700" y="833718"/>
            <a:ext cx="13151715" cy="1706182"/>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Summary</a:t>
            </a:r>
            <a:endParaRPr/>
          </a:p>
        </p:txBody>
      </p:sp>
      <p:sp>
        <p:nvSpPr>
          <p:cNvPr id="235" name="Google Shape;235;p22"/>
          <p:cNvSpPr txBox="1"/>
          <p:nvPr>
            <p:ph idx="1" type="body"/>
          </p:nvPr>
        </p:nvSpPr>
        <p:spPr>
          <a:xfrm>
            <a:off x="1155700" y="2603500"/>
            <a:ext cx="13932000" cy="5702399"/>
          </a:xfrm>
          <a:prstGeom prst="rect">
            <a:avLst/>
          </a:prstGeom>
          <a:noFill/>
          <a:ln>
            <a:noFill/>
          </a:ln>
        </p:spPr>
        <p:txBody>
          <a:bodyPr anchorCtr="0" anchor="t" bIns="38100" lIns="38100" spcFirstLastPara="1" rIns="38100" wrap="square" tIns="38100">
            <a:noAutofit/>
          </a:bodyPr>
          <a:lstStyle/>
          <a:p>
            <a:pPr indent="-329311" lvl="0" marL="685800" marR="0" rtl="0" algn="l">
              <a:lnSpc>
                <a:spcPct val="115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String type</a:t>
            </a:r>
            <a:endParaRPr/>
          </a:p>
          <a:p>
            <a:pPr indent="-329311" lvl="0" marL="685800" marR="0" rtl="0" algn="l">
              <a:lnSpc>
                <a:spcPct val="115000"/>
              </a:lnSpc>
              <a:spcBef>
                <a:spcPts val="20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Read/Convert</a:t>
            </a:r>
            <a:endParaRPr/>
          </a:p>
          <a:p>
            <a:pPr indent="-329311" lvl="0" marL="685800" marR="0" rtl="0" algn="l">
              <a:lnSpc>
                <a:spcPct val="115000"/>
              </a:lnSpc>
              <a:spcBef>
                <a:spcPts val="10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Indexing strings </a:t>
            </a:r>
            <a:r>
              <a:rPr lang="en-US" sz="3600" u="none" cap="none" strike="noStrike">
                <a:solidFill>
                  <a:srgbClr val="00FFFF"/>
                </a:solidFill>
                <a:latin typeface="Arial"/>
                <a:ea typeface="Arial"/>
                <a:cs typeface="Arial"/>
                <a:sym typeface="Arial"/>
              </a:rPr>
              <a:t>[]</a:t>
            </a:r>
            <a:endParaRPr/>
          </a:p>
          <a:p>
            <a:pPr indent="-329311" lvl="0" marL="685800" marR="0" rtl="0" algn="l">
              <a:lnSpc>
                <a:spcPct val="115000"/>
              </a:lnSpc>
              <a:spcBef>
                <a:spcPts val="10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Slicing strings </a:t>
            </a:r>
            <a:r>
              <a:rPr lang="en-US" sz="3600" u="none" cap="none" strike="noStrike">
                <a:solidFill>
                  <a:srgbClr val="00FFFF"/>
                </a:solidFill>
                <a:latin typeface="Arial"/>
                <a:ea typeface="Arial"/>
                <a:cs typeface="Arial"/>
                <a:sym typeface="Arial"/>
              </a:rPr>
              <a:t>[</a:t>
            </a:r>
            <a:r>
              <a:rPr lang="en-US" sz="3600" u="none" cap="none" strike="noStrike">
                <a:solidFill>
                  <a:srgbClr val="FF7F00"/>
                </a:solidFill>
                <a:latin typeface="Arial"/>
                <a:ea typeface="Arial"/>
                <a:cs typeface="Arial"/>
                <a:sym typeface="Arial"/>
              </a:rPr>
              <a:t>2</a:t>
            </a:r>
            <a:r>
              <a:rPr lang="en-US" sz="3600" u="none" cap="none" strike="noStrike">
                <a:solidFill>
                  <a:srgbClr val="00FFFF"/>
                </a:solidFill>
                <a:latin typeface="Arial"/>
                <a:ea typeface="Arial"/>
                <a:cs typeface="Arial"/>
                <a:sym typeface="Arial"/>
              </a:rPr>
              <a:t>:4]</a:t>
            </a:r>
            <a:endParaRPr/>
          </a:p>
          <a:p>
            <a:pPr indent="-329311" lvl="0" marL="685800" marR="0" rtl="0" algn="l">
              <a:lnSpc>
                <a:spcPct val="115000"/>
              </a:lnSpc>
              <a:spcBef>
                <a:spcPts val="1000"/>
              </a:spcBef>
              <a:spcAft>
                <a:spcPts val="0"/>
              </a:spcAft>
              <a:buClr>
                <a:schemeClr val="lt1"/>
              </a:buClr>
              <a:buSzPts val="3600"/>
              <a:buFont typeface="Cabin"/>
              <a:buChar char="•"/>
            </a:pPr>
            <a:r>
              <a:rPr lang="en-US" sz="3600">
                <a:solidFill>
                  <a:schemeClr val="lt1"/>
                </a:solidFill>
                <a:latin typeface="Arial"/>
                <a:ea typeface="Arial"/>
                <a:cs typeface="Arial"/>
                <a:sym typeface="Arial"/>
              </a:rPr>
              <a:t>Looping through strings </a:t>
            </a:r>
            <a:br>
              <a:rPr lang="en-US" sz="3600">
                <a:solidFill>
                  <a:schemeClr val="lt1"/>
                </a:solidFill>
                <a:latin typeface="Arial"/>
                <a:ea typeface="Arial"/>
                <a:cs typeface="Arial"/>
                <a:sym typeface="Arial"/>
              </a:rPr>
            </a:br>
            <a:r>
              <a:rPr lang="en-US" sz="3600">
                <a:solidFill>
                  <a:schemeClr val="lt1"/>
                </a:solidFill>
                <a:latin typeface="Arial"/>
                <a:ea typeface="Arial"/>
                <a:cs typeface="Arial"/>
                <a:sym typeface="Arial"/>
              </a:rPr>
              <a:t>with </a:t>
            </a:r>
            <a:r>
              <a:rPr lang="en-US" sz="3600">
                <a:solidFill>
                  <a:srgbClr val="FFFF00"/>
                </a:solidFill>
                <a:latin typeface="Arial"/>
                <a:ea typeface="Arial"/>
                <a:cs typeface="Arial"/>
                <a:sym typeface="Arial"/>
              </a:rPr>
              <a:t>for</a:t>
            </a:r>
            <a:r>
              <a:rPr lang="en-US" sz="3600">
                <a:solidFill>
                  <a:schemeClr val="lt1"/>
                </a:solidFill>
                <a:latin typeface="Arial"/>
                <a:ea typeface="Arial"/>
                <a:cs typeface="Arial"/>
                <a:sym typeface="Arial"/>
              </a:rPr>
              <a:t> and </a:t>
            </a:r>
            <a:r>
              <a:rPr lang="en-US" sz="3600">
                <a:solidFill>
                  <a:srgbClr val="FFFF00"/>
                </a:solidFill>
                <a:latin typeface="Arial"/>
                <a:ea typeface="Arial"/>
                <a:cs typeface="Arial"/>
                <a:sym typeface="Arial"/>
              </a:rPr>
              <a:t>while</a:t>
            </a:r>
            <a:endParaRPr/>
          </a:p>
          <a:p>
            <a:pPr indent="-329311" lvl="0" marL="685800" marR="0" rtl="0" algn="l">
              <a:lnSpc>
                <a:spcPct val="115000"/>
              </a:lnSpc>
              <a:spcBef>
                <a:spcPts val="1000"/>
              </a:spcBef>
              <a:spcAft>
                <a:spcPts val="0"/>
              </a:spcAft>
              <a:buClr>
                <a:schemeClr val="lt1"/>
              </a:buClr>
              <a:buSzPts val="3600"/>
              <a:buFont typeface="Cabin"/>
              <a:buChar char="•"/>
            </a:pPr>
            <a:r>
              <a:rPr lang="en-US" sz="3600">
                <a:solidFill>
                  <a:schemeClr val="lt1"/>
                </a:solidFill>
                <a:latin typeface="Arial"/>
                <a:ea typeface="Arial"/>
                <a:cs typeface="Arial"/>
                <a:sym typeface="Arial"/>
              </a:rPr>
              <a:t>Concatenating strings with  </a:t>
            </a:r>
            <a:r>
              <a:rPr lang="en-US" sz="3600">
                <a:solidFill>
                  <a:srgbClr val="00FFFF"/>
                </a:solidFill>
                <a:latin typeface="Arial"/>
                <a:ea typeface="Arial"/>
                <a:cs typeface="Arial"/>
                <a:sym typeface="Arial"/>
              </a:rPr>
              <a:t>+</a:t>
            </a:r>
            <a:endParaRPr/>
          </a:p>
        </p:txBody>
      </p:sp>
      <p:sp>
        <p:nvSpPr>
          <p:cNvPr id="236" name="Google Shape;236;p22"/>
          <p:cNvSpPr txBox="1"/>
          <p:nvPr>
            <p:ph idx="4294967295" type="body"/>
          </p:nvPr>
        </p:nvSpPr>
        <p:spPr>
          <a:xfrm>
            <a:off x="9110663" y="2655720"/>
            <a:ext cx="5977037" cy="5627688"/>
          </a:xfrm>
          <a:prstGeom prst="rect">
            <a:avLst/>
          </a:prstGeom>
          <a:noFill/>
          <a:ln>
            <a:noFill/>
          </a:ln>
        </p:spPr>
        <p:txBody>
          <a:bodyPr anchorCtr="0" anchor="t" bIns="38100" lIns="38100" spcFirstLastPara="1" rIns="38100" wrap="square" tIns="38100">
            <a:noAutofit/>
          </a:bodyPr>
          <a:lstStyle/>
          <a:p>
            <a:pPr indent="-329311" lvl="0" marL="685800" marR="0" rtl="0" algn="l">
              <a:lnSpc>
                <a:spcPct val="115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String operations </a:t>
            </a:r>
            <a:endParaRPr/>
          </a:p>
          <a:p>
            <a:pPr indent="-329311" lvl="0" marL="685800" marR="0" rtl="0" algn="l">
              <a:lnSpc>
                <a:spcPct val="115000"/>
              </a:lnSpc>
              <a:spcBef>
                <a:spcPts val="1000"/>
              </a:spcBef>
              <a:spcAft>
                <a:spcPts val="0"/>
              </a:spcAft>
              <a:buClr>
                <a:schemeClr val="lt1"/>
              </a:buClr>
              <a:buSzPts val="3600"/>
              <a:buFont typeface="Cabin"/>
              <a:buChar char="•"/>
            </a:pPr>
            <a:r>
              <a:rPr lang="en-US" sz="3600">
                <a:solidFill>
                  <a:schemeClr val="lt1"/>
                </a:solidFill>
                <a:latin typeface="Arial"/>
                <a:ea typeface="Arial"/>
                <a:cs typeface="Arial"/>
                <a:sym typeface="Arial"/>
              </a:rPr>
              <a:t>String library</a:t>
            </a:r>
            <a:endParaRPr/>
          </a:p>
          <a:p>
            <a:pPr indent="-329311" lvl="0" marL="685800" marR="0" rtl="0" algn="l">
              <a:lnSpc>
                <a:spcPct val="115000"/>
              </a:lnSpc>
              <a:spcBef>
                <a:spcPts val="1000"/>
              </a:spcBef>
              <a:spcAft>
                <a:spcPts val="0"/>
              </a:spcAft>
              <a:buClr>
                <a:schemeClr val="lt1"/>
              </a:buClr>
              <a:buSzPts val="3600"/>
              <a:buFont typeface="Cabin"/>
              <a:buChar char="•"/>
            </a:pPr>
            <a:r>
              <a:rPr lang="en-US" sz="3600">
                <a:solidFill>
                  <a:schemeClr val="lt1"/>
                </a:solidFill>
                <a:latin typeface="Arial"/>
                <a:ea typeface="Arial"/>
                <a:cs typeface="Arial"/>
                <a:sym typeface="Arial"/>
              </a:rPr>
              <a:t>String comparisons</a:t>
            </a:r>
            <a:endParaRPr/>
          </a:p>
          <a:p>
            <a:pPr indent="-329311" lvl="0" marL="685800" marR="0" rtl="0" algn="l">
              <a:lnSpc>
                <a:spcPct val="115000"/>
              </a:lnSpc>
              <a:spcBef>
                <a:spcPts val="1000"/>
              </a:spcBef>
              <a:spcAft>
                <a:spcPts val="0"/>
              </a:spcAft>
              <a:buClr>
                <a:schemeClr val="lt1"/>
              </a:buClr>
              <a:buSzPts val="3600"/>
              <a:buFont typeface="Cabin"/>
              <a:buChar char="•"/>
            </a:pPr>
            <a:r>
              <a:rPr lang="en-US" sz="3600">
                <a:solidFill>
                  <a:schemeClr val="lt1"/>
                </a:solidFill>
                <a:latin typeface="Arial"/>
                <a:ea typeface="Arial"/>
                <a:cs typeface="Arial"/>
                <a:sym typeface="Arial"/>
              </a:rPr>
              <a:t>Searching in strings</a:t>
            </a:r>
            <a:endParaRPr/>
          </a:p>
          <a:p>
            <a:pPr indent="-329311" lvl="0" marL="685800" marR="0" rtl="0" algn="l">
              <a:lnSpc>
                <a:spcPct val="115000"/>
              </a:lnSpc>
              <a:spcBef>
                <a:spcPts val="1000"/>
              </a:spcBef>
              <a:spcAft>
                <a:spcPts val="0"/>
              </a:spcAft>
              <a:buClr>
                <a:schemeClr val="lt1"/>
              </a:buClr>
              <a:buSzPts val="3600"/>
              <a:buFont typeface="Cabin"/>
              <a:buChar char="•"/>
            </a:pPr>
            <a:r>
              <a:rPr lang="en-US" sz="3600">
                <a:solidFill>
                  <a:schemeClr val="lt1"/>
                </a:solidFill>
                <a:latin typeface="Arial"/>
                <a:ea typeface="Arial"/>
                <a:cs typeface="Arial"/>
                <a:sym typeface="Arial"/>
              </a:rPr>
              <a:t>Replacing text</a:t>
            </a:r>
            <a:endParaRPr/>
          </a:p>
          <a:p>
            <a:pPr indent="-329311" lvl="0" marL="685800" marR="0" rtl="0" algn="l">
              <a:lnSpc>
                <a:spcPct val="115000"/>
              </a:lnSpc>
              <a:spcBef>
                <a:spcPts val="1000"/>
              </a:spcBef>
              <a:spcAft>
                <a:spcPts val="0"/>
              </a:spcAft>
              <a:buClr>
                <a:schemeClr val="lt1"/>
              </a:buClr>
              <a:buSzPts val="3600"/>
              <a:buFont typeface="Cabin"/>
              <a:buChar char="•"/>
            </a:pPr>
            <a:r>
              <a:rPr lang="en-US" sz="3600">
                <a:solidFill>
                  <a:schemeClr val="lt1"/>
                </a:solidFill>
                <a:latin typeface="Arial"/>
                <a:ea typeface="Arial"/>
                <a:cs typeface="Arial"/>
                <a:sym typeface="Arial"/>
              </a:rPr>
              <a:t>Stripping white space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3"/>
          <p:cNvSpPr txBox="1"/>
          <p:nvPr>
            <p:ph type="title"/>
          </p:nvPr>
        </p:nvSpPr>
        <p:spPr>
          <a:xfrm>
            <a:off x="1155700" y="833718"/>
            <a:ext cx="13932000" cy="1706182"/>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FFFF00"/>
              </a:buClr>
              <a:buSzPts val="3600"/>
              <a:buFont typeface="Arial"/>
              <a:buNone/>
            </a:pPr>
            <a:r>
              <a:rPr lang="en-US" sz="3600">
                <a:solidFill>
                  <a:srgbClr val="FFFF00"/>
                </a:solidFill>
              </a:rPr>
              <a:t>Acknowledgements / Contributions</a:t>
            </a:r>
            <a:endParaRPr/>
          </a:p>
        </p:txBody>
      </p:sp>
      <p:sp>
        <p:nvSpPr>
          <p:cNvPr id="242" name="Google Shape;242;p23"/>
          <p:cNvSpPr txBox="1"/>
          <p:nvPr/>
        </p:nvSpPr>
        <p:spPr>
          <a:xfrm>
            <a:off x="1155700" y="2208255"/>
            <a:ext cx="6797699" cy="569058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These slides are Copyright 2010-  Charles R. Severance (</a:t>
            </a:r>
            <a:r>
              <a:rPr b="0" i="0" lang="en-US" sz="1800" u="sng" cap="none" strike="noStrike">
                <a:solidFill>
                  <a:srgbClr val="FFFF00"/>
                </a:solidFill>
                <a:latin typeface="Arial"/>
                <a:ea typeface="Arial"/>
                <a:cs typeface="Arial"/>
                <a:sym typeface="Arial"/>
                <a:hlinkClick r:id="rId3">
                  <a:extLst>
                    <a:ext uri="{A12FA001-AC4F-418D-AE19-62706E023703}">
                      <ahyp:hlinkClr val="tx"/>
                    </a:ext>
                  </a:extLst>
                </a:hlinkClick>
              </a:rPr>
              <a:t>www.dr-chuck.com</a:t>
            </a:r>
            <a:r>
              <a:rPr b="0" i="0" lang="en-US" sz="1800" u="none" cap="none" strike="noStrike">
                <a:solidFill>
                  <a:srgbClr val="FFFFFF"/>
                </a:solidFill>
                <a:latin typeface="Arial"/>
                <a:ea typeface="Arial"/>
                <a:cs typeface="Arial"/>
                <a:sym typeface="Arial"/>
              </a:rPr>
              <a:t>) of the University of Michigan School of Information and </a:t>
            </a:r>
            <a:r>
              <a:rPr b="0" i="0" lang="en-US" sz="1800" u="sng" cap="none" strike="noStrike">
                <a:solidFill>
                  <a:srgbClr val="FFFF00"/>
                </a:solidFill>
                <a:latin typeface="Arial"/>
                <a:ea typeface="Arial"/>
                <a:cs typeface="Arial"/>
                <a:sym typeface="Arial"/>
                <a:hlinkClick r:id="rId4">
                  <a:extLst>
                    <a:ext uri="{A12FA001-AC4F-418D-AE19-62706E023703}">
                      <ahyp:hlinkClr val="tx"/>
                    </a:ext>
                  </a:extLst>
                </a:hlinkClick>
              </a:rPr>
              <a:t>open.umich.edu</a:t>
            </a:r>
            <a:r>
              <a:rPr b="0" i="0" lang="en-US" sz="1800" u="none" cap="none" strike="noStrike">
                <a:solidFill>
                  <a:srgbClr val="FFFFFF"/>
                </a:solidFill>
                <a:latin typeface="Arial"/>
                <a:ea typeface="Arial"/>
                <a:cs typeface="Arial"/>
                <a:sym typeface="Arial"/>
              </a:rPr>
              <a:t>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Initial Development: Charles Severance, University of Michigan School of Information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Insert new Contributors and Translators here</a:t>
            </a:r>
            <a:endParaRPr b="0" i="0" sz="1400" u="none" cap="none" strike="noStrike">
              <a:solidFill>
                <a:srgbClr val="000000"/>
              </a:solidFill>
              <a:latin typeface="Arial"/>
              <a:ea typeface="Arial"/>
              <a:cs typeface="Arial"/>
              <a:sym typeface="Arial"/>
            </a:endParaRPr>
          </a:p>
        </p:txBody>
      </p:sp>
      <p:pic>
        <p:nvPicPr>
          <p:cNvPr id="243" name="Google Shape;243;p23"/>
          <p:cNvPicPr preferRelativeResize="0"/>
          <p:nvPr/>
        </p:nvPicPr>
        <p:blipFill rotWithShape="1">
          <a:blip r:embed="rId5">
            <a:alphaModFix/>
          </a:blip>
          <a:srcRect b="0" l="0" r="0" t="0"/>
          <a:stretch/>
        </p:blipFill>
        <p:spPr>
          <a:xfrm>
            <a:off x="13897688" y="1155818"/>
            <a:ext cx="1968599" cy="668400"/>
          </a:xfrm>
          <a:prstGeom prst="rect">
            <a:avLst/>
          </a:prstGeom>
          <a:noFill/>
          <a:ln>
            <a:noFill/>
          </a:ln>
        </p:spPr>
      </p:pic>
      <p:sp>
        <p:nvSpPr>
          <p:cNvPr id="244" name="Google Shape;244;p23"/>
          <p:cNvSpPr txBox="1"/>
          <p:nvPr/>
        </p:nvSpPr>
        <p:spPr>
          <a:xfrm>
            <a:off x="8704400" y="2208255"/>
            <a:ext cx="6797699" cy="569058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