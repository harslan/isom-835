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9144000" cx="16256000"/>
  <p:notesSz cx="6858000" cy="9144000"/>
  <p:embeddedFontLst>
    <p:embeddedFont>
      <p:font typeface="Gill Sans"/>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5120">
          <p15:clr>
            <a:srgbClr val="A4A3A4"/>
          </p15:clr>
        </p15:guide>
      </p15:sldGuideLst>
    </p:ext>
    <p:ext uri="GoogleSlidesCustomDataVersion2">
      <go:slidesCustomData xmlns:go="http://customooxmlschemas.google.com/" r:id="rId30" roundtripDataSignature="AMtx7mgrb8MirOoEblq379VLlEY409/s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5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GillSans-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illSans-bold.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2"/>
              </a:solidFill>
            </a:endParaRPr>
          </a:p>
        </p:txBody>
      </p:sp>
      <p:sp>
        <p:nvSpPr>
          <p:cNvPr id="21" name="Google Shape;2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Repeating identical or similar tasks without making errors is something that computers do well. Therefore, computers are often used to automate repetitive tasks. Python provides several language features to make repetitive tasks easier. One important form of iteration in Python is the while statement. Here is a simple program that counts down from five and then says “Blastoff!” and prints the most recent value of the variable n:</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n</a:t>
            </a:r>
            <a:r>
              <a:rPr i="0" lang="en-US" sz="1100" u="none" cap="none" strike="noStrike">
                <a:solidFill>
                  <a:srgbClr val="FFFF00"/>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FF00"/>
                </a:solidFill>
                <a:latin typeface="Courier"/>
                <a:ea typeface="Courier"/>
                <a:cs typeface="Courier"/>
                <a:sym typeface="Courier"/>
              </a:rPr>
              <a:t> </a:t>
            </a:r>
            <a:r>
              <a:rPr i="0" lang="en-US" sz="1100" u="none" cap="none" strike="noStrike">
                <a:solidFill>
                  <a:srgbClr val="FF9900"/>
                </a:solidFill>
                <a:latin typeface="Courier"/>
                <a:ea typeface="Courier"/>
                <a:cs typeface="Courier"/>
                <a:sym typeface="Courier"/>
              </a:rPr>
              <a:t>5</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while </a:t>
            </a:r>
            <a:r>
              <a:rPr i="0" lang="en-US" sz="1100" u="none" cap="none" strike="noStrike">
                <a:solidFill>
                  <a:srgbClr val="00FF00"/>
                </a:solidFill>
                <a:latin typeface="Courier"/>
                <a:ea typeface="Courier"/>
                <a:cs typeface="Courier"/>
                <a:sym typeface="Courier"/>
              </a:rPr>
              <a:t>n</a:t>
            </a:r>
            <a:r>
              <a:rPr i="0" lang="en-US" sz="1100" u="none" cap="none" strike="noStrike">
                <a:solidFill>
                  <a:srgbClr val="FFFF00"/>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&gt;</a:t>
            </a:r>
            <a:r>
              <a:rPr i="0" lang="en-US" sz="1100" u="none" cap="none" strike="noStrike">
                <a:solidFill>
                  <a:srgbClr val="FFFF00"/>
                </a:solidFill>
                <a:latin typeface="Courier"/>
                <a:ea typeface="Courier"/>
                <a:cs typeface="Courier"/>
                <a:sym typeface="Courier"/>
              </a:rPr>
              <a:t> </a:t>
            </a:r>
            <a:r>
              <a:rPr i="0" lang="en-US" sz="1100" u="none" cap="none" strike="noStrike">
                <a:solidFill>
                  <a:srgbClr val="FF9900"/>
                </a:solidFill>
                <a:latin typeface="Courier"/>
                <a:ea typeface="Courier"/>
                <a:cs typeface="Courier"/>
                <a:sym typeface="Courier"/>
              </a:rPr>
              <a:t>0</a:t>
            </a:r>
            <a:r>
              <a:rPr i="0" lang="en-US" sz="1100" u="none" cap="none" strike="noStrike">
                <a:solidFill>
                  <a:srgbClr val="FFFF00"/>
                </a:solidFill>
                <a:latin typeface="Courier"/>
                <a:ea typeface="Courier"/>
                <a:cs typeface="Courier"/>
                <a:sym typeface="Courier"/>
              </a:rPr>
              <a:t> :</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    </a:t>
            </a:r>
            <a:r>
              <a:rPr lang="en-US" sz="1100">
                <a:solidFill>
                  <a:srgbClr val="FFFF00"/>
                </a:solidFill>
                <a:latin typeface="Courier"/>
                <a:ea typeface="Courier"/>
                <a:cs typeface="Courier"/>
                <a:sym typeface="Courier"/>
              </a:rPr>
              <a:t>prin</a:t>
            </a:r>
            <a:r>
              <a:rPr i="0" lang="en-US" sz="1100" u="none" cap="none" strike="noStrike">
                <a:solidFill>
                  <a:srgbClr val="FFFF00"/>
                </a:solidFill>
                <a:latin typeface="Courier"/>
                <a:ea typeface="Courier"/>
                <a:cs typeface="Courier"/>
                <a:sym typeface="Courier"/>
              </a:rPr>
              <a:t>t</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n</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n</a:t>
            </a:r>
            <a:r>
              <a:rPr i="0" lang="en-US" sz="1100" u="none" cap="none" strike="noStrike">
                <a:solidFill>
                  <a:srgbClr val="FFFF00"/>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F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n</a:t>
            </a:r>
            <a:r>
              <a:rPr i="0" lang="en-US" sz="1100" u="none" cap="none" strike="noStrike">
                <a:solidFill>
                  <a:srgbClr val="FFFF00"/>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FF00"/>
                </a:solidFill>
                <a:latin typeface="Courier"/>
                <a:ea typeface="Courier"/>
                <a:cs typeface="Courier"/>
                <a:sym typeface="Courier"/>
              </a:rPr>
              <a:t> 1</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9900"/>
                </a:solidFill>
                <a:latin typeface="Courier"/>
                <a:ea typeface="Courier"/>
                <a:cs typeface="Courier"/>
                <a:sym typeface="Courier"/>
              </a:rPr>
              <a:t>'Blastoff!'</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n</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The while statement means the following: while n is greater than 0, display the value of n and then reduce the value of n by 1. When you get to 0, exit the while statement and display the word Blastoff! and the latest value 0 of the variable n. The</a:t>
            </a:r>
            <a:r>
              <a:rPr b="0" i="0" lang="en-US" sz="1100">
                <a:solidFill>
                  <a:schemeClr val="dk1"/>
                </a:solidFill>
                <a:latin typeface="Arial"/>
                <a:ea typeface="Arial"/>
                <a:cs typeface="Arial"/>
                <a:sym typeface="Arial"/>
              </a:rPr>
              <a:t> while statement is used for repeated execution as long as an expression is true. The flow of execution for a while statement is as follows:</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step 1. Evaluate the expression, yielding True or False.</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step 2. If the expression yields False, exit the while statement and continue execution at the next statement.</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step 3. If the expression yields True, execute the body and then go back to step 1.</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This type of flow is called a loop because the third step loops back around to step 1. We call each time we execute the body of the loop an iteration. The above loop, thus, has five iterations, meaning that the body of the loop is executed five times. The body of the loop should change the value of one or more variables so that eventually the boolean expression in while statement yields False enabling the loop to terminate. We call the variable that changes each time the loop executes as an iteration variable. In the above loop, the variable n is the iteration variable. We note that if there is no iteration variable, the loop will repeat forever, resulting in an infinite loop. Let us take a look at an example of such an infinite loop next.</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p:txBody>
      </p:sp>
      <p:sp>
        <p:nvSpPr>
          <p:cNvPr id="29" name="Google Shape;2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a:t>Here is an example of an infinite loop </a:t>
            </a:r>
            <a:r>
              <a:rPr lang="en-US" sz="1100">
                <a:solidFill>
                  <a:schemeClr val="dk1"/>
                </a:solidFill>
                <a:latin typeface="Arial"/>
                <a:ea typeface="Arial"/>
                <a:cs typeface="Arial"/>
                <a:sym typeface="Arial"/>
              </a:rPr>
              <a:t>because there is no iteration variable telling you how many times to execute the loop. </a:t>
            </a:r>
            <a:r>
              <a:rPr lang="en-US"/>
              <a:t>Thus, this simple program will continuously print ‘Lather’ ’Rinse’ without terminating. </a:t>
            </a:r>
            <a:r>
              <a:rPr lang="en-US" sz="1100">
                <a:solidFill>
                  <a:schemeClr val="dk1"/>
                </a:solidFill>
                <a:latin typeface="Arial"/>
                <a:ea typeface="Arial"/>
                <a:cs typeface="Arial"/>
                <a:sym typeface="Arial"/>
              </a:rPr>
              <a:t>If you make the mistake and run this code on Jupyter Notebook, you can </a:t>
            </a:r>
            <a:r>
              <a:rPr b="0" i="0" lang="en-US" sz="1100">
                <a:solidFill>
                  <a:schemeClr val="dk1"/>
                </a:solidFill>
                <a:latin typeface="Arial"/>
                <a:ea typeface="Arial"/>
                <a:cs typeface="Arial"/>
                <a:sym typeface="Arial"/>
              </a:rPr>
              <a:t>go to Kernel &gt; Restart to stop execution without closing the notebook. </a:t>
            </a:r>
            <a:r>
              <a:rPr lang="en-US" sz="1100">
                <a:solidFill>
                  <a:schemeClr val="dk1"/>
                </a:solidFill>
                <a:latin typeface="Arial"/>
                <a:ea typeface="Arial"/>
                <a:cs typeface="Arial"/>
                <a:sym typeface="Arial"/>
              </a:rPr>
              <a:t>This program will run forever or until your battery runs out because the logical expression at the top of the loop always yields True by virtue of the fact that the assigned value for the variable n stays constant.</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57" name="Google Shape;5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While we should worry about infinite loops, we can still use the infinite loop pattern to build useful loops as long as we carefully add code to the body of the loop to explicitly exit the loop using the break statement when we have reached the exit condition. </a:t>
            </a:r>
            <a:r>
              <a:rPr lang="en-US" sz="1100" u="none" cap="none" strike="noStrike">
                <a:solidFill>
                  <a:schemeClr val="lt1"/>
                </a:solidFill>
                <a:latin typeface="Arial"/>
                <a:ea typeface="Arial"/>
                <a:cs typeface="Arial"/>
                <a:sym typeface="Arial"/>
              </a:rPr>
              <a:t>The </a:t>
            </a:r>
            <a:r>
              <a:rPr lang="en-US" sz="1100" u="none" cap="none" strike="noStrike">
                <a:solidFill>
                  <a:srgbClr val="FFFF00"/>
                </a:solidFill>
                <a:latin typeface="Arial"/>
                <a:ea typeface="Arial"/>
                <a:cs typeface="Arial"/>
                <a:sym typeface="Arial"/>
              </a:rPr>
              <a:t>break</a:t>
            </a:r>
            <a:r>
              <a:rPr lang="en-US" sz="1100" u="none" cap="none" strike="noStrike">
                <a:solidFill>
                  <a:schemeClr val="lt1"/>
                </a:solidFill>
                <a:latin typeface="Arial"/>
                <a:ea typeface="Arial"/>
                <a:cs typeface="Arial"/>
                <a:sym typeface="Arial"/>
              </a:rPr>
              <a:t> statement simply ends the current loop and jumps to the statement immediately following the loop. </a:t>
            </a:r>
            <a:r>
              <a:rPr lang="en-US" sz="1100">
                <a:solidFill>
                  <a:schemeClr val="dk1"/>
                </a:solidFill>
                <a:latin typeface="Arial"/>
                <a:ea typeface="Arial"/>
                <a:cs typeface="Arial"/>
                <a:sym typeface="Arial"/>
              </a:rPr>
              <a:t>For example, suppose you want to take input from the user until they type done. You could code:</a:t>
            </a:r>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while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9900"/>
                </a:solidFill>
                <a:latin typeface="Courier"/>
                <a:ea typeface="Courier"/>
                <a:cs typeface="Courier"/>
                <a:sym typeface="Courier"/>
              </a:rPr>
              <a:t>True</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9900"/>
                </a:solidFill>
                <a:latin typeface="Courier"/>
                <a:ea typeface="Courier"/>
                <a:cs typeface="Courier"/>
                <a:sym typeface="Courier"/>
              </a:rPr>
              <a:t>input(</a:t>
            </a:r>
            <a:r>
              <a:rPr i="0" lang="en-US" sz="1100" u="none" cap="none" strike="noStrike">
                <a:solidFill>
                  <a:srgbClr val="FFFFFF"/>
                </a:solidFill>
                <a:latin typeface="Courier"/>
                <a:ea typeface="Courier"/>
                <a:cs typeface="Courier"/>
                <a:sym typeface="Courier"/>
              </a:rPr>
              <a:t>'&gt; '</a:t>
            </a:r>
            <a:r>
              <a:rPr i="0" lang="en-US" sz="1100" u="none" cap="none" strike="noStrike">
                <a:solidFill>
                  <a:srgbClr val="FF99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9900"/>
                </a:solidFill>
                <a:latin typeface="Courier"/>
                <a:ea typeface="Courier"/>
                <a:cs typeface="Courier"/>
                <a:sym typeface="Courier"/>
              </a:rPr>
              <a:t> </a:t>
            </a:r>
            <a:r>
              <a:rPr i="0" lang="en-US" sz="1100" u="none" cap="none" strike="noStrike">
                <a:solidFill>
                  <a:srgbClr val="FFFFFF"/>
                </a:solidFill>
                <a:latin typeface="Courier"/>
                <a:ea typeface="Courier"/>
                <a:cs typeface="Courier"/>
                <a:sym typeface="Courier"/>
              </a:rPr>
              <a:t>'done'</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break</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FFFF"/>
                </a:solidFill>
                <a:latin typeface="Courier"/>
                <a:ea typeface="Courier"/>
                <a:cs typeface="Courier"/>
                <a:sym typeface="Courier"/>
              </a:rPr>
              <a:t>'Done!')</a:t>
            </a:r>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The loop condition yields True, therefore the loop runs repeatedly until it hits the break statement. At each run, it prompts the user with an angle bracket to type something on keyboard. If the user types done, the break statement exits the loop. Otherwise the program echoes whatever the user types and goes back to the top of the loop. Here’s a sample run of the code:</a:t>
            </a:r>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300"/>
              <a:buFont typeface="Cabin"/>
              <a:buNone/>
            </a:pPr>
            <a:r>
              <a:rPr lang="en-US" sz="1200" u="none" cap="none" strike="noStrike">
                <a:solidFill>
                  <a:schemeClr val="lt1"/>
                </a:solidFill>
                <a:latin typeface="Arial"/>
                <a:ea typeface="Arial"/>
                <a:cs typeface="Arial"/>
                <a:sym typeface="Arial"/>
              </a:rPr>
              <a:t>&gt; </a:t>
            </a:r>
            <a:r>
              <a:rPr lang="en-US" sz="1100" u="none" cap="none" strike="noStrike">
                <a:solidFill>
                  <a:srgbClr val="00FF00"/>
                </a:solidFill>
                <a:latin typeface="Arial"/>
                <a:ea typeface="Arial"/>
                <a:cs typeface="Arial"/>
                <a:sym typeface="Arial"/>
              </a:rPr>
              <a:t>hello there</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hello there</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&gt; </a:t>
            </a:r>
            <a:r>
              <a:rPr lang="en-US" sz="1100" u="none" cap="none" strike="noStrike">
                <a:solidFill>
                  <a:srgbClr val="00FF00"/>
                </a:solidFill>
                <a:latin typeface="Arial"/>
                <a:ea typeface="Arial"/>
                <a:cs typeface="Arial"/>
                <a:sym typeface="Arial"/>
              </a:rPr>
              <a:t>finished</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finished</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&gt; </a:t>
            </a:r>
            <a:r>
              <a:rPr lang="en-US" sz="1100" u="none" cap="none" strike="noStrike">
                <a:solidFill>
                  <a:srgbClr val="00FF00"/>
                </a:solidFill>
                <a:latin typeface="Arial"/>
                <a:ea typeface="Arial"/>
                <a:cs typeface="Arial"/>
                <a:sym typeface="Arial"/>
              </a:rPr>
              <a:t>done</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Done!</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This pattern of writing while loops is quite common because you can check the boolean condition anywhere in the loop, not just at the top, and you can express the stop condition affirmatively and have a better control of your loop in your code.</a:t>
            </a:r>
            <a:endParaRPr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82" name="Google Shape;8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What if you are in an iteration of a loop and want to finish the current iteration and immediately jump to the next iteration? In that case you can use the continue statement to skip to the next iteration without finishing the body of the loop for the current iteration. </a:t>
            </a:r>
            <a:r>
              <a:rPr lang="en-US" sz="1100" u="none" cap="none" strike="noStrike">
                <a:solidFill>
                  <a:schemeClr val="lt1"/>
                </a:solidFill>
                <a:latin typeface="Arial"/>
                <a:ea typeface="Arial"/>
                <a:cs typeface="Arial"/>
                <a:sym typeface="Arial"/>
              </a:rPr>
              <a:t>The </a:t>
            </a:r>
            <a:r>
              <a:rPr lang="en-US" sz="1100" u="none" cap="none" strike="noStrike">
                <a:solidFill>
                  <a:srgbClr val="FFFF00"/>
                </a:solidFill>
                <a:latin typeface="Arial"/>
                <a:ea typeface="Arial"/>
                <a:cs typeface="Arial"/>
                <a:sym typeface="Arial"/>
              </a:rPr>
              <a:t>continue</a:t>
            </a:r>
            <a:r>
              <a:rPr lang="en-US" sz="1100" u="none" cap="none" strike="noStrike">
                <a:solidFill>
                  <a:schemeClr val="lt1"/>
                </a:solidFill>
                <a:latin typeface="Arial"/>
                <a:ea typeface="Arial"/>
                <a:cs typeface="Arial"/>
                <a:sym typeface="Arial"/>
              </a:rPr>
              <a:t> statement simply ends the current iteration and jumps to the top of the loop and starts the next iteration. </a:t>
            </a:r>
            <a:r>
              <a:rPr lang="en-US" sz="1100">
                <a:solidFill>
                  <a:schemeClr val="dk1"/>
                </a:solidFill>
                <a:latin typeface="Arial"/>
                <a:ea typeface="Arial"/>
                <a:cs typeface="Arial"/>
                <a:sym typeface="Arial"/>
              </a:rPr>
              <a:t>Here is an example of a loop that copies its input until the user types “done”, but treats lines that start with the hash character as lines not to be printed:</a:t>
            </a:r>
            <a:endParaRPr/>
          </a:p>
          <a:p>
            <a:pPr indent="0" lvl="0" marL="0" marR="0" rtl="0" algn="l">
              <a:lnSpc>
                <a:spcPct val="100000"/>
              </a:lnSpc>
              <a:spcBef>
                <a:spcPts val="0"/>
              </a:spcBef>
              <a:spcAft>
                <a:spcPts val="0"/>
              </a:spcAft>
              <a:buClr>
                <a:srgbClr val="FFFF00"/>
              </a:buClr>
              <a:buSzPts val="275"/>
              <a:buFont typeface="Cabin"/>
              <a:buNone/>
            </a:pPr>
            <a:r>
              <a:t/>
            </a:r>
            <a:endParaRPr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while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9900"/>
                </a:solidFill>
                <a:latin typeface="Courier"/>
                <a:ea typeface="Courier"/>
                <a:cs typeface="Courier"/>
                <a:sym typeface="Courier"/>
              </a:rPr>
              <a:t>True</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9900"/>
                </a:solidFill>
                <a:latin typeface="Courier"/>
                <a:ea typeface="Courier"/>
                <a:cs typeface="Courier"/>
                <a:sym typeface="Courier"/>
              </a:rPr>
              <a:t>input(</a:t>
            </a:r>
            <a:r>
              <a:rPr i="0" lang="en-US" sz="1100" u="none" cap="none" strike="noStrike">
                <a:solidFill>
                  <a:srgbClr val="FFFFFF"/>
                </a:solidFill>
                <a:latin typeface="Courier"/>
                <a:ea typeface="Courier"/>
                <a:cs typeface="Courier"/>
                <a:sym typeface="Courier"/>
              </a:rPr>
              <a:t>'&gt; '</a:t>
            </a:r>
            <a:r>
              <a:rPr i="0" lang="en-US" sz="1100" u="none" cap="none" strike="noStrike">
                <a:solidFill>
                  <a:srgbClr val="FF99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a:t>
            </a:r>
            <a:r>
              <a:rPr i="0" lang="en-US" sz="1100" u="none" cap="none" strike="noStrike">
                <a:solidFill>
                  <a:srgbClr val="00FF00"/>
                </a:solidFill>
                <a:latin typeface="Courier"/>
                <a:ea typeface="Courier"/>
                <a:cs typeface="Courier"/>
                <a:sym typeface="Courier"/>
              </a:rPr>
              <a:t> line[0]</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 </a:t>
            </a:r>
            <a:r>
              <a:rPr i="0" lang="en-US" sz="1100" u="none" cap="none" strike="noStrike">
                <a:solidFill>
                  <a:srgbClr val="FFFFFF"/>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continue</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FF"/>
                </a:solidFill>
                <a:latin typeface="Courier"/>
                <a:ea typeface="Courier"/>
                <a:cs typeface="Courier"/>
                <a:sym typeface="Courier"/>
              </a:rPr>
              <a:t>'done'</a:t>
            </a:r>
            <a:r>
              <a:rPr i="0" lang="en-US" sz="1100" u="none" cap="none" strike="noStrike">
                <a:solidFill>
                  <a:srgbClr val="FF7F00"/>
                </a:solidFill>
                <a:latin typeface="Courier"/>
                <a:ea typeface="Courier"/>
                <a:cs typeface="Courier"/>
                <a:sym typeface="Courier"/>
              </a:rPr>
              <a:t> </a:t>
            </a:r>
            <a:r>
              <a:rPr lang="en-US" sz="1100">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break</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FFFF"/>
                </a:solidFill>
                <a:latin typeface="Courier"/>
                <a:ea typeface="Courier"/>
                <a:cs typeface="Courier"/>
                <a:sym typeface="Courier"/>
              </a:rPr>
              <a:t>'Done!')</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a:t>Here is a sample run of this code with continue statement:</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&gt; </a:t>
            </a:r>
            <a:r>
              <a:rPr lang="en-US" sz="1100" u="none" cap="none" strike="noStrike">
                <a:solidFill>
                  <a:srgbClr val="00FF00"/>
                </a:solidFill>
                <a:latin typeface="Arial"/>
                <a:ea typeface="Arial"/>
                <a:cs typeface="Arial"/>
                <a:sym typeface="Arial"/>
              </a:rPr>
              <a:t>hello there</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hello there</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&gt; </a:t>
            </a:r>
            <a:r>
              <a:rPr lang="en-US" sz="1100" u="none" cap="none" strike="noStrike">
                <a:solidFill>
                  <a:srgbClr val="00FF00"/>
                </a:solidFill>
                <a:latin typeface="Arial"/>
                <a:ea typeface="Arial"/>
                <a:cs typeface="Arial"/>
                <a:sym typeface="Arial"/>
              </a:rPr>
              <a:t># don't print this</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&gt; </a:t>
            </a:r>
            <a:r>
              <a:rPr lang="en-US" sz="1100" u="none" cap="none" strike="noStrike">
                <a:solidFill>
                  <a:srgbClr val="00FF00"/>
                </a:solidFill>
                <a:latin typeface="Arial"/>
                <a:ea typeface="Arial"/>
                <a:cs typeface="Arial"/>
                <a:sym typeface="Arial"/>
              </a:rPr>
              <a:t>print this!</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print this!</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&gt; </a:t>
            </a:r>
            <a:r>
              <a:rPr lang="en-US" sz="1100" u="none" cap="none" strike="noStrike">
                <a:solidFill>
                  <a:srgbClr val="00FF00"/>
                </a:solidFill>
                <a:latin typeface="Arial"/>
                <a:ea typeface="Arial"/>
                <a:cs typeface="Arial"/>
                <a:sym typeface="Arial"/>
              </a:rPr>
              <a:t>done</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Done!</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a:t>As you can notice all the user inputs are printed except the one that starts with the hash sign because when the continue statement is executed, it ends the current iteration and jumps back to the while statement to start the next iteration, thus skipping the print(line) statement at the end.</a:t>
            </a:r>
            <a:endParaRPr/>
          </a:p>
          <a:p>
            <a:pPr indent="0" lvl="0" marL="0" marR="0" rtl="0" algn="l">
              <a:lnSpc>
                <a:spcPct val="100000"/>
              </a:lnSpc>
              <a:spcBef>
                <a:spcPts val="0"/>
              </a:spcBef>
              <a:spcAft>
                <a:spcPts val="0"/>
              </a:spcAft>
              <a:buClr>
                <a:schemeClr val="dk1"/>
              </a:buClr>
              <a:buSzPts val="1100"/>
              <a:buFont typeface="Arial"/>
              <a:buNone/>
            </a:pPr>
            <a:r>
              <a:t/>
            </a:r>
            <a:endParaRPr/>
          </a:p>
        </p:txBody>
      </p:sp>
      <p:sp>
        <p:nvSpPr>
          <p:cNvPr id="90" name="Google Shape;9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We call the while statement an indefinite loop because it simply loops until some condition becomes False. </a:t>
            </a:r>
            <a:r>
              <a:rPr lang="en-US" sz="1100" u="none" cap="none" strike="noStrike">
                <a:solidFill>
                  <a:schemeClr val="lt1"/>
                </a:solidFill>
                <a:latin typeface="Arial"/>
                <a:ea typeface="Arial"/>
                <a:cs typeface="Arial"/>
                <a:sym typeface="Arial"/>
              </a:rPr>
              <a:t>The indefinite loops we have seen so far are pretty easy to examine to see if they will terminate or if they will be </a:t>
            </a:r>
            <a:r>
              <a:rPr lang="en-US" sz="1100">
                <a:solidFill>
                  <a:schemeClr val="lt1"/>
                </a:solidFill>
                <a:latin typeface="Arial"/>
                <a:ea typeface="Arial"/>
                <a:cs typeface="Arial"/>
                <a:sym typeface="Arial"/>
              </a:rPr>
              <a:t>“</a:t>
            </a:r>
            <a:r>
              <a:rPr lang="en-US" sz="1100" u="none" cap="none" strike="noStrike">
                <a:solidFill>
                  <a:schemeClr val="lt1"/>
                </a:solidFill>
                <a:latin typeface="Arial"/>
                <a:ea typeface="Arial"/>
                <a:cs typeface="Arial"/>
                <a:sym typeface="Arial"/>
              </a:rPr>
              <a:t>infinite loops</a:t>
            </a:r>
            <a:r>
              <a:rPr lang="en-US" sz="1100">
                <a:solidFill>
                  <a:schemeClr val="lt1"/>
                </a:solidFill>
                <a:latin typeface="Arial"/>
                <a:ea typeface="Arial"/>
                <a:cs typeface="Arial"/>
                <a:sym typeface="Arial"/>
              </a:rPr>
              <a:t>”. </a:t>
            </a:r>
            <a:r>
              <a:rPr lang="en-US" sz="1100" u="none" cap="none" strike="noStrike">
                <a:solidFill>
                  <a:schemeClr val="lt1"/>
                </a:solidFill>
                <a:latin typeface="Arial"/>
                <a:ea typeface="Arial"/>
                <a:cs typeface="Arial"/>
                <a:sym typeface="Arial"/>
              </a:rPr>
              <a:t>Sometimes it is a little harder to be sure if a loop will terminate. </a:t>
            </a:r>
            <a:r>
              <a:rPr lang="en-US"/>
              <a:t>Sometimes we want to loop through a set of things such as a list of words, the lines in a file, or a list of numbers. When we have a list of things to loop through, we can construct a definite loop using a for statement instead. Let us take a look at definite loops next.</a:t>
            </a:r>
            <a:endParaRPr/>
          </a:p>
        </p:txBody>
      </p:sp>
      <p:sp>
        <p:nvSpPr>
          <p:cNvPr id="98" name="Google Shape;9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We call the while statement an indefinite loop because it simply loops until some condition becomes False, whereas the for statement gives us a definite loop because it loops through a known set of items so it runs through as many iterations as there are items in the set. We can loop over the elements of an iterable object using the for statement.</a:t>
            </a:r>
            <a:endParaRPr/>
          </a:p>
        </p:txBody>
      </p:sp>
      <p:sp>
        <p:nvSpPr>
          <p:cNvPr id="104" name="Google Shape;10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The syntax of a for loop is similar to the while loop in that there is a for statement and a loop body:</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friends</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['Joseph', 'Glenn', 'Sally']</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friend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friends </a:t>
            </a:r>
            <a:r>
              <a:rPr i="0" lang="en-US" sz="11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'Happy New Year:'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friend</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'Done!'</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a:t>The variable friends is a list of three strings (we are going to cover lists in Python in more detail in later weeks) and the for loop goes through the list and executes the body once for each of the three strings in the list resulting in the following output: </a:t>
            </a:r>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FFFF"/>
                </a:solidFill>
                <a:latin typeface="Arial"/>
                <a:ea typeface="Arial"/>
                <a:cs typeface="Arial"/>
                <a:sym typeface="Arial"/>
              </a:rPr>
              <a:t>Happy New Year: Joseph</a:t>
            </a:r>
            <a:br>
              <a:rPr lang="en-US" sz="1100" u="none" cap="none" strike="noStrike">
                <a:solidFill>
                  <a:srgbClr val="FFFFFF"/>
                </a:solidFill>
                <a:latin typeface="Arial"/>
                <a:ea typeface="Arial"/>
                <a:cs typeface="Arial"/>
                <a:sym typeface="Arial"/>
              </a:rPr>
            </a:br>
            <a:r>
              <a:rPr lang="en-US" sz="1100" u="none" cap="none" strike="noStrike">
                <a:solidFill>
                  <a:srgbClr val="FFFFFF"/>
                </a:solidFill>
                <a:latin typeface="Arial"/>
                <a:ea typeface="Arial"/>
                <a:cs typeface="Arial"/>
                <a:sym typeface="Arial"/>
              </a:rPr>
              <a:t>Happy New Year: Glenn</a:t>
            </a:r>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FFFF"/>
                </a:solidFill>
                <a:latin typeface="Arial"/>
                <a:ea typeface="Arial"/>
                <a:cs typeface="Arial"/>
                <a:sym typeface="Arial"/>
              </a:rPr>
              <a:t>Happy New Year: Sally</a:t>
            </a:r>
            <a:endParaRPr/>
          </a:p>
          <a:p>
            <a:pPr indent="0" lvl="0" marL="0" marR="0" rtl="0" algn="l">
              <a:lnSpc>
                <a:spcPct val="100000"/>
              </a:lnSpc>
              <a:spcBef>
                <a:spcPts val="0"/>
              </a:spcBef>
              <a:spcAft>
                <a:spcPts val="0"/>
              </a:spcAft>
              <a:buClr>
                <a:schemeClr val="dk1"/>
              </a:buClr>
              <a:buSzPts val="1100"/>
              <a:buFont typeface="Arial"/>
              <a:buNone/>
            </a:pPr>
            <a:r>
              <a:rPr lang="en-US"/>
              <a:t>Done!</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a:t>if you think of friends as a set, we can say: run the statements in the body of the for loop once for each friend in the set named friends. </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t/>
            </a:r>
            <a:endParaRPr/>
          </a:p>
        </p:txBody>
      </p:sp>
      <p:sp>
        <p:nvSpPr>
          <p:cNvPr id="110" name="Google Shape;11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In a for statement, for and in are reserved Python keywords, and friend and friends are variables. In particular, friend is the iteration variable for the for loop. The variable friend changes for each iteration of the loop and controls when the for loop completes. The iteration variable steps successively through the three strings stored in the friends variable.</a:t>
            </a:r>
            <a:endParaRPr/>
          </a:p>
        </p:txBody>
      </p:sp>
      <p:sp>
        <p:nvSpPr>
          <p:cNvPr id="119" name="Google Shape;11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130" name="Google Shape;13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151" name="Google Shape;15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Often we use a for or while loop to go through a list of items or the contents of a file and we are looking for something such as the largest or smallest value of the data we scan through. These loops are generally constructed by the following steps:</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 Initializing one or more variables before the loop starts</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 Performing some computation on each item in the loop body, possibly changing the variables in the body of the loop</a:t>
            </a:r>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 Looking at the resulting variables when the loop completes</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Nest, we will use a list of numbers to demonstrate the concepts and construction of these loop patterns in more detail.</a:t>
            </a:r>
            <a:endParaRPr sz="1100">
              <a:solidFill>
                <a:schemeClr val="dk1"/>
              </a:solidFill>
              <a:latin typeface="Arial"/>
              <a:ea typeface="Arial"/>
              <a:cs typeface="Arial"/>
              <a:sym typeface="Arial"/>
            </a:endParaRPr>
          </a:p>
        </p:txBody>
      </p:sp>
      <p:sp>
        <p:nvSpPr>
          <p:cNvPr id="156" name="Google Shape;15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In this example, </a:t>
            </a:r>
            <a:r>
              <a:rPr lang="en-US" sz="1100">
                <a:solidFill>
                  <a:schemeClr val="dk1"/>
                </a:solidFill>
                <a:latin typeface="Arial"/>
                <a:ea typeface="Arial"/>
                <a:cs typeface="Arial"/>
                <a:sym typeface="Arial"/>
              </a:rPr>
              <a:t>we write a for loop to run through the list of numbers. Our iteration variable is named value and while we do not use value in the loop, it does control the loop and cause the loop body to be executed once for each of the values in the list. In the body of the loop, we simply print the value of our iteration variable on each iteration. Since our iteration variable refers to each number in the list in each iteration, we simply obtain printed value of each number in the list as the outcome once the loop completes.</a:t>
            </a:r>
            <a:endParaRPr/>
          </a:p>
        </p:txBody>
      </p:sp>
      <p:sp>
        <p:nvSpPr>
          <p:cNvPr id="165" name="Google Shape;16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In this example, we construct the following loop to find the largest value in a list or sequence:</a:t>
            </a:r>
            <a:endParaRPr/>
          </a:p>
          <a:p>
            <a:pPr indent="0" lvl="0" marL="0" rtl="0" algn="l">
              <a:lnSpc>
                <a:spcPct val="100000"/>
              </a:lnSpc>
              <a:spcBef>
                <a:spcPts val="0"/>
              </a:spcBef>
              <a:spcAft>
                <a:spcPts val="0"/>
              </a:spcAft>
              <a:buSzPts val="1400"/>
              <a:buNone/>
            </a:pPr>
            <a:r>
              <a:t/>
            </a:r>
            <a:endParaRPr sz="1100">
              <a:solidFill>
                <a:srgbClr val="00FF00"/>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100">
                <a:solidFill>
                  <a:srgbClr val="00FF00"/>
                </a:solidFill>
                <a:latin typeface="Courier"/>
                <a:ea typeface="Courier"/>
                <a:cs typeface="Courier"/>
                <a:sym typeface="Courier"/>
              </a:rPr>
              <a:t>largest = </a:t>
            </a:r>
            <a:r>
              <a:rPr lang="en-US" sz="1100">
                <a:solidFill>
                  <a:srgbClr val="FFFF00"/>
                </a:solidFill>
                <a:latin typeface="Courier"/>
                <a:ea typeface="Courier"/>
                <a:cs typeface="Courier"/>
                <a:sym typeface="Courier"/>
              </a:rPr>
              <a:t>None</a:t>
            </a:r>
            <a:endParaRPr sz="1100">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'Before'</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rgbClr val="FF00FF"/>
                </a:solidFill>
                <a:latin typeface="Courier"/>
                <a:ea typeface="Courier"/>
                <a:cs typeface="Courier"/>
                <a:sym typeface="Courier"/>
              </a:rPr>
              <a:t> value </a:t>
            </a:r>
            <a:r>
              <a:rPr i="0" lang="en-US" sz="1100" u="none" cap="none" strike="noStrike">
                <a:solidFill>
                  <a:srgbClr val="FFFF00"/>
                </a:solidFill>
                <a:latin typeface="Courier"/>
                <a:ea typeface="Courier"/>
                <a:cs typeface="Courier"/>
                <a:sym typeface="Courier"/>
              </a:rPr>
              <a:t>in</a:t>
            </a:r>
            <a:r>
              <a:rPr i="0" lang="en-US" sz="1100" u="none" cap="none" strike="noStrike">
                <a:solidFill>
                  <a:srgbClr val="FF00FF"/>
                </a:solidFill>
                <a:latin typeface="Courier"/>
                <a:ea typeface="Courier"/>
                <a:cs typeface="Courier"/>
                <a:sym typeface="Courier"/>
              </a:rPr>
              <a:t> [9, 41, 12, 3, 74, 15] :</a:t>
            </a:r>
            <a:endParaRPr/>
          </a:p>
          <a:p>
            <a:pPr indent="0" lvl="0" marL="0" marR="0" rtl="0" algn="l">
              <a:lnSpc>
                <a:spcPct val="100000"/>
              </a:lnSpc>
              <a:spcBef>
                <a:spcPts val="0"/>
              </a:spcBef>
              <a:spcAft>
                <a:spcPts val="0"/>
              </a:spcAft>
              <a:buClr>
                <a:srgbClr val="FFFF00"/>
              </a:buClr>
              <a:buSzPts val="275"/>
              <a:buFont typeface="Cabin"/>
              <a:buNone/>
            </a:pPr>
            <a:r>
              <a:rPr lang="en-US" sz="1100">
                <a:solidFill>
                  <a:srgbClr val="FF00FF"/>
                </a:solidFill>
                <a:latin typeface="Courier"/>
                <a:ea typeface="Courier"/>
                <a:cs typeface="Courier"/>
                <a:sym typeface="Courier"/>
              </a:rPr>
              <a:t>    </a:t>
            </a:r>
            <a:r>
              <a:rPr lang="en-US" sz="1100">
                <a:solidFill>
                  <a:srgbClr val="FFFF00"/>
                </a:solidFill>
                <a:latin typeface="Courier"/>
                <a:ea typeface="Courier"/>
                <a:cs typeface="Courier"/>
                <a:sym typeface="Courier"/>
              </a:rPr>
              <a:t>if</a:t>
            </a:r>
            <a:r>
              <a:rPr lang="en-US" sz="1100">
                <a:solidFill>
                  <a:srgbClr val="00FF00"/>
                </a:solidFill>
                <a:latin typeface="Courier"/>
                <a:ea typeface="Courier"/>
                <a:cs typeface="Courier"/>
                <a:sym typeface="Courier"/>
              </a:rPr>
              <a:t> largest </a:t>
            </a:r>
            <a:r>
              <a:rPr lang="en-US" sz="1100">
                <a:solidFill>
                  <a:srgbClr val="FFFF00"/>
                </a:solidFill>
                <a:latin typeface="Courier"/>
                <a:ea typeface="Courier"/>
                <a:cs typeface="Courier"/>
                <a:sym typeface="Courier"/>
              </a:rPr>
              <a:t>is</a:t>
            </a:r>
            <a:r>
              <a:rPr lang="en-US" sz="1100">
                <a:solidFill>
                  <a:srgbClr val="00FF00"/>
                </a:solidFill>
                <a:latin typeface="Courier"/>
                <a:ea typeface="Courier"/>
                <a:cs typeface="Courier"/>
                <a:sym typeface="Courier"/>
              </a:rPr>
              <a:t> None</a:t>
            </a:r>
            <a:r>
              <a:rPr lang="en-US" sz="1100">
                <a:solidFill>
                  <a:schemeClr val="lt1"/>
                </a:solidFill>
                <a:latin typeface="Courier"/>
                <a:ea typeface="Courier"/>
                <a:cs typeface="Courier"/>
                <a:sym typeface="Courier"/>
              </a:rPr>
              <a:t> </a:t>
            </a:r>
            <a:r>
              <a:rPr lang="en-US" sz="1100">
                <a:solidFill>
                  <a:srgbClr val="FF00FF"/>
                </a:solidFill>
                <a:latin typeface="Courier"/>
                <a:ea typeface="Courier"/>
                <a:cs typeface="Courier"/>
                <a:sym typeface="Courier"/>
              </a:rPr>
              <a:t>: </a:t>
            </a:r>
            <a:endParaRPr/>
          </a:p>
          <a:p>
            <a:pPr indent="0" lvl="0" marL="0" rtl="0" algn="l">
              <a:lnSpc>
                <a:spcPct val="100000"/>
              </a:lnSpc>
              <a:spcBef>
                <a:spcPts val="0"/>
              </a:spcBef>
              <a:spcAft>
                <a:spcPts val="0"/>
              </a:spcAft>
              <a:buSzPts val="1400"/>
              <a:buNone/>
            </a:pPr>
            <a:r>
              <a:rPr lang="en-US" sz="1100">
                <a:solidFill>
                  <a:srgbClr val="00FF00"/>
                </a:solidFill>
                <a:latin typeface="Courier"/>
                <a:ea typeface="Courier"/>
                <a:cs typeface="Courier"/>
                <a:sym typeface="Courier"/>
              </a:rPr>
              <a:t>        largest </a:t>
            </a:r>
            <a:r>
              <a:rPr lang="en-US" sz="1100">
                <a:solidFill>
                  <a:srgbClr val="FF00FF"/>
                </a:solidFill>
                <a:latin typeface="Courier"/>
                <a:ea typeface="Courier"/>
                <a:cs typeface="Courier"/>
                <a:sym typeface="Courier"/>
              </a:rPr>
              <a:t>= value</a:t>
            </a:r>
            <a:endParaRPr/>
          </a:p>
          <a:p>
            <a:pPr indent="0" lvl="0" marL="0" rtl="0" algn="l">
              <a:lnSpc>
                <a:spcPct val="100000"/>
              </a:lnSpc>
              <a:spcBef>
                <a:spcPts val="0"/>
              </a:spcBef>
              <a:spcAft>
                <a:spcPts val="0"/>
              </a:spcAft>
              <a:buSzPts val="1400"/>
              <a:buNone/>
            </a:pPr>
            <a:r>
              <a:rPr lang="en-US" sz="1100">
                <a:solidFill>
                  <a:srgbClr val="FF00FF"/>
                </a:solidFill>
                <a:latin typeface="Courier"/>
                <a:ea typeface="Courier"/>
                <a:cs typeface="Courier"/>
                <a:sym typeface="Courier"/>
              </a:rPr>
              <a:t>    </a:t>
            </a:r>
            <a:r>
              <a:rPr lang="en-US" sz="1100">
                <a:solidFill>
                  <a:srgbClr val="FFFF00"/>
                </a:solidFill>
                <a:latin typeface="Courier"/>
                <a:ea typeface="Courier"/>
                <a:cs typeface="Courier"/>
                <a:sym typeface="Courier"/>
              </a:rPr>
              <a:t>elif</a:t>
            </a:r>
            <a:r>
              <a:rPr lang="en-US" sz="1100">
                <a:solidFill>
                  <a:srgbClr val="FF00FF"/>
                </a:solidFill>
                <a:latin typeface="Courier"/>
                <a:ea typeface="Courier"/>
                <a:cs typeface="Courier"/>
                <a:sym typeface="Courier"/>
              </a:rPr>
              <a:t> value &gt; </a:t>
            </a:r>
            <a:r>
              <a:rPr lang="en-US" sz="1100">
                <a:solidFill>
                  <a:srgbClr val="00FF00"/>
                </a:solidFill>
                <a:latin typeface="Courier"/>
                <a:ea typeface="Courier"/>
                <a:cs typeface="Courier"/>
                <a:sym typeface="Courier"/>
              </a:rPr>
              <a:t>largest</a:t>
            </a:r>
            <a:r>
              <a:rPr lang="en-US" sz="1100">
                <a:solidFill>
                  <a:srgbClr val="FF00FF"/>
                </a:solidFill>
                <a:latin typeface="Courier"/>
                <a:ea typeface="Courier"/>
                <a:cs typeface="Courier"/>
                <a:sym typeface="Courier"/>
              </a:rPr>
              <a:t>: </a:t>
            </a:r>
            <a:endParaRPr/>
          </a:p>
          <a:p>
            <a:pPr indent="0" lvl="0" marL="0" rtl="0" algn="l">
              <a:lnSpc>
                <a:spcPct val="100000"/>
              </a:lnSpc>
              <a:spcBef>
                <a:spcPts val="0"/>
              </a:spcBef>
              <a:spcAft>
                <a:spcPts val="0"/>
              </a:spcAft>
              <a:buSzPts val="1400"/>
              <a:buNone/>
            </a:pPr>
            <a:r>
              <a:rPr lang="en-US" sz="1100">
                <a:solidFill>
                  <a:srgbClr val="00FF00"/>
                </a:solidFill>
                <a:latin typeface="Courier"/>
                <a:ea typeface="Courier"/>
                <a:cs typeface="Courier"/>
                <a:sym typeface="Courier"/>
              </a:rPr>
              <a:t>        largest </a:t>
            </a:r>
            <a:r>
              <a:rPr lang="en-US" sz="1100">
                <a:solidFill>
                  <a:srgbClr val="FF00FF"/>
                </a:solidFill>
                <a:latin typeface="Courier"/>
                <a:ea typeface="Courier"/>
                <a:cs typeface="Courier"/>
                <a:sym typeface="Courier"/>
              </a:rPr>
              <a:t>= value</a:t>
            </a:r>
            <a:endParaRPr/>
          </a:p>
          <a:p>
            <a:pPr indent="0" lvl="0" marL="0" rtl="0" algn="l">
              <a:lnSpc>
                <a:spcPct val="100000"/>
              </a:lnSpc>
              <a:spcBef>
                <a:spcPts val="0"/>
              </a:spcBef>
              <a:spcAft>
                <a:spcPts val="0"/>
              </a:spcAft>
              <a:buSzPts val="1400"/>
              <a:buNone/>
            </a:pPr>
            <a:r>
              <a:rPr i="0" lang="en-US" sz="1100" u="none" cap="none" strike="noStrike">
                <a:solidFill>
                  <a:srgbClr val="FF00FF"/>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lang="en-US" sz="1100">
                <a:solidFill>
                  <a:srgbClr val="00FF00"/>
                </a:solidFill>
                <a:latin typeface="Courier"/>
                <a:ea typeface="Courier"/>
                <a:cs typeface="Courier"/>
                <a:sym typeface="Courier"/>
              </a:rPr>
              <a:t>largest,</a:t>
            </a:r>
            <a:r>
              <a:rPr i="0" lang="en-US" sz="1100" u="none" cap="none" strike="noStrike">
                <a:solidFill>
                  <a:srgbClr val="FF00FF"/>
                </a:solidFill>
                <a:latin typeface="Courier"/>
                <a:ea typeface="Courier"/>
                <a:cs typeface="Courier"/>
                <a:sym typeface="Courier"/>
              </a:rPr>
              <a:t> </a:t>
            </a:r>
            <a:r>
              <a:rPr lang="en-US" sz="1100">
                <a:solidFill>
                  <a:srgbClr val="FF00FF"/>
                </a:solidFill>
                <a:latin typeface="Courier"/>
                <a:ea typeface="Courier"/>
                <a:cs typeface="Courier"/>
                <a:sym typeface="Courier"/>
              </a:rPr>
              <a:t>value</a:t>
            </a:r>
            <a:r>
              <a:rPr lang="en-US" sz="1100">
                <a:solidFill>
                  <a:schemeClr val="lt1"/>
                </a:solidFill>
                <a:latin typeface="Courier"/>
                <a:ea typeface="Courier"/>
                <a:cs typeface="Courier"/>
                <a:sym typeface="Courier"/>
              </a:rPr>
              <a:t>)</a:t>
            </a:r>
            <a:endParaRPr sz="1100">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'After', </a:t>
            </a:r>
            <a:r>
              <a:rPr lang="en-US" sz="1100">
                <a:solidFill>
                  <a:srgbClr val="00FF00"/>
                </a:solidFill>
                <a:latin typeface="Courier"/>
                <a:ea typeface="Courier"/>
                <a:cs typeface="Courier"/>
                <a:sym typeface="Courier"/>
              </a:rPr>
              <a:t>largest</a:t>
            </a:r>
            <a:r>
              <a:rPr lang="en-US" sz="1100">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n-US"/>
              <a:t>The variable largest can be considered as the largest value we have seen so far in the list. Before the loop starts, we set largest to the constant None. None is a special constant value (reserved keyword) which we can store in a variable to mark the variable as empty in Python. While the loop is executing, if largest is None then we take the first value we see in the list as the largest so far. Since largest so far is None, we immediately set largest to be the first element 9.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After the first iteration, largest becomes no longer None, thus elif statement that checks value &gt; largest triggers only when we see a value that is larger than the largest so far. If we observe even a larger value, we take that as the new value for largest. You can see in the program output that largest progresses from 9 to 41 to 74. Once the loop terminates after going through all the values in the list, the variable largest now contains the largest value in the list.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72" name="Google Shape;17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We can modify our earlier code slightly to find the smallest number in the list as follows:</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smallest =</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None</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'Before</a:t>
            </a:r>
            <a:r>
              <a:rPr lang="en-US" sz="1100">
                <a:solidFill>
                  <a:srgbClr val="FF7F00"/>
                </a:solidFill>
                <a:latin typeface="Courier"/>
                <a:ea typeface="Courier"/>
                <a:cs typeface="Courier"/>
                <a:sym typeface="Courier"/>
              </a:rPr>
              <a:t>'</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rgbClr val="FF00FF"/>
                </a:solidFill>
                <a:latin typeface="Courier"/>
                <a:ea typeface="Courier"/>
                <a:cs typeface="Courier"/>
                <a:sym typeface="Courier"/>
              </a:rPr>
              <a:t> value </a:t>
            </a:r>
            <a:r>
              <a:rPr i="0" lang="en-US" sz="1100" u="none" cap="none" strike="noStrike">
                <a:solidFill>
                  <a:schemeClr val="lt1"/>
                </a:solidFill>
                <a:latin typeface="Courier"/>
                <a:ea typeface="Courier"/>
                <a:cs typeface="Courier"/>
                <a:sym typeface="Courier"/>
              </a:rPr>
              <a:t>in</a:t>
            </a:r>
            <a:r>
              <a:rPr i="0" lang="en-US" sz="1100" u="none" cap="none" strike="noStrike">
                <a:solidFill>
                  <a:srgbClr val="FF00FF"/>
                </a:solidFill>
                <a:latin typeface="Courier"/>
                <a:ea typeface="Courier"/>
                <a:cs typeface="Courier"/>
                <a:sym typeface="Courier"/>
              </a:rPr>
              <a:t> [9, 41, 12, 3, 74, 15] :</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a:t>
            </a:r>
            <a:r>
              <a:rPr i="0" lang="en-US" sz="1100" u="none" cap="none" strike="noStrike">
                <a:solidFill>
                  <a:srgbClr val="00FF00"/>
                </a:solidFill>
                <a:latin typeface="Courier"/>
                <a:ea typeface="Courier"/>
                <a:cs typeface="Courier"/>
                <a:sym typeface="Courier"/>
              </a:rPr>
              <a:t> smallest </a:t>
            </a:r>
            <a:r>
              <a:rPr lang="en-US" sz="1100" u="none" cap="none" strike="noStrike">
                <a:solidFill>
                  <a:srgbClr val="FFFF00"/>
                </a:solidFill>
                <a:latin typeface="Courier"/>
                <a:ea typeface="Courier"/>
                <a:cs typeface="Courier"/>
                <a:sym typeface="Courier"/>
              </a:rPr>
              <a:t>is</a:t>
            </a:r>
            <a:r>
              <a:rPr i="0" lang="en-US" sz="1100" u="none" cap="none" strike="noStrike">
                <a:solidFill>
                  <a:srgbClr val="00FF00"/>
                </a:solidFill>
                <a:latin typeface="Courier"/>
                <a:ea typeface="Courier"/>
                <a:cs typeface="Courier"/>
                <a:sym typeface="Courier"/>
              </a:rPr>
              <a:t> None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00FF"/>
                </a:solidFill>
                <a:latin typeface="Courier"/>
                <a:ea typeface="Courier"/>
                <a:cs typeface="Courier"/>
                <a:sym typeface="Courier"/>
              </a:rPr>
              <a:t>: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        smallest </a:t>
            </a:r>
            <a:r>
              <a:rPr i="0" lang="en-US" sz="1100" u="none" cap="none" strike="noStrike">
                <a:solidFill>
                  <a:srgbClr val="FF00FF"/>
                </a:solidFill>
                <a:latin typeface="Courier"/>
                <a:ea typeface="Courier"/>
                <a:cs typeface="Courier"/>
                <a:sym typeface="Courier"/>
              </a:rPr>
              <a:t>= value</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elif</a:t>
            </a:r>
            <a:r>
              <a:rPr i="0" lang="en-US" sz="1100" u="none" cap="none" strike="noStrike">
                <a:solidFill>
                  <a:srgbClr val="FF00FF"/>
                </a:solidFill>
                <a:latin typeface="Courier"/>
                <a:ea typeface="Courier"/>
                <a:cs typeface="Courier"/>
                <a:sym typeface="Courier"/>
              </a:rPr>
              <a:t> value &lt; </a:t>
            </a:r>
            <a:r>
              <a:rPr i="0" lang="en-US" sz="1100" u="none" cap="none" strike="noStrike">
                <a:solidFill>
                  <a:srgbClr val="00FF00"/>
                </a:solidFill>
                <a:latin typeface="Courier"/>
                <a:ea typeface="Courier"/>
                <a:cs typeface="Courier"/>
                <a:sym typeface="Courier"/>
              </a:rPr>
              <a:t>smallest</a:t>
            </a:r>
            <a:r>
              <a:rPr i="0" lang="en-US" sz="1100" u="none" cap="none" strike="noStrike">
                <a:solidFill>
                  <a:srgbClr val="FF00FF"/>
                </a:solidFill>
                <a:latin typeface="Courier"/>
                <a:ea typeface="Courier"/>
                <a:cs typeface="Courier"/>
                <a:sym typeface="Courier"/>
              </a:rPr>
              <a:t> :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        smallest</a:t>
            </a:r>
            <a:r>
              <a:rPr i="0" lang="en-US" sz="1100" u="none" cap="none" strike="noStrike">
                <a:solidFill>
                  <a:srgbClr val="FF00FF"/>
                </a:solidFill>
                <a:latin typeface="Courier"/>
                <a:ea typeface="Courier"/>
                <a:cs typeface="Courier"/>
                <a:sym typeface="Courier"/>
              </a:rPr>
              <a:t> = value</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smallest, </a:t>
            </a:r>
            <a:r>
              <a:rPr i="0" lang="en-US" sz="1100" u="none" cap="none" strike="noStrike">
                <a:solidFill>
                  <a:srgbClr val="FF00FF"/>
                </a:solidFill>
                <a:latin typeface="Courier"/>
                <a:ea typeface="Courier"/>
                <a:cs typeface="Courier"/>
                <a:sym typeface="Courier"/>
              </a:rPr>
              <a:t>value</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'After', </a:t>
            </a:r>
            <a:r>
              <a:rPr i="0" lang="en-US" sz="1100" u="none" cap="none" strike="noStrike">
                <a:solidFill>
                  <a:srgbClr val="00FF00"/>
                </a:solidFill>
                <a:latin typeface="Courier"/>
                <a:ea typeface="Courier"/>
                <a:cs typeface="Courier"/>
                <a:sym typeface="Courier"/>
              </a:rPr>
              <a:t>smallest</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Similar to before, smallest refers to the smallest number observed so far before, during, and after the loop executes. Thus, when the loop has completed, smallest contains the minimum value in the list. We note that instead of writing our own code to determine the maximum and the minimum values in a list, we can simply use the built-in max() and min() functions in Python!</a:t>
            </a:r>
            <a:endParaRPr/>
          </a:p>
        </p:txBody>
      </p:sp>
      <p:sp>
        <p:nvSpPr>
          <p:cNvPr id="180" name="Google Shape;18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We can write the following for loop to count the number of items in a list:</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275"/>
              <a:buFont typeface="Cabin"/>
              <a:buNone/>
            </a:pPr>
            <a:r>
              <a:rPr lang="en-US" sz="1100">
                <a:solidFill>
                  <a:srgbClr val="00FFFF"/>
                </a:solidFill>
                <a:latin typeface="Courier"/>
                <a:ea typeface="Courier"/>
                <a:cs typeface="Courier"/>
                <a:sym typeface="Courier"/>
              </a:rPr>
              <a:t>c</a:t>
            </a:r>
            <a:r>
              <a:rPr i="0" lang="en-US" sz="1100" u="none" cap="none" strike="noStrike">
                <a:solidFill>
                  <a:srgbClr val="00FFFF"/>
                </a:solidFill>
                <a:latin typeface="Courier"/>
                <a:ea typeface="Courier"/>
                <a:cs typeface="Courier"/>
                <a:sym typeface="Courier"/>
              </a:rPr>
              <a:t>ount = 0</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'Before', count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rgbClr val="FF00FF"/>
                </a:solidFill>
                <a:latin typeface="Courier"/>
                <a:ea typeface="Courier"/>
                <a:cs typeface="Courier"/>
                <a:sym typeface="Courier"/>
              </a:rPr>
              <a:t> thing </a:t>
            </a:r>
            <a:r>
              <a:rPr i="0" lang="en-US" sz="1100" u="none" cap="none" strike="noStrike">
                <a:solidFill>
                  <a:srgbClr val="FFFF00"/>
                </a:solidFill>
                <a:latin typeface="Courier"/>
                <a:ea typeface="Courier"/>
                <a:cs typeface="Courier"/>
                <a:sym typeface="Courier"/>
              </a:rPr>
              <a:t>in</a:t>
            </a:r>
            <a:r>
              <a:rPr i="0" lang="en-US" sz="1100" u="none" cap="none" strike="noStrike">
                <a:solidFill>
                  <a:srgbClr val="FF00FF"/>
                </a:solidFill>
                <a:latin typeface="Courier"/>
                <a:ea typeface="Courier"/>
                <a:cs typeface="Courier"/>
                <a:sym typeface="Courier"/>
              </a:rPr>
              <a:t> [9, 41, 12, 3, 74, 15] :</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count = count + 1</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lang="en-US" sz="1100">
                <a:solidFill>
                  <a:srgbClr val="00FFFF"/>
                </a:solidFill>
                <a:latin typeface="Courier"/>
                <a:ea typeface="Courier"/>
                <a:cs typeface="Courier"/>
                <a:sym typeface="Courier"/>
              </a:rPr>
              <a:t>count</a:t>
            </a:r>
            <a:r>
              <a:rPr i="0" lang="en-US" sz="1100" u="none" cap="none" strike="noStrike">
                <a:solidFill>
                  <a:srgbClr val="FF00FF"/>
                </a:solidFill>
                <a:latin typeface="Courier"/>
                <a:ea typeface="Courier"/>
                <a:cs typeface="Courier"/>
                <a:sym typeface="Courier"/>
              </a:rPr>
              <a:t>, thing</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'After', </a:t>
            </a:r>
            <a:r>
              <a:rPr i="0" lang="en-US" sz="1100" u="none" cap="none" strike="noStrike">
                <a:solidFill>
                  <a:srgbClr val="00FFFF"/>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a:t>We set the variable count to zero before the loop begins, then we write a for loop to run through the list of numbers. Our iteration variable is named thing. In the body of the loop, we add 1 to the current value of count for each of the values in the list. While the loop is executing, the value of count is the number of values we have seen so far. Once the loop is completed, the value of count is the total number of items in the list. </a:t>
            </a:r>
            <a:endParaRPr/>
          </a:p>
          <a:p>
            <a:pPr indent="0" lvl="0" marL="0" rtl="0" algn="l">
              <a:lnSpc>
                <a:spcPct val="100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a:solidFill>
                  <a:schemeClr val="dk1"/>
                </a:solidFill>
                <a:latin typeface="Arial"/>
                <a:ea typeface="Arial"/>
                <a:cs typeface="Arial"/>
                <a:sym typeface="Arial"/>
              </a:rPr>
              <a:t>We note that the above counting loop is not particularly useful in practice because there is a built-in function len() that computes the number of items in a list. We can simply use len() function.</a:t>
            </a:r>
            <a:endParaRPr/>
          </a:p>
          <a:p>
            <a:pPr indent="0" lvl="0" marL="0" rtl="0" algn="l">
              <a:lnSpc>
                <a:spcPct val="100000"/>
              </a:lnSpc>
              <a:spcBef>
                <a:spcPts val="0"/>
              </a:spcBef>
              <a:spcAft>
                <a:spcPts val="0"/>
              </a:spcAft>
              <a:buSzPts val="1400"/>
              <a:buNone/>
            </a:pPr>
            <a:r>
              <a:t/>
            </a:r>
            <a:endParaRPr/>
          </a:p>
        </p:txBody>
      </p:sp>
      <p:sp>
        <p:nvSpPr>
          <p:cNvPr id="188" name="Google Shape;18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In this loop we do use the iteration variable. We add the actual number (9, 41, 12, etc.) to the running total during each loop iteration. You may consider the variable sum as the running total sum of the values so far. So before the loop starts sum is set to zero because we have not yet seen any values, during the loop sum is the running total, and at the end of the loop sum is the overall total of all the values in the list. We note that we can simply use the built-in function sum() to do the same computation as in the above code.</a:t>
            </a:r>
            <a:endParaRPr/>
          </a:p>
        </p:txBody>
      </p:sp>
      <p:sp>
        <p:nvSpPr>
          <p:cNvPr id="196" name="Google Shape;19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We can combine the earlier codes -  counting in a loop and summing in a loop – to determine the average of the elements in the list through a for loop. </a:t>
            </a:r>
            <a:r>
              <a:rPr lang="en-US" sz="1100" u="none" cap="none" strike="noStrike">
                <a:solidFill>
                  <a:schemeClr val="lt1"/>
                </a:solidFill>
                <a:latin typeface="Arial"/>
                <a:ea typeface="Arial"/>
                <a:cs typeface="Arial"/>
                <a:sym typeface="Arial"/>
              </a:rPr>
              <a:t>An </a:t>
            </a:r>
            <a:r>
              <a:rPr lang="en-US" sz="1100" u="none" cap="none" strike="noStrike">
                <a:solidFill>
                  <a:srgbClr val="FFFF00"/>
                </a:solidFill>
                <a:latin typeface="Arial"/>
                <a:ea typeface="Arial"/>
                <a:cs typeface="Arial"/>
                <a:sym typeface="Arial"/>
              </a:rPr>
              <a:t>average</a:t>
            </a:r>
            <a:r>
              <a:rPr lang="en-US" sz="1100" u="none" cap="none" strike="noStrike">
                <a:solidFill>
                  <a:schemeClr val="lt1"/>
                </a:solidFill>
                <a:latin typeface="Arial"/>
                <a:ea typeface="Arial"/>
                <a:cs typeface="Arial"/>
                <a:sym typeface="Arial"/>
              </a:rPr>
              <a:t> just combines these </a:t>
            </a:r>
            <a:r>
              <a:rPr lang="en-US" sz="1100" u="none" cap="none" strike="noStrike">
                <a:solidFill>
                  <a:srgbClr val="00FFFF"/>
                </a:solidFill>
                <a:latin typeface="Arial"/>
                <a:ea typeface="Arial"/>
                <a:cs typeface="Arial"/>
                <a:sym typeface="Arial"/>
              </a:rPr>
              <a:t>counting</a:t>
            </a:r>
            <a:r>
              <a:rPr lang="en-US" sz="1100" u="none" cap="none" strike="noStrike">
                <a:solidFill>
                  <a:schemeClr val="lt1"/>
                </a:solidFill>
                <a:latin typeface="Arial"/>
                <a:ea typeface="Arial"/>
                <a:cs typeface="Arial"/>
                <a:sym typeface="Arial"/>
              </a:rPr>
              <a:t> and </a:t>
            </a:r>
            <a:r>
              <a:rPr lang="en-US" sz="1100" u="none" cap="none" strike="noStrike">
                <a:solidFill>
                  <a:srgbClr val="00FF00"/>
                </a:solidFill>
                <a:latin typeface="Arial"/>
                <a:ea typeface="Arial"/>
                <a:cs typeface="Arial"/>
                <a:sym typeface="Arial"/>
              </a:rPr>
              <a:t>sum</a:t>
            </a:r>
            <a:r>
              <a:rPr lang="en-US" sz="1100" u="none" cap="none" strike="noStrike">
                <a:solidFill>
                  <a:schemeClr val="lt1"/>
                </a:solidFill>
                <a:latin typeface="Arial"/>
                <a:ea typeface="Arial"/>
                <a:cs typeface="Arial"/>
                <a:sym typeface="Arial"/>
              </a:rPr>
              <a:t> patterns earlier and </a:t>
            </a:r>
            <a:r>
              <a:rPr lang="en-US" sz="1100" u="none" cap="none" strike="noStrike">
                <a:solidFill>
                  <a:srgbClr val="FFFF00"/>
                </a:solidFill>
                <a:latin typeface="Arial"/>
                <a:ea typeface="Arial"/>
                <a:cs typeface="Arial"/>
                <a:sym typeface="Arial"/>
              </a:rPr>
              <a:t>divides when the loop is completed</a:t>
            </a:r>
            <a:r>
              <a:rPr lang="en-US" sz="1100" u="none" cap="none" strike="noStrike">
                <a:solidFill>
                  <a:schemeClr val="lt1"/>
                </a:solidFill>
                <a:latin typeface="Arial"/>
                <a:ea typeface="Arial"/>
                <a:cs typeface="Arial"/>
                <a:sym typeface="Arial"/>
              </a:rPr>
              <a:t>.</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204" name="Google Shape;20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To create any filtering effect in a for loop, we can use the conditional execution statements such as if statement within the loop body to catch/filter any values that we are looking for within our list. In the following code, we use an if statement to capture and print any value within the list that is greater than 20.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'Before</a:t>
            </a:r>
            <a:r>
              <a:rPr lang="en-US" sz="1100">
                <a:solidFill>
                  <a:srgbClr val="FF7F00"/>
                </a:solidFill>
                <a:latin typeface="Courier"/>
                <a:ea typeface="Courier"/>
                <a:cs typeface="Courier"/>
                <a:sym typeface="Courier"/>
              </a:rPr>
              <a:t>'</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rgbClr val="FF00FF"/>
                </a:solidFill>
                <a:latin typeface="Courier"/>
                <a:ea typeface="Courier"/>
                <a:cs typeface="Courier"/>
                <a:sym typeface="Courier"/>
              </a:rPr>
              <a:t> value </a:t>
            </a:r>
            <a:r>
              <a:rPr i="0" lang="en-US" sz="1100" u="none" cap="none" strike="noStrike">
                <a:solidFill>
                  <a:srgbClr val="FFFF00"/>
                </a:solidFill>
                <a:latin typeface="Courier"/>
                <a:ea typeface="Courier"/>
                <a:cs typeface="Courier"/>
                <a:sym typeface="Courier"/>
              </a:rPr>
              <a:t>in</a:t>
            </a:r>
            <a:r>
              <a:rPr i="0" lang="en-US" sz="1100" u="none" cap="none" strike="noStrike">
                <a:solidFill>
                  <a:srgbClr val="FF00FF"/>
                </a:solidFill>
                <a:latin typeface="Courier"/>
                <a:ea typeface="Courier"/>
                <a:cs typeface="Courier"/>
                <a:sym typeface="Courier"/>
              </a:rPr>
              <a:t> [9, 41, 12, 3, 74, 15] :</a:t>
            </a:r>
            <a:endParaRPr/>
          </a:p>
          <a:p>
            <a:pPr indent="0" lvl="0" marL="0" marR="0" rtl="0" algn="l">
              <a:lnSpc>
                <a:spcPct val="100000"/>
              </a:lnSpc>
              <a:spcBef>
                <a:spcPts val="0"/>
              </a:spcBef>
              <a:spcAft>
                <a:spcPts val="0"/>
              </a:spcAft>
              <a:buClr>
                <a:srgbClr val="00FFFF"/>
              </a:buClr>
              <a:buSzPts val="275"/>
              <a:buFont typeface="Cabin"/>
              <a:buNone/>
            </a:pPr>
            <a:r>
              <a:rPr i="0" lang="en-US" sz="1100" u="none" cap="none" strike="noStrike">
                <a:solidFill>
                  <a:srgbClr val="00FFFF"/>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a:t>
            </a:r>
            <a:r>
              <a:rPr i="0" lang="en-US" sz="1100" u="none" cap="none" strike="noStrike">
                <a:solidFill>
                  <a:srgbClr val="00FFFF"/>
                </a:solidFill>
                <a:latin typeface="Courier"/>
                <a:ea typeface="Courier"/>
                <a:cs typeface="Courier"/>
                <a:sym typeface="Courier"/>
              </a:rPr>
              <a:t> </a:t>
            </a:r>
            <a:r>
              <a:rPr i="0" lang="en-US" sz="1100" u="none" cap="none" strike="noStrike">
                <a:solidFill>
                  <a:srgbClr val="FF00FF"/>
                </a:solidFill>
                <a:latin typeface="Courier"/>
                <a:ea typeface="Courier"/>
                <a:cs typeface="Courier"/>
                <a:sym typeface="Courier"/>
              </a:rPr>
              <a:t>value</a:t>
            </a:r>
            <a:r>
              <a:rPr i="0" lang="en-US" sz="1100" u="none" cap="none" strike="noStrike">
                <a:solidFill>
                  <a:srgbClr val="00FFFF"/>
                </a:solidFill>
                <a:latin typeface="Courier"/>
                <a:ea typeface="Courier"/>
                <a:cs typeface="Courier"/>
                <a:sym typeface="Courier"/>
              </a:rPr>
              <a:t> &gt; 20: </a:t>
            </a:r>
            <a:endParaRPr/>
          </a:p>
          <a:p>
            <a:pPr indent="0" lvl="0" marL="0" marR="0" rtl="0" algn="l">
              <a:lnSpc>
                <a:spcPct val="100000"/>
              </a:lnSpc>
              <a:spcBef>
                <a:spcPts val="0"/>
              </a:spcBef>
              <a:spcAft>
                <a:spcPts val="0"/>
              </a:spcAft>
              <a:buClr>
                <a:srgbClr val="00FFFF"/>
              </a:buClr>
              <a:buSzPts val="275"/>
              <a:buFont typeface="Cabin"/>
              <a:buNone/>
            </a:pPr>
            <a:r>
              <a:rPr i="0" lang="en-US" sz="1100" u="none" cap="none" strike="noStrike">
                <a:solidFill>
                  <a:srgbClr val="00FFFF"/>
                </a:solidFill>
                <a:latin typeface="Courier"/>
                <a:ea typeface="Courier"/>
                <a:cs typeface="Courier"/>
                <a:sym typeface="Courier"/>
              </a:rPr>
              <a:t>        print('Large number', value)</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'After'</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The corresponding output of this code becomes:</a:t>
            </a:r>
            <a:endParaRPr/>
          </a:p>
          <a:p>
            <a:pPr indent="0" lvl="0" marL="0" marR="0" rtl="0" algn="l">
              <a:lnSpc>
                <a:spcPct val="100000"/>
              </a:lnSpc>
              <a:spcBef>
                <a:spcPts val="0"/>
              </a:spcBef>
              <a:spcAft>
                <a:spcPts val="0"/>
              </a:spcAft>
              <a:buClr>
                <a:srgbClr val="FF7F00"/>
              </a:buClr>
              <a:buSzPts val="275"/>
              <a:buFont typeface="Cabin"/>
              <a:buNone/>
            </a:pPr>
            <a:r>
              <a:rPr lang="en-US" sz="1100" u="none" cap="none" strike="noStrike">
                <a:solidFill>
                  <a:srgbClr val="FF7F00"/>
                </a:solidFill>
                <a:latin typeface="Arial"/>
                <a:ea typeface="Arial"/>
                <a:cs typeface="Arial"/>
                <a:sym typeface="Arial"/>
              </a:rPr>
              <a:t>Before</a:t>
            </a:r>
            <a:endParaRPr/>
          </a:p>
          <a:p>
            <a:pPr indent="0" lvl="0" marL="0" marR="0" rtl="0" algn="l">
              <a:lnSpc>
                <a:spcPct val="100000"/>
              </a:lnSpc>
              <a:spcBef>
                <a:spcPts val="0"/>
              </a:spcBef>
              <a:spcAft>
                <a:spcPts val="0"/>
              </a:spcAft>
              <a:buClr>
                <a:srgbClr val="00FFFF"/>
              </a:buClr>
              <a:buSzPts val="275"/>
              <a:buFont typeface="Cabin"/>
              <a:buNone/>
            </a:pPr>
            <a:r>
              <a:rPr lang="en-US" sz="1100" u="none" cap="none" strike="noStrike">
                <a:solidFill>
                  <a:srgbClr val="00FFFF"/>
                </a:solidFill>
                <a:latin typeface="Arial"/>
                <a:ea typeface="Arial"/>
                <a:cs typeface="Arial"/>
                <a:sym typeface="Arial"/>
              </a:rPr>
              <a:t>Large number 41</a:t>
            </a:r>
            <a:endParaRPr/>
          </a:p>
          <a:p>
            <a:pPr indent="0" lvl="0" marL="0" marR="0" rtl="0" algn="l">
              <a:lnSpc>
                <a:spcPct val="100000"/>
              </a:lnSpc>
              <a:spcBef>
                <a:spcPts val="0"/>
              </a:spcBef>
              <a:spcAft>
                <a:spcPts val="0"/>
              </a:spcAft>
              <a:buClr>
                <a:srgbClr val="00FFFF"/>
              </a:buClr>
              <a:buSzPts val="275"/>
              <a:buFont typeface="Cabin"/>
              <a:buNone/>
            </a:pPr>
            <a:r>
              <a:rPr lang="en-US" sz="1100" u="none" cap="none" strike="noStrike">
                <a:solidFill>
                  <a:srgbClr val="00FFFF"/>
                </a:solidFill>
                <a:latin typeface="Arial"/>
                <a:ea typeface="Arial"/>
                <a:cs typeface="Arial"/>
                <a:sym typeface="Arial"/>
              </a:rPr>
              <a:t>Large number 74</a:t>
            </a:r>
            <a:endParaRPr/>
          </a:p>
          <a:p>
            <a:pPr indent="0" lvl="0" marL="0" marR="0" rtl="0" algn="l">
              <a:lnSpc>
                <a:spcPct val="100000"/>
              </a:lnSpc>
              <a:spcBef>
                <a:spcPts val="0"/>
              </a:spcBef>
              <a:spcAft>
                <a:spcPts val="0"/>
              </a:spcAft>
              <a:buClr>
                <a:srgbClr val="FF7F00"/>
              </a:buClr>
              <a:buSzPts val="275"/>
              <a:buFont typeface="Cabin"/>
              <a:buNone/>
            </a:pPr>
            <a:r>
              <a:rPr lang="en-US" sz="1100" u="none" cap="none" strike="noStrike">
                <a:solidFill>
                  <a:srgbClr val="FF7F00"/>
                </a:solidFill>
                <a:latin typeface="Arial"/>
                <a:ea typeface="Arial"/>
                <a:cs typeface="Arial"/>
                <a:sym typeface="Arial"/>
              </a:rPr>
              <a:t>After</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212" name="Google Shape;21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b="0" i="0" lang="en-US" sz="1100">
                <a:solidFill>
                  <a:schemeClr val="dk1"/>
                </a:solidFill>
                <a:latin typeface="Arial"/>
                <a:ea typeface="Arial"/>
                <a:cs typeface="Arial"/>
                <a:sym typeface="Arial"/>
              </a:rPr>
              <a:t>In the for loop examples we have covered so far, we have utilized the following Python operators: is, in. Let us review these operators in more detail.</a:t>
            </a:r>
            <a:endParaRPr/>
          </a:p>
          <a:p>
            <a:pPr indent="0" lvl="0" marL="0" rtl="0" algn="l">
              <a:lnSpc>
                <a:spcPct val="100000"/>
              </a:lnSpc>
              <a:spcBef>
                <a:spcPts val="0"/>
              </a:spcBef>
              <a:spcAft>
                <a:spcPts val="0"/>
              </a:spcAft>
              <a:buSzPts val="1400"/>
              <a:buNone/>
            </a:pPr>
            <a:r>
              <a:t/>
            </a:r>
            <a:endParaRPr b="0" i="0"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b="0" i="0" lang="en-US" sz="1100">
                <a:solidFill>
                  <a:schemeClr val="dk1"/>
                </a:solidFill>
                <a:latin typeface="Arial"/>
                <a:ea typeface="Arial"/>
                <a:cs typeface="Arial"/>
                <a:sym typeface="Arial"/>
              </a:rPr>
              <a:t>Python has 2 identity operators: is, is not. We can use these identity operators to compare the objects to determine if they are actually the same objects or not.</a:t>
            </a:r>
            <a:endParaRPr/>
          </a:p>
          <a:p>
            <a:pPr indent="0" lvl="0" marL="0" rtl="0" algn="l">
              <a:lnSpc>
                <a:spcPct val="100000"/>
              </a:lnSpc>
              <a:spcBef>
                <a:spcPts val="0"/>
              </a:spcBef>
              <a:spcAft>
                <a:spcPts val="0"/>
              </a:spcAft>
              <a:buSzPts val="1400"/>
              <a:buNone/>
            </a:pPr>
            <a:r>
              <a:rPr b="0" i="0" lang="en-US" sz="1100">
                <a:solidFill>
                  <a:schemeClr val="dk1"/>
                </a:solidFill>
                <a:latin typeface="Arial"/>
                <a:ea typeface="Arial"/>
                <a:cs typeface="Arial"/>
                <a:sym typeface="Arial"/>
              </a:rPr>
              <a:t>is: r</a:t>
            </a:r>
            <a:r>
              <a:rPr lang="en-US"/>
              <a:t>eturns True if both variables are the same object.</a:t>
            </a:r>
            <a:endParaRPr/>
          </a:p>
          <a:p>
            <a:pPr indent="0" lvl="0" marL="0" rtl="0" algn="l">
              <a:lnSpc>
                <a:spcPct val="100000"/>
              </a:lnSpc>
              <a:spcBef>
                <a:spcPts val="0"/>
              </a:spcBef>
              <a:spcAft>
                <a:spcPts val="0"/>
              </a:spcAft>
              <a:buSzPts val="1400"/>
              <a:buNone/>
            </a:pPr>
            <a:r>
              <a:rPr b="0" i="0" lang="en-US" sz="1100">
                <a:solidFill>
                  <a:schemeClr val="dk1"/>
                </a:solidFill>
                <a:latin typeface="Arial"/>
                <a:ea typeface="Arial"/>
                <a:cs typeface="Arial"/>
                <a:sym typeface="Arial"/>
              </a:rPr>
              <a:t>is not: returns True if both variables are not the same object.</a:t>
            </a:r>
            <a:endParaRPr b="0" i="0"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b="0" i="0"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a:t>Python also has 2 membership operators: in, not in. We can use these membership operators </a:t>
            </a:r>
            <a:r>
              <a:rPr b="0" i="0" lang="en-US" sz="1100">
                <a:solidFill>
                  <a:schemeClr val="dk1"/>
                </a:solidFill>
                <a:latin typeface="Arial"/>
                <a:ea typeface="Arial"/>
                <a:cs typeface="Arial"/>
                <a:sym typeface="Arial"/>
              </a:rPr>
              <a:t>to test if a sequence is presented in an object.</a:t>
            </a:r>
            <a:br>
              <a:rPr lang="en-US"/>
            </a:br>
            <a:r>
              <a:rPr lang="en-US"/>
              <a:t>in: </a:t>
            </a:r>
            <a:r>
              <a:rPr b="0" i="0" lang="en-US" sz="1100">
                <a:solidFill>
                  <a:schemeClr val="dk1"/>
                </a:solidFill>
                <a:latin typeface="Arial"/>
                <a:ea typeface="Arial"/>
                <a:cs typeface="Arial"/>
                <a:sym typeface="Arial"/>
              </a:rPr>
              <a:t>returns True if a sequence with the specified value is present in the object.</a:t>
            </a:r>
            <a:endParaRPr/>
          </a:p>
          <a:p>
            <a:pPr indent="0" lvl="0" marL="0" rtl="0" algn="l">
              <a:lnSpc>
                <a:spcPct val="100000"/>
              </a:lnSpc>
              <a:spcBef>
                <a:spcPts val="0"/>
              </a:spcBef>
              <a:spcAft>
                <a:spcPts val="0"/>
              </a:spcAft>
              <a:buSzPts val="1400"/>
              <a:buNone/>
            </a:pPr>
            <a:r>
              <a:rPr b="0" i="0" lang="en-US" sz="1100">
                <a:solidFill>
                  <a:schemeClr val="dk1"/>
                </a:solidFill>
                <a:latin typeface="Arial"/>
                <a:ea typeface="Arial"/>
                <a:cs typeface="Arial"/>
                <a:sym typeface="Arial"/>
              </a:rPr>
              <a:t>not in: returns True if a sequence with the specified value is not present in the object.</a:t>
            </a:r>
            <a:endParaRPr/>
          </a:p>
          <a:p>
            <a:pPr indent="0" lvl="0" marL="0" rtl="0" algn="l">
              <a:lnSpc>
                <a:spcPct val="100000"/>
              </a:lnSpc>
              <a:spcBef>
                <a:spcPts val="0"/>
              </a:spcBef>
              <a:spcAft>
                <a:spcPts val="0"/>
              </a:spcAft>
              <a:buSzPts val="1400"/>
              <a:buNone/>
            </a:pPr>
            <a:r>
              <a:t/>
            </a:r>
            <a:endParaRPr b="0" i="0"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220" name="Google Shape;220;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227" name="Google Shape;227;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2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mper" type="obj">
  <p:cSld name="OBJECT">
    <p:spTree>
      <p:nvGrpSpPr>
        <p:cNvPr id="10" name="Shape 10"/>
        <p:cNvGrpSpPr/>
        <p:nvPr/>
      </p:nvGrpSpPr>
      <p:grpSpPr>
        <a:xfrm>
          <a:off x="0" y="0"/>
          <a:ext cx="0" cy="0"/>
          <a:chOff x="0" y="0"/>
          <a:chExt cx="0" cy="0"/>
        </a:xfrm>
      </p:grpSpPr>
      <p:sp>
        <p:nvSpPr>
          <p:cNvPr id="11" name="Google Shape;11;p24"/>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00"/>
              </a:buClr>
              <a:buSzPts val="7200"/>
              <a:buFont typeface="Arial"/>
              <a:buNone/>
              <a:defRPr>
                <a:solidFill>
                  <a:srgbClr val="FFFF00"/>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 name="Google Shape;12;p24"/>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0"/>
              </a:spcBef>
              <a:spcAft>
                <a:spcPts val="0"/>
              </a:spcAft>
              <a:buClr>
                <a:schemeClr val="lt1"/>
              </a:buClr>
              <a:buSzPts val="3200"/>
              <a:buFont typeface="Arial"/>
              <a:buNone/>
              <a:defRPr>
                <a:solidFill>
                  <a:schemeClr val="lt1"/>
                </a:solidFill>
              </a:defRPr>
            </a:lvl1pPr>
            <a:lvl2pPr indent="-228600" lvl="1" marL="914400" algn="ctr">
              <a:lnSpc>
                <a:spcPct val="100000"/>
              </a:lnSpc>
              <a:spcBef>
                <a:spcPts val="0"/>
              </a:spcBef>
              <a:spcAft>
                <a:spcPts val="0"/>
              </a:spcAft>
              <a:buClr>
                <a:srgbClr val="000000"/>
              </a:buClr>
              <a:buSzPts val="1400"/>
              <a:buFont typeface="Arial"/>
              <a:buNone/>
              <a:defRPr/>
            </a:lvl2pPr>
            <a:lvl3pPr indent="-228600" lvl="2" marL="1371600" algn="ctr">
              <a:lnSpc>
                <a:spcPct val="100000"/>
              </a:lnSpc>
              <a:spcBef>
                <a:spcPts val="0"/>
              </a:spcBef>
              <a:spcAft>
                <a:spcPts val="0"/>
              </a:spcAft>
              <a:buClr>
                <a:srgbClr val="000000"/>
              </a:buClr>
              <a:buSzPts val="1400"/>
              <a:buFont typeface="Arial"/>
              <a:buNone/>
              <a:defRPr/>
            </a:lvl3pPr>
            <a:lvl4pPr indent="-228600" lvl="3" marL="1828800" algn="ctr">
              <a:lnSpc>
                <a:spcPct val="100000"/>
              </a:lnSpc>
              <a:spcBef>
                <a:spcPts val="0"/>
              </a:spcBef>
              <a:spcAft>
                <a:spcPts val="0"/>
              </a:spcAft>
              <a:buClr>
                <a:srgbClr val="000000"/>
              </a:buClr>
              <a:buSzPts val="1400"/>
              <a:buFont typeface="Arial"/>
              <a:buNone/>
              <a:defRPr/>
            </a:lvl4pPr>
            <a:lvl5pPr indent="-228600" lvl="4" marL="2286000" algn="ctr">
              <a:lnSpc>
                <a:spcPct val="100000"/>
              </a:lnSpc>
              <a:spcBef>
                <a:spcPts val="0"/>
              </a:spcBef>
              <a:spcAft>
                <a:spcPts val="0"/>
              </a:spcAft>
              <a:buClr>
                <a:srgbClr val="000000"/>
              </a:buClr>
              <a:buSzPts val="1400"/>
              <a:buFont typeface="Arial"/>
              <a:buNone/>
              <a:defRPr/>
            </a:lvl5pPr>
            <a:lvl6pPr indent="-228600" lvl="5" marL="2743200" algn="ctr">
              <a:lnSpc>
                <a:spcPct val="100000"/>
              </a:lnSpc>
              <a:spcBef>
                <a:spcPts val="0"/>
              </a:spcBef>
              <a:spcAft>
                <a:spcPts val="0"/>
              </a:spcAft>
              <a:buClr>
                <a:srgbClr val="000000"/>
              </a:buClr>
              <a:buSzPts val="1400"/>
              <a:buFont typeface="Arial"/>
              <a:buNone/>
              <a:defRPr/>
            </a:lvl6pPr>
            <a:lvl7pPr indent="-228600" lvl="6" marL="3200400" algn="ctr">
              <a:lnSpc>
                <a:spcPct val="100000"/>
              </a:lnSpc>
              <a:spcBef>
                <a:spcPts val="0"/>
              </a:spcBef>
              <a:spcAft>
                <a:spcPts val="0"/>
              </a:spcAft>
              <a:buClr>
                <a:srgbClr val="000000"/>
              </a:buClr>
              <a:buSzPts val="1400"/>
              <a:buFont typeface="Arial"/>
              <a:buNone/>
              <a:defRPr/>
            </a:lvl7pPr>
            <a:lvl8pPr indent="-228600" lvl="7" marL="3657600" algn="ctr">
              <a:lnSpc>
                <a:spcPct val="100000"/>
              </a:lnSpc>
              <a:spcBef>
                <a:spcPts val="0"/>
              </a:spcBef>
              <a:spcAft>
                <a:spcPts val="0"/>
              </a:spcAft>
              <a:buClr>
                <a:srgbClr val="000000"/>
              </a:buClr>
              <a:buSzPts val="1400"/>
              <a:buFont typeface="Arial"/>
              <a:buNone/>
              <a:defRPr/>
            </a:lvl8pPr>
            <a:lvl9pPr indent="-228600" lvl="8" marL="4114800" algn="ctr">
              <a:lnSpc>
                <a:spcPct val="100000"/>
              </a:lnSpc>
              <a:spcBef>
                <a:spcPts val="0"/>
              </a:spcBef>
              <a:spcAft>
                <a:spcPts val="0"/>
              </a:spcAft>
              <a:buClr>
                <a:srgbClr val="000000"/>
              </a:buClr>
              <a:buSzPts val="14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13" name="Shape 13"/>
        <p:cNvGrpSpPr/>
        <p:nvPr/>
      </p:nvGrpSpPr>
      <p:grpSpPr>
        <a:xfrm>
          <a:off x="0" y="0"/>
          <a:ext cx="0" cy="0"/>
          <a:chOff x="0" y="0"/>
          <a:chExt cx="0" cy="0"/>
        </a:xfrm>
      </p:grpSpPr>
      <p:sp>
        <p:nvSpPr>
          <p:cNvPr id="14" name="Google Shape;14;p25"/>
          <p:cNvSpPr txBox="1"/>
          <p:nvPr>
            <p:ph type="title"/>
          </p:nvPr>
        </p:nvSpPr>
        <p:spPr>
          <a:xfrm>
            <a:off x="1155700" y="817418"/>
            <a:ext cx="13932000" cy="1722482"/>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00"/>
              </a:buClr>
              <a:buSzPts val="7200"/>
              <a:buFont typeface="Arial"/>
              <a:buNone/>
              <a:defRPr>
                <a:solidFill>
                  <a:srgbClr val="FFFF00"/>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s">
  <p:cSld name="Title and Bullets">
    <p:spTree>
      <p:nvGrpSpPr>
        <p:cNvPr id="15" name="Shape 15"/>
        <p:cNvGrpSpPr/>
        <p:nvPr/>
      </p:nvGrpSpPr>
      <p:grpSpPr>
        <a:xfrm>
          <a:off x="0" y="0"/>
          <a:ext cx="0" cy="0"/>
          <a:chOff x="0" y="0"/>
          <a:chExt cx="0" cy="0"/>
        </a:xfrm>
      </p:grpSpPr>
      <p:sp>
        <p:nvSpPr>
          <p:cNvPr id="16" name="Google Shape;16;p26"/>
          <p:cNvSpPr txBox="1"/>
          <p:nvPr>
            <p:ph type="title"/>
          </p:nvPr>
        </p:nvSpPr>
        <p:spPr>
          <a:xfrm>
            <a:off x="1155700" y="817418"/>
            <a:ext cx="13932000" cy="1722482"/>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00"/>
              </a:buClr>
              <a:buSzPts val="7200"/>
              <a:buFont typeface="Arial"/>
              <a:buNone/>
              <a:defRPr>
                <a:solidFill>
                  <a:srgbClr val="FFFF00"/>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26"/>
          <p:cNvSpPr txBox="1"/>
          <p:nvPr>
            <p:ph idx="1" type="body"/>
          </p:nvPr>
        </p:nvSpPr>
        <p:spPr>
          <a:xfrm>
            <a:off x="1155700" y="2603500"/>
            <a:ext cx="13932000" cy="5702399"/>
          </a:xfrm>
          <a:prstGeom prst="rect">
            <a:avLst/>
          </a:prstGeom>
          <a:noFill/>
          <a:ln>
            <a:noFill/>
          </a:ln>
        </p:spPr>
        <p:txBody>
          <a:bodyPr anchorCtr="0" anchor="ctr" bIns="91425" lIns="91425" spcFirstLastPara="1" rIns="91425" wrap="square" tIns="91425">
            <a:noAutofit/>
          </a:bodyPr>
          <a:lstStyle>
            <a:lvl1pPr indent="-431800" lvl="0" marL="457200" algn="l">
              <a:lnSpc>
                <a:spcPct val="100000"/>
              </a:lnSpc>
              <a:spcBef>
                <a:spcPts val="3500"/>
              </a:spcBef>
              <a:spcAft>
                <a:spcPts val="0"/>
              </a:spcAft>
              <a:buClr>
                <a:schemeClr val="lt1"/>
              </a:buClr>
              <a:buSzPts val="3200"/>
              <a:buFont typeface="Cabin"/>
              <a:buChar char="•"/>
              <a:defRPr sz="3200">
                <a:solidFill>
                  <a:schemeClr val="lt1"/>
                </a:solidFill>
              </a:defRPr>
            </a:lvl1pPr>
            <a:lvl2pPr indent="-317500" lvl="1" marL="914400" algn="l">
              <a:lnSpc>
                <a:spcPct val="100000"/>
              </a:lnSpc>
              <a:spcBef>
                <a:spcPts val="3500"/>
              </a:spcBef>
              <a:spcAft>
                <a:spcPts val="0"/>
              </a:spcAft>
              <a:buClr>
                <a:schemeClr val="lt1"/>
              </a:buClr>
              <a:buSzPts val="1400"/>
              <a:buFont typeface="Cabin"/>
              <a:buChar char="•"/>
              <a:defRPr/>
            </a:lvl2pPr>
            <a:lvl3pPr indent="-317500" lvl="2" marL="1371600" algn="l">
              <a:lnSpc>
                <a:spcPct val="100000"/>
              </a:lnSpc>
              <a:spcBef>
                <a:spcPts val="3500"/>
              </a:spcBef>
              <a:spcAft>
                <a:spcPts val="0"/>
              </a:spcAft>
              <a:buClr>
                <a:schemeClr val="lt1"/>
              </a:buClr>
              <a:buSzPts val="1400"/>
              <a:buFont typeface="Cabin"/>
              <a:buChar char="•"/>
              <a:defRPr/>
            </a:lvl3pPr>
            <a:lvl4pPr indent="-317500" lvl="3" marL="1828800" algn="l">
              <a:lnSpc>
                <a:spcPct val="100000"/>
              </a:lnSpc>
              <a:spcBef>
                <a:spcPts val="3500"/>
              </a:spcBef>
              <a:spcAft>
                <a:spcPts val="0"/>
              </a:spcAft>
              <a:buClr>
                <a:schemeClr val="lt1"/>
              </a:buClr>
              <a:buSzPts val="1400"/>
              <a:buFont typeface="Cabin"/>
              <a:buChar char="•"/>
              <a:defRPr/>
            </a:lvl4pPr>
            <a:lvl5pPr indent="-317500" lvl="4" marL="2286000" algn="l">
              <a:lnSpc>
                <a:spcPct val="100000"/>
              </a:lnSpc>
              <a:spcBef>
                <a:spcPts val="3500"/>
              </a:spcBef>
              <a:spcAft>
                <a:spcPts val="0"/>
              </a:spcAft>
              <a:buClr>
                <a:schemeClr val="lt1"/>
              </a:buClr>
              <a:buSzPts val="1400"/>
              <a:buFont typeface="Cabin"/>
              <a:buChar char="•"/>
              <a:defRPr/>
            </a:lvl5pPr>
            <a:lvl6pPr indent="-317500" lvl="5" marL="2743200" algn="l">
              <a:lnSpc>
                <a:spcPct val="100000"/>
              </a:lnSpc>
              <a:spcBef>
                <a:spcPts val="3500"/>
              </a:spcBef>
              <a:spcAft>
                <a:spcPts val="0"/>
              </a:spcAft>
              <a:buClr>
                <a:schemeClr val="lt1"/>
              </a:buClr>
              <a:buSzPts val="1400"/>
              <a:buFont typeface="Cabin"/>
              <a:buChar char="•"/>
              <a:defRPr/>
            </a:lvl6pPr>
            <a:lvl7pPr indent="-317500" lvl="6" marL="3200400" algn="l">
              <a:lnSpc>
                <a:spcPct val="100000"/>
              </a:lnSpc>
              <a:spcBef>
                <a:spcPts val="3500"/>
              </a:spcBef>
              <a:spcAft>
                <a:spcPts val="0"/>
              </a:spcAft>
              <a:buClr>
                <a:schemeClr val="lt1"/>
              </a:buClr>
              <a:buSzPts val="1400"/>
              <a:buFont typeface="Cabin"/>
              <a:buChar char="•"/>
              <a:defRPr/>
            </a:lvl7pPr>
            <a:lvl8pPr indent="-317500" lvl="7" marL="3657600" algn="l">
              <a:lnSpc>
                <a:spcPct val="100000"/>
              </a:lnSpc>
              <a:spcBef>
                <a:spcPts val="3500"/>
              </a:spcBef>
              <a:spcAft>
                <a:spcPts val="0"/>
              </a:spcAft>
              <a:buClr>
                <a:schemeClr val="lt1"/>
              </a:buClr>
              <a:buSzPts val="1400"/>
              <a:buFont typeface="Cabin"/>
              <a:buChar char="•"/>
              <a:defRPr/>
            </a:lvl8pPr>
            <a:lvl9pPr indent="-317500" lvl="8" marL="4114800" algn="l">
              <a:lnSpc>
                <a:spcPct val="100000"/>
              </a:lnSpc>
              <a:spcBef>
                <a:spcPts val="3500"/>
              </a:spcBef>
              <a:spcAft>
                <a:spcPts val="0"/>
              </a:spcAft>
              <a:buClr>
                <a:schemeClr val="lt1"/>
              </a:buClr>
              <a:buSzPts val="1400"/>
              <a:buFont typeface="Cabin"/>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FFFF00"/>
              </a:buClr>
              <a:buSzPts val="7200"/>
              <a:buFont typeface="Arial"/>
              <a:buNone/>
              <a:defRPr b="0" i="0" sz="7200" u="none" cap="none" strike="noStrike">
                <a:solidFill>
                  <a:srgbClr val="FFFF0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3"/>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23"/>
          <p:cNvSpPr/>
          <p:nvPr/>
        </p:nvSpPr>
        <p:spPr>
          <a:xfrm>
            <a:off x="0" y="0"/>
            <a:ext cx="16256001" cy="768096"/>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
        <p:nvSpPr>
          <p:cNvPr id="9" name="Google Shape;9;p23"/>
          <p:cNvSpPr/>
          <p:nvPr/>
        </p:nvSpPr>
        <p:spPr>
          <a:xfrm>
            <a:off x="0" y="8357616"/>
            <a:ext cx="16256001" cy="786384"/>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pythonlearn.com" TargetMode="External"/><Relationship Id="rId4" Type="http://schemas.openxmlformats.org/officeDocument/2006/relationships/hyperlink" Target="http://www.pythonlearn.com" TargetMode="Externa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www.dr-chuck.com" TargetMode="External"/><Relationship Id="rId4" Type="http://schemas.openxmlformats.org/officeDocument/2006/relationships/hyperlink" Target="http://open.umich.edu/" TargetMode="External"/><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1"/>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Loops and Iteration</a:t>
            </a:r>
            <a:endParaRPr/>
          </a:p>
        </p:txBody>
      </p:sp>
      <p:sp>
        <p:nvSpPr>
          <p:cNvPr id="24" name="Google Shape;24;p1"/>
          <p:cNvSpPr txBox="1"/>
          <p:nvPr>
            <p:ph idx="1" type="body"/>
          </p:nvPr>
        </p:nvSpPr>
        <p:spPr>
          <a:xfrm>
            <a:off x="1155700" y="4711700"/>
            <a:ext cx="13931900" cy="10541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200"/>
              <a:buFont typeface="Cabin"/>
              <a:buNone/>
            </a:pPr>
            <a:r>
              <a:rPr lang="en-US" sz="4800" u="none" cap="none" strike="noStrike">
                <a:solidFill>
                  <a:schemeClr val="lt1"/>
                </a:solidFill>
                <a:latin typeface="Arial"/>
                <a:ea typeface="Arial"/>
                <a:cs typeface="Arial"/>
                <a:sym typeface="Arial"/>
              </a:rPr>
              <a:t>Chapter 5</a:t>
            </a:r>
            <a:endParaRPr/>
          </a:p>
        </p:txBody>
      </p:sp>
      <p:sp>
        <p:nvSpPr>
          <p:cNvPr id="25" name="Google Shape;25;p1"/>
          <p:cNvSpPr txBox="1"/>
          <p:nvPr/>
        </p:nvSpPr>
        <p:spPr>
          <a:xfrm>
            <a:off x="3934250" y="6959474"/>
            <a:ext cx="8374799" cy="10160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Python for Everybody</a:t>
            </a:r>
            <a:endParaRPr b="0" i="0" sz="3200" u="none" cap="none" strike="noStrike">
              <a:solidFill>
                <a:srgbClr val="FFFF00"/>
              </a:solidFill>
              <a:latin typeface="Arial"/>
              <a:ea typeface="Arial"/>
              <a:cs typeface="Arial"/>
              <a:sym typeface="Arial"/>
            </a:endParaRPr>
          </a:p>
          <a:p>
            <a:pPr indent="0" lvl="0" marL="0" marR="0" rtl="0" algn="ctr">
              <a:lnSpc>
                <a:spcPct val="100000"/>
              </a:lnSpc>
              <a:spcBef>
                <a:spcPts val="0"/>
              </a:spcBef>
              <a:spcAft>
                <a:spcPts val="0"/>
              </a:spcAft>
              <a:buClr>
                <a:srgbClr val="FFFF00"/>
              </a:buClr>
              <a:buSzPts val="800"/>
              <a:buFont typeface="Cabin"/>
              <a:buNone/>
            </a:pPr>
            <a:r>
              <a:rPr b="0" i="0" lang="en-US" sz="3200" u="sng" cap="none" strike="noStrike">
                <a:solidFill>
                  <a:srgbClr val="FFFF00"/>
                </a:solidFill>
                <a:latin typeface="Arial"/>
                <a:ea typeface="Arial"/>
                <a:cs typeface="Arial"/>
                <a:sym typeface="Arial"/>
                <a:hlinkClick r:id="rId3">
                  <a:extLst>
                    <a:ext uri="{A12FA001-AC4F-418D-AE19-62706E023703}">
                      <ahyp:hlinkClr val="tx"/>
                    </a:ext>
                  </a:extLst>
                </a:hlinkClick>
              </a:rPr>
              <a:t>www.py4e.com</a:t>
            </a:r>
            <a:endParaRPr b="0" i="0" sz="3200" u="sng" cap="none" strike="noStrike">
              <a:solidFill>
                <a:srgbClr val="FFFF00"/>
              </a:solidFill>
              <a:latin typeface="Arial"/>
              <a:ea typeface="Arial"/>
              <a:cs typeface="Arial"/>
              <a:sym typeface="Arial"/>
              <a:hlinkClick r:id="rId4">
                <a:extLst>
                  <a:ext uri="{A12FA001-AC4F-418D-AE19-62706E023703}">
                    <ahyp:hlinkClr val="tx"/>
                  </a:ext>
                </a:extLst>
              </a:hlinkClick>
            </a:endParaRPr>
          </a:p>
        </p:txBody>
      </p:sp>
      <p:pic>
        <p:nvPicPr>
          <p:cNvPr id="26" name="Google Shape;26;p1"/>
          <p:cNvPicPr preferRelativeResize="0"/>
          <p:nvPr/>
        </p:nvPicPr>
        <p:blipFill rotWithShape="1">
          <a:blip r:embed="rId5">
            <a:alphaModFix/>
          </a:blip>
          <a:srcRect b="0" l="0" r="0" t="0"/>
          <a:stretch/>
        </p:blipFill>
        <p:spPr>
          <a:xfrm>
            <a:off x="13740563" y="7307173"/>
            <a:ext cx="1968599" cy="668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2"/>
          <p:cNvSpPr txBox="1"/>
          <p:nvPr>
            <p:ph type="title"/>
          </p:nvPr>
        </p:nvSpPr>
        <p:spPr>
          <a:xfrm>
            <a:off x="4733894" y="817418"/>
            <a:ext cx="10353806" cy="119881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800"/>
              <a:buFont typeface="Cabin"/>
              <a:buNone/>
            </a:pPr>
            <a:r>
              <a:rPr lang="en-US" sz="7200" u="none" cap="none" strike="noStrike">
                <a:solidFill>
                  <a:srgbClr val="FFD966"/>
                </a:solidFill>
                <a:latin typeface="Arial"/>
                <a:ea typeface="Arial"/>
                <a:cs typeface="Arial"/>
                <a:sym typeface="Arial"/>
              </a:rPr>
              <a:t>Repeated Steps</a:t>
            </a:r>
            <a:endParaRPr/>
          </a:p>
        </p:txBody>
      </p:sp>
      <p:sp>
        <p:nvSpPr>
          <p:cNvPr id="32" name="Google Shape;32;p2"/>
          <p:cNvSpPr txBox="1"/>
          <p:nvPr/>
        </p:nvSpPr>
        <p:spPr>
          <a:xfrm>
            <a:off x="7686665" y="2170112"/>
            <a:ext cx="4230904" cy="4432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Program: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rgbClr val="FF7F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n</a:t>
            </a: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while </a:t>
            </a:r>
            <a:r>
              <a:rPr b="0" i="0" lang="en-US" sz="3000" u="none" cap="none" strike="noStrike">
                <a:solidFill>
                  <a:srgbClr val="00FF00"/>
                </a:solidFill>
                <a:latin typeface="Courier"/>
                <a:ea typeface="Courier"/>
                <a:cs typeface="Courier"/>
                <a:sym typeface="Courier"/>
              </a:rPr>
              <a:t>n</a:t>
            </a: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&gt;</a:t>
            </a: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0</a:t>
            </a:r>
            <a:r>
              <a:rPr b="0" i="0" lang="en-US" sz="3000" u="none" cap="none" strike="noStrike">
                <a:solidFill>
                  <a:srgbClr val="FFFF00"/>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    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n</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n</a:t>
            </a: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n</a:t>
            </a: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9900"/>
                </a:solidFill>
                <a:latin typeface="Courier"/>
                <a:ea typeface="Courier"/>
                <a:cs typeface="Courier"/>
                <a:sym typeface="Courier"/>
              </a:rPr>
              <a:t>'Blastoff!'</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n</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p:txBody>
      </p:sp>
      <p:cxnSp>
        <p:nvCxnSpPr>
          <p:cNvPr id="33" name="Google Shape;33;p2"/>
          <p:cNvCxnSpPr/>
          <p:nvPr/>
        </p:nvCxnSpPr>
        <p:spPr>
          <a:xfrm rot="10800000">
            <a:off x="2552692" y="2001842"/>
            <a:ext cx="14287" cy="566736"/>
          </a:xfrm>
          <a:prstGeom prst="straightConnector1">
            <a:avLst/>
          </a:prstGeom>
          <a:noFill/>
          <a:ln cap="rnd" cmpd="sng" w="76200">
            <a:solidFill>
              <a:srgbClr val="00FFFF"/>
            </a:solidFill>
            <a:prstDash val="solid"/>
            <a:miter lim="8000"/>
            <a:headEnd len="med" w="med" type="stealth"/>
            <a:tailEnd len="sm" w="sm" type="none"/>
          </a:ln>
        </p:spPr>
      </p:cxnSp>
      <p:cxnSp>
        <p:nvCxnSpPr>
          <p:cNvPr id="34" name="Google Shape;34;p2"/>
          <p:cNvCxnSpPr/>
          <p:nvPr/>
        </p:nvCxnSpPr>
        <p:spPr>
          <a:xfrm flipH="1">
            <a:off x="11020426" y="3540124"/>
            <a:ext cx="1958974" cy="512762"/>
          </a:xfrm>
          <a:prstGeom prst="straightConnector1">
            <a:avLst/>
          </a:prstGeom>
          <a:noFill/>
          <a:ln cap="rnd" cmpd="sng" w="50800">
            <a:solidFill>
              <a:srgbClr val="FF7F00"/>
            </a:solidFill>
            <a:prstDash val="solid"/>
            <a:miter lim="8000"/>
            <a:headEnd len="med" w="med" type="stealth"/>
            <a:tailEnd len="sm" w="sm" type="none"/>
          </a:ln>
        </p:spPr>
      </p:cxnSp>
      <p:sp>
        <p:nvSpPr>
          <p:cNvPr id="35" name="Google Shape;35;p2"/>
          <p:cNvSpPr/>
          <p:nvPr/>
        </p:nvSpPr>
        <p:spPr>
          <a:xfrm>
            <a:off x="1136643" y="2562230"/>
            <a:ext cx="2870100" cy="1269899"/>
          </a:xfrm>
          <a:prstGeom prst="diamond">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00"/>
              </a:buClr>
              <a:buSzPts val="875"/>
              <a:buFont typeface="Cabin"/>
              <a:buNone/>
            </a:pPr>
            <a:r>
              <a:rPr b="0" i="0" lang="en-US" sz="3500" u="none" cap="none" strike="noStrike">
                <a:solidFill>
                  <a:srgbClr val="00FF00"/>
                </a:solidFill>
                <a:latin typeface="Arial"/>
                <a:ea typeface="Arial"/>
                <a:cs typeface="Arial"/>
                <a:sym typeface="Arial"/>
              </a:rPr>
              <a:t>n &gt; 0 ?</a:t>
            </a:r>
            <a:endParaRPr b="0" i="0" sz="1400" u="none" cap="none" strike="noStrike">
              <a:solidFill>
                <a:srgbClr val="000000"/>
              </a:solidFill>
              <a:latin typeface="Arial"/>
              <a:ea typeface="Arial"/>
              <a:cs typeface="Arial"/>
              <a:sym typeface="Arial"/>
            </a:endParaRPr>
          </a:p>
        </p:txBody>
      </p:sp>
      <p:cxnSp>
        <p:nvCxnSpPr>
          <p:cNvPr id="36" name="Google Shape;36;p2"/>
          <p:cNvCxnSpPr/>
          <p:nvPr/>
        </p:nvCxnSpPr>
        <p:spPr>
          <a:xfrm flipH="1" rot="10800000">
            <a:off x="2551104" y="3832230"/>
            <a:ext cx="20636" cy="2317749"/>
          </a:xfrm>
          <a:prstGeom prst="straightConnector1">
            <a:avLst/>
          </a:prstGeom>
          <a:noFill/>
          <a:ln cap="rnd" cmpd="sng" w="76200">
            <a:solidFill>
              <a:srgbClr val="00FFFF"/>
            </a:solidFill>
            <a:prstDash val="solid"/>
            <a:miter lim="8000"/>
            <a:headEnd len="sm" w="sm" type="none"/>
            <a:tailEnd len="med" w="med" type="stealth"/>
          </a:ln>
        </p:spPr>
      </p:cxnSp>
      <p:cxnSp>
        <p:nvCxnSpPr>
          <p:cNvPr id="37" name="Google Shape;37;p2"/>
          <p:cNvCxnSpPr/>
          <p:nvPr/>
        </p:nvCxnSpPr>
        <p:spPr>
          <a:xfrm rot="10800000">
            <a:off x="3994142" y="3190879"/>
            <a:ext cx="777875" cy="15875"/>
          </a:xfrm>
          <a:prstGeom prst="straightConnector1">
            <a:avLst/>
          </a:prstGeom>
          <a:noFill/>
          <a:ln cap="rnd" cmpd="sng" w="76200">
            <a:solidFill>
              <a:srgbClr val="00FFFF"/>
            </a:solidFill>
            <a:prstDash val="solid"/>
            <a:miter lim="8000"/>
            <a:headEnd len="sm" w="sm" type="none"/>
            <a:tailEnd len="sm" w="sm" type="none"/>
          </a:ln>
        </p:spPr>
      </p:cxnSp>
      <p:cxnSp>
        <p:nvCxnSpPr>
          <p:cNvPr id="38" name="Google Shape;38;p2"/>
          <p:cNvCxnSpPr/>
          <p:nvPr/>
        </p:nvCxnSpPr>
        <p:spPr>
          <a:xfrm flipH="1" rot="10800000">
            <a:off x="4738680" y="3190880"/>
            <a:ext cx="15875" cy="644524"/>
          </a:xfrm>
          <a:prstGeom prst="straightConnector1">
            <a:avLst/>
          </a:prstGeom>
          <a:noFill/>
          <a:ln cap="rnd" cmpd="sng" w="76200">
            <a:solidFill>
              <a:srgbClr val="00FFFF"/>
            </a:solidFill>
            <a:prstDash val="solid"/>
            <a:miter lim="8000"/>
            <a:headEnd len="med" w="med" type="stealth"/>
            <a:tailEnd len="sm" w="sm" type="none"/>
          </a:ln>
        </p:spPr>
      </p:cxnSp>
      <p:cxnSp>
        <p:nvCxnSpPr>
          <p:cNvPr id="39" name="Google Shape;39;p2"/>
          <p:cNvCxnSpPr/>
          <p:nvPr/>
        </p:nvCxnSpPr>
        <p:spPr>
          <a:xfrm flipH="1">
            <a:off x="4738693" y="5889730"/>
            <a:ext cx="4799" cy="300000"/>
          </a:xfrm>
          <a:prstGeom prst="straightConnector1">
            <a:avLst/>
          </a:prstGeom>
          <a:noFill/>
          <a:ln cap="rnd" cmpd="sng" w="76200">
            <a:solidFill>
              <a:srgbClr val="00FFFF"/>
            </a:solidFill>
            <a:prstDash val="solid"/>
            <a:miter lim="8000"/>
            <a:headEnd len="sm" w="sm" type="none"/>
            <a:tailEnd len="sm" w="sm" type="none"/>
          </a:ln>
        </p:spPr>
      </p:cxnSp>
      <p:cxnSp>
        <p:nvCxnSpPr>
          <p:cNvPr id="40" name="Google Shape;40;p2"/>
          <p:cNvCxnSpPr/>
          <p:nvPr/>
        </p:nvCxnSpPr>
        <p:spPr>
          <a:xfrm>
            <a:off x="2566979" y="6192842"/>
            <a:ext cx="2187600" cy="14400"/>
          </a:xfrm>
          <a:prstGeom prst="straightConnector1">
            <a:avLst/>
          </a:prstGeom>
          <a:noFill/>
          <a:ln cap="rnd" cmpd="sng" w="76200">
            <a:solidFill>
              <a:srgbClr val="00FFFF"/>
            </a:solidFill>
            <a:prstDash val="solid"/>
            <a:miter lim="8000"/>
            <a:headEnd len="sm" w="sm" type="none"/>
            <a:tailEnd len="sm" w="sm" type="none"/>
          </a:ln>
        </p:spPr>
      </p:cxnSp>
      <p:cxnSp>
        <p:nvCxnSpPr>
          <p:cNvPr id="41" name="Google Shape;41;p2"/>
          <p:cNvCxnSpPr/>
          <p:nvPr/>
        </p:nvCxnSpPr>
        <p:spPr>
          <a:xfrm flipH="1">
            <a:off x="781043" y="3206755"/>
            <a:ext cx="396874" cy="3174"/>
          </a:xfrm>
          <a:prstGeom prst="straightConnector1">
            <a:avLst/>
          </a:prstGeom>
          <a:noFill/>
          <a:ln cap="rnd" cmpd="sng" w="76200">
            <a:solidFill>
              <a:srgbClr val="00FFFF"/>
            </a:solidFill>
            <a:prstDash val="solid"/>
            <a:miter lim="8000"/>
            <a:headEnd len="sm" w="sm" type="none"/>
            <a:tailEnd len="med" w="med" type="stealth"/>
          </a:ln>
        </p:spPr>
      </p:cxnSp>
      <p:cxnSp>
        <p:nvCxnSpPr>
          <p:cNvPr id="42" name="Google Shape;42;p2"/>
          <p:cNvCxnSpPr/>
          <p:nvPr/>
        </p:nvCxnSpPr>
        <p:spPr>
          <a:xfrm flipH="1" rot="10800000">
            <a:off x="2554279" y="6594480"/>
            <a:ext cx="15875" cy="644524"/>
          </a:xfrm>
          <a:prstGeom prst="straightConnector1">
            <a:avLst/>
          </a:prstGeom>
          <a:noFill/>
          <a:ln cap="rnd" cmpd="sng" w="76200">
            <a:solidFill>
              <a:srgbClr val="00FFFF"/>
            </a:solidFill>
            <a:prstDash val="solid"/>
            <a:miter lim="8000"/>
            <a:headEnd len="med" w="med" type="stealth"/>
            <a:tailEnd len="sm" w="sm" type="none"/>
          </a:ln>
        </p:spPr>
      </p:cxnSp>
      <p:cxnSp>
        <p:nvCxnSpPr>
          <p:cNvPr id="43" name="Google Shape;43;p2"/>
          <p:cNvCxnSpPr/>
          <p:nvPr/>
        </p:nvCxnSpPr>
        <p:spPr>
          <a:xfrm rot="10800000">
            <a:off x="777780" y="3254342"/>
            <a:ext cx="36599" cy="3433800"/>
          </a:xfrm>
          <a:prstGeom prst="straightConnector1">
            <a:avLst/>
          </a:prstGeom>
          <a:noFill/>
          <a:ln cap="rnd" cmpd="sng" w="76200">
            <a:solidFill>
              <a:srgbClr val="00FFFF"/>
            </a:solidFill>
            <a:prstDash val="solid"/>
            <a:miter lim="8000"/>
            <a:headEnd len="med" w="med" type="stealth"/>
            <a:tailEnd len="sm" w="sm" type="none"/>
          </a:ln>
        </p:spPr>
      </p:cxnSp>
      <p:cxnSp>
        <p:nvCxnSpPr>
          <p:cNvPr id="44" name="Google Shape;44;p2"/>
          <p:cNvCxnSpPr/>
          <p:nvPr/>
        </p:nvCxnSpPr>
        <p:spPr>
          <a:xfrm>
            <a:off x="798505" y="6611942"/>
            <a:ext cx="1752600" cy="0"/>
          </a:xfrm>
          <a:prstGeom prst="straightConnector1">
            <a:avLst/>
          </a:prstGeom>
          <a:noFill/>
          <a:ln cap="rnd" cmpd="sng" w="76200">
            <a:solidFill>
              <a:srgbClr val="00FFFF"/>
            </a:solidFill>
            <a:prstDash val="solid"/>
            <a:miter lim="8000"/>
            <a:headEnd len="sm" w="sm" type="none"/>
            <a:tailEnd len="sm" w="sm" type="none"/>
          </a:ln>
        </p:spPr>
      </p:cxnSp>
      <p:cxnSp>
        <p:nvCxnSpPr>
          <p:cNvPr id="45" name="Google Shape;45;p2"/>
          <p:cNvCxnSpPr/>
          <p:nvPr/>
        </p:nvCxnSpPr>
        <p:spPr>
          <a:xfrm rot="10800000">
            <a:off x="11001376" y="4433886"/>
            <a:ext cx="2035175" cy="1101725"/>
          </a:xfrm>
          <a:prstGeom prst="straightConnector1">
            <a:avLst/>
          </a:prstGeom>
          <a:noFill/>
          <a:ln cap="rnd" cmpd="sng" w="50800">
            <a:solidFill>
              <a:srgbClr val="FF7F00"/>
            </a:solidFill>
            <a:prstDash val="solid"/>
            <a:miter lim="8000"/>
            <a:headEnd len="med" w="med" type="stealth"/>
            <a:tailEnd len="sm" w="sm" type="none"/>
          </a:ln>
        </p:spPr>
      </p:cxnSp>
      <p:sp>
        <p:nvSpPr>
          <p:cNvPr id="46" name="Google Shape;46;p2"/>
          <p:cNvSpPr txBox="1"/>
          <p:nvPr/>
        </p:nvSpPr>
        <p:spPr>
          <a:xfrm>
            <a:off x="5110150" y="6816824"/>
            <a:ext cx="10618799" cy="166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Loops (repeated steps) have </a:t>
            </a:r>
            <a:r>
              <a:rPr b="0" i="0" lang="en-US" sz="3200" u="none" cap="none" strike="noStrike">
                <a:solidFill>
                  <a:srgbClr val="00FF00"/>
                </a:solidFill>
                <a:latin typeface="Arial"/>
                <a:ea typeface="Arial"/>
                <a:cs typeface="Arial"/>
                <a:sym typeface="Arial"/>
              </a:rPr>
              <a:t>iteration variables</a:t>
            </a:r>
            <a:r>
              <a:rPr b="0" i="0" lang="en-US" sz="3200" u="none" cap="none" strike="noStrike">
                <a:solidFill>
                  <a:srgbClr val="FF0000"/>
                </a:solidFill>
                <a:latin typeface="Arial"/>
                <a:ea typeface="Arial"/>
                <a:cs typeface="Arial"/>
                <a:sym typeface="Arial"/>
              </a:rPr>
              <a:t> </a:t>
            </a:r>
            <a:r>
              <a:rPr b="0" i="0" lang="en-US" sz="3200" u="none" cap="none" strike="noStrike">
                <a:solidFill>
                  <a:schemeClr val="lt1"/>
                </a:solidFill>
                <a:latin typeface="Arial"/>
                <a:ea typeface="Arial"/>
                <a:cs typeface="Arial"/>
                <a:sym typeface="Arial"/>
              </a:rPr>
              <a:t>that change each time through a loop.  Often these </a:t>
            </a:r>
            <a:r>
              <a:rPr b="0" i="0" lang="en-US" sz="3200" u="none" cap="none" strike="noStrike">
                <a:solidFill>
                  <a:srgbClr val="00FF00"/>
                </a:solidFill>
                <a:latin typeface="Arial"/>
                <a:ea typeface="Arial"/>
                <a:cs typeface="Arial"/>
                <a:sym typeface="Arial"/>
              </a:rPr>
              <a:t>iteration variables </a:t>
            </a:r>
            <a:r>
              <a:rPr b="0" i="0" lang="en-US" sz="3200" u="none" cap="none" strike="noStrike">
                <a:solidFill>
                  <a:schemeClr val="lt1"/>
                </a:solidFill>
                <a:latin typeface="Arial"/>
                <a:ea typeface="Arial"/>
                <a:cs typeface="Arial"/>
                <a:sym typeface="Arial"/>
              </a:rPr>
              <a:t>go through a sequence of numbers.</a:t>
            </a:r>
            <a:endParaRPr b="0" i="0" sz="1400" u="none" cap="none" strike="noStrike">
              <a:solidFill>
                <a:srgbClr val="000000"/>
              </a:solidFill>
              <a:latin typeface="Arial"/>
              <a:ea typeface="Arial"/>
              <a:cs typeface="Arial"/>
              <a:sym typeface="Arial"/>
            </a:endParaRPr>
          </a:p>
        </p:txBody>
      </p:sp>
      <p:sp>
        <p:nvSpPr>
          <p:cNvPr id="47" name="Google Shape;47;p2"/>
          <p:cNvSpPr txBox="1"/>
          <p:nvPr/>
        </p:nvSpPr>
        <p:spPr>
          <a:xfrm>
            <a:off x="257168" y="2447930"/>
            <a:ext cx="723900"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48" name="Google Shape;48;p2"/>
          <p:cNvSpPr txBox="1"/>
          <p:nvPr/>
        </p:nvSpPr>
        <p:spPr>
          <a:xfrm>
            <a:off x="1111243" y="7210430"/>
            <a:ext cx="2921000" cy="7492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Cabin"/>
              <a:buNone/>
            </a:pPr>
            <a:r>
              <a:rPr b="0" i="0" lang="en-US" sz="3500" u="none" cap="none" strike="noStrike">
                <a:solidFill>
                  <a:schemeClr val="lt1"/>
                </a:solidFill>
                <a:latin typeface="Arial"/>
                <a:ea typeface="Arial"/>
                <a:cs typeface="Arial"/>
                <a:sym typeface="Arial"/>
              </a:rPr>
              <a:t>print('Blastoff')</a:t>
            </a:r>
            <a:endParaRPr b="0" i="0" sz="3500" u="none" cap="none" strike="noStrike">
              <a:solidFill>
                <a:schemeClr val="lt1"/>
              </a:solidFill>
              <a:latin typeface="Arial"/>
              <a:ea typeface="Arial"/>
              <a:cs typeface="Arial"/>
              <a:sym typeface="Arial"/>
            </a:endParaRPr>
          </a:p>
        </p:txBody>
      </p:sp>
      <p:sp>
        <p:nvSpPr>
          <p:cNvPr id="49" name="Google Shape;49;p2"/>
          <p:cNvSpPr txBox="1"/>
          <p:nvPr/>
        </p:nvSpPr>
        <p:spPr>
          <a:xfrm>
            <a:off x="4373554" y="2447930"/>
            <a:ext cx="917271"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50" name="Google Shape;50;p2"/>
          <p:cNvSpPr txBox="1"/>
          <p:nvPr/>
        </p:nvSpPr>
        <p:spPr>
          <a:xfrm>
            <a:off x="1111243" y="1266830"/>
            <a:ext cx="2921099" cy="7493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Cabin"/>
              <a:buNone/>
            </a:pPr>
            <a:r>
              <a:rPr b="0" i="0" lang="en-US" sz="3500" u="none" cap="none" strike="noStrike">
                <a:solidFill>
                  <a:schemeClr val="lt1"/>
                </a:solidFill>
                <a:latin typeface="Arial"/>
                <a:ea typeface="Arial"/>
                <a:cs typeface="Arial"/>
                <a:sym typeface="Arial"/>
              </a:rPr>
              <a:t>n = 5</a:t>
            </a:r>
            <a:endParaRPr b="0" i="0" sz="1400" u="none" cap="none" strike="noStrike">
              <a:solidFill>
                <a:srgbClr val="000000"/>
              </a:solidFill>
              <a:latin typeface="Arial"/>
              <a:ea typeface="Arial"/>
              <a:cs typeface="Arial"/>
              <a:sym typeface="Arial"/>
            </a:endParaRPr>
          </a:p>
        </p:txBody>
      </p:sp>
      <p:sp>
        <p:nvSpPr>
          <p:cNvPr id="51" name="Google Shape;51;p2"/>
          <p:cNvSpPr txBox="1"/>
          <p:nvPr/>
        </p:nvSpPr>
        <p:spPr>
          <a:xfrm>
            <a:off x="3295643" y="3844930"/>
            <a:ext cx="2921099" cy="7493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Cabin"/>
              <a:buNone/>
            </a:pPr>
            <a:r>
              <a:rPr b="0" i="0" lang="en-US" sz="3500" u="none" cap="none" strike="noStrike">
                <a:solidFill>
                  <a:schemeClr val="lt1"/>
                </a:solidFill>
                <a:latin typeface="Arial"/>
                <a:ea typeface="Arial"/>
                <a:cs typeface="Arial"/>
                <a:sym typeface="Arial"/>
              </a:rPr>
              <a:t>print(</a:t>
            </a:r>
            <a:r>
              <a:rPr b="0" i="0" lang="en-US" sz="3500" u="none" cap="none" strike="noStrike">
                <a:solidFill>
                  <a:srgbClr val="00FF00"/>
                </a:solidFill>
                <a:latin typeface="Arial"/>
                <a:ea typeface="Arial"/>
                <a:cs typeface="Arial"/>
                <a:sym typeface="Arial"/>
              </a:rPr>
              <a:t>n</a:t>
            </a:r>
            <a:r>
              <a:rPr b="0" i="0" lang="en-US" sz="3500" u="none" cap="none" strike="noStrike">
                <a:solidFill>
                  <a:schemeClr val="lt1"/>
                </a:solidFill>
                <a:latin typeface="Arial"/>
                <a:ea typeface="Arial"/>
                <a:cs typeface="Arial"/>
                <a:sym typeface="Arial"/>
              </a:rPr>
              <a:t>)</a:t>
            </a:r>
            <a:endParaRPr b="0" i="0" sz="3500" u="none" cap="none" strike="noStrike">
              <a:solidFill>
                <a:schemeClr val="lt1"/>
              </a:solidFill>
              <a:latin typeface="Arial"/>
              <a:ea typeface="Arial"/>
              <a:cs typeface="Arial"/>
              <a:sym typeface="Arial"/>
            </a:endParaRPr>
          </a:p>
        </p:txBody>
      </p:sp>
      <p:sp>
        <p:nvSpPr>
          <p:cNvPr id="52" name="Google Shape;52;p2"/>
          <p:cNvSpPr txBox="1"/>
          <p:nvPr/>
        </p:nvSpPr>
        <p:spPr>
          <a:xfrm>
            <a:off x="13201652" y="2005012"/>
            <a:ext cx="1727099" cy="47879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FF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FF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FF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FF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FF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FF00"/>
                </a:solidFill>
                <a:latin typeface="Arial"/>
                <a:ea typeface="Arial"/>
                <a:cs typeface="Arial"/>
                <a:sym typeface="Arial"/>
              </a:rPr>
              <a:t>Blastoff!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FF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53" name="Google Shape;53;p2"/>
          <p:cNvSpPr txBox="1"/>
          <p:nvPr/>
        </p:nvSpPr>
        <p:spPr>
          <a:xfrm>
            <a:off x="3282943" y="5064130"/>
            <a:ext cx="2921099" cy="7493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Cabin"/>
              <a:buNone/>
            </a:pPr>
            <a:r>
              <a:rPr b="0" i="0" lang="en-US" sz="3500" u="none" cap="none" strike="noStrike">
                <a:solidFill>
                  <a:schemeClr val="lt1"/>
                </a:solidFill>
                <a:latin typeface="Arial"/>
                <a:ea typeface="Arial"/>
                <a:cs typeface="Arial"/>
                <a:sym typeface="Arial"/>
              </a:rPr>
              <a:t> n = n -1</a:t>
            </a:r>
            <a:endParaRPr b="0" i="0" sz="1400" u="none" cap="none" strike="noStrike">
              <a:solidFill>
                <a:srgbClr val="000000"/>
              </a:solidFill>
              <a:latin typeface="Arial"/>
              <a:ea typeface="Arial"/>
              <a:cs typeface="Arial"/>
              <a:sym typeface="Arial"/>
            </a:endParaRPr>
          </a:p>
        </p:txBody>
      </p:sp>
      <p:cxnSp>
        <p:nvCxnSpPr>
          <p:cNvPr id="54" name="Google Shape;54;p2"/>
          <p:cNvCxnSpPr/>
          <p:nvPr/>
        </p:nvCxnSpPr>
        <p:spPr>
          <a:xfrm flipH="1">
            <a:off x="4733893" y="4679130"/>
            <a:ext cx="4799" cy="300000"/>
          </a:xfrm>
          <a:prstGeom prst="straightConnector1">
            <a:avLst/>
          </a:prstGeom>
          <a:noFill/>
          <a:ln cap="rnd" cmpd="sng" w="76200">
            <a:solidFill>
              <a:srgbClr val="00FFFF"/>
            </a:solidFill>
            <a:prstDash val="solid"/>
            <a:miter lim="8000"/>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3"/>
          <p:cNvSpPr txBox="1"/>
          <p:nvPr>
            <p:ph type="title"/>
          </p:nvPr>
        </p:nvSpPr>
        <p:spPr>
          <a:xfrm>
            <a:off x="6829550" y="817418"/>
            <a:ext cx="825815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800"/>
              <a:buFont typeface="Cabin"/>
              <a:buNone/>
            </a:pPr>
            <a:r>
              <a:rPr lang="en-US" sz="7200" u="none" cap="none" strike="noStrike">
                <a:solidFill>
                  <a:srgbClr val="FFD966"/>
                </a:solidFill>
                <a:latin typeface="Arial"/>
                <a:ea typeface="Arial"/>
                <a:cs typeface="Arial"/>
                <a:sym typeface="Arial"/>
              </a:rPr>
              <a:t>An Infinite Loop</a:t>
            </a:r>
            <a:endParaRPr/>
          </a:p>
        </p:txBody>
      </p:sp>
      <p:sp>
        <p:nvSpPr>
          <p:cNvPr id="60" name="Google Shape;60;p3"/>
          <p:cNvSpPr txBox="1"/>
          <p:nvPr/>
        </p:nvSpPr>
        <p:spPr>
          <a:xfrm>
            <a:off x="8853467" y="3181350"/>
            <a:ext cx="5019696" cy="276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n</a:t>
            </a: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while </a:t>
            </a:r>
            <a:r>
              <a:rPr b="0" i="0" lang="en-US" sz="3000" u="none" cap="none" strike="noStrike">
                <a:solidFill>
                  <a:srgbClr val="00FF00"/>
                </a:solidFill>
                <a:latin typeface="Courier"/>
                <a:ea typeface="Courier"/>
                <a:cs typeface="Courier"/>
                <a:sym typeface="Courier"/>
              </a:rPr>
              <a:t>n</a:t>
            </a: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&gt;</a:t>
            </a: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0</a:t>
            </a:r>
            <a:r>
              <a:rPr b="0" i="0" lang="en-US" sz="3000" u="none" cap="none" strike="noStrike">
                <a:solidFill>
                  <a:srgbClr val="FFFF00"/>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    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9900"/>
                </a:solidFill>
                <a:latin typeface="Courier"/>
                <a:ea typeface="Courier"/>
                <a:cs typeface="Courier"/>
                <a:sym typeface="Courier"/>
              </a:rPr>
              <a:t>'Lather'</a:t>
            </a:r>
            <a:r>
              <a:rPr b="0" i="0" lang="en-US" sz="3200" u="none" cap="none" strike="noStrike">
                <a:solidFill>
                  <a:schemeClr val="lt1"/>
                </a:solidFill>
                <a:latin typeface="Arial"/>
                <a:ea typeface="Arial"/>
                <a:cs typeface="Arial"/>
                <a:sym typeface="Arial"/>
              </a:rPr>
              <a:t>)</a:t>
            </a:r>
            <a:endParaRPr b="0" i="0" sz="3000" u="none" cap="none" strike="noStrike">
              <a:solidFill>
                <a:srgbClr val="FF99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    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9900"/>
                </a:solidFill>
                <a:latin typeface="Courier"/>
                <a:ea typeface="Courier"/>
                <a:cs typeface="Courier"/>
                <a:sym typeface="Courier"/>
              </a:rPr>
              <a:t>'Rinse'</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9900"/>
                </a:solidFill>
                <a:latin typeface="Courier"/>
                <a:ea typeface="Courier"/>
                <a:cs typeface="Courier"/>
                <a:sym typeface="Courier"/>
              </a:rPr>
              <a:t>'Dry off!'</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p:txBody>
      </p:sp>
      <p:cxnSp>
        <p:nvCxnSpPr>
          <p:cNvPr id="61" name="Google Shape;61;p3"/>
          <p:cNvCxnSpPr/>
          <p:nvPr/>
        </p:nvCxnSpPr>
        <p:spPr>
          <a:xfrm rot="10800000">
            <a:off x="2838449" y="2087567"/>
            <a:ext cx="14287" cy="566736"/>
          </a:xfrm>
          <a:prstGeom prst="straightConnector1">
            <a:avLst/>
          </a:prstGeom>
          <a:noFill/>
          <a:ln cap="rnd" cmpd="sng" w="76200">
            <a:solidFill>
              <a:srgbClr val="00FFFF"/>
            </a:solidFill>
            <a:prstDash val="solid"/>
            <a:miter lim="8000"/>
            <a:headEnd len="med" w="med" type="stealth"/>
            <a:tailEnd len="sm" w="sm" type="none"/>
          </a:ln>
        </p:spPr>
      </p:cxnSp>
      <p:sp>
        <p:nvSpPr>
          <p:cNvPr id="62" name="Google Shape;62;p3"/>
          <p:cNvSpPr/>
          <p:nvPr/>
        </p:nvSpPr>
        <p:spPr>
          <a:xfrm>
            <a:off x="1422400" y="2647955"/>
            <a:ext cx="2870200" cy="1270000"/>
          </a:xfrm>
          <a:prstGeom prst="diamond">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00"/>
              </a:buClr>
              <a:buSzPts val="875"/>
              <a:buFont typeface="Cabin"/>
              <a:buNone/>
            </a:pPr>
            <a:r>
              <a:rPr b="0" i="0" lang="en-US" sz="3500" u="none" cap="none" strike="noStrike">
                <a:solidFill>
                  <a:srgbClr val="00FF00"/>
                </a:solidFill>
                <a:latin typeface="Comic Sans MS"/>
                <a:ea typeface="Comic Sans MS"/>
                <a:cs typeface="Comic Sans MS"/>
                <a:sym typeface="Comic Sans MS"/>
              </a:rPr>
              <a:t>n &gt; 0 ?</a:t>
            </a:r>
            <a:endParaRPr b="0" i="0" sz="1400" u="none" cap="none" strike="noStrike">
              <a:solidFill>
                <a:srgbClr val="000000"/>
              </a:solidFill>
              <a:latin typeface="Arial"/>
              <a:ea typeface="Arial"/>
              <a:cs typeface="Arial"/>
              <a:sym typeface="Arial"/>
            </a:endParaRPr>
          </a:p>
        </p:txBody>
      </p:sp>
      <p:cxnSp>
        <p:nvCxnSpPr>
          <p:cNvPr id="63" name="Google Shape;63;p3"/>
          <p:cNvCxnSpPr/>
          <p:nvPr/>
        </p:nvCxnSpPr>
        <p:spPr>
          <a:xfrm flipH="1" rot="10800000">
            <a:off x="2836861" y="3917955"/>
            <a:ext cx="20636" cy="2317749"/>
          </a:xfrm>
          <a:prstGeom prst="straightConnector1">
            <a:avLst/>
          </a:prstGeom>
          <a:noFill/>
          <a:ln cap="rnd" cmpd="sng" w="76200">
            <a:solidFill>
              <a:srgbClr val="00FFFF"/>
            </a:solidFill>
            <a:prstDash val="solid"/>
            <a:miter lim="8000"/>
            <a:headEnd len="sm" w="sm" type="none"/>
            <a:tailEnd len="med" w="med" type="stealth"/>
          </a:ln>
        </p:spPr>
      </p:cxnSp>
      <p:cxnSp>
        <p:nvCxnSpPr>
          <p:cNvPr id="64" name="Google Shape;64;p3"/>
          <p:cNvCxnSpPr/>
          <p:nvPr/>
        </p:nvCxnSpPr>
        <p:spPr>
          <a:xfrm rot="10800000">
            <a:off x="4203675" y="3276479"/>
            <a:ext cx="819299" cy="7800"/>
          </a:xfrm>
          <a:prstGeom prst="straightConnector1">
            <a:avLst/>
          </a:prstGeom>
          <a:noFill/>
          <a:ln cap="rnd" cmpd="sng" w="76200">
            <a:solidFill>
              <a:srgbClr val="00FFFF"/>
            </a:solidFill>
            <a:prstDash val="solid"/>
            <a:miter lim="8000"/>
            <a:headEnd len="sm" w="sm" type="none"/>
            <a:tailEnd len="sm" w="sm" type="none"/>
          </a:ln>
        </p:spPr>
      </p:cxnSp>
      <p:cxnSp>
        <p:nvCxnSpPr>
          <p:cNvPr id="65" name="Google Shape;65;p3"/>
          <p:cNvCxnSpPr/>
          <p:nvPr/>
        </p:nvCxnSpPr>
        <p:spPr>
          <a:xfrm flipH="1" rot="10800000">
            <a:off x="5024437" y="3276605"/>
            <a:ext cx="15875" cy="644524"/>
          </a:xfrm>
          <a:prstGeom prst="straightConnector1">
            <a:avLst/>
          </a:prstGeom>
          <a:noFill/>
          <a:ln cap="rnd" cmpd="sng" w="76200">
            <a:solidFill>
              <a:srgbClr val="00FFFF"/>
            </a:solidFill>
            <a:prstDash val="solid"/>
            <a:miter lim="8000"/>
            <a:headEnd len="med" w="med" type="stealth"/>
            <a:tailEnd len="sm" w="sm" type="none"/>
          </a:ln>
        </p:spPr>
      </p:cxnSp>
      <p:cxnSp>
        <p:nvCxnSpPr>
          <p:cNvPr id="66" name="Google Shape;66;p3"/>
          <p:cNvCxnSpPr>
            <a:stCxn id="67" idx="2"/>
          </p:cNvCxnSpPr>
          <p:nvPr/>
        </p:nvCxnSpPr>
        <p:spPr>
          <a:xfrm>
            <a:off x="5078404" y="5899154"/>
            <a:ext cx="0" cy="336600"/>
          </a:xfrm>
          <a:prstGeom prst="straightConnector1">
            <a:avLst/>
          </a:prstGeom>
          <a:noFill/>
          <a:ln cap="rnd" cmpd="sng" w="76200">
            <a:solidFill>
              <a:srgbClr val="00FFFF"/>
            </a:solidFill>
            <a:prstDash val="solid"/>
            <a:miter lim="8000"/>
            <a:headEnd len="sm" w="sm" type="none"/>
            <a:tailEnd len="sm" w="sm" type="none"/>
          </a:ln>
        </p:spPr>
      </p:cxnSp>
      <p:cxnSp>
        <p:nvCxnSpPr>
          <p:cNvPr id="68" name="Google Shape;68;p3"/>
          <p:cNvCxnSpPr/>
          <p:nvPr/>
        </p:nvCxnSpPr>
        <p:spPr>
          <a:xfrm>
            <a:off x="2852736" y="6202367"/>
            <a:ext cx="2187574" cy="14287"/>
          </a:xfrm>
          <a:prstGeom prst="straightConnector1">
            <a:avLst/>
          </a:prstGeom>
          <a:noFill/>
          <a:ln cap="rnd" cmpd="sng" w="76200">
            <a:solidFill>
              <a:srgbClr val="00FFFF"/>
            </a:solidFill>
            <a:prstDash val="solid"/>
            <a:miter lim="8000"/>
            <a:headEnd len="sm" w="sm" type="none"/>
            <a:tailEnd len="sm" w="sm" type="none"/>
          </a:ln>
        </p:spPr>
      </p:cxnSp>
      <p:cxnSp>
        <p:nvCxnSpPr>
          <p:cNvPr id="69" name="Google Shape;69;p3"/>
          <p:cNvCxnSpPr/>
          <p:nvPr/>
        </p:nvCxnSpPr>
        <p:spPr>
          <a:xfrm flipH="1">
            <a:off x="1066800" y="3292480"/>
            <a:ext cx="396874" cy="3174"/>
          </a:xfrm>
          <a:prstGeom prst="straightConnector1">
            <a:avLst/>
          </a:prstGeom>
          <a:noFill/>
          <a:ln cap="rnd" cmpd="sng" w="76200">
            <a:solidFill>
              <a:srgbClr val="00FFFF"/>
            </a:solidFill>
            <a:prstDash val="solid"/>
            <a:miter lim="8000"/>
            <a:headEnd len="sm" w="sm" type="none"/>
            <a:tailEnd len="med" w="med" type="stealth"/>
          </a:ln>
        </p:spPr>
      </p:cxnSp>
      <p:cxnSp>
        <p:nvCxnSpPr>
          <p:cNvPr id="70" name="Google Shape;70;p3"/>
          <p:cNvCxnSpPr/>
          <p:nvPr/>
        </p:nvCxnSpPr>
        <p:spPr>
          <a:xfrm flipH="1" rot="10800000">
            <a:off x="2840036" y="6680205"/>
            <a:ext cx="15875" cy="644524"/>
          </a:xfrm>
          <a:prstGeom prst="straightConnector1">
            <a:avLst/>
          </a:prstGeom>
          <a:noFill/>
          <a:ln cap="rnd" cmpd="sng" w="76200">
            <a:solidFill>
              <a:srgbClr val="00FFFF"/>
            </a:solidFill>
            <a:prstDash val="solid"/>
            <a:miter lim="8000"/>
            <a:headEnd len="med" w="med" type="stealth"/>
            <a:tailEnd len="sm" w="sm" type="none"/>
          </a:ln>
        </p:spPr>
      </p:cxnSp>
      <p:cxnSp>
        <p:nvCxnSpPr>
          <p:cNvPr id="71" name="Google Shape;71;p3"/>
          <p:cNvCxnSpPr/>
          <p:nvPr/>
        </p:nvCxnSpPr>
        <p:spPr>
          <a:xfrm rot="10800000">
            <a:off x="1063537" y="3340067"/>
            <a:ext cx="36599" cy="3433800"/>
          </a:xfrm>
          <a:prstGeom prst="straightConnector1">
            <a:avLst/>
          </a:prstGeom>
          <a:noFill/>
          <a:ln cap="rnd" cmpd="sng" w="76200">
            <a:solidFill>
              <a:srgbClr val="00FFFF"/>
            </a:solidFill>
            <a:prstDash val="solid"/>
            <a:miter lim="8000"/>
            <a:headEnd len="med" w="med" type="stealth"/>
            <a:tailEnd len="sm" w="sm" type="none"/>
          </a:ln>
        </p:spPr>
      </p:cxnSp>
      <p:cxnSp>
        <p:nvCxnSpPr>
          <p:cNvPr id="72" name="Google Shape;72;p3"/>
          <p:cNvCxnSpPr/>
          <p:nvPr/>
        </p:nvCxnSpPr>
        <p:spPr>
          <a:xfrm>
            <a:off x="1084262" y="6697667"/>
            <a:ext cx="1752600" cy="0"/>
          </a:xfrm>
          <a:prstGeom prst="straightConnector1">
            <a:avLst/>
          </a:prstGeom>
          <a:noFill/>
          <a:ln cap="rnd" cmpd="sng" w="76200">
            <a:solidFill>
              <a:srgbClr val="00FFFF"/>
            </a:solidFill>
            <a:prstDash val="solid"/>
            <a:miter lim="8000"/>
            <a:headEnd len="sm" w="sm" type="none"/>
            <a:tailEnd len="sm" w="sm" type="none"/>
          </a:ln>
        </p:spPr>
      </p:cxnSp>
      <p:sp>
        <p:nvSpPr>
          <p:cNvPr id="73" name="Google Shape;73;p3"/>
          <p:cNvSpPr txBox="1"/>
          <p:nvPr/>
        </p:nvSpPr>
        <p:spPr>
          <a:xfrm>
            <a:off x="542925" y="2533655"/>
            <a:ext cx="723900"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74" name="Google Shape;74;p3"/>
          <p:cNvSpPr txBox="1"/>
          <p:nvPr/>
        </p:nvSpPr>
        <p:spPr>
          <a:xfrm>
            <a:off x="1397000" y="7296155"/>
            <a:ext cx="2921000" cy="7492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Cabin"/>
              <a:buNone/>
            </a:pPr>
            <a:r>
              <a:rPr b="0" i="0" lang="en-US" sz="3500" u="none" cap="none" strike="noStrike">
                <a:solidFill>
                  <a:schemeClr val="lt1"/>
                </a:solidFill>
                <a:latin typeface="Arial"/>
                <a:ea typeface="Arial"/>
                <a:cs typeface="Arial"/>
                <a:sym typeface="Arial"/>
              </a:rPr>
              <a:t>print('Dry off!')</a:t>
            </a:r>
            <a:endParaRPr b="0" i="0" sz="3500" u="none" cap="none" strike="noStrike">
              <a:solidFill>
                <a:schemeClr val="lt1"/>
              </a:solidFill>
              <a:latin typeface="Arial"/>
              <a:ea typeface="Arial"/>
              <a:cs typeface="Arial"/>
              <a:sym typeface="Arial"/>
            </a:endParaRPr>
          </a:p>
        </p:txBody>
      </p:sp>
      <p:sp>
        <p:nvSpPr>
          <p:cNvPr id="75" name="Google Shape;75;p3"/>
          <p:cNvSpPr txBox="1"/>
          <p:nvPr/>
        </p:nvSpPr>
        <p:spPr>
          <a:xfrm>
            <a:off x="4659312" y="2533655"/>
            <a:ext cx="1074736"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76" name="Google Shape;76;p3"/>
          <p:cNvSpPr txBox="1"/>
          <p:nvPr/>
        </p:nvSpPr>
        <p:spPr>
          <a:xfrm>
            <a:off x="1397000" y="1352555"/>
            <a:ext cx="2921099" cy="7493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Cabin"/>
              <a:buNone/>
            </a:pPr>
            <a:r>
              <a:rPr b="0" i="0" lang="en-US" sz="3500" u="none" cap="none" strike="noStrike">
                <a:solidFill>
                  <a:schemeClr val="lt1"/>
                </a:solidFill>
                <a:latin typeface="Arial"/>
                <a:ea typeface="Arial"/>
                <a:cs typeface="Arial"/>
                <a:sym typeface="Arial"/>
              </a:rPr>
              <a:t>n = 5</a:t>
            </a:r>
            <a:endParaRPr b="0" i="0" sz="1400" u="none" cap="none" strike="noStrike">
              <a:solidFill>
                <a:srgbClr val="000000"/>
              </a:solidFill>
              <a:latin typeface="Arial"/>
              <a:ea typeface="Arial"/>
              <a:cs typeface="Arial"/>
              <a:sym typeface="Arial"/>
            </a:endParaRPr>
          </a:p>
        </p:txBody>
      </p:sp>
      <p:sp>
        <p:nvSpPr>
          <p:cNvPr id="77" name="Google Shape;77;p3"/>
          <p:cNvSpPr txBox="1"/>
          <p:nvPr/>
        </p:nvSpPr>
        <p:spPr>
          <a:xfrm>
            <a:off x="3405194" y="3930655"/>
            <a:ext cx="3365474" cy="747711"/>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Cabin"/>
              <a:buNone/>
            </a:pPr>
            <a:r>
              <a:rPr b="0" i="0" lang="en-US" sz="3500" u="none" cap="none" strike="noStrike">
                <a:solidFill>
                  <a:schemeClr val="lt1"/>
                </a:solidFill>
                <a:latin typeface="Arial"/>
                <a:ea typeface="Arial"/>
                <a:cs typeface="Arial"/>
                <a:sym typeface="Arial"/>
              </a:rPr>
              <a:t>print(</a:t>
            </a:r>
            <a:r>
              <a:rPr b="0" i="0" lang="en-US" sz="3500" u="none" cap="none" strike="noStrike">
                <a:solidFill>
                  <a:srgbClr val="FF9900"/>
                </a:solidFill>
                <a:latin typeface="Arial"/>
                <a:ea typeface="Arial"/>
                <a:cs typeface="Arial"/>
                <a:sym typeface="Arial"/>
              </a:rPr>
              <a:t>'Lather'</a:t>
            </a:r>
            <a:r>
              <a:rPr b="0" i="0" lang="en-US" sz="3500" u="none" cap="none" strike="noStrike">
                <a:solidFill>
                  <a:schemeClr val="lt1"/>
                </a:solidFill>
                <a:latin typeface="Arial"/>
                <a:ea typeface="Arial"/>
                <a:cs typeface="Arial"/>
                <a:sym typeface="Arial"/>
              </a:rPr>
              <a:t>)</a:t>
            </a:r>
            <a:endParaRPr b="0" i="0" sz="3500" u="none" cap="none" strike="noStrike">
              <a:solidFill>
                <a:schemeClr val="lt1"/>
              </a:solidFill>
              <a:latin typeface="Arial"/>
              <a:ea typeface="Arial"/>
              <a:cs typeface="Arial"/>
              <a:sym typeface="Arial"/>
            </a:endParaRPr>
          </a:p>
        </p:txBody>
      </p:sp>
      <p:sp>
        <p:nvSpPr>
          <p:cNvPr id="67" name="Google Shape;67;p3"/>
          <p:cNvSpPr txBox="1"/>
          <p:nvPr/>
        </p:nvSpPr>
        <p:spPr>
          <a:xfrm>
            <a:off x="3386141" y="5149855"/>
            <a:ext cx="3384527" cy="7492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Arial"/>
              <a:buNone/>
            </a:pPr>
            <a:r>
              <a:rPr b="0" i="0" lang="en-US" sz="3500" u="none" cap="none" strike="noStrike">
                <a:solidFill>
                  <a:schemeClr val="lt1"/>
                </a:solidFill>
                <a:latin typeface="Arial"/>
                <a:ea typeface="Arial"/>
                <a:cs typeface="Arial"/>
                <a:sym typeface="Arial"/>
              </a:rPr>
              <a:t>print(</a:t>
            </a:r>
            <a:r>
              <a:rPr b="0" i="0" lang="en-US" sz="3500" u="none" cap="none" strike="noStrike">
                <a:solidFill>
                  <a:srgbClr val="FF9900"/>
                </a:solidFill>
                <a:latin typeface="Arial"/>
                <a:ea typeface="Arial"/>
                <a:cs typeface="Arial"/>
                <a:sym typeface="Arial"/>
              </a:rPr>
              <a:t>'Rinse'</a:t>
            </a:r>
            <a:r>
              <a:rPr b="0" i="0" lang="en-US" sz="3500" u="none" cap="none" strike="noStrike">
                <a:solidFill>
                  <a:schemeClr val="lt1"/>
                </a:solidFill>
                <a:latin typeface="Arial"/>
                <a:ea typeface="Arial"/>
                <a:cs typeface="Arial"/>
                <a:sym typeface="Arial"/>
              </a:rPr>
              <a:t>)</a:t>
            </a:r>
            <a:endParaRPr b="0" i="0" sz="3500" u="none" cap="none" strike="noStrike">
              <a:solidFill>
                <a:schemeClr val="lt1"/>
              </a:solidFill>
              <a:latin typeface="Arial"/>
              <a:ea typeface="Arial"/>
              <a:cs typeface="Arial"/>
              <a:sym typeface="Arial"/>
            </a:endParaRPr>
          </a:p>
        </p:txBody>
      </p:sp>
      <p:sp>
        <p:nvSpPr>
          <p:cNvPr id="78" name="Google Shape;78;p3"/>
          <p:cNvSpPr txBox="1"/>
          <p:nvPr/>
        </p:nvSpPr>
        <p:spPr>
          <a:xfrm>
            <a:off x="8295898" y="7412450"/>
            <a:ext cx="6791801"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00FF00"/>
                </a:solidFill>
                <a:latin typeface="Arial"/>
                <a:ea typeface="Arial"/>
                <a:cs typeface="Arial"/>
                <a:sym typeface="Arial"/>
              </a:rPr>
              <a:t>What is wrong with this loop?</a:t>
            </a:r>
            <a:endParaRPr b="0" i="0" sz="1400" u="none" cap="none" strike="noStrike">
              <a:solidFill>
                <a:srgbClr val="000000"/>
              </a:solidFill>
              <a:latin typeface="Arial"/>
              <a:ea typeface="Arial"/>
              <a:cs typeface="Arial"/>
              <a:sym typeface="Arial"/>
            </a:endParaRPr>
          </a:p>
        </p:txBody>
      </p:sp>
      <p:cxnSp>
        <p:nvCxnSpPr>
          <p:cNvPr id="79" name="Google Shape;79;p3"/>
          <p:cNvCxnSpPr>
            <a:stCxn id="77" idx="2"/>
            <a:endCxn id="67" idx="0"/>
          </p:cNvCxnSpPr>
          <p:nvPr/>
        </p:nvCxnSpPr>
        <p:spPr>
          <a:xfrm flipH="1">
            <a:off x="5078331" y="4678366"/>
            <a:ext cx="9600" cy="471600"/>
          </a:xfrm>
          <a:prstGeom prst="straightConnector1">
            <a:avLst/>
          </a:prstGeom>
          <a:noFill/>
          <a:ln cap="rnd" cmpd="sng" w="76200">
            <a:solidFill>
              <a:srgbClr val="00FFFF"/>
            </a:solidFill>
            <a:prstDash val="solid"/>
            <a:miter lim="8000"/>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Breaking Out of a Loop</a:t>
            </a:r>
            <a:endParaRPr/>
          </a:p>
        </p:txBody>
      </p:sp>
      <p:sp>
        <p:nvSpPr>
          <p:cNvPr id="85" name="Google Shape;85;p4"/>
          <p:cNvSpPr txBox="1"/>
          <p:nvPr>
            <p:ph idx="1" type="body"/>
          </p:nvPr>
        </p:nvSpPr>
        <p:spPr>
          <a:xfrm>
            <a:off x="1155700" y="2603500"/>
            <a:ext cx="13932000" cy="2701025"/>
          </a:xfrm>
          <a:prstGeom prst="rect">
            <a:avLst/>
          </a:prstGeom>
          <a:noFill/>
          <a:ln>
            <a:noFill/>
          </a:ln>
        </p:spPr>
        <p:txBody>
          <a:bodyPr anchorCtr="0" anchor="ctr" bIns="38100" lIns="38100" spcFirstLastPara="1" rIns="38100" wrap="square" tIns="38100">
            <a:noAutofit/>
          </a:bodyPr>
          <a:lstStyle/>
          <a:p>
            <a:pPr indent="-533400" lvl="0" marL="749300" marR="0" rtl="0" algn="l">
              <a:lnSpc>
                <a:spcPct val="100000"/>
              </a:lnSpc>
              <a:spcBef>
                <a:spcPts val="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The </a:t>
            </a:r>
            <a:r>
              <a:rPr lang="en-US" sz="3600" u="none" cap="none" strike="noStrike">
                <a:solidFill>
                  <a:srgbClr val="FFFF00"/>
                </a:solidFill>
                <a:latin typeface="Arial"/>
                <a:ea typeface="Arial"/>
                <a:cs typeface="Arial"/>
                <a:sym typeface="Arial"/>
              </a:rPr>
              <a:t>break</a:t>
            </a:r>
            <a:r>
              <a:rPr lang="en-US" sz="3600" u="none" cap="none" strike="noStrike">
                <a:solidFill>
                  <a:schemeClr val="lt1"/>
                </a:solidFill>
                <a:latin typeface="Arial"/>
                <a:ea typeface="Arial"/>
                <a:cs typeface="Arial"/>
                <a:sym typeface="Arial"/>
              </a:rPr>
              <a:t> statement ends the current loop and jumps to the statement immediately following the loop</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It is like a loop test that can happen anywhere in the body of the loop</a:t>
            </a:r>
            <a:endParaRPr/>
          </a:p>
        </p:txBody>
      </p:sp>
      <p:sp>
        <p:nvSpPr>
          <p:cNvPr id="86" name="Google Shape;86;p4"/>
          <p:cNvSpPr txBox="1"/>
          <p:nvPr/>
        </p:nvSpPr>
        <p:spPr>
          <a:xfrm>
            <a:off x="10817225" y="5202237"/>
            <a:ext cx="2435099" cy="29559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&gt; </a:t>
            </a:r>
            <a:r>
              <a:rPr b="0" i="0" lang="en-US" sz="3200" u="none" cap="none" strike="noStrike">
                <a:solidFill>
                  <a:srgbClr val="00FF00"/>
                </a:solidFill>
                <a:latin typeface="Arial"/>
                <a:ea typeface="Arial"/>
                <a:cs typeface="Arial"/>
                <a:sym typeface="Arial"/>
              </a:rPr>
              <a:t>hello there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hello there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&gt; </a:t>
            </a:r>
            <a:r>
              <a:rPr b="0" i="0" lang="en-US" sz="3200" u="none" cap="none" strike="noStrike">
                <a:solidFill>
                  <a:srgbClr val="00FF00"/>
                </a:solidFill>
                <a:latin typeface="Arial"/>
                <a:ea typeface="Arial"/>
                <a:cs typeface="Arial"/>
                <a:sym typeface="Arial"/>
              </a:rPr>
              <a:t>finished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finished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&gt; </a:t>
            </a:r>
            <a:r>
              <a:rPr b="0" i="0" lang="en-US" sz="3200" u="none" cap="none" strike="noStrike">
                <a:solidFill>
                  <a:srgbClr val="00FF00"/>
                </a:solidFill>
                <a:latin typeface="Arial"/>
                <a:ea typeface="Arial"/>
                <a:cs typeface="Arial"/>
                <a:sym typeface="Arial"/>
              </a:rPr>
              <a:t>done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Done!</a:t>
            </a:r>
            <a:endParaRPr b="0" i="0" sz="1400" u="none" cap="none" strike="noStrike">
              <a:solidFill>
                <a:srgbClr val="000000"/>
              </a:solidFill>
              <a:latin typeface="Arial"/>
              <a:ea typeface="Arial"/>
              <a:cs typeface="Arial"/>
              <a:sym typeface="Arial"/>
            </a:endParaRPr>
          </a:p>
        </p:txBody>
      </p:sp>
      <p:sp>
        <p:nvSpPr>
          <p:cNvPr id="87" name="Google Shape;87;p4"/>
          <p:cNvSpPr txBox="1"/>
          <p:nvPr/>
        </p:nvSpPr>
        <p:spPr>
          <a:xfrm>
            <a:off x="3774650" y="5304525"/>
            <a:ext cx="6430500" cy="298222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while</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True</a:t>
            </a:r>
            <a:r>
              <a:rPr b="0" i="0" lang="en-US" sz="30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line</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input(</a:t>
            </a:r>
            <a:r>
              <a:rPr b="0" i="0" lang="en-US" sz="3000" u="none" cap="none" strike="noStrike">
                <a:solidFill>
                  <a:srgbClr val="FFFFFF"/>
                </a:solidFill>
                <a:latin typeface="Courier"/>
                <a:ea typeface="Courier"/>
                <a:cs typeface="Courier"/>
                <a:sym typeface="Courier"/>
              </a:rPr>
              <a:t>'&gt; '</a:t>
            </a:r>
            <a:r>
              <a:rPr b="0" i="0" lang="en-US" sz="3000" u="none" cap="none" strike="noStrike">
                <a:solidFill>
                  <a:srgbClr val="FF99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if </a:t>
            </a:r>
            <a:r>
              <a:rPr b="0" i="0" lang="en-US" sz="3000" u="none" cap="none" strike="noStrike">
                <a:solidFill>
                  <a:srgbClr val="00FF00"/>
                </a:solidFill>
                <a:latin typeface="Courier"/>
                <a:ea typeface="Courier"/>
                <a:cs typeface="Courier"/>
                <a:sym typeface="Courier"/>
              </a:rPr>
              <a:t>line</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FF9900"/>
                </a:solidFill>
                <a:latin typeface="Courier"/>
                <a:ea typeface="Courier"/>
                <a:cs typeface="Courier"/>
                <a:sym typeface="Courier"/>
              </a:rPr>
              <a:t> </a:t>
            </a:r>
            <a:r>
              <a:rPr b="0" i="0" lang="en-US" sz="3000" u="none" cap="none" strike="noStrike">
                <a:solidFill>
                  <a:srgbClr val="FFFFFF"/>
                </a:solidFill>
                <a:latin typeface="Courier"/>
                <a:ea typeface="Courier"/>
                <a:cs typeface="Courier"/>
                <a:sym typeface="Courier"/>
              </a:rPr>
              <a:t>'done'</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break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line</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FFFF"/>
                </a:solidFill>
                <a:latin typeface="Courier"/>
                <a:ea typeface="Courier"/>
                <a:cs typeface="Courier"/>
                <a:sym typeface="Courier"/>
              </a:rPr>
              <a:t>'Done!')</a:t>
            </a:r>
            <a:endParaRPr b="0" i="0" sz="3000" u="none" cap="none" strike="noStrike">
              <a:solidFill>
                <a:srgbClr val="FFFFFF"/>
              </a:solidFill>
              <a:latin typeface="Courier"/>
              <a:ea typeface="Courier"/>
              <a:cs typeface="Courier"/>
              <a:sym typeface="Couri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5"/>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800"/>
              <a:buFont typeface="Cabin"/>
              <a:buNone/>
            </a:pPr>
            <a:r>
              <a:rPr lang="en-US" sz="7200" u="none" cap="none" strike="noStrike">
                <a:solidFill>
                  <a:srgbClr val="FFD966"/>
                </a:solidFill>
                <a:latin typeface="Arial"/>
                <a:ea typeface="Arial"/>
                <a:cs typeface="Arial"/>
                <a:sym typeface="Arial"/>
              </a:rPr>
              <a:t>Finishing an Iteration with </a:t>
            </a:r>
            <a:r>
              <a:rPr lang="en-US" sz="7200" u="none" cap="none" strike="noStrike">
                <a:solidFill>
                  <a:srgbClr val="FFFF00"/>
                </a:solidFill>
                <a:latin typeface="Arial"/>
                <a:ea typeface="Arial"/>
                <a:cs typeface="Arial"/>
                <a:sym typeface="Arial"/>
              </a:rPr>
              <a:t>continue</a:t>
            </a:r>
            <a:endParaRPr/>
          </a:p>
        </p:txBody>
      </p:sp>
      <p:sp>
        <p:nvSpPr>
          <p:cNvPr id="93" name="Google Shape;93;p5"/>
          <p:cNvSpPr txBox="1"/>
          <p:nvPr>
            <p:ph idx="1" type="body"/>
          </p:nvPr>
        </p:nvSpPr>
        <p:spPr>
          <a:xfrm>
            <a:off x="1155700" y="2667538"/>
            <a:ext cx="13932000" cy="1654175"/>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SzPts val="3600"/>
              <a:buNone/>
            </a:pPr>
            <a:r>
              <a:rPr lang="en-US" sz="3600" u="none" cap="none" strike="noStrike">
                <a:solidFill>
                  <a:schemeClr val="lt1"/>
                </a:solidFill>
                <a:latin typeface="Arial"/>
                <a:ea typeface="Arial"/>
                <a:cs typeface="Arial"/>
                <a:sym typeface="Arial"/>
              </a:rPr>
              <a:t>The </a:t>
            </a:r>
            <a:r>
              <a:rPr lang="en-US" sz="3600" u="none" cap="none" strike="noStrike">
                <a:solidFill>
                  <a:srgbClr val="FFFF00"/>
                </a:solidFill>
                <a:latin typeface="Arial"/>
                <a:ea typeface="Arial"/>
                <a:cs typeface="Arial"/>
                <a:sym typeface="Arial"/>
              </a:rPr>
              <a:t>continue</a:t>
            </a:r>
            <a:r>
              <a:rPr lang="en-US" sz="3600" u="none" cap="none" strike="noStrike">
                <a:solidFill>
                  <a:schemeClr val="lt1"/>
                </a:solidFill>
                <a:latin typeface="Arial"/>
                <a:ea typeface="Arial"/>
                <a:cs typeface="Arial"/>
                <a:sym typeface="Arial"/>
              </a:rPr>
              <a:t> statement ends the current iteration and jumps to the top of the loop and starts the next iteration</a:t>
            </a:r>
            <a:endParaRPr/>
          </a:p>
        </p:txBody>
      </p:sp>
      <p:sp>
        <p:nvSpPr>
          <p:cNvPr id="94" name="Google Shape;94;p5"/>
          <p:cNvSpPr txBox="1"/>
          <p:nvPr/>
        </p:nvSpPr>
        <p:spPr>
          <a:xfrm>
            <a:off x="3098800" y="4146550"/>
            <a:ext cx="6032399" cy="4432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while</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True</a:t>
            </a:r>
            <a:r>
              <a:rPr b="0" i="0" lang="en-US" sz="30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line</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input(</a:t>
            </a:r>
            <a:r>
              <a:rPr b="0" i="0" lang="en-US" sz="3000" u="none" cap="none" strike="noStrike">
                <a:solidFill>
                  <a:srgbClr val="FFFFFF"/>
                </a:solidFill>
                <a:latin typeface="Courier"/>
                <a:ea typeface="Courier"/>
                <a:cs typeface="Courier"/>
                <a:sym typeface="Courier"/>
              </a:rPr>
              <a:t>'&gt; '</a:t>
            </a:r>
            <a:r>
              <a:rPr b="0" i="0" lang="en-US" sz="3000" u="none" cap="none" strike="noStrike">
                <a:solidFill>
                  <a:srgbClr val="FF99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if</a:t>
            </a:r>
            <a:r>
              <a:rPr b="0" i="0" lang="en-US" sz="3000" u="none" cap="none" strike="noStrike">
                <a:solidFill>
                  <a:srgbClr val="00FF00"/>
                </a:solidFill>
                <a:latin typeface="Courier"/>
                <a:ea typeface="Courier"/>
                <a:cs typeface="Courier"/>
                <a:sym typeface="Courier"/>
              </a:rPr>
              <a:t> line[0]</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 </a:t>
            </a:r>
            <a:r>
              <a:rPr b="0" i="0" lang="en-US" sz="3000" u="none" cap="none" strike="noStrike">
                <a:solidFill>
                  <a:srgbClr val="FFFFFF"/>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continue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if </a:t>
            </a:r>
            <a:r>
              <a:rPr b="0" i="0" lang="en-US" sz="3000" u="none" cap="none" strike="noStrike">
                <a:solidFill>
                  <a:srgbClr val="00FF00"/>
                </a:solidFill>
                <a:latin typeface="Courier"/>
                <a:ea typeface="Courier"/>
                <a:cs typeface="Courier"/>
                <a:sym typeface="Courier"/>
              </a:rPr>
              <a:t>line</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FF"/>
                </a:solidFill>
                <a:latin typeface="Courier"/>
                <a:ea typeface="Courier"/>
                <a:cs typeface="Courier"/>
                <a:sym typeface="Courier"/>
              </a:rPr>
              <a:t>'done'</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break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line</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FFFF"/>
                </a:solidFill>
                <a:latin typeface="Courier"/>
                <a:ea typeface="Courier"/>
                <a:cs typeface="Courier"/>
                <a:sym typeface="Courier"/>
              </a:rPr>
              <a:t>'Done!')</a:t>
            </a:r>
            <a:endParaRPr b="0" i="0" sz="3000" u="none" cap="none" strike="noStrike">
              <a:solidFill>
                <a:srgbClr val="FFFFFF"/>
              </a:solidFill>
              <a:latin typeface="Courier"/>
              <a:ea typeface="Courier"/>
              <a:cs typeface="Courier"/>
              <a:sym typeface="Courier"/>
            </a:endParaRPr>
          </a:p>
        </p:txBody>
      </p:sp>
      <p:sp>
        <p:nvSpPr>
          <p:cNvPr id="95" name="Google Shape;95;p5"/>
          <p:cNvSpPr txBox="1"/>
          <p:nvPr/>
        </p:nvSpPr>
        <p:spPr>
          <a:xfrm>
            <a:off x="10639425" y="4494212"/>
            <a:ext cx="3576599" cy="38765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&gt; </a:t>
            </a:r>
            <a:r>
              <a:rPr b="0" i="0" lang="en-US" sz="3200" u="none" cap="none" strike="noStrike">
                <a:solidFill>
                  <a:srgbClr val="00FF00"/>
                </a:solidFill>
                <a:latin typeface="Arial"/>
                <a:ea typeface="Arial"/>
                <a:cs typeface="Arial"/>
                <a:sym typeface="Arial"/>
              </a:rPr>
              <a:t>hello there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hello there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&gt; </a:t>
            </a:r>
            <a:r>
              <a:rPr b="0" i="0" lang="en-US" sz="3200" u="none" cap="none" strike="noStrike">
                <a:solidFill>
                  <a:srgbClr val="00FF00"/>
                </a:solidFill>
                <a:latin typeface="Arial"/>
                <a:ea typeface="Arial"/>
                <a:cs typeface="Arial"/>
                <a:sym typeface="Arial"/>
              </a:rPr>
              <a:t># don't print this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&gt; </a:t>
            </a:r>
            <a:r>
              <a:rPr b="0" i="0" lang="en-US" sz="3200" u="none" cap="none" strike="noStrike">
                <a:solidFill>
                  <a:srgbClr val="00FF00"/>
                </a:solidFill>
                <a:latin typeface="Arial"/>
                <a:ea typeface="Arial"/>
                <a:cs typeface="Arial"/>
                <a:sym typeface="Arial"/>
              </a:rPr>
              <a:t>print this!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 this!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&gt; </a:t>
            </a:r>
            <a:r>
              <a:rPr b="0" i="0" lang="en-US" sz="3200" u="none" cap="none" strike="noStrike">
                <a:solidFill>
                  <a:srgbClr val="00FF00"/>
                </a:solidFill>
                <a:latin typeface="Arial"/>
                <a:ea typeface="Arial"/>
                <a:cs typeface="Arial"/>
                <a:sym typeface="Arial"/>
              </a:rPr>
              <a:t>done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Done!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6"/>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Indefinite Loops</a:t>
            </a:r>
            <a:endParaRPr/>
          </a:p>
        </p:txBody>
      </p:sp>
      <p:sp>
        <p:nvSpPr>
          <p:cNvPr id="101" name="Google Shape;101;p6"/>
          <p:cNvSpPr txBox="1"/>
          <p:nvPr>
            <p:ph idx="1" type="body"/>
          </p:nvPr>
        </p:nvSpPr>
        <p:spPr>
          <a:xfrm>
            <a:off x="1155700" y="2603500"/>
            <a:ext cx="13932000" cy="5702399"/>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While loops are called </a:t>
            </a:r>
            <a:r>
              <a:rPr lang="en-US" sz="3600">
                <a:solidFill>
                  <a:srgbClr val="FFFF00"/>
                </a:solidFill>
                <a:latin typeface="Arial"/>
                <a:ea typeface="Arial"/>
                <a:cs typeface="Arial"/>
                <a:sym typeface="Arial"/>
              </a:rPr>
              <a:t>“</a:t>
            </a:r>
            <a:r>
              <a:rPr lang="en-US" sz="3600" u="none" cap="none" strike="noStrike">
                <a:solidFill>
                  <a:srgbClr val="FFFF00"/>
                </a:solidFill>
                <a:latin typeface="Arial"/>
                <a:ea typeface="Arial"/>
                <a:cs typeface="Arial"/>
                <a:sym typeface="Arial"/>
              </a:rPr>
              <a:t>indefinite loops</a:t>
            </a:r>
            <a:r>
              <a:rPr lang="en-US" sz="3600">
                <a:solidFill>
                  <a:srgbClr val="FFFF00"/>
                </a:solidFill>
                <a:latin typeface="Arial"/>
                <a:ea typeface="Arial"/>
                <a:cs typeface="Arial"/>
                <a:sym typeface="Arial"/>
              </a:rPr>
              <a:t>”</a:t>
            </a:r>
            <a:r>
              <a:rPr lang="en-US" sz="3600" u="none" cap="none" strike="noStrike">
                <a:solidFill>
                  <a:schemeClr val="lt1"/>
                </a:solidFill>
                <a:latin typeface="Arial"/>
                <a:ea typeface="Arial"/>
                <a:cs typeface="Arial"/>
                <a:sym typeface="Arial"/>
              </a:rPr>
              <a:t> because they keep going until  a logical condition becomes </a:t>
            </a:r>
            <a:r>
              <a:rPr lang="en-US" sz="3600" u="none" cap="none" strike="noStrike">
                <a:solidFill>
                  <a:srgbClr val="FF7F00"/>
                </a:solidFill>
                <a:latin typeface="Arial"/>
                <a:ea typeface="Arial"/>
                <a:cs typeface="Arial"/>
                <a:sym typeface="Arial"/>
              </a:rPr>
              <a:t>False</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The loops we have seen so far are pretty easy to examine to see if they will terminate or if they will be </a:t>
            </a:r>
            <a:r>
              <a:rPr lang="en-US" sz="3600">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infinite loops</a:t>
            </a:r>
            <a:r>
              <a:rPr lang="en-US" sz="3600">
                <a:solidFill>
                  <a:schemeClr val="lt1"/>
                </a:solidFill>
                <a:latin typeface="Arial"/>
                <a:ea typeface="Arial"/>
                <a:cs typeface="Arial"/>
                <a:sym typeface="Arial"/>
              </a:rPr>
              <a:t>”</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Sometimes it is a little harder to be sure if a loop will terminate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7"/>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Definite Loops</a:t>
            </a:r>
            <a:endParaRPr/>
          </a:p>
        </p:txBody>
      </p:sp>
      <p:sp>
        <p:nvSpPr>
          <p:cNvPr id="107" name="Google Shape;107;p7"/>
          <p:cNvSpPr txBox="1"/>
          <p:nvPr>
            <p:ph idx="1" type="body"/>
          </p:nvPr>
        </p:nvSpPr>
        <p:spPr>
          <a:xfrm>
            <a:off x="1155700" y="2603500"/>
            <a:ext cx="13932000" cy="5702399"/>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Quite often we have a </a:t>
            </a:r>
            <a:r>
              <a:rPr lang="en-US" sz="3600" u="none" cap="none" strike="noStrike">
                <a:solidFill>
                  <a:srgbClr val="FF7F00"/>
                </a:solidFill>
                <a:latin typeface="Arial"/>
                <a:ea typeface="Arial"/>
                <a:cs typeface="Arial"/>
                <a:sym typeface="Arial"/>
              </a:rPr>
              <a:t>list</a:t>
            </a:r>
            <a:r>
              <a:rPr lang="en-US" sz="3600" u="none" cap="none" strike="noStrike">
                <a:solidFill>
                  <a:schemeClr val="lt1"/>
                </a:solidFill>
                <a:latin typeface="Arial"/>
                <a:ea typeface="Arial"/>
                <a:cs typeface="Arial"/>
                <a:sym typeface="Arial"/>
              </a:rPr>
              <a:t> of items of the </a:t>
            </a:r>
            <a:r>
              <a:rPr lang="en-US" sz="3600" u="none" cap="none" strike="noStrike">
                <a:solidFill>
                  <a:srgbClr val="FF7F00"/>
                </a:solidFill>
                <a:latin typeface="Arial"/>
                <a:ea typeface="Arial"/>
                <a:cs typeface="Arial"/>
                <a:sym typeface="Arial"/>
              </a:rPr>
              <a:t>lines in a file</a:t>
            </a:r>
            <a:r>
              <a:rPr lang="en-US" sz="3600" u="none" cap="none" strike="noStrike">
                <a:solidFill>
                  <a:schemeClr val="lt1"/>
                </a:solidFill>
                <a:latin typeface="Arial"/>
                <a:ea typeface="Arial"/>
                <a:cs typeface="Arial"/>
                <a:sym typeface="Arial"/>
              </a:rPr>
              <a:t> - effectively a </a:t>
            </a:r>
            <a:r>
              <a:rPr lang="en-US" sz="3600" u="none" cap="none" strike="noStrike">
                <a:solidFill>
                  <a:srgbClr val="FFFF00"/>
                </a:solidFill>
                <a:latin typeface="Arial"/>
                <a:ea typeface="Arial"/>
                <a:cs typeface="Arial"/>
                <a:sym typeface="Arial"/>
              </a:rPr>
              <a:t>finite set</a:t>
            </a:r>
            <a:r>
              <a:rPr lang="en-US" sz="3600" u="none" cap="none" strike="noStrike">
                <a:solidFill>
                  <a:schemeClr val="lt1"/>
                </a:solidFill>
                <a:latin typeface="Arial"/>
                <a:ea typeface="Arial"/>
                <a:cs typeface="Arial"/>
                <a:sym typeface="Arial"/>
              </a:rPr>
              <a:t> of things</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can write a loop to run the loop once for each of the items in a set using the Python </a:t>
            </a:r>
            <a:r>
              <a:rPr lang="en-US" sz="3600" u="none" cap="none" strike="noStrike">
                <a:solidFill>
                  <a:srgbClr val="FFFF00"/>
                </a:solidFill>
                <a:latin typeface="Arial"/>
                <a:ea typeface="Arial"/>
                <a:cs typeface="Arial"/>
                <a:sym typeface="Arial"/>
              </a:rPr>
              <a:t>for</a:t>
            </a:r>
            <a:r>
              <a:rPr lang="en-US" sz="3600" u="none" cap="none" strike="noStrike">
                <a:solidFill>
                  <a:schemeClr val="lt1"/>
                </a:solidFill>
                <a:latin typeface="Arial"/>
                <a:ea typeface="Arial"/>
                <a:cs typeface="Arial"/>
                <a:sym typeface="Arial"/>
              </a:rPr>
              <a:t> construct</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These loops are called </a:t>
            </a:r>
            <a:r>
              <a:rPr lang="en-US" sz="3600">
                <a:solidFill>
                  <a:srgbClr val="00FF00"/>
                </a:solidFill>
                <a:latin typeface="Arial"/>
                <a:ea typeface="Arial"/>
                <a:cs typeface="Arial"/>
                <a:sym typeface="Arial"/>
              </a:rPr>
              <a:t>“</a:t>
            </a:r>
            <a:r>
              <a:rPr lang="en-US" sz="3600" u="none" cap="none" strike="noStrike">
                <a:solidFill>
                  <a:srgbClr val="00FF00"/>
                </a:solidFill>
                <a:latin typeface="Arial"/>
                <a:ea typeface="Arial"/>
                <a:cs typeface="Arial"/>
                <a:sym typeface="Arial"/>
              </a:rPr>
              <a:t>definite loops</a:t>
            </a:r>
            <a:r>
              <a:rPr lang="en-US" sz="3600">
                <a:solidFill>
                  <a:srgbClr val="00FF00"/>
                </a:solidFill>
                <a:latin typeface="Arial"/>
                <a:ea typeface="Arial"/>
                <a:cs typeface="Arial"/>
                <a:sym typeface="Arial"/>
              </a:rPr>
              <a:t>”</a:t>
            </a:r>
            <a:r>
              <a:rPr lang="en-US" sz="3600" u="none" cap="none" strike="noStrike">
                <a:solidFill>
                  <a:schemeClr val="lt1"/>
                </a:solidFill>
                <a:latin typeface="Arial"/>
                <a:ea typeface="Arial"/>
                <a:cs typeface="Arial"/>
                <a:sym typeface="Arial"/>
              </a:rPr>
              <a:t> because they execute an exact number of times</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say that </a:t>
            </a:r>
            <a:r>
              <a:rPr lang="en-US" sz="3600">
                <a:solidFill>
                  <a:srgbClr val="00FF00"/>
                </a:solidFill>
                <a:latin typeface="Arial"/>
                <a:ea typeface="Arial"/>
                <a:cs typeface="Arial"/>
                <a:sym typeface="Arial"/>
              </a:rPr>
              <a:t>“</a:t>
            </a:r>
            <a:r>
              <a:rPr lang="en-US" sz="3600" u="none" cap="none" strike="noStrike">
                <a:solidFill>
                  <a:srgbClr val="00FF00"/>
                </a:solidFill>
                <a:latin typeface="Arial"/>
                <a:ea typeface="Arial"/>
                <a:cs typeface="Arial"/>
                <a:sym typeface="Arial"/>
              </a:rPr>
              <a:t>definite loops iterate through the members of a set</a:t>
            </a:r>
            <a:r>
              <a:rPr lang="en-US" sz="3600">
                <a:solidFill>
                  <a:srgbClr val="00FF00"/>
                </a:solidFill>
                <a:latin typeface="Arial"/>
                <a:ea typeface="Arial"/>
                <a:cs typeface="Arial"/>
                <a:sym typeface="Arial"/>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8"/>
          <p:cNvSpPr txBox="1"/>
          <p:nvPr>
            <p:ph type="title"/>
          </p:nvPr>
        </p:nvSpPr>
        <p:spPr>
          <a:xfrm>
            <a:off x="1162000" y="779318"/>
            <a:ext cx="13932000" cy="17226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A Definite Loop with Strings</a:t>
            </a:r>
            <a:endParaRPr/>
          </a:p>
        </p:txBody>
      </p:sp>
      <p:sp>
        <p:nvSpPr>
          <p:cNvPr id="113" name="Google Shape;113;p8"/>
          <p:cNvSpPr txBox="1"/>
          <p:nvPr/>
        </p:nvSpPr>
        <p:spPr>
          <a:xfrm>
            <a:off x="698125" y="4144325"/>
            <a:ext cx="9213900" cy="22160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friends</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7F00"/>
                </a:solidFill>
                <a:latin typeface="Courier"/>
                <a:ea typeface="Courier"/>
                <a:cs typeface="Courier"/>
                <a:sym typeface="Courier"/>
              </a:rPr>
              <a:t>['Joseph', 'Glenn', 'Sally']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for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friend</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friends </a:t>
            </a:r>
            <a:r>
              <a:rPr b="0" i="0" lang="en-US" sz="30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'Happy New Year:'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friend</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'Done!'</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p:txBody>
      </p:sp>
      <p:sp>
        <p:nvSpPr>
          <p:cNvPr id="114" name="Google Shape;114;p8"/>
          <p:cNvSpPr txBox="1"/>
          <p:nvPr/>
        </p:nvSpPr>
        <p:spPr>
          <a:xfrm>
            <a:off x="10607875" y="3551825"/>
            <a:ext cx="5447100" cy="30962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FFFF"/>
                </a:solidFill>
                <a:latin typeface="Arial"/>
                <a:ea typeface="Arial"/>
                <a:cs typeface="Arial"/>
                <a:sym typeface="Arial"/>
              </a:rPr>
              <a:t>Happy New Year: Joseph</a:t>
            </a:r>
            <a:br>
              <a:rPr b="0" i="0" lang="en-US" sz="3600" u="none" cap="none" strike="noStrike">
                <a:solidFill>
                  <a:srgbClr val="FFFFFF"/>
                </a:solidFill>
                <a:latin typeface="Arial"/>
                <a:ea typeface="Arial"/>
                <a:cs typeface="Arial"/>
                <a:sym typeface="Arial"/>
              </a:rPr>
            </a:br>
            <a:r>
              <a:rPr b="0" i="0" lang="en-US" sz="3600" u="none" cap="none" strike="noStrike">
                <a:solidFill>
                  <a:srgbClr val="FFFFFF"/>
                </a:solidFill>
                <a:latin typeface="Arial"/>
                <a:ea typeface="Arial"/>
                <a:cs typeface="Arial"/>
                <a:sym typeface="Arial"/>
              </a:rPr>
              <a:t>Happy New Year: Glenn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FFFF"/>
                </a:solidFill>
                <a:latin typeface="Arial"/>
                <a:ea typeface="Arial"/>
                <a:cs typeface="Arial"/>
                <a:sym typeface="Arial"/>
              </a:rPr>
              <a:t>Happy New Year: Sally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3600"/>
              <a:buFont typeface="Cabin"/>
              <a:buNone/>
            </a:pPr>
            <a:r>
              <a:t/>
            </a:r>
            <a:endParaRPr b="0" i="0" sz="3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FFFF"/>
                </a:solidFill>
                <a:latin typeface="Arial"/>
                <a:ea typeface="Arial"/>
                <a:cs typeface="Arial"/>
                <a:sym typeface="Arial"/>
              </a:rPr>
              <a:t>Done!</a:t>
            </a:r>
            <a:endParaRPr b="0" i="0" sz="1400" u="none" cap="none" strike="noStrike">
              <a:solidFill>
                <a:srgbClr val="000000"/>
              </a:solidFill>
              <a:latin typeface="Arial"/>
              <a:ea typeface="Arial"/>
              <a:cs typeface="Arial"/>
              <a:sym typeface="Arial"/>
            </a:endParaRPr>
          </a:p>
        </p:txBody>
      </p:sp>
      <p:cxnSp>
        <p:nvCxnSpPr>
          <p:cNvPr id="115" name="Google Shape;115;p8"/>
          <p:cNvCxnSpPr/>
          <p:nvPr/>
        </p:nvCxnSpPr>
        <p:spPr>
          <a:xfrm flipH="1">
            <a:off x="9001125" y="4534150"/>
            <a:ext cx="1417924" cy="952250"/>
          </a:xfrm>
          <a:prstGeom prst="straightConnector1">
            <a:avLst/>
          </a:prstGeom>
          <a:noFill/>
          <a:ln cap="rnd" cmpd="sng" w="50800">
            <a:solidFill>
              <a:srgbClr val="FFFF00"/>
            </a:solidFill>
            <a:prstDash val="solid"/>
            <a:miter lim="8000"/>
            <a:headEnd len="med" w="med" type="stealth"/>
            <a:tailEnd len="sm" w="sm" type="none"/>
          </a:ln>
        </p:spPr>
      </p:cxnSp>
      <p:cxnSp>
        <p:nvCxnSpPr>
          <p:cNvPr id="116" name="Google Shape;116;p8"/>
          <p:cNvCxnSpPr/>
          <p:nvPr/>
        </p:nvCxnSpPr>
        <p:spPr>
          <a:xfrm rot="10800000">
            <a:off x="4007150" y="5972300"/>
            <a:ext cx="6411900" cy="243600"/>
          </a:xfrm>
          <a:prstGeom prst="straightConnector1">
            <a:avLst/>
          </a:prstGeom>
          <a:noFill/>
          <a:ln cap="rnd" cmpd="sng" w="50800">
            <a:solidFill>
              <a:srgbClr val="FFFF00"/>
            </a:solidFill>
            <a:prstDash val="solid"/>
            <a:miter lim="8000"/>
            <a:headEnd len="med" w="med" type="stealth"/>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9"/>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Looking at </a:t>
            </a:r>
            <a:r>
              <a:rPr lang="en-US" sz="7600" u="none" cap="none" strike="noStrike">
                <a:solidFill>
                  <a:srgbClr val="FFFF00"/>
                </a:solidFill>
                <a:latin typeface="Arial"/>
                <a:ea typeface="Arial"/>
                <a:cs typeface="Arial"/>
                <a:sym typeface="Arial"/>
              </a:rPr>
              <a:t>in...</a:t>
            </a:r>
            <a:endParaRPr/>
          </a:p>
        </p:txBody>
      </p:sp>
      <p:sp>
        <p:nvSpPr>
          <p:cNvPr id="122" name="Google Shape;122;p9"/>
          <p:cNvSpPr txBox="1"/>
          <p:nvPr>
            <p:ph idx="1" type="body"/>
          </p:nvPr>
        </p:nvSpPr>
        <p:spPr>
          <a:xfrm>
            <a:off x="1155700" y="2603500"/>
            <a:ext cx="6386575" cy="5702399"/>
          </a:xfrm>
          <a:prstGeom prst="rect">
            <a:avLst/>
          </a:prstGeom>
          <a:noFill/>
          <a:ln>
            <a:noFill/>
          </a:ln>
        </p:spPr>
        <p:txBody>
          <a:bodyPr anchorCtr="0" anchor="ctr" bIns="38100" lIns="38100" spcFirstLastPara="1" rIns="38100" wrap="square" tIns="38100">
            <a:noAutofit/>
          </a:bodyPr>
          <a:lstStyle/>
          <a:p>
            <a:pPr indent="-358394" lvl="0" marL="749300" marR="0" rtl="0" algn="l">
              <a:lnSpc>
                <a:spcPct val="100000"/>
              </a:lnSpc>
              <a:spcBef>
                <a:spcPts val="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The </a:t>
            </a:r>
            <a:r>
              <a:rPr lang="en-US" sz="3400" u="none" cap="none" strike="noStrike">
                <a:solidFill>
                  <a:srgbClr val="00FF00"/>
                </a:solidFill>
                <a:latin typeface="Arial"/>
                <a:ea typeface="Arial"/>
                <a:cs typeface="Arial"/>
                <a:sym typeface="Arial"/>
              </a:rPr>
              <a:t>iteration variable </a:t>
            </a:r>
            <a:r>
              <a:rPr b="0" i="0" lang="en-US" sz="3400" u="none" cap="none" strike="noStrike">
                <a:solidFill>
                  <a:schemeClr val="lt1"/>
                </a:solidFill>
                <a:latin typeface="Arial"/>
                <a:ea typeface="Arial"/>
                <a:cs typeface="Arial"/>
                <a:sym typeface="Arial"/>
              </a:rPr>
              <a:t>“</a:t>
            </a:r>
            <a:r>
              <a:rPr lang="en-US" sz="3400" u="none" cap="none" strike="noStrike">
                <a:solidFill>
                  <a:schemeClr val="lt1"/>
                </a:solidFill>
                <a:latin typeface="Arial"/>
                <a:ea typeface="Arial"/>
                <a:cs typeface="Arial"/>
                <a:sym typeface="Arial"/>
              </a:rPr>
              <a:t>iterates</a:t>
            </a:r>
            <a:r>
              <a:rPr b="0" i="0" lang="en-US" sz="3400" u="none" cap="none" strike="noStrike">
                <a:solidFill>
                  <a:schemeClr val="lt1"/>
                </a:solidFill>
                <a:latin typeface="Arial"/>
                <a:ea typeface="Arial"/>
                <a:cs typeface="Arial"/>
                <a:sym typeface="Arial"/>
              </a:rPr>
              <a:t>”</a:t>
            </a:r>
            <a:r>
              <a:rPr lang="en-US" sz="3400" u="none" cap="none" strike="noStrike">
                <a:solidFill>
                  <a:schemeClr val="lt1"/>
                </a:solidFill>
                <a:latin typeface="Arial"/>
                <a:ea typeface="Arial"/>
                <a:cs typeface="Arial"/>
                <a:sym typeface="Arial"/>
              </a:rPr>
              <a:t> th</a:t>
            </a:r>
            <a:r>
              <a:rPr lang="en-US" sz="3400">
                <a:solidFill>
                  <a:schemeClr val="lt1"/>
                </a:solidFill>
                <a:latin typeface="Arial"/>
                <a:ea typeface="Arial"/>
                <a:cs typeface="Arial"/>
                <a:sym typeface="Arial"/>
              </a:rPr>
              <a:t>r</a:t>
            </a:r>
            <a:r>
              <a:rPr lang="en-US" sz="3400" u="none" cap="none" strike="noStrike">
                <a:solidFill>
                  <a:schemeClr val="lt1"/>
                </a:solidFill>
                <a:latin typeface="Arial"/>
                <a:ea typeface="Arial"/>
                <a:cs typeface="Arial"/>
                <a:sym typeface="Arial"/>
              </a:rPr>
              <a:t>ough the </a:t>
            </a:r>
            <a:r>
              <a:rPr lang="en-US" sz="3400" u="none" cap="none" strike="noStrike">
                <a:solidFill>
                  <a:srgbClr val="FF7F00"/>
                </a:solidFill>
                <a:latin typeface="Arial"/>
                <a:ea typeface="Arial"/>
                <a:cs typeface="Arial"/>
                <a:sym typeface="Arial"/>
              </a:rPr>
              <a:t>list </a:t>
            </a:r>
            <a:endParaRPr sz="3400" u="none" cap="none" strike="noStrike">
              <a:solidFill>
                <a:schemeClr val="lt1"/>
              </a:solidFill>
              <a:latin typeface="Arial"/>
              <a:ea typeface="Arial"/>
              <a:cs typeface="Arial"/>
              <a:sym typeface="Arial"/>
            </a:endParaRPr>
          </a:p>
          <a:p>
            <a:pPr indent="-358394" lvl="0" marL="749300" marR="0" rtl="0" algn="l">
              <a:lnSpc>
                <a:spcPct val="100000"/>
              </a:lnSpc>
              <a:spcBef>
                <a:spcPts val="350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The </a:t>
            </a:r>
            <a:r>
              <a:rPr lang="en-US" sz="3400" u="none" cap="none" strike="noStrike">
                <a:solidFill>
                  <a:srgbClr val="FF00FF"/>
                </a:solidFill>
                <a:latin typeface="Arial"/>
                <a:ea typeface="Arial"/>
                <a:cs typeface="Arial"/>
                <a:sym typeface="Arial"/>
              </a:rPr>
              <a:t>block (body)</a:t>
            </a:r>
            <a:r>
              <a:rPr lang="en-US" sz="3400" u="none" cap="none" strike="noStrike">
                <a:solidFill>
                  <a:schemeClr val="lt1"/>
                </a:solidFill>
                <a:latin typeface="Arial"/>
                <a:ea typeface="Arial"/>
                <a:cs typeface="Arial"/>
                <a:sym typeface="Arial"/>
              </a:rPr>
              <a:t> of code is executed once for each value </a:t>
            </a:r>
            <a:r>
              <a:rPr lang="en-US" sz="3400" u="none" cap="none" strike="noStrike">
                <a:solidFill>
                  <a:srgbClr val="FFFF00"/>
                </a:solidFill>
                <a:latin typeface="Arial"/>
                <a:ea typeface="Arial"/>
                <a:cs typeface="Arial"/>
                <a:sym typeface="Arial"/>
              </a:rPr>
              <a:t>in</a:t>
            </a:r>
            <a:r>
              <a:rPr lang="en-US" sz="3400" u="none" cap="none" strike="noStrike">
                <a:solidFill>
                  <a:schemeClr val="lt1"/>
                </a:solidFill>
                <a:latin typeface="Arial"/>
                <a:ea typeface="Arial"/>
                <a:cs typeface="Arial"/>
                <a:sym typeface="Arial"/>
              </a:rPr>
              <a:t> the </a:t>
            </a:r>
            <a:r>
              <a:rPr lang="en-US" sz="3400" u="none" cap="none" strike="noStrike">
                <a:solidFill>
                  <a:srgbClr val="FF7F00"/>
                </a:solidFill>
                <a:latin typeface="Arial"/>
                <a:ea typeface="Arial"/>
                <a:cs typeface="Arial"/>
                <a:sym typeface="Arial"/>
              </a:rPr>
              <a:t>list</a:t>
            </a:r>
            <a:endParaRPr/>
          </a:p>
          <a:p>
            <a:pPr indent="-358394" lvl="0" marL="749300" marR="0" rtl="0" algn="l">
              <a:lnSpc>
                <a:spcPct val="100000"/>
              </a:lnSpc>
              <a:spcBef>
                <a:spcPts val="350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The </a:t>
            </a:r>
            <a:r>
              <a:rPr lang="en-US" sz="3400" u="none" cap="none" strike="noStrike">
                <a:solidFill>
                  <a:srgbClr val="00FF00"/>
                </a:solidFill>
                <a:latin typeface="Arial"/>
                <a:ea typeface="Arial"/>
                <a:cs typeface="Arial"/>
                <a:sym typeface="Arial"/>
              </a:rPr>
              <a:t>iteration variable </a:t>
            </a:r>
            <a:r>
              <a:rPr lang="en-US" sz="3400" u="none" cap="none" strike="noStrike">
                <a:solidFill>
                  <a:schemeClr val="lt1"/>
                </a:solidFill>
                <a:latin typeface="Arial"/>
                <a:ea typeface="Arial"/>
                <a:cs typeface="Arial"/>
                <a:sym typeface="Arial"/>
              </a:rPr>
              <a:t>moves through all of the values </a:t>
            </a:r>
            <a:r>
              <a:rPr lang="en-US" sz="3400" u="none" cap="none" strike="noStrike">
                <a:solidFill>
                  <a:srgbClr val="FFFF00"/>
                </a:solidFill>
                <a:latin typeface="Arial"/>
                <a:ea typeface="Arial"/>
                <a:cs typeface="Arial"/>
                <a:sym typeface="Arial"/>
              </a:rPr>
              <a:t>in</a:t>
            </a:r>
            <a:r>
              <a:rPr lang="en-US" sz="3400" u="none" cap="none" strike="noStrike">
                <a:solidFill>
                  <a:schemeClr val="lt1"/>
                </a:solidFill>
                <a:latin typeface="Arial"/>
                <a:ea typeface="Arial"/>
                <a:cs typeface="Arial"/>
                <a:sym typeface="Arial"/>
              </a:rPr>
              <a:t> the </a:t>
            </a:r>
            <a:r>
              <a:rPr lang="en-US" sz="3400" u="none" cap="none" strike="noStrike">
                <a:solidFill>
                  <a:srgbClr val="FF7F00"/>
                </a:solidFill>
                <a:latin typeface="Arial"/>
                <a:ea typeface="Arial"/>
                <a:cs typeface="Arial"/>
                <a:sym typeface="Arial"/>
              </a:rPr>
              <a:t>list</a:t>
            </a:r>
            <a:endParaRPr sz="3400" u="none" cap="none" strike="noStrike">
              <a:solidFill>
                <a:srgbClr val="FF7F00"/>
              </a:solidFill>
              <a:latin typeface="Arial"/>
              <a:ea typeface="Arial"/>
              <a:cs typeface="Arial"/>
              <a:sym typeface="Arial"/>
            </a:endParaRPr>
          </a:p>
        </p:txBody>
      </p:sp>
      <p:sp>
        <p:nvSpPr>
          <p:cNvPr id="123" name="Google Shape;123;p9"/>
          <p:cNvSpPr txBox="1"/>
          <p:nvPr/>
        </p:nvSpPr>
        <p:spPr>
          <a:xfrm>
            <a:off x="8028049" y="5280013"/>
            <a:ext cx="8416863" cy="13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for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friend</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friends:</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print(‘Happy New Year!’, friend)</a:t>
            </a:r>
            <a:endParaRPr b="0" i="0" sz="3000" u="none" cap="none" strike="noStrike">
              <a:solidFill>
                <a:srgbClr val="FF00FF"/>
              </a:solidFill>
              <a:latin typeface="Courier"/>
              <a:ea typeface="Courier"/>
              <a:cs typeface="Courier"/>
              <a:sym typeface="Courier"/>
            </a:endParaRPr>
          </a:p>
        </p:txBody>
      </p:sp>
      <p:sp>
        <p:nvSpPr>
          <p:cNvPr id="124" name="Google Shape;124;p9"/>
          <p:cNvSpPr txBox="1"/>
          <p:nvPr/>
        </p:nvSpPr>
        <p:spPr>
          <a:xfrm>
            <a:off x="8289135" y="3908525"/>
            <a:ext cx="3449638"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Arial"/>
                <a:ea typeface="Arial"/>
                <a:cs typeface="Arial"/>
                <a:sym typeface="Arial"/>
              </a:rPr>
              <a:t>Iteration variable</a:t>
            </a:r>
            <a:endParaRPr b="0" i="0" sz="1400" u="none" cap="none" strike="noStrike">
              <a:solidFill>
                <a:srgbClr val="000000"/>
              </a:solidFill>
              <a:latin typeface="Arial"/>
              <a:ea typeface="Arial"/>
              <a:cs typeface="Arial"/>
              <a:sym typeface="Arial"/>
            </a:endParaRPr>
          </a:p>
        </p:txBody>
      </p:sp>
      <p:sp>
        <p:nvSpPr>
          <p:cNvPr id="125" name="Google Shape;125;p9"/>
          <p:cNvSpPr txBox="1"/>
          <p:nvPr/>
        </p:nvSpPr>
        <p:spPr>
          <a:xfrm>
            <a:off x="11985630" y="3114676"/>
            <a:ext cx="3973508" cy="103971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Three-element list</a:t>
            </a:r>
            <a:endParaRPr b="0" i="0" sz="3600" u="none" cap="none" strike="noStrike">
              <a:solidFill>
                <a:srgbClr val="FF7F00"/>
              </a:solidFill>
              <a:latin typeface="Arial"/>
              <a:ea typeface="Arial"/>
              <a:cs typeface="Arial"/>
              <a:sym typeface="Arial"/>
            </a:endParaRPr>
          </a:p>
        </p:txBody>
      </p:sp>
      <p:cxnSp>
        <p:nvCxnSpPr>
          <p:cNvPr id="126" name="Google Shape;126;p9"/>
          <p:cNvCxnSpPr/>
          <p:nvPr/>
        </p:nvCxnSpPr>
        <p:spPr>
          <a:xfrm rot="10800000">
            <a:off x="9979030" y="4530724"/>
            <a:ext cx="34924" cy="677861"/>
          </a:xfrm>
          <a:prstGeom prst="straightConnector1">
            <a:avLst/>
          </a:prstGeom>
          <a:noFill/>
          <a:ln cap="rnd" cmpd="sng" w="63500">
            <a:solidFill>
              <a:srgbClr val="00FF00"/>
            </a:solidFill>
            <a:prstDash val="solid"/>
            <a:miter lim="8000"/>
            <a:headEnd len="med" w="med" type="stealth"/>
            <a:tailEnd len="sm" w="sm" type="none"/>
          </a:ln>
        </p:spPr>
      </p:cxnSp>
      <p:cxnSp>
        <p:nvCxnSpPr>
          <p:cNvPr id="127" name="Google Shape;127;p9"/>
          <p:cNvCxnSpPr/>
          <p:nvPr/>
        </p:nvCxnSpPr>
        <p:spPr>
          <a:xfrm flipH="1" rot="10800000">
            <a:off x="12987800" y="4341217"/>
            <a:ext cx="794999" cy="1078200"/>
          </a:xfrm>
          <a:prstGeom prst="straightConnector1">
            <a:avLst/>
          </a:prstGeom>
          <a:noFill/>
          <a:ln cap="rnd" cmpd="sng" w="63500">
            <a:solidFill>
              <a:srgbClr val="FF7F00"/>
            </a:solidFill>
            <a:prstDash val="solid"/>
            <a:miter lim="8000"/>
            <a:headEnd len="med" w="med" type="stealth"/>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cxnSp>
        <p:nvCxnSpPr>
          <p:cNvPr id="132" name="Google Shape;132;p10"/>
          <p:cNvCxnSpPr/>
          <p:nvPr/>
        </p:nvCxnSpPr>
        <p:spPr>
          <a:xfrm rot="10800000">
            <a:off x="2571637" y="1192249"/>
            <a:ext cx="14400" cy="566699"/>
          </a:xfrm>
          <a:prstGeom prst="straightConnector1">
            <a:avLst/>
          </a:prstGeom>
          <a:noFill/>
          <a:ln cap="rnd" cmpd="sng" w="76200">
            <a:solidFill>
              <a:srgbClr val="00FFFF"/>
            </a:solidFill>
            <a:prstDash val="solid"/>
            <a:miter lim="8000"/>
            <a:headEnd len="med" w="med" type="stealth"/>
            <a:tailEnd len="sm" w="sm" type="none"/>
          </a:ln>
        </p:spPr>
      </p:cxnSp>
      <p:sp>
        <p:nvSpPr>
          <p:cNvPr id="133" name="Google Shape;133;p10"/>
          <p:cNvSpPr/>
          <p:nvPr/>
        </p:nvSpPr>
        <p:spPr>
          <a:xfrm>
            <a:off x="1155700" y="1752600"/>
            <a:ext cx="2870100" cy="1269899"/>
          </a:xfrm>
          <a:prstGeom prst="diamond">
            <a:avLst/>
          </a:prstGeom>
          <a:noFill/>
          <a:ln cap="flat" cmpd="sng" w="76200">
            <a:solidFill>
              <a:srgbClr val="FFFF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00"/>
              </a:buClr>
              <a:buSzPts val="850"/>
              <a:buFont typeface="Cabin"/>
              <a:buNone/>
            </a:pPr>
            <a:r>
              <a:rPr b="0" i="0" lang="en-US" sz="3400" u="none" cap="none" strike="noStrike">
                <a:solidFill>
                  <a:srgbClr val="FF9900"/>
                </a:solidFill>
                <a:latin typeface="Arial"/>
                <a:ea typeface="Arial"/>
                <a:cs typeface="Arial"/>
                <a:sym typeface="Arial"/>
              </a:rPr>
              <a:t>Done?</a:t>
            </a:r>
            <a:endParaRPr b="0" i="0" sz="1400" u="none" cap="none" strike="noStrike">
              <a:solidFill>
                <a:srgbClr val="000000"/>
              </a:solidFill>
              <a:latin typeface="Arial"/>
              <a:ea typeface="Arial"/>
              <a:cs typeface="Arial"/>
              <a:sym typeface="Arial"/>
            </a:endParaRPr>
          </a:p>
        </p:txBody>
      </p:sp>
      <p:cxnSp>
        <p:nvCxnSpPr>
          <p:cNvPr id="134" name="Google Shape;134;p10"/>
          <p:cNvCxnSpPr/>
          <p:nvPr/>
        </p:nvCxnSpPr>
        <p:spPr>
          <a:xfrm rot="10800000">
            <a:off x="2590812" y="3022699"/>
            <a:ext cx="11100" cy="1498500"/>
          </a:xfrm>
          <a:prstGeom prst="straightConnector1">
            <a:avLst/>
          </a:prstGeom>
          <a:noFill/>
          <a:ln cap="rnd" cmpd="sng" w="76200">
            <a:solidFill>
              <a:srgbClr val="00FFFF"/>
            </a:solidFill>
            <a:prstDash val="solid"/>
            <a:miter lim="8000"/>
            <a:headEnd len="sm" w="sm" type="none"/>
            <a:tailEnd len="med" w="med" type="stealth"/>
          </a:ln>
        </p:spPr>
      </p:cxnSp>
      <p:cxnSp>
        <p:nvCxnSpPr>
          <p:cNvPr id="135" name="Google Shape;135;p10"/>
          <p:cNvCxnSpPr/>
          <p:nvPr/>
        </p:nvCxnSpPr>
        <p:spPr>
          <a:xfrm rot="10800000">
            <a:off x="5897449" y="2768699"/>
            <a:ext cx="3301" cy="587400"/>
          </a:xfrm>
          <a:prstGeom prst="straightConnector1">
            <a:avLst/>
          </a:prstGeom>
          <a:noFill/>
          <a:ln cap="rnd" cmpd="sng" w="76200">
            <a:solidFill>
              <a:srgbClr val="00FFFF"/>
            </a:solidFill>
            <a:prstDash val="solid"/>
            <a:miter lim="8000"/>
            <a:headEnd len="med" w="med" type="stealth"/>
            <a:tailEnd len="sm" w="sm" type="none"/>
          </a:ln>
        </p:spPr>
      </p:cxnSp>
      <p:cxnSp>
        <p:nvCxnSpPr>
          <p:cNvPr id="136" name="Google Shape;136;p10"/>
          <p:cNvCxnSpPr>
            <a:stCxn id="137" idx="2"/>
          </p:cNvCxnSpPr>
          <p:nvPr/>
        </p:nvCxnSpPr>
        <p:spPr>
          <a:xfrm flipH="1">
            <a:off x="5897450" y="4051399"/>
            <a:ext cx="8100" cy="472800"/>
          </a:xfrm>
          <a:prstGeom prst="straightConnector1">
            <a:avLst/>
          </a:prstGeom>
          <a:noFill/>
          <a:ln cap="rnd" cmpd="sng" w="76200">
            <a:solidFill>
              <a:srgbClr val="00FFFF"/>
            </a:solidFill>
            <a:prstDash val="solid"/>
            <a:miter lim="8000"/>
            <a:headEnd len="sm" w="sm" type="none"/>
            <a:tailEnd len="sm" w="sm" type="none"/>
          </a:ln>
        </p:spPr>
      </p:cxnSp>
      <p:cxnSp>
        <p:nvCxnSpPr>
          <p:cNvPr id="138" name="Google Shape;138;p10"/>
          <p:cNvCxnSpPr/>
          <p:nvPr/>
        </p:nvCxnSpPr>
        <p:spPr>
          <a:xfrm flipH="1" rot="10800000">
            <a:off x="2598737" y="4502112"/>
            <a:ext cx="3328200" cy="4799"/>
          </a:xfrm>
          <a:prstGeom prst="straightConnector1">
            <a:avLst/>
          </a:prstGeom>
          <a:noFill/>
          <a:ln cap="rnd" cmpd="sng" w="76200">
            <a:solidFill>
              <a:srgbClr val="00FFFF"/>
            </a:solidFill>
            <a:prstDash val="solid"/>
            <a:miter lim="8000"/>
            <a:headEnd len="sm" w="sm" type="none"/>
            <a:tailEnd len="sm" w="sm" type="none"/>
          </a:ln>
        </p:spPr>
      </p:cxnSp>
      <p:cxnSp>
        <p:nvCxnSpPr>
          <p:cNvPr id="139" name="Google Shape;139;p10"/>
          <p:cNvCxnSpPr/>
          <p:nvPr/>
        </p:nvCxnSpPr>
        <p:spPr>
          <a:xfrm flipH="1">
            <a:off x="800074" y="2397125"/>
            <a:ext cx="396900" cy="3299"/>
          </a:xfrm>
          <a:prstGeom prst="straightConnector1">
            <a:avLst/>
          </a:prstGeom>
          <a:noFill/>
          <a:ln cap="rnd" cmpd="sng" w="76200">
            <a:solidFill>
              <a:srgbClr val="00FFFF"/>
            </a:solidFill>
            <a:prstDash val="solid"/>
            <a:miter lim="8000"/>
            <a:headEnd len="sm" w="sm" type="none"/>
            <a:tailEnd len="med" w="med" type="stealth"/>
          </a:ln>
        </p:spPr>
      </p:cxnSp>
      <p:cxnSp>
        <p:nvCxnSpPr>
          <p:cNvPr id="140" name="Google Shape;140;p10"/>
          <p:cNvCxnSpPr/>
          <p:nvPr/>
        </p:nvCxnSpPr>
        <p:spPr>
          <a:xfrm flipH="1" rot="10800000">
            <a:off x="2586037" y="5238874"/>
            <a:ext cx="15899" cy="644400"/>
          </a:xfrm>
          <a:prstGeom prst="straightConnector1">
            <a:avLst/>
          </a:prstGeom>
          <a:noFill/>
          <a:ln cap="rnd" cmpd="sng" w="76200">
            <a:solidFill>
              <a:srgbClr val="00FFFF"/>
            </a:solidFill>
            <a:prstDash val="solid"/>
            <a:miter lim="8000"/>
            <a:headEnd len="med" w="med" type="stealth"/>
            <a:tailEnd len="sm" w="sm" type="none"/>
          </a:ln>
        </p:spPr>
      </p:cxnSp>
      <p:cxnSp>
        <p:nvCxnSpPr>
          <p:cNvPr id="141" name="Google Shape;141;p10"/>
          <p:cNvCxnSpPr/>
          <p:nvPr/>
        </p:nvCxnSpPr>
        <p:spPr>
          <a:xfrm rot="10800000">
            <a:off x="830136" y="2451012"/>
            <a:ext cx="3299" cy="2779799"/>
          </a:xfrm>
          <a:prstGeom prst="straightConnector1">
            <a:avLst/>
          </a:prstGeom>
          <a:noFill/>
          <a:ln cap="rnd" cmpd="sng" w="76200">
            <a:solidFill>
              <a:srgbClr val="00FFFF"/>
            </a:solidFill>
            <a:prstDash val="solid"/>
            <a:miter lim="8000"/>
            <a:headEnd len="med" w="med" type="stealth"/>
            <a:tailEnd len="sm" w="sm" type="none"/>
          </a:ln>
        </p:spPr>
      </p:cxnSp>
      <p:cxnSp>
        <p:nvCxnSpPr>
          <p:cNvPr id="142" name="Google Shape;142;p10"/>
          <p:cNvCxnSpPr/>
          <p:nvPr/>
        </p:nvCxnSpPr>
        <p:spPr>
          <a:xfrm>
            <a:off x="830261" y="5225236"/>
            <a:ext cx="1752600" cy="0"/>
          </a:xfrm>
          <a:prstGeom prst="straightConnector1">
            <a:avLst/>
          </a:prstGeom>
          <a:noFill/>
          <a:ln cap="rnd" cmpd="sng" w="76200">
            <a:solidFill>
              <a:srgbClr val="00FFFF"/>
            </a:solidFill>
            <a:prstDash val="solid"/>
            <a:miter lim="8000"/>
            <a:headEnd len="sm" w="sm" type="none"/>
            <a:tailEnd len="sm" w="sm" type="none"/>
          </a:ln>
        </p:spPr>
      </p:cxnSp>
      <p:sp>
        <p:nvSpPr>
          <p:cNvPr id="143" name="Google Shape;143;p10"/>
          <p:cNvSpPr txBox="1"/>
          <p:nvPr/>
        </p:nvSpPr>
        <p:spPr>
          <a:xfrm>
            <a:off x="274637" y="1638300"/>
            <a:ext cx="881063"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137" name="Google Shape;137;p10"/>
          <p:cNvSpPr txBox="1"/>
          <p:nvPr/>
        </p:nvSpPr>
        <p:spPr>
          <a:xfrm>
            <a:off x="4445000" y="3302000"/>
            <a:ext cx="2921099" cy="7493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550"/>
              <a:buFont typeface="Cabin"/>
              <a:buNone/>
            </a:pPr>
            <a:r>
              <a:rPr b="0" i="0" lang="en-US" sz="2200" u="none" cap="none" strike="noStrike">
                <a:solidFill>
                  <a:schemeClr val="lt1"/>
                </a:solidFill>
                <a:latin typeface="Arial"/>
                <a:ea typeface="Arial"/>
                <a:cs typeface="Arial"/>
                <a:sym typeface="Arial"/>
              </a:rPr>
              <a:t>print(‘Happy New Year’,</a:t>
            </a:r>
            <a:r>
              <a:rPr b="0" i="0" lang="en-US" sz="2200" u="none" cap="none" strike="noStrike">
                <a:solidFill>
                  <a:srgbClr val="00FF00"/>
                </a:solidFill>
                <a:latin typeface="Arial"/>
                <a:ea typeface="Arial"/>
                <a:cs typeface="Arial"/>
                <a:sym typeface="Arial"/>
              </a:rPr>
              <a:t>friend</a:t>
            </a:r>
            <a:r>
              <a:rPr b="0" i="0" lang="en-US" sz="2200" u="none" cap="none" strike="noStrike">
                <a:solidFill>
                  <a:schemeClr val="lt1"/>
                </a:solidFill>
                <a:latin typeface="Arial"/>
                <a:ea typeface="Arial"/>
                <a:cs typeface="Arial"/>
                <a:sym typeface="Arial"/>
              </a:rPr>
              <a:t>)</a:t>
            </a:r>
            <a:endParaRPr b="0" i="0" sz="2200" u="none" cap="none" strike="noStrike">
              <a:solidFill>
                <a:schemeClr val="lt1"/>
              </a:solidFill>
              <a:latin typeface="Arial"/>
              <a:ea typeface="Arial"/>
              <a:cs typeface="Arial"/>
              <a:sym typeface="Arial"/>
            </a:endParaRPr>
          </a:p>
        </p:txBody>
      </p:sp>
      <p:sp>
        <p:nvSpPr>
          <p:cNvPr id="144" name="Google Shape;144;p10"/>
          <p:cNvSpPr txBox="1"/>
          <p:nvPr/>
        </p:nvSpPr>
        <p:spPr>
          <a:xfrm>
            <a:off x="3634650" y="1397100"/>
            <a:ext cx="7239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145" name="Google Shape;145;p10"/>
          <p:cNvSpPr txBox="1"/>
          <p:nvPr/>
        </p:nvSpPr>
        <p:spPr>
          <a:xfrm>
            <a:off x="4902199" y="2019300"/>
            <a:ext cx="4213200" cy="749400"/>
          </a:xfrm>
          <a:prstGeom prst="rect">
            <a:avLst/>
          </a:prstGeom>
          <a:noFill/>
          <a:ln cap="flat" cmpd="sng" w="76200">
            <a:solidFill>
              <a:srgbClr val="FFFF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00"/>
              </a:buClr>
              <a:buSzPts val="875"/>
              <a:buFont typeface="Cabin"/>
              <a:buNone/>
            </a:pPr>
            <a:r>
              <a:rPr b="0" i="0" lang="en-US" sz="3500" u="none" cap="none" strike="noStrike">
                <a:solidFill>
                  <a:srgbClr val="FF9900"/>
                </a:solidFill>
                <a:latin typeface="Arial"/>
                <a:ea typeface="Arial"/>
                <a:cs typeface="Arial"/>
                <a:sym typeface="Arial"/>
              </a:rPr>
              <a:t>Move </a:t>
            </a:r>
            <a:r>
              <a:rPr b="0" i="0" lang="en-US" sz="3500" u="none" cap="none" strike="noStrike">
                <a:solidFill>
                  <a:srgbClr val="00FF00"/>
                </a:solidFill>
                <a:latin typeface="Arial"/>
                <a:ea typeface="Arial"/>
                <a:cs typeface="Arial"/>
                <a:sym typeface="Arial"/>
              </a:rPr>
              <a:t>friend</a:t>
            </a:r>
            <a:r>
              <a:rPr b="0" i="0" lang="en-US" sz="3500" u="none" cap="none" strike="noStrike">
                <a:solidFill>
                  <a:srgbClr val="FF9900"/>
                </a:solidFill>
                <a:latin typeface="Arial"/>
                <a:ea typeface="Arial"/>
                <a:cs typeface="Arial"/>
                <a:sym typeface="Arial"/>
              </a:rPr>
              <a:t> ahead</a:t>
            </a:r>
            <a:endParaRPr b="0" i="0" sz="1400" u="none" cap="none" strike="noStrike">
              <a:solidFill>
                <a:srgbClr val="000000"/>
              </a:solidFill>
              <a:latin typeface="Arial"/>
              <a:ea typeface="Arial"/>
              <a:cs typeface="Arial"/>
              <a:sym typeface="Arial"/>
            </a:endParaRPr>
          </a:p>
        </p:txBody>
      </p:sp>
      <p:sp>
        <p:nvSpPr>
          <p:cNvPr id="146" name="Google Shape;146;p10"/>
          <p:cNvSpPr txBox="1"/>
          <p:nvPr/>
        </p:nvSpPr>
        <p:spPr>
          <a:xfrm>
            <a:off x="8813800" y="1714500"/>
            <a:ext cx="7162799" cy="5702299"/>
          </a:xfrm>
          <a:prstGeom prst="rect">
            <a:avLst/>
          </a:prstGeom>
          <a:noFill/>
          <a:ln>
            <a:noFill/>
          </a:ln>
        </p:spPr>
        <p:txBody>
          <a:bodyPr anchorCtr="0" anchor="ctr" bIns="38100" lIns="38100" spcFirstLastPara="1" rIns="38100" wrap="square" tIns="38100">
            <a:noAutofit/>
          </a:bodyPr>
          <a:lstStyle/>
          <a:p>
            <a:pPr indent="-332994" lvl="0" marL="495300" marR="0" rtl="0" algn="l">
              <a:lnSpc>
                <a:spcPct val="100000"/>
              </a:lnSpc>
              <a:spcBef>
                <a:spcPts val="0"/>
              </a:spcBef>
              <a:spcAft>
                <a:spcPts val="0"/>
              </a:spcAft>
              <a:buClr>
                <a:schemeClr val="lt1"/>
              </a:buClr>
              <a:buSzPts val="3600"/>
              <a:buFont typeface="Cabin"/>
              <a:buChar char="•"/>
            </a:pPr>
            <a:r>
              <a:rPr b="0" i="0" lang="en-US" sz="3600" u="none" cap="none" strike="noStrike">
                <a:solidFill>
                  <a:schemeClr val="lt1"/>
                </a:solidFill>
                <a:latin typeface="Arial"/>
                <a:ea typeface="Arial"/>
                <a:cs typeface="Arial"/>
                <a:sym typeface="Arial"/>
              </a:rPr>
              <a:t>The </a:t>
            </a:r>
            <a:r>
              <a:rPr b="0" i="0" lang="en-US" sz="3600" u="none" cap="none" strike="noStrike">
                <a:solidFill>
                  <a:srgbClr val="00FF00"/>
                </a:solidFill>
                <a:latin typeface="Arial"/>
                <a:ea typeface="Arial"/>
                <a:cs typeface="Arial"/>
                <a:sym typeface="Arial"/>
              </a:rPr>
              <a:t>iteration variable </a:t>
            </a:r>
            <a:r>
              <a:rPr b="0" i="0" lang="en-US" sz="3600" u="none" cap="none" strike="noStrike">
                <a:solidFill>
                  <a:schemeClr val="lt1"/>
                </a:solidFill>
                <a:latin typeface="Arial"/>
                <a:ea typeface="Arial"/>
                <a:cs typeface="Arial"/>
                <a:sym typeface="Arial"/>
              </a:rPr>
              <a:t>“iterates” through the </a:t>
            </a:r>
            <a:r>
              <a:rPr b="0" i="0" lang="en-US" sz="3600" u="none" cap="none" strike="noStrike">
                <a:solidFill>
                  <a:srgbClr val="FF7F00"/>
                </a:solidFill>
                <a:latin typeface="Arial"/>
                <a:ea typeface="Arial"/>
                <a:cs typeface="Arial"/>
                <a:sym typeface="Arial"/>
              </a:rPr>
              <a:t>list</a:t>
            </a:r>
            <a:endParaRPr b="0" i="0" sz="3600" u="none" cap="none" strike="noStrike">
              <a:solidFill>
                <a:schemeClr val="lt1"/>
              </a:solidFill>
              <a:latin typeface="Arial"/>
              <a:ea typeface="Arial"/>
              <a:cs typeface="Arial"/>
              <a:sym typeface="Arial"/>
            </a:endParaRPr>
          </a:p>
          <a:p>
            <a:pPr indent="-332994" lvl="0" marL="495300" marR="0" rtl="0" algn="l">
              <a:lnSpc>
                <a:spcPct val="100000"/>
              </a:lnSpc>
              <a:spcBef>
                <a:spcPts val="3500"/>
              </a:spcBef>
              <a:spcAft>
                <a:spcPts val="0"/>
              </a:spcAft>
              <a:buClr>
                <a:schemeClr val="lt1"/>
              </a:buClr>
              <a:buSzPts val="3600"/>
              <a:buFont typeface="Cabin"/>
              <a:buChar char="•"/>
            </a:pPr>
            <a:r>
              <a:rPr b="0" i="0" lang="en-US" sz="3600" u="none" cap="none" strike="noStrike">
                <a:solidFill>
                  <a:schemeClr val="lt1"/>
                </a:solidFill>
                <a:latin typeface="Arial"/>
                <a:ea typeface="Arial"/>
                <a:cs typeface="Arial"/>
                <a:sym typeface="Arial"/>
              </a:rPr>
              <a:t>The </a:t>
            </a:r>
            <a:r>
              <a:rPr b="0" i="0" lang="en-US" sz="3600" u="none" cap="none" strike="noStrike">
                <a:solidFill>
                  <a:srgbClr val="FF00FF"/>
                </a:solidFill>
                <a:latin typeface="Arial"/>
                <a:ea typeface="Arial"/>
                <a:cs typeface="Arial"/>
                <a:sym typeface="Arial"/>
              </a:rPr>
              <a:t>block (body)</a:t>
            </a:r>
            <a:r>
              <a:rPr b="0" i="0" lang="en-US" sz="3600" u="none" cap="none" strike="noStrike">
                <a:solidFill>
                  <a:schemeClr val="lt1"/>
                </a:solidFill>
                <a:latin typeface="Arial"/>
                <a:ea typeface="Arial"/>
                <a:cs typeface="Arial"/>
                <a:sym typeface="Arial"/>
              </a:rPr>
              <a:t> of code is executed once for each value </a:t>
            </a:r>
            <a:r>
              <a:rPr b="0" i="0" lang="en-US" sz="3600" u="none" cap="none" strike="noStrike">
                <a:solidFill>
                  <a:srgbClr val="FFFF00"/>
                </a:solidFill>
                <a:latin typeface="Arial"/>
                <a:ea typeface="Arial"/>
                <a:cs typeface="Arial"/>
                <a:sym typeface="Arial"/>
              </a:rPr>
              <a:t>in</a:t>
            </a:r>
            <a:r>
              <a:rPr b="0" i="0" lang="en-US" sz="3600" u="none" cap="none" strike="noStrike">
                <a:solidFill>
                  <a:schemeClr val="lt1"/>
                </a:solidFill>
                <a:latin typeface="Arial"/>
                <a:ea typeface="Arial"/>
                <a:cs typeface="Arial"/>
                <a:sym typeface="Arial"/>
              </a:rPr>
              <a:t> the </a:t>
            </a:r>
            <a:r>
              <a:rPr b="0" i="0" lang="en-US" sz="3600" u="none" cap="none" strike="noStrike">
                <a:solidFill>
                  <a:srgbClr val="FF7F00"/>
                </a:solidFill>
                <a:latin typeface="Arial"/>
                <a:ea typeface="Arial"/>
                <a:cs typeface="Arial"/>
                <a:sym typeface="Arial"/>
              </a:rPr>
              <a:t>list</a:t>
            </a:r>
            <a:endParaRPr b="0" i="0" sz="3600" u="none" cap="none" strike="noStrike">
              <a:solidFill>
                <a:srgbClr val="FF7F00"/>
              </a:solidFill>
              <a:latin typeface="Arial"/>
              <a:ea typeface="Arial"/>
              <a:cs typeface="Arial"/>
              <a:sym typeface="Arial"/>
            </a:endParaRPr>
          </a:p>
          <a:p>
            <a:pPr indent="-332994" lvl="0" marL="495300" marR="0" rtl="0" algn="l">
              <a:lnSpc>
                <a:spcPct val="100000"/>
              </a:lnSpc>
              <a:spcBef>
                <a:spcPts val="3500"/>
              </a:spcBef>
              <a:spcAft>
                <a:spcPts val="0"/>
              </a:spcAft>
              <a:buClr>
                <a:schemeClr val="lt1"/>
              </a:buClr>
              <a:buSzPts val="3600"/>
              <a:buFont typeface="Cabin"/>
              <a:buChar char="•"/>
            </a:pPr>
            <a:r>
              <a:rPr b="0" i="0" lang="en-US" sz="3600" u="none" cap="none" strike="noStrike">
                <a:solidFill>
                  <a:schemeClr val="lt1"/>
                </a:solidFill>
                <a:latin typeface="Arial"/>
                <a:ea typeface="Arial"/>
                <a:cs typeface="Arial"/>
                <a:sym typeface="Arial"/>
              </a:rPr>
              <a:t>The </a:t>
            </a:r>
            <a:r>
              <a:rPr b="0" i="0" lang="en-US" sz="3600" u="none" cap="none" strike="noStrike">
                <a:solidFill>
                  <a:srgbClr val="00FF00"/>
                </a:solidFill>
                <a:latin typeface="Arial"/>
                <a:ea typeface="Arial"/>
                <a:cs typeface="Arial"/>
                <a:sym typeface="Arial"/>
              </a:rPr>
              <a:t>iteration variable </a:t>
            </a:r>
            <a:r>
              <a:rPr b="0" i="0" lang="en-US" sz="3600" u="none" cap="none" strike="noStrike">
                <a:solidFill>
                  <a:schemeClr val="lt1"/>
                </a:solidFill>
                <a:latin typeface="Arial"/>
                <a:ea typeface="Arial"/>
                <a:cs typeface="Arial"/>
                <a:sym typeface="Arial"/>
              </a:rPr>
              <a:t>moves through all of the values </a:t>
            </a:r>
            <a:r>
              <a:rPr b="0" i="0" lang="en-US" sz="3600" u="none" cap="none" strike="noStrike">
                <a:solidFill>
                  <a:srgbClr val="FFFF00"/>
                </a:solidFill>
                <a:latin typeface="Arial"/>
                <a:ea typeface="Arial"/>
                <a:cs typeface="Arial"/>
                <a:sym typeface="Arial"/>
              </a:rPr>
              <a:t>in</a:t>
            </a:r>
            <a:r>
              <a:rPr b="0" i="0" lang="en-US" sz="3600" u="none" cap="none" strike="noStrike">
                <a:solidFill>
                  <a:schemeClr val="lt1"/>
                </a:solidFill>
                <a:latin typeface="Arial"/>
                <a:ea typeface="Arial"/>
                <a:cs typeface="Arial"/>
                <a:sym typeface="Arial"/>
              </a:rPr>
              <a:t> the </a:t>
            </a:r>
            <a:r>
              <a:rPr b="0" i="0" lang="en-US" sz="3600" u="none" cap="none" strike="noStrike">
                <a:solidFill>
                  <a:srgbClr val="FF7F00"/>
                </a:solidFill>
                <a:latin typeface="Arial"/>
                <a:ea typeface="Arial"/>
                <a:cs typeface="Arial"/>
                <a:sym typeface="Arial"/>
              </a:rPr>
              <a:t>list</a:t>
            </a:r>
            <a:endParaRPr b="0" i="0" sz="3600" u="none" cap="none" strike="noStrike">
              <a:solidFill>
                <a:srgbClr val="FF7F00"/>
              </a:solidFill>
              <a:latin typeface="Arial"/>
              <a:ea typeface="Arial"/>
              <a:cs typeface="Arial"/>
              <a:sym typeface="Arial"/>
            </a:endParaRPr>
          </a:p>
        </p:txBody>
      </p:sp>
      <p:sp>
        <p:nvSpPr>
          <p:cNvPr id="147" name="Google Shape;147;p10"/>
          <p:cNvSpPr txBox="1"/>
          <p:nvPr/>
        </p:nvSpPr>
        <p:spPr>
          <a:xfrm>
            <a:off x="828674" y="6704000"/>
            <a:ext cx="7985125" cy="1108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for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friend</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friends</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 </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(‘Happy New Year’, </a:t>
            </a:r>
            <a:r>
              <a:rPr b="0" i="0" lang="en-US" sz="3000" u="none" cap="none" strike="noStrike">
                <a:solidFill>
                  <a:srgbClr val="00FF00"/>
                </a:solidFill>
                <a:latin typeface="Courier"/>
                <a:ea typeface="Courier"/>
                <a:cs typeface="Courier"/>
                <a:sym typeface="Courier"/>
              </a:rPr>
              <a:t>friend</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p:txBody>
      </p:sp>
      <p:cxnSp>
        <p:nvCxnSpPr>
          <p:cNvPr id="148" name="Google Shape;148;p10"/>
          <p:cNvCxnSpPr/>
          <p:nvPr/>
        </p:nvCxnSpPr>
        <p:spPr>
          <a:xfrm>
            <a:off x="4064025" y="2397125"/>
            <a:ext cx="396900" cy="3299"/>
          </a:xfrm>
          <a:prstGeom prst="straightConnector1">
            <a:avLst/>
          </a:prstGeom>
          <a:noFill/>
          <a:ln cap="rnd" cmpd="sng" w="76200">
            <a:solidFill>
              <a:srgbClr val="00FFFF"/>
            </a:solidFill>
            <a:prstDash val="solid"/>
            <a:miter lim="8000"/>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1"/>
          <p:cNvSpPr txBox="1"/>
          <p:nvPr>
            <p:ph type="title"/>
          </p:nvPr>
        </p:nvSpPr>
        <p:spPr>
          <a:xfrm>
            <a:off x="1155700" y="1536700"/>
            <a:ext cx="13931900" cy="503555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Loop Patterns</a:t>
            </a:r>
            <a:br>
              <a:rPr lang="en-US" sz="7600" u="none" cap="none" strike="noStrike">
                <a:solidFill>
                  <a:srgbClr val="00FF00"/>
                </a:solidFill>
                <a:latin typeface="Arial"/>
                <a:ea typeface="Arial"/>
                <a:cs typeface="Arial"/>
                <a:sym typeface="Arial"/>
              </a:rPr>
            </a:br>
            <a:r>
              <a:rPr lang="en-US" sz="4800" u="none" cap="none" strike="noStrike">
                <a:solidFill>
                  <a:schemeClr val="lt1"/>
                </a:solidFill>
                <a:latin typeface="Arial"/>
                <a:ea typeface="Arial"/>
                <a:cs typeface="Arial"/>
                <a:sym typeface="Arial"/>
              </a:rPr>
              <a:t>Even though these examples are simple, the patterns apply to all kinds of loops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Constructing </a:t>
            </a:r>
            <a:r>
              <a:rPr lang="en-US" sz="7600">
                <a:solidFill>
                  <a:srgbClr val="FFD966"/>
                </a:solidFill>
                <a:latin typeface="Arial"/>
                <a:ea typeface="Arial"/>
                <a:cs typeface="Arial"/>
                <a:sym typeface="Arial"/>
              </a:rPr>
              <a:t>L</a:t>
            </a:r>
            <a:r>
              <a:rPr lang="en-US" sz="7600" u="none" cap="none" strike="noStrike">
                <a:solidFill>
                  <a:srgbClr val="FFD966"/>
                </a:solidFill>
                <a:latin typeface="Arial"/>
                <a:ea typeface="Arial"/>
                <a:cs typeface="Arial"/>
                <a:sym typeface="Arial"/>
              </a:rPr>
              <a:t>oops</a:t>
            </a:r>
            <a:endParaRPr sz="7600" u="none" cap="none" strike="noStrike">
              <a:solidFill>
                <a:srgbClr val="FFD966"/>
              </a:solidFill>
              <a:latin typeface="Arial"/>
              <a:ea typeface="Arial"/>
              <a:cs typeface="Arial"/>
              <a:sym typeface="Arial"/>
            </a:endParaRPr>
          </a:p>
        </p:txBody>
      </p:sp>
      <p:sp>
        <p:nvSpPr>
          <p:cNvPr id="159" name="Google Shape;159;p12"/>
          <p:cNvSpPr txBox="1"/>
          <p:nvPr/>
        </p:nvSpPr>
        <p:spPr>
          <a:xfrm>
            <a:off x="1901825" y="2628900"/>
            <a:ext cx="5080000" cy="1181100"/>
          </a:xfrm>
          <a:prstGeom prst="rect">
            <a:avLst/>
          </a:prstGeom>
          <a:noFill/>
          <a:ln cap="rnd" cmpd="sng" w="50800">
            <a:solidFill>
              <a:srgbClr val="00FFFF"/>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25"/>
              <a:buFont typeface="Cabin"/>
              <a:buNone/>
            </a:pPr>
            <a:r>
              <a:rPr b="0" i="0" lang="en-US" sz="3300" u="none" cap="none" strike="noStrike">
                <a:solidFill>
                  <a:schemeClr val="lt1"/>
                </a:solidFill>
                <a:latin typeface="Arial"/>
                <a:ea typeface="Arial"/>
                <a:cs typeface="Arial"/>
                <a:sym typeface="Arial"/>
              </a:rPr>
              <a:t>Set some variables to initial values</a:t>
            </a:r>
            <a:endParaRPr b="0" i="0" sz="1400" u="none" cap="none" strike="noStrike">
              <a:solidFill>
                <a:srgbClr val="000000"/>
              </a:solidFill>
              <a:latin typeface="Arial"/>
              <a:ea typeface="Arial"/>
              <a:cs typeface="Arial"/>
              <a:sym typeface="Arial"/>
            </a:endParaRPr>
          </a:p>
        </p:txBody>
      </p:sp>
      <p:sp>
        <p:nvSpPr>
          <p:cNvPr id="160" name="Google Shape;160;p12"/>
          <p:cNvSpPr txBox="1"/>
          <p:nvPr/>
        </p:nvSpPr>
        <p:spPr>
          <a:xfrm>
            <a:off x="2524125" y="4584700"/>
            <a:ext cx="4406900" cy="2286000"/>
          </a:xfrm>
          <a:prstGeom prst="rect">
            <a:avLst/>
          </a:prstGeom>
          <a:noFill/>
          <a:ln cap="rnd" cmpd="sng" w="50800">
            <a:solidFill>
              <a:srgbClr val="00FFFF"/>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25"/>
              <a:buFont typeface="Cabin"/>
              <a:buNone/>
            </a:pPr>
            <a:r>
              <a:rPr b="0" i="0" lang="en-US" sz="3300" u="none" cap="none" strike="noStrike">
                <a:solidFill>
                  <a:schemeClr val="lt1"/>
                </a:solidFill>
                <a:latin typeface="Arial"/>
                <a:ea typeface="Arial"/>
                <a:cs typeface="Arial"/>
                <a:sym typeface="Arial"/>
              </a:rPr>
              <a:t>Look for something or do something to each entry separately, updating a variable</a:t>
            </a:r>
            <a:endParaRPr b="0" i="0" sz="1400" u="none" cap="none" strike="noStrike">
              <a:solidFill>
                <a:srgbClr val="000000"/>
              </a:solidFill>
              <a:latin typeface="Arial"/>
              <a:ea typeface="Arial"/>
              <a:cs typeface="Arial"/>
              <a:sym typeface="Arial"/>
            </a:endParaRPr>
          </a:p>
        </p:txBody>
      </p:sp>
      <p:sp>
        <p:nvSpPr>
          <p:cNvPr id="161" name="Google Shape;161;p12"/>
          <p:cNvSpPr txBox="1"/>
          <p:nvPr/>
        </p:nvSpPr>
        <p:spPr>
          <a:xfrm>
            <a:off x="1816100" y="3911600"/>
            <a:ext cx="3398838"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Arial"/>
                <a:ea typeface="Arial"/>
                <a:cs typeface="Arial"/>
                <a:sym typeface="Arial"/>
              </a:rPr>
              <a:t>for </a:t>
            </a:r>
            <a:r>
              <a:rPr b="0" i="0" lang="en-US" sz="3600" u="none" cap="none" strike="noStrike">
                <a:solidFill>
                  <a:srgbClr val="00FFFF"/>
                </a:solidFill>
                <a:latin typeface="Arial"/>
                <a:ea typeface="Arial"/>
                <a:cs typeface="Arial"/>
                <a:sym typeface="Arial"/>
              </a:rPr>
              <a:t>value </a:t>
            </a:r>
            <a:r>
              <a:rPr b="0" i="0" lang="en-US" sz="3600" u="none" cap="none" strike="noStrike">
                <a:solidFill>
                  <a:srgbClr val="FFFF00"/>
                </a:solidFill>
                <a:latin typeface="Arial"/>
                <a:ea typeface="Arial"/>
                <a:cs typeface="Arial"/>
                <a:sym typeface="Arial"/>
              </a:rPr>
              <a:t>in data:</a:t>
            </a:r>
            <a:endParaRPr b="0" i="0" sz="1400" u="none" cap="none" strike="noStrike">
              <a:solidFill>
                <a:srgbClr val="000000"/>
              </a:solidFill>
              <a:latin typeface="Arial"/>
              <a:ea typeface="Arial"/>
              <a:cs typeface="Arial"/>
              <a:sym typeface="Arial"/>
            </a:endParaRPr>
          </a:p>
        </p:txBody>
      </p:sp>
      <p:sp>
        <p:nvSpPr>
          <p:cNvPr id="162" name="Google Shape;162;p12"/>
          <p:cNvSpPr txBox="1"/>
          <p:nvPr/>
        </p:nvSpPr>
        <p:spPr>
          <a:xfrm>
            <a:off x="1901825" y="7213600"/>
            <a:ext cx="5080000" cy="1016000"/>
          </a:xfrm>
          <a:prstGeom prst="rect">
            <a:avLst/>
          </a:prstGeom>
          <a:noFill/>
          <a:ln cap="rnd" cmpd="sng" w="50800">
            <a:solidFill>
              <a:srgbClr val="00FFFF"/>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25"/>
              <a:buFont typeface="Cabin"/>
              <a:buNone/>
            </a:pPr>
            <a:r>
              <a:rPr b="0" i="0" lang="en-US" sz="3300" u="none" cap="none" strike="noStrike">
                <a:solidFill>
                  <a:schemeClr val="lt1"/>
                </a:solidFill>
                <a:latin typeface="Arial"/>
                <a:ea typeface="Arial"/>
                <a:cs typeface="Arial"/>
                <a:sym typeface="Arial"/>
              </a:rPr>
              <a:t>Look at the variables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Looping Through a Set</a:t>
            </a:r>
            <a:endParaRPr/>
          </a:p>
        </p:txBody>
      </p:sp>
      <p:sp>
        <p:nvSpPr>
          <p:cNvPr id="168" name="Google Shape;168;p13"/>
          <p:cNvSpPr txBox="1"/>
          <p:nvPr/>
        </p:nvSpPr>
        <p:spPr>
          <a:xfrm>
            <a:off x="1420525" y="3244325"/>
            <a:ext cx="7774500" cy="22160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'Before'</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for</a:t>
            </a:r>
            <a:r>
              <a:rPr b="0" i="0" lang="en-US" sz="2600" u="none" cap="none" strike="noStrike">
                <a:solidFill>
                  <a:srgbClr val="FF00FF"/>
                </a:solidFill>
                <a:latin typeface="Courier"/>
                <a:ea typeface="Courier"/>
                <a:cs typeface="Courier"/>
                <a:sym typeface="Courier"/>
              </a:rPr>
              <a:t> </a:t>
            </a:r>
            <a:r>
              <a:rPr b="0" i="0" lang="en-US" sz="2600" u="none" cap="none" strike="noStrike">
                <a:solidFill>
                  <a:srgbClr val="00FFFF"/>
                </a:solidFill>
                <a:latin typeface="Courier"/>
                <a:ea typeface="Courier"/>
                <a:cs typeface="Courier"/>
                <a:sym typeface="Courier"/>
              </a:rPr>
              <a:t>value </a:t>
            </a:r>
            <a:r>
              <a:rPr b="0" i="0" lang="en-US" sz="2600" u="none" cap="none" strike="noStrike">
                <a:solidFill>
                  <a:srgbClr val="FFFF00"/>
                </a:solidFill>
                <a:latin typeface="Courier"/>
                <a:ea typeface="Courier"/>
                <a:cs typeface="Courier"/>
                <a:sym typeface="Courier"/>
              </a:rPr>
              <a:t>in</a:t>
            </a:r>
            <a:r>
              <a:rPr b="0" i="0" lang="en-US" sz="2600" u="none" cap="none" strike="noStrike">
                <a:solidFill>
                  <a:srgbClr val="FF00FF"/>
                </a:solidFill>
                <a:latin typeface="Courier"/>
                <a:ea typeface="Courier"/>
                <a:cs typeface="Courier"/>
                <a:sym typeface="Courier"/>
              </a:rPr>
              <a:t> </a:t>
            </a:r>
            <a:r>
              <a:rPr b="0" i="0" lang="en-US" sz="2600" u="none" cap="none" strike="noStrike">
                <a:solidFill>
                  <a:srgbClr val="00FFFF"/>
                </a:solidFill>
                <a:latin typeface="Courier"/>
                <a:ea typeface="Courier"/>
                <a:cs typeface="Courier"/>
                <a:sym typeface="Courier"/>
              </a:rPr>
              <a:t>[9, 41, 12, 3, 74, 15] </a:t>
            </a:r>
            <a:r>
              <a:rPr b="0" i="0" lang="en-US" sz="26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FF"/>
                </a:solidFill>
                <a:latin typeface="Courier"/>
                <a:ea typeface="Courier"/>
                <a:cs typeface="Courier"/>
                <a:sym typeface="Courier"/>
              </a:rPr>
              <a:t>value</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'After'</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p:txBody>
      </p:sp>
      <p:sp>
        <p:nvSpPr>
          <p:cNvPr id="169" name="Google Shape;169;p13"/>
          <p:cNvSpPr txBox="1"/>
          <p:nvPr/>
        </p:nvSpPr>
        <p:spPr>
          <a:xfrm>
            <a:off x="10034586" y="2408237"/>
            <a:ext cx="4767264" cy="5483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Before</a:t>
            </a:r>
            <a:endParaRPr b="0" i="0" sz="3600" u="none" cap="none" strike="noStrike">
              <a:solidFill>
                <a:srgbClr val="FF7F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00FFFF"/>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00FFFF"/>
                </a:solidFill>
                <a:latin typeface="Arial"/>
                <a:ea typeface="Arial"/>
                <a:cs typeface="Arial"/>
                <a:sym typeface="Arial"/>
              </a:rPr>
              <a:t>41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00FFFF"/>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00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00FFFF"/>
                </a:solidFill>
                <a:latin typeface="Arial"/>
                <a:ea typeface="Arial"/>
                <a:cs typeface="Arial"/>
                <a:sym typeface="Arial"/>
              </a:rPr>
              <a:t>74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00FFFF"/>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After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a:solidFill>
                  <a:srgbClr val="FFD966"/>
                </a:solidFill>
                <a:latin typeface="Arial"/>
                <a:ea typeface="Arial"/>
                <a:cs typeface="Arial"/>
                <a:sym typeface="Arial"/>
              </a:rPr>
              <a:t>Finding the Largest Value</a:t>
            </a:r>
            <a:endParaRPr/>
          </a:p>
        </p:txBody>
      </p:sp>
      <p:sp>
        <p:nvSpPr>
          <p:cNvPr id="175" name="Google Shape;175;p14"/>
          <p:cNvSpPr txBox="1"/>
          <p:nvPr/>
        </p:nvSpPr>
        <p:spPr>
          <a:xfrm>
            <a:off x="428625" y="3009225"/>
            <a:ext cx="11944350" cy="332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FF"/>
              </a:buClr>
              <a:buSzPts val="650"/>
              <a:buFont typeface="Courier"/>
              <a:buNone/>
            </a:pPr>
            <a:r>
              <a:rPr b="0" i="0" lang="en-US" sz="2600" u="none" cap="none" strike="noStrike">
                <a:solidFill>
                  <a:srgbClr val="00FF00"/>
                </a:solidFill>
                <a:latin typeface="Courier"/>
                <a:ea typeface="Courier"/>
                <a:cs typeface="Courier"/>
                <a:sym typeface="Courier"/>
              </a:rPr>
              <a:t>largest = </a:t>
            </a:r>
            <a:r>
              <a:rPr b="0" i="0" lang="en-US" sz="2800" u="none" cap="none" strike="noStrike">
                <a:solidFill>
                  <a:srgbClr val="FFFF00"/>
                </a:solidFill>
                <a:latin typeface="Courier"/>
                <a:ea typeface="Courier"/>
                <a:cs typeface="Courier"/>
                <a:sym typeface="Courier"/>
              </a:rPr>
              <a:t>None</a:t>
            </a:r>
            <a:endParaRPr b="0" i="0" sz="26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'Before'</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for</a:t>
            </a:r>
            <a:r>
              <a:rPr b="0" i="0" lang="en-US" sz="2600" u="none" cap="none" strike="noStrike">
                <a:solidFill>
                  <a:srgbClr val="FF00FF"/>
                </a:solidFill>
                <a:latin typeface="Courier"/>
                <a:ea typeface="Courier"/>
                <a:cs typeface="Courier"/>
                <a:sym typeface="Courier"/>
              </a:rPr>
              <a:t> value </a:t>
            </a:r>
            <a:r>
              <a:rPr b="0" i="0" lang="en-US" sz="2600" u="none" cap="none" strike="noStrike">
                <a:solidFill>
                  <a:srgbClr val="FFFF00"/>
                </a:solidFill>
                <a:latin typeface="Courier"/>
                <a:ea typeface="Courier"/>
                <a:cs typeface="Courier"/>
                <a:sym typeface="Courier"/>
              </a:rPr>
              <a:t>in</a:t>
            </a:r>
            <a:r>
              <a:rPr b="0" i="0" lang="en-US" sz="2600" u="none" cap="none" strike="noStrike">
                <a:solidFill>
                  <a:srgbClr val="FF00FF"/>
                </a:solidFill>
                <a:latin typeface="Courier"/>
                <a:ea typeface="Courier"/>
                <a:cs typeface="Courier"/>
                <a:sym typeface="Courier"/>
              </a:rPr>
              <a:t> [9, 41, 12, 3, 74, 15]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00FF"/>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if</a:t>
            </a:r>
            <a:r>
              <a:rPr b="0" i="0" lang="en-US" sz="2600" u="none" cap="none" strike="noStrike">
                <a:solidFill>
                  <a:srgbClr val="00FF00"/>
                </a:solidFill>
                <a:latin typeface="Courier"/>
                <a:ea typeface="Courier"/>
                <a:cs typeface="Courier"/>
                <a:sym typeface="Courier"/>
              </a:rPr>
              <a:t> largest </a:t>
            </a:r>
            <a:r>
              <a:rPr b="0" i="0" lang="en-US" sz="2600" u="none" cap="none" strike="noStrike">
                <a:solidFill>
                  <a:srgbClr val="FFFF00"/>
                </a:solidFill>
                <a:latin typeface="Courier"/>
                <a:ea typeface="Courier"/>
                <a:cs typeface="Courier"/>
                <a:sym typeface="Courier"/>
              </a:rPr>
              <a:t>is</a:t>
            </a:r>
            <a:r>
              <a:rPr b="0" i="0" lang="en-US" sz="2600" u="none" cap="none" strike="noStrike">
                <a:solidFill>
                  <a:srgbClr val="00FF00"/>
                </a:solidFill>
                <a:latin typeface="Courier"/>
                <a:ea typeface="Courier"/>
                <a:cs typeface="Courier"/>
                <a:sym typeface="Courier"/>
              </a:rPr>
              <a:t> None</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00FF"/>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ourier"/>
              <a:buNone/>
            </a:pPr>
            <a:r>
              <a:rPr b="0" i="0" lang="en-US" sz="2600" u="none" cap="none" strike="noStrike">
                <a:solidFill>
                  <a:srgbClr val="00FF00"/>
                </a:solidFill>
                <a:latin typeface="Courier"/>
                <a:ea typeface="Courier"/>
                <a:cs typeface="Courier"/>
                <a:sym typeface="Courier"/>
              </a:rPr>
              <a:t>        largest </a:t>
            </a:r>
            <a:r>
              <a:rPr b="0" i="0" lang="en-US" sz="2600" u="none" cap="none" strike="noStrike">
                <a:solidFill>
                  <a:srgbClr val="FF00FF"/>
                </a:solidFill>
                <a:latin typeface="Courier"/>
                <a:ea typeface="Courier"/>
                <a:cs typeface="Courier"/>
                <a:sym typeface="Courier"/>
              </a:rPr>
              <a:t>= value</a:t>
            </a:r>
            <a:endParaRPr b="0" i="0" sz="26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650"/>
              <a:buFont typeface="Courier"/>
              <a:buNone/>
            </a:pPr>
            <a:r>
              <a:rPr b="0" i="0" lang="en-US" sz="2600" u="none" cap="none" strike="noStrike">
                <a:solidFill>
                  <a:srgbClr val="FF00FF"/>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elif</a:t>
            </a:r>
            <a:r>
              <a:rPr b="0" i="0" lang="en-US" sz="2600" u="none" cap="none" strike="noStrike">
                <a:solidFill>
                  <a:srgbClr val="FF00FF"/>
                </a:solidFill>
                <a:latin typeface="Courier"/>
                <a:ea typeface="Courier"/>
                <a:cs typeface="Courier"/>
                <a:sym typeface="Courier"/>
              </a:rPr>
              <a:t> value &gt; </a:t>
            </a:r>
            <a:r>
              <a:rPr b="0" i="0" lang="en-US" sz="2600" u="none" cap="none" strike="noStrike">
                <a:solidFill>
                  <a:srgbClr val="00FF00"/>
                </a:solidFill>
                <a:latin typeface="Courier"/>
                <a:ea typeface="Courier"/>
                <a:cs typeface="Courier"/>
                <a:sym typeface="Courier"/>
              </a:rPr>
              <a:t>largest</a:t>
            </a:r>
            <a:r>
              <a:rPr b="0" i="0" lang="en-US" sz="2600" u="none" cap="none" strike="noStrike">
                <a:solidFill>
                  <a:srgbClr val="FF00FF"/>
                </a:solidFill>
                <a:latin typeface="Courier"/>
                <a:ea typeface="Courier"/>
                <a:cs typeface="Courier"/>
                <a:sym typeface="Courier"/>
              </a:rPr>
              <a:t>: </a:t>
            </a:r>
            <a:endParaRPr b="0" i="0" sz="26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650"/>
              <a:buFont typeface="Courier"/>
              <a:buNone/>
            </a:pPr>
            <a:r>
              <a:rPr b="0" i="0" lang="en-US" sz="2600" u="none" cap="none" strike="noStrike">
                <a:solidFill>
                  <a:srgbClr val="00FF00"/>
                </a:solidFill>
                <a:latin typeface="Courier"/>
                <a:ea typeface="Courier"/>
                <a:cs typeface="Courier"/>
                <a:sym typeface="Courier"/>
              </a:rPr>
              <a:t>        largest </a:t>
            </a:r>
            <a:r>
              <a:rPr b="0" i="0" lang="en-US" sz="2600" u="none" cap="none" strike="noStrike">
                <a:solidFill>
                  <a:srgbClr val="FF00FF"/>
                </a:solidFill>
                <a:latin typeface="Courier"/>
                <a:ea typeface="Courier"/>
                <a:cs typeface="Courier"/>
                <a:sym typeface="Courier"/>
              </a:rPr>
              <a:t>= value</a:t>
            </a:r>
            <a:endParaRPr b="0" i="0" sz="26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650"/>
              <a:buFont typeface="Courier"/>
              <a:buNone/>
            </a:pPr>
            <a:r>
              <a:rPr b="0" i="0" lang="en-US" sz="2600" u="none" cap="none" strike="noStrike">
                <a:solidFill>
                  <a:srgbClr val="FF00FF"/>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00"/>
                </a:solidFill>
                <a:latin typeface="Courier"/>
                <a:ea typeface="Courier"/>
                <a:cs typeface="Courier"/>
                <a:sym typeface="Courier"/>
              </a:rPr>
              <a:t>largest,</a:t>
            </a:r>
            <a:r>
              <a:rPr b="0" i="0" lang="en-US" sz="2600" u="none" cap="none" strike="noStrike">
                <a:solidFill>
                  <a:srgbClr val="FF00FF"/>
                </a:solidFill>
                <a:latin typeface="Courier"/>
                <a:ea typeface="Courier"/>
                <a:cs typeface="Courier"/>
                <a:sym typeface="Courier"/>
              </a:rPr>
              <a:t> value</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600"/>
              <a:buFont typeface="Cabin"/>
              <a:buNone/>
            </a:pPr>
            <a:r>
              <a:t/>
            </a:r>
            <a:endParaRPr b="0" i="0" sz="26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'After', </a:t>
            </a:r>
            <a:r>
              <a:rPr b="0" i="0" lang="en-US" sz="2600" u="none" cap="none" strike="noStrike">
                <a:solidFill>
                  <a:srgbClr val="00FF00"/>
                </a:solidFill>
                <a:latin typeface="Courier"/>
                <a:ea typeface="Courier"/>
                <a:cs typeface="Courier"/>
                <a:sym typeface="Courier"/>
              </a:rPr>
              <a:t>largest</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p:txBody>
      </p:sp>
      <p:sp>
        <p:nvSpPr>
          <p:cNvPr id="176" name="Google Shape;176;p14"/>
          <p:cNvSpPr txBox="1"/>
          <p:nvPr/>
        </p:nvSpPr>
        <p:spPr>
          <a:xfrm>
            <a:off x="12690475" y="2286000"/>
            <a:ext cx="2973649" cy="49862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750"/>
              <a:buFont typeface="Arial"/>
              <a:buNone/>
            </a:pPr>
            <a:r>
              <a:rPr b="0" i="0" lang="en-US" sz="3000" u="none" cap="none" strike="noStrike">
                <a:solidFill>
                  <a:srgbClr val="FF7F00"/>
                </a:solidFill>
                <a:latin typeface="Arial"/>
                <a:ea typeface="Arial"/>
                <a:cs typeface="Arial"/>
                <a:sym typeface="Arial"/>
              </a:rPr>
              <a:t>Before</a:t>
            </a:r>
            <a:endParaRPr b="0" i="0" sz="3000" u="none" cap="none" strike="noStrike">
              <a:solidFill>
                <a:srgbClr val="00FFFF"/>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00"/>
                </a:solidFill>
                <a:latin typeface="Arial"/>
                <a:ea typeface="Arial"/>
                <a:cs typeface="Arial"/>
                <a:sym typeface="Arial"/>
              </a:rPr>
              <a:t>9</a:t>
            </a:r>
            <a:r>
              <a:rPr b="0" i="0" lang="en-US" sz="3000" u="none" cap="none" strike="noStrike">
                <a:solidFill>
                  <a:srgbClr val="00FFFF"/>
                </a:solidFill>
                <a:latin typeface="Arial"/>
                <a:ea typeface="Arial"/>
                <a:cs typeface="Arial"/>
                <a:sym typeface="Arial"/>
              </a:rPr>
              <a:t>  </a:t>
            </a:r>
            <a:r>
              <a:rPr b="0" i="0" lang="en-US" sz="3000" u="none" cap="none" strike="noStrike">
                <a:solidFill>
                  <a:srgbClr val="FF00FF"/>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00"/>
                </a:solidFill>
                <a:latin typeface="Arial"/>
                <a:ea typeface="Arial"/>
                <a:cs typeface="Arial"/>
                <a:sym typeface="Arial"/>
              </a:rPr>
              <a:t>41</a:t>
            </a:r>
            <a:r>
              <a:rPr b="0" i="0" lang="en-US" sz="3000" u="none" cap="none" strike="noStrike">
                <a:solidFill>
                  <a:srgbClr val="FF00FF"/>
                </a:solidFill>
                <a:latin typeface="Arial"/>
                <a:ea typeface="Arial"/>
                <a:cs typeface="Arial"/>
                <a:sym typeface="Arial"/>
              </a:rPr>
              <a:t>  41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00"/>
                </a:solidFill>
                <a:latin typeface="Arial"/>
                <a:ea typeface="Arial"/>
                <a:cs typeface="Arial"/>
                <a:sym typeface="Arial"/>
              </a:rPr>
              <a:t>41</a:t>
            </a:r>
            <a:r>
              <a:rPr b="0" i="0" lang="en-US" sz="3000" u="none" cap="none" strike="noStrike">
                <a:solidFill>
                  <a:srgbClr val="FF00FF"/>
                </a:solidFill>
                <a:latin typeface="Arial"/>
                <a:ea typeface="Arial"/>
                <a:cs typeface="Arial"/>
                <a:sym typeface="Arial"/>
              </a:rPr>
              <a:t> 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00"/>
                </a:solidFill>
                <a:latin typeface="Arial"/>
                <a:ea typeface="Arial"/>
                <a:cs typeface="Arial"/>
                <a:sym typeface="Arial"/>
              </a:rPr>
              <a:t>41</a:t>
            </a:r>
            <a:r>
              <a:rPr b="0" i="0" lang="en-US" sz="3000" u="none" cap="none" strike="noStrike">
                <a:solidFill>
                  <a:srgbClr val="00FFFF"/>
                </a:solidFill>
                <a:latin typeface="Arial"/>
                <a:ea typeface="Arial"/>
                <a:cs typeface="Arial"/>
                <a:sym typeface="Arial"/>
              </a:rPr>
              <a:t>  </a:t>
            </a:r>
            <a:r>
              <a:rPr b="0" i="0" lang="en-US" sz="3000" u="none" cap="none" strike="noStrike">
                <a:solidFill>
                  <a:srgbClr val="FF00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00"/>
                </a:solidFill>
                <a:latin typeface="Arial"/>
                <a:ea typeface="Arial"/>
                <a:cs typeface="Arial"/>
                <a:sym typeface="Arial"/>
              </a:rPr>
              <a:t>74</a:t>
            </a:r>
            <a:r>
              <a:rPr b="0" i="0" lang="en-US" sz="3000" u="none" cap="none" strike="noStrike">
                <a:solidFill>
                  <a:srgbClr val="00FFFF"/>
                </a:solidFill>
                <a:latin typeface="Arial"/>
                <a:ea typeface="Arial"/>
                <a:cs typeface="Arial"/>
                <a:sym typeface="Arial"/>
              </a:rPr>
              <a:t>  </a:t>
            </a:r>
            <a:r>
              <a:rPr b="0" i="0" lang="en-US" sz="3000" u="none" cap="none" strike="noStrike">
                <a:solidFill>
                  <a:srgbClr val="FF00FF"/>
                </a:solidFill>
                <a:latin typeface="Arial"/>
                <a:ea typeface="Arial"/>
                <a:cs typeface="Arial"/>
                <a:sym typeface="Arial"/>
              </a:rPr>
              <a:t>74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00"/>
                </a:solidFill>
                <a:latin typeface="Arial"/>
                <a:ea typeface="Arial"/>
                <a:cs typeface="Arial"/>
                <a:sym typeface="Arial"/>
              </a:rPr>
              <a:t>74</a:t>
            </a:r>
            <a:r>
              <a:rPr b="0" i="0" lang="en-US" sz="3000" u="none" cap="none" strike="noStrike">
                <a:solidFill>
                  <a:srgbClr val="00FFFF"/>
                </a:solidFill>
                <a:latin typeface="Arial"/>
                <a:ea typeface="Arial"/>
                <a:cs typeface="Arial"/>
                <a:sym typeface="Arial"/>
              </a:rPr>
              <a:t>  </a:t>
            </a:r>
            <a:r>
              <a:rPr b="0" i="0" lang="en-US" sz="3000" u="none" cap="none" strike="noStrike">
                <a:solidFill>
                  <a:srgbClr val="FF00FF"/>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7F00"/>
                </a:solidFill>
                <a:latin typeface="Arial"/>
                <a:ea typeface="Arial"/>
                <a:cs typeface="Arial"/>
                <a:sym typeface="Arial"/>
              </a:rPr>
              <a:t>After </a:t>
            </a:r>
            <a:r>
              <a:rPr b="0" i="0" lang="en-US" sz="3000" u="none" cap="none" strike="noStrike">
                <a:solidFill>
                  <a:srgbClr val="00FFFF"/>
                </a:solidFill>
                <a:latin typeface="Arial"/>
                <a:ea typeface="Arial"/>
                <a:cs typeface="Arial"/>
                <a:sym typeface="Arial"/>
              </a:rPr>
              <a:t>74</a:t>
            </a:r>
            <a:endParaRPr b="0" i="0" sz="1400" u="none" cap="none" strike="noStrike">
              <a:solidFill>
                <a:srgbClr val="000000"/>
              </a:solidFill>
              <a:latin typeface="Arial"/>
              <a:ea typeface="Arial"/>
              <a:cs typeface="Arial"/>
              <a:sym typeface="Arial"/>
            </a:endParaRPr>
          </a:p>
        </p:txBody>
      </p:sp>
      <p:sp>
        <p:nvSpPr>
          <p:cNvPr id="177" name="Google Shape;177;p14"/>
          <p:cNvSpPr txBox="1"/>
          <p:nvPr/>
        </p:nvSpPr>
        <p:spPr>
          <a:xfrm>
            <a:off x="906525" y="7194550"/>
            <a:ext cx="14757598" cy="1306513"/>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chemeClr val="lt1"/>
              </a:buClr>
              <a:buSzPts val="750"/>
              <a:buFont typeface="Cabin"/>
              <a:buNone/>
            </a:pPr>
            <a:r>
              <a:rPr b="0" i="0" lang="en-US" sz="3000" u="none" cap="none" strike="noStrike">
                <a:solidFill>
                  <a:schemeClr val="lt1"/>
                </a:solidFill>
                <a:latin typeface="Arial"/>
                <a:ea typeface="Arial"/>
                <a:cs typeface="Arial"/>
                <a:sym typeface="Arial"/>
              </a:rPr>
              <a:t>We make a </a:t>
            </a:r>
            <a:r>
              <a:rPr b="0" i="0" lang="en-US" sz="3000" u="none" cap="none" strike="noStrike">
                <a:solidFill>
                  <a:schemeClr val="accent1"/>
                </a:solidFill>
                <a:latin typeface="Arial"/>
                <a:ea typeface="Arial"/>
                <a:cs typeface="Arial"/>
                <a:sym typeface="Arial"/>
              </a:rPr>
              <a:t>variable</a:t>
            </a:r>
            <a:r>
              <a:rPr b="0" i="0" lang="en-US" sz="3000" u="none" cap="none" strike="noStrike">
                <a:solidFill>
                  <a:schemeClr val="lt1"/>
                </a:solidFill>
                <a:latin typeface="Arial"/>
                <a:ea typeface="Arial"/>
                <a:cs typeface="Arial"/>
                <a:sym typeface="Arial"/>
              </a:rPr>
              <a:t> that contains the </a:t>
            </a:r>
            <a:r>
              <a:rPr b="0" i="0" lang="en-US" sz="3000" u="none" cap="none" strike="noStrike">
                <a:solidFill>
                  <a:schemeClr val="accent1"/>
                </a:solidFill>
                <a:latin typeface="Arial"/>
                <a:ea typeface="Arial"/>
                <a:cs typeface="Arial"/>
                <a:sym typeface="Arial"/>
              </a:rPr>
              <a:t>largest value we have seen so far</a:t>
            </a:r>
            <a:r>
              <a:rPr b="0" i="0" lang="en-US" sz="3000" u="none" cap="none" strike="noStrike">
                <a:solidFill>
                  <a:schemeClr val="lt1"/>
                </a:solidFill>
                <a:latin typeface="Arial"/>
                <a:ea typeface="Arial"/>
                <a:cs typeface="Arial"/>
                <a:sym typeface="Arial"/>
              </a:rPr>
              <a:t>. If the current </a:t>
            </a:r>
            <a:r>
              <a:rPr b="0" i="0" lang="en-US" sz="3000" u="none" cap="none" strike="noStrike">
                <a:solidFill>
                  <a:srgbClr val="FF00FF"/>
                </a:solidFill>
                <a:latin typeface="Arial"/>
                <a:ea typeface="Arial"/>
                <a:cs typeface="Arial"/>
                <a:sym typeface="Arial"/>
              </a:rPr>
              <a:t>number we are looking at</a:t>
            </a:r>
            <a:r>
              <a:rPr b="0" i="0" lang="en-US" sz="3000" u="none" cap="none" strike="noStrike">
                <a:solidFill>
                  <a:schemeClr val="lt1"/>
                </a:solidFill>
                <a:latin typeface="Arial"/>
                <a:ea typeface="Arial"/>
                <a:cs typeface="Arial"/>
                <a:sym typeface="Arial"/>
              </a:rPr>
              <a:t> is larger, it is the new </a:t>
            </a:r>
            <a:r>
              <a:rPr b="0" i="0" lang="en-US" sz="3000" u="none" cap="none" strike="noStrike">
                <a:solidFill>
                  <a:srgbClr val="00FF00"/>
                </a:solidFill>
                <a:latin typeface="Arial"/>
                <a:ea typeface="Arial"/>
                <a:cs typeface="Arial"/>
                <a:sym typeface="Arial"/>
              </a:rPr>
              <a:t>largest value we have seen so far</a:t>
            </a:r>
            <a:r>
              <a:rPr b="0" i="0" lang="en-US" sz="3000" u="none" cap="none" strike="noStrike">
                <a:solidFill>
                  <a:schemeClr val="l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5"/>
          <p:cNvSpPr txBox="1"/>
          <p:nvPr/>
        </p:nvSpPr>
        <p:spPr>
          <a:xfrm>
            <a:off x="1459175" y="2133500"/>
            <a:ext cx="7748399" cy="49847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00"/>
                </a:solidFill>
                <a:latin typeface="Courier"/>
                <a:ea typeface="Courier"/>
                <a:cs typeface="Courier"/>
                <a:sym typeface="Courier"/>
              </a:rPr>
              <a:t>smallest =</a:t>
            </a:r>
            <a:r>
              <a:rPr b="0" i="0" lang="en-US" sz="2600" u="none" cap="none" strike="noStrike">
                <a:solidFill>
                  <a:srgbClr val="FF7F00"/>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None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'Before'</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for</a:t>
            </a:r>
            <a:r>
              <a:rPr b="0" i="0" lang="en-US" sz="2600" u="none" cap="none" strike="noStrike">
                <a:solidFill>
                  <a:srgbClr val="FF00FF"/>
                </a:solidFill>
                <a:latin typeface="Courier"/>
                <a:ea typeface="Courier"/>
                <a:cs typeface="Courier"/>
                <a:sym typeface="Courier"/>
              </a:rPr>
              <a:t> value </a:t>
            </a:r>
            <a:r>
              <a:rPr b="0" i="0" lang="en-US" sz="2600" u="none" cap="none" strike="noStrike">
                <a:solidFill>
                  <a:schemeClr val="lt1"/>
                </a:solidFill>
                <a:latin typeface="Courier"/>
                <a:ea typeface="Courier"/>
                <a:cs typeface="Courier"/>
                <a:sym typeface="Courier"/>
              </a:rPr>
              <a:t>in</a:t>
            </a:r>
            <a:r>
              <a:rPr b="0" i="0" lang="en-US" sz="2600" u="none" cap="none" strike="noStrike">
                <a:solidFill>
                  <a:srgbClr val="FF00FF"/>
                </a:solidFill>
                <a:latin typeface="Courier"/>
                <a:ea typeface="Courier"/>
                <a:cs typeface="Courier"/>
                <a:sym typeface="Courier"/>
              </a:rPr>
              <a:t> [9, 41, 12, 3, 74, 15]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if</a:t>
            </a:r>
            <a:r>
              <a:rPr b="0" i="0" lang="en-US" sz="2600" u="none" cap="none" strike="noStrike">
                <a:solidFill>
                  <a:srgbClr val="00FF00"/>
                </a:solidFill>
                <a:latin typeface="Courier"/>
                <a:ea typeface="Courier"/>
                <a:cs typeface="Courier"/>
                <a:sym typeface="Courier"/>
              </a:rPr>
              <a:t> smallest </a:t>
            </a:r>
            <a:r>
              <a:rPr b="0" i="0" lang="en-US" sz="2600" u="none" cap="none" strike="noStrike">
                <a:solidFill>
                  <a:srgbClr val="FFFF00"/>
                </a:solidFill>
                <a:latin typeface="Courier"/>
                <a:ea typeface="Courier"/>
                <a:cs typeface="Courier"/>
                <a:sym typeface="Courier"/>
              </a:rPr>
              <a:t>is</a:t>
            </a:r>
            <a:r>
              <a:rPr b="0" i="0" lang="en-US" sz="2600" u="none" cap="none" strike="noStrike">
                <a:solidFill>
                  <a:srgbClr val="00FF00"/>
                </a:solidFill>
                <a:latin typeface="Courier"/>
                <a:ea typeface="Courier"/>
                <a:cs typeface="Courier"/>
                <a:sym typeface="Courier"/>
              </a:rPr>
              <a:t> None</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00FF"/>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00"/>
                </a:solidFill>
                <a:latin typeface="Courier"/>
                <a:ea typeface="Courier"/>
                <a:cs typeface="Courier"/>
                <a:sym typeface="Courier"/>
              </a:rPr>
              <a:t>        smallest </a:t>
            </a:r>
            <a:r>
              <a:rPr b="0" i="0" lang="en-US" sz="2600" u="none" cap="none" strike="noStrike">
                <a:solidFill>
                  <a:srgbClr val="FF00FF"/>
                </a:solidFill>
                <a:latin typeface="Courier"/>
                <a:ea typeface="Courier"/>
                <a:cs typeface="Courier"/>
                <a:sym typeface="Courier"/>
              </a:rPr>
              <a:t>=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elif</a:t>
            </a:r>
            <a:r>
              <a:rPr b="0" i="0" lang="en-US" sz="2600" u="none" cap="none" strike="noStrike">
                <a:solidFill>
                  <a:srgbClr val="FF00FF"/>
                </a:solidFill>
                <a:latin typeface="Courier"/>
                <a:ea typeface="Courier"/>
                <a:cs typeface="Courier"/>
                <a:sym typeface="Courier"/>
              </a:rPr>
              <a:t> value &lt; </a:t>
            </a:r>
            <a:r>
              <a:rPr b="0" i="0" lang="en-US" sz="2600" u="none" cap="none" strike="noStrike">
                <a:solidFill>
                  <a:srgbClr val="00FF00"/>
                </a:solidFill>
                <a:latin typeface="Courier"/>
                <a:ea typeface="Courier"/>
                <a:cs typeface="Courier"/>
                <a:sym typeface="Courier"/>
              </a:rPr>
              <a:t>smallest</a:t>
            </a:r>
            <a:r>
              <a:rPr b="0" i="0" lang="en-US" sz="2600" u="none" cap="none" strike="noStrike">
                <a:solidFill>
                  <a:srgbClr val="FF00FF"/>
                </a:solidFill>
                <a:latin typeface="Courier"/>
                <a:ea typeface="Courier"/>
                <a:cs typeface="Courier"/>
                <a:sym typeface="Courier"/>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00"/>
                </a:solidFill>
                <a:latin typeface="Courier"/>
                <a:ea typeface="Courier"/>
                <a:cs typeface="Courier"/>
                <a:sym typeface="Courier"/>
              </a:rPr>
              <a:t>        smallest</a:t>
            </a:r>
            <a:r>
              <a:rPr b="0" i="0" lang="en-US" sz="2600" u="none" cap="none" strike="noStrike">
                <a:solidFill>
                  <a:srgbClr val="FF00FF"/>
                </a:solidFill>
                <a:latin typeface="Courier"/>
                <a:ea typeface="Courier"/>
                <a:cs typeface="Courier"/>
                <a:sym typeface="Courier"/>
              </a:rPr>
              <a:t> =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00"/>
                </a:solidFill>
                <a:latin typeface="Courier"/>
                <a:ea typeface="Courier"/>
                <a:cs typeface="Courier"/>
                <a:sym typeface="Courier"/>
              </a:rPr>
              <a:t>smallest, </a:t>
            </a:r>
            <a:r>
              <a:rPr b="0" i="0" lang="en-US" sz="2600" u="none" cap="none" strike="noStrike">
                <a:solidFill>
                  <a:srgbClr val="FF00FF"/>
                </a:solidFill>
                <a:latin typeface="Courier"/>
                <a:ea typeface="Courier"/>
                <a:cs typeface="Courier"/>
                <a:sym typeface="Courier"/>
              </a:rPr>
              <a:t>value</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'After', </a:t>
            </a:r>
            <a:r>
              <a:rPr b="0" i="0" lang="en-US" sz="2600" u="none" cap="none" strike="noStrike">
                <a:solidFill>
                  <a:srgbClr val="00FF00"/>
                </a:solidFill>
                <a:latin typeface="Courier"/>
                <a:ea typeface="Courier"/>
                <a:cs typeface="Courier"/>
                <a:sym typeface="Courier"/>
              </a:rPr>
              <a:t>smallest</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p:txBody>
      </p:sp>
      <p:sp>
        <p:nvSpPr>
          <p:cNvPr id="183" name="Google Shape;183;p15"/>
          <p:cNvSpPr txBox="1"/>
          <p:nvPr/>
        </p:nvSpPr>
        <p:spPr>
          <a:xfrm>
            <a:off x="10225086" y="2327275"/>
            <a:ext cx="3797399" cy="49847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7F00"/>
                </a:solidFill>
                <a:latin typeface="Arial"/>
                <a:ea typeface="Arial"/>
                <a:cs typeface="Arial"/>
                <a:sym typeface="Arial"/>
              </a:rPr>
              <a:t>Before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9</a:t>
            </a:r>
            <a:r>
              <a:rPr b="0" i="0" lang="en-US" sz="3000" u="none" cap="none" strike="noStrike">
                <a:solidFill>
                  <a:srgbClr val="FF00FF"/>
                </a:solidFill>
                <a:latin typeface="Arial"/>
                <a:ea typeface="Arial"/>
                <a:cs typeface="Arial"/>
                <a:sym typeface="Arial"/>
              </a:rPr>
              <a:t> 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9</a:t>
            </a:r>
            <a:r>
              <a:rPr b="0" i="0" lang="en-US" sz="3000" u="none" cap="none" strike="noStrike">
                <a:solidFill>
                  <a:srgbClr val="FF00FF"/>
                </a:solidFill>
                <a:latin typeface="Arial"/>
                <a:ea typeface="Arial"/>
                <a:cs typeface="Arial"/>
                <a:sym typeface="Arial"/>
              </a:rPr>
              <a:t> 41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9</a:t>
            </a:r>
            <a:r>
              <a:rPr b="0" i="0" lang="en-US" sz="3000" u="none" cap="none" strike="noStrike">
                <a:solidFill>
                  <a:srgbClr val="FF00FF"/>
                </a:solidFill>
                <a:latin typeface="Arial"/>
                <a:ea typeface="Arial"/>
                <a:cs typeface="Arial"/>
                <a:sym typeface="Arial"/>
              </a:rPr>
              <a:t> 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3</a:t>
            </a:r>
            <a:r>
              <a:rPr b="0" i="0" lang="en-US" sz="3000" u="none" cap="none" strike="noStrike">
                <a:solidFill>
                  <a:srgbClr val="FF00FF"/>
                </a:solidFill>
                <a:latin typeface="Arial"/>
                <a:ea typeface="Arial"/>
                <a:cs typeface="Arial"/>
                <a:sym typeface="Arial"/>
              </a:rPr>
              <a:t>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3</a:t>
            </a:r>
            <a:r>
              <a:rPr b="0" i="0" lang="en-US" sz="3000" u="none" cap="none" strike="noStrike">
                <a:solidFill>
                  <a:srgbClr val="FF00FF"/>
                </a:solidFill>
                <a:latin typeface="Arial"/>
                <a:ea typeface="Arial"/>
                <a:cs typeface="Arial"/>
                <a:sym typeface="Arial"/>
              </a:rPr>
              <a:t> 74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3</a:t>
            </a:r>
            <a:r>
              <a:rPr b="0" i="0" lang="en-US" sz="3000" u="none" cap="none" strike="noStrike">
                <a:solidFill>
                  <a:srgbClr val="FF00FF"/>
                </a:solidFill>
                <a:latin typeface="Arial"/>
                <a:ea typeface="Arial"/>
                <a:cs typeface="Arial"/>
                <a:sym typeface="Arial"/>
              </a:rPr>
              <a:t> 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7F00"/>
                </a:solidFill>
                <a:latin typeface="Arial"/>
                <a:ea typeface="Arial"/>
                <a:cs typeface="Arial"/>
                <a:sym typeface="Arial"/>
              </a:rPr>
              <a:t>After </a:t>
            </a:r>
            <a:r>
              <a:rPr b="0" i="0" lang="en-US" sz="3000" u="none" cap="none" strike="noStrike">
                <a:solidFill>
                  <a:srgbClr val="00FF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184" name="Google Shape;184;p15"/>
          <p:cNvSpPr txBox="1"/>
          <p:nvPr/>
        </p:nvSpPr>
        <p:spPr>
          <a:xfrm>
            <a:off x="695325" y="7118299"/>
            <a:ext cx="14859000" cy="1168451"/>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We still have a variable that is the </a:t>
            </a:r>
            <a:r>
              <a:rPr b="0" i="0" lang="en-US" sz="3200" u="none" cap="none" strike="noStrike">
                <a:solidFill>
                  <a:srgbClr val="00FF00"/>
                </a:solidFill>
                <a:latin typeface="Arial"/>
                <a:ea typeface="Arial"/>
                <a:cs typeface="Arial"/>
                <a:sym typeface="Arial"/>
              </a:rPr>
              <a:t>smallest</a:t>
            </a:r>
            <a:r>
              <a:rPr b="0" i="0" lang="en-US" sz="3200" u="none" cap="none" strike="noStrike">
                <a:solidFill>
                  <a:schemeClr val="lt1"/>
                </a:solidFill>
                <a:latin typeface="Arial"/>
                <a:ea typeface="Arial"/>
                <a:cs typeface="Arial"/>
                <a:sym typeface="Arial"/>
              </a:rPr>
              <a:t> so far.  The first time through the loop </a:t>
            </a:r>
            <a:r>
              <a:rPr b="0" i="0" lang="en-US" sz="3200" u="none" cap="none" strike="noStrike">
                <a:solidFill>
                  <a:srgbClr val="00FF00"/>
                </a:solidFill>
                <a:latin typeface="Arial"/>
                <a:ea typeface="Arial"/>
                <a:cs typeface="Arial"/>
                <a:sym typeface="Arial"/>
              </a:rPr>
              <a:t>smallest</a:t>
            </a:r>
            <a:r>
              <a:rPr b="0" i="0" lang="en-US" sz="3200" u="none" cap="none" strike="noStrike">
                <a:solidFill>
                  <a:schemeClr val="lt1"/>
                </a:solidFill>
                <a:latin typeface="Arial"/>
                <a:ea typeface="Arial"/>
                <a:cs typeface="Arial"/>
                <a:sym typeface="Arial"/>
              </a:rPr>
              <a:t> is </a:t>
            </a:r>
            <a:r>
              <a:rPr b="0" i="0" lang="en-US" sz="3200" u="none" cap="none" strike="noStrike">
                <a:solidFill>
                  <a:srgbClr val="FFFF00"/>
                </a:solidFill>
                <a:latin typeface="Arial"/>
                <a:ea typeface="Arial"/>
                <a:cs typeface="Arial"/>
                <a:sym typeface="Arial"/>
              </a:rPr>
              <a:t>None</a:t>
            </a:r>
            <a:r>
              <a:rPr b="0" i="0" lang="en-US" sz="3200" u="none" cap="none" strike="noStrike">
                <a:solidFill>
                  <a:schemeClr val="lt1"/>
                </a:solidFill>
                <a:latin typeface="Arial"/>
                <a:ea typeface="Arial"/>
                <a:cs typeface="Arial"/>
                <a:sym typeface="Arial"/>
              </a:rPr>
              <a:t>, so we take the first </a:t>
            </a:r>
            <a:r>
              <a:rPr b="0" i="0" lang="en-US" sz="3200" u="none" cap="none" strike="noStrike">
                <a:solidFill>
                  <a:srgbClr val="FF00FF"/>
                </a:solidFill>
                <a:latin typeface="Arial"/>
                <a:ea typeface="Arial"/>
                <a:cs typeface="Arial"/>
                <a:sym typeface="Arial"/>
              </a:rPr>
              <a:t>value</a:t>
            </a:r>
            <a:r>
              <a:rPr b="0" i="0" lang="en-US" sz="3200" u="none" cap="none" strike="noStrike">
                <a:solidFill>
                  <a:schemeClr val="lt1"/>
                </a:solidFill>
                <a:latin typeface="Arial"/>
                <a:ea typeface="Arial"/>
                <a:cs typeface="Arial"/>
                <a:sym typeface="Arial"/>
              </a:rPr>
              <a:t> to be the </a:t>
            </a:r>
            <a:r>
              <a:rPr b="0" i="0" lang="en-US" sz="3200" u="none" cap="none" strike="noStrike">
                <a:solidFill>
                  <a:srgbClr val="00FF00"/>
                </a:solidFill>
                <a:latin typeface="Arial"/>
                <a:ea typeface="Arial"/>
                <a:cs typeface="Arial"/>
                <a:sym typeface="Arial"/>
              </a:rPr>
              <a:t>smallest</a:t>
            </a:r>
            <a:r>
              <a:rPr b="0" i="0" lang="en-US" sz="3200" u="none" cap="none" strike="noStrike">
                <a:solidFill>
                  <a:schemeClr val="l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85" name="Google Shape;185;p15"/>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a:solidFill>
                  <a:srgbClr val="FFD966"/>
                </a:solidFill>
                <a:latin typeface="Arial"/>
                <a:ea typeface="Arial"/>
                <a:cs typeface="Arial"/>
                <a:sym typeface="Arial"/>
              </a:rPr>
              <a:t>Finding the Smallest Value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6"/>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Counting in a Loop</a:t>
            </a:r>
            <a:endParaRPr/>
          </a:p>
        </p:txBody>
      </p:sp>
      <p:sp>
        <p:nvSpPr>
          <p:cNvPr id="191" name="Google Shape;191;p16"/>
          <p:cNvSpPr txBox="1"/>
          <p:nvPr/>
        </p:nvSpPr>
        <p:spPr>
          <a:xfrm>
            <a:off x="1741475" y="2649525"/>
            <a:ext cx="7995899" cy="332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FF"/>
              </a:buClr>
              <a:buSzPts val="650"/>
              <a:buFont typeface="Cabin"/>
              <a:buNone/>
            </a:pPr>
            <a:r>
              <a:rPr b="0" i="0" lang="en-US" sz="2600" u="none" cap="none" strike="noStrike">
                <a:solidFill>
                  <a:srgbClr val="00FFFF"/>
                </a:solidFill>
                <a:latin typeface="Courier"/>
                <a:ea typeface="Courier"/>
                <a:cs typeface="Courier"/>
                <a:sym typeface="Courier"/>
              </a:rPr>
              <a:t>count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'Before', count</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for</a:t>
            </a:r>
            <a:r>
              <a:rPr b="0" i="0" lang="en-US" sz="2600" u="none" cap="none" strike="noStrike">
                <a:solidFill>
                  <a:srgbClr val="FF00FF"/>
                </a:solidFill>
                <a:latin typeface="Courier"/>
                <a:ea typeface="Courier"/>
                <a:cs typeface="Courier"/>
                <a:sym typeface="Courier"/>
              </a:rPr>
              <a:t> value </a:t>
            </a:r>
            <a:r>
              <a:rPr b="0" i="0" lang="en-US" sz="2600" u="none" cap="none" strike="noStrike">
                <a:solidFill>
                  <a:srgbClr val="FFFF00"/>
                </a:solidFill>
                <a:latin typeface="Courier"/>
                <a:ea typeface="Courier"/>
                <a:cs typeface="Courier"/>
                <a:sym typeface="Courier"/>
              </a:rPr>
              <a:t>in</a:t>
            </a:r>
            <a:r>
              <a:rPr b="0" i="0" lang="en-US" sz="2600" u="none" cap="none" strike="noStrike">
                <a:solidFill>
                  <a:srgbClr val="FF00FF"/>
                </a:solidFill>
                <a:latin typeface="Courier"/>
                <a:ea typeface="Courier"/>
                <a:cs typeface="Courier"/>
                <a:sym typeface="Courier"/>
              </a:rPr>
              <a:t> [9, 41, 12, 3, 74, 15]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Courier"/>
                <a:ea typeface="Courier"/>
                <a:cs typeface="Courier"/>
                <a:sym typeface="Courier"/>
              </a:rPr>
              <a:t>    </a:t>
            </a:r>
            <a:r>
              <a:rPr b="0" i="0" lang="en-US" sz="2600" u="none" cap="none" strike="noStrike">
                <a:solidFill>
                  <a:srgbClr val="00FFFF"/>
                </a:solidFill>
                <a:latin typeface="Courier"/>
                <a:ea typeface="Courier"/>
                <a:cs typeface="Courier"/>
                <a:sym typeface="Courier"/>
              </a:rPr>
              <a:t>count = count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FF"/>
                </a:solidFill>
                <a:latin typeface="Courier"/>
                <a:ea typeface="Courier"/>
                <a:cs typeface="Courier"/>
                <a:sym typeface="Courier"/>
              </a:rPr>
              <a:t>count</a:t>
            </a:r>
            <a:r>
              <a:rPr b="0" i="0" lang="en-US" sz="2600" u="none" cap="none" strike="noStrike">
                <a:solidFill>
                  <a:srgbClr val="FF00FF"/>
                </a:solidFill>
                <a:latin typeface="Courier"/>
                <a:ea typeface="Courier"/>
                <a:cs typeface="Courier"/>
                <a:sym typeface="Courier"/>
              </a:rPr>
              <a:t>, value</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'After', </a:t>
            </a:r>
            <a:r>
              <a:rPr b="0" i="0" lang="en-US" sz="2600" u="none" cap="none" strike="noStrike">
                <a:solidFill>
                  <a:srgbClr val="00FFFF"/>
                </a:solidFill>
                <a:latin typeface="Courier"/>
                <a:ea typeface="Courier"/>
                <a:cs typeface="Courier"/>
                <a:sym typeface="Courier"/>
              </a:rPr>
              <a:t>count</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p:txBody>
      </p:sp>
      <p:sp>
        <p:nvSpPr>
          <p:cNvPr id="192" name="Google Shape;192;p16"/>
          <p:cNvSpPr txBox="1"/>
          <p:nvPr/>
        </p:nvSpPr>
        <p:spPr>
          <a:xfrm>
            <a:off x="10261600" y="2362200"/>
            <a:ext cx="4219499" cy="467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7F00"/>
                </a:solidFill>
                <a:latin typeface="Arial"/>
                <a:ea typeface="Arial"/>
                <a:cs typeface="Arial"/>
                <a:sym typeface="Arial"/>
              </a:rPr>
              <a:t>Before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1 </a:t>
            </a:r>
            <a:r>
              <a:rPr b="0" i="0" lang="en-US" sz="3000" u="none" cap="none" strike="noStrike">
                <a:solidFill>
                  <a:srgbClr val="FF00FF"/>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2</a:t>
            </a:r>
            <a:r>
              <a:rPr b="0" i="0" lang="en-US" sz="3000" u="none" cap="none" strike="noStrike">
                <a:solidFill>
                  <a:srgbClr val="FF00FF"/>
                </a:solidFill>
                <a:latin typeface="Arial"/>
                <a:ea typeface="Arial"/>
                <a:cs typeface="Arial"/>
                <a:sym typeface="Arial"/>
              </a:rPr>
              <a:t> 41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3</a:t>
            </a:r>
            <a:r>
              <a:rPr b="0" i="0" lang="en-US" sz="3000" u="none" cap="none" strike="noStrike">
                <a:solidFill>
                  <a:srgbClr val="FF00FF"/>
                </a:solidFill>
                <a:latin typeface="Arial"/>
                <a:ea typeface="Arial"/>
                <a:cs typeface="Arial"/>
                <a:sym typeface="Arial"/>
              </a:rPr>
              <a:t> 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4 </a:t>
            </a:r>
            <a:r>
              <a:rPr b="0" i="0" lang="en-US" sz="3000" u="none" cap="none" strike="noStrike">
                <a:solidFill>
                  <a:srgbClr val="FF00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5 </a:t>
            </a:r>
            <a:r>
              <a:rPr b="0" i="0" lang="en-US" sz="3000" u="none" cap="none" strike="noStrike">
                <a:solidFill>
                  <a:srgbClr val="FF00FF"/>
                </a:solidFill>
                <a:latin typeface="Arial"/>
                <a:ea typeface="Arial"/>
                <a:cs typeface="Arial"/>
                <a:sym typeface="Arial"/>
              </a:rPr>
              <a:t>74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6 </a:t>
            </a:r>
            <a:r>
              <a:rPr b="0" i="0" lang="en-US" sz="3000" u="none" cap="none" strike="noStrike">
                <a:solidFill>
                  <a:srgbClr val="FF00FF"/>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7F00"/>
                </a:solidFill>
                <a:latin typeface="Arial"/>
                <a:ea typeface="Arial"/>
                <a:cs typeface="Arial"/>
                <a:sym typeface="Arial"/>
              </a:rPr>
              <a:t>After </a:t>
            </a:r>
            <a:r>
              <a:rPr b="0" i="0" lang="en-US" sz="3000" u="none" cap="none" strike="noStrike">
                <a:solidFill>
                  <a:srgbClr val="00FFFF"/>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sp>
        <p:nvSpPr>
          <p:cNvPr id="193" name="Google Shape;193;p16"/>
          <p:cNvSpPr txBox="1"/>
          <p:nvPr/>
        </p:nvSpPr>
        <p:spPr>
          <a:xfrm>
            <a:off x="1155700" y="7099849"/>
            <a:ext cx="14071499" cy="1143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To </a:t>
            </a:r>
            <a:r>
              <a:rPr b="0" i="0" lang="en-US" sz="3200" u="none" cap="none" strike="noStrike">
                <a:solidFill>
                  <a:srgbClr val="00FF00"/>
                </a:solidFill>
                <a:latin typeface="Arial"/>
                <a:ea typeface="Arial"/>
                <a:cs typeface="Arial"/>
                <a:sym typeface="Arial"/>
              </a:rPr>
              <a:t>count</a:t>
            </a:r>
            <a:r>
              <a:rPr b="0" i="0" lang="en-US" sz="3200" u="none" cap="none" strike="noStrike">
                <a:solidFill>
                  <a:schemeClr val="lt1"/>
                </a:solidFill>
                <a:latin typeface="Arial"/>
                <a:ea typeface="Arial"/>
                <a:cs typeface="Arial"/>
                <a:sym typeface="Arial"/>
              </a:rPr>
              <a:t> how many times we execute a loop, we introduce a </a:t>
            </a:r>
            <a:r>
              <a:rPr b="0" i="0" lang="en-US" sz="3200" u="none" cap="none" strike="noStrike">
                <a:solidFill>
                  <a:srgbClr val="00FFFF"/>
                </a:solidFill>
                <a:latin typeface="Arial"/>
                <a:ea typeface="Arial"/>
                <a:cs typeface="Arial"/>
                <a:sym typeface="Arial"/>
              </a:rPr>
              <a:t>counter variable that starts at 0</a:t>
            </a:r>
            <a:r>
              <a:rPr b="0" i="0" lang="en-US" sz="3200" u="none" cap="none" strike="noStrike">
                <a:solidFill>
                  <a:schemeClr val="lt1"/>
                </a:solidFill>
                <a:latin typeface="Arial"/>
                <a:ea typeface="Arial"/>
                <a:cs typeface="Arial"/>
                <a:sym typeface="Arial"/>
              </a:rPr>
              <a:t> and we add </a:t>
            </a:r>
            <a:r>
              <a:rPr b="0" i="0" lang="en-US" sz="3200" u="none" cap="none" strike="noStrike">
                <a:solidFill>
                  <a:srgbClr val="00FFFF"/>
                </a:solidFill>
                <a:latin typeface="Arial"/>
                <a:ea typeface="Arial"/>
                <a:cs typeface="Arial"/>
                <a:sym typeface="Arial"/>
              </a:rPr>
              <a:t>one to it each time through the loop.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7"/>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Summing in a Loop</a:t>
            </a:r>
            <a:endParaRPr/>
          </a:p>
        </p:txBody>
      </p:sp>
      <p:sp>
        <p:nvSpPr>
          <p:cNvPr id="199" name="Google Shape;199;p17"/>
          <p:cNvSpPr txBox="1"/>
          <p:nvPr/>
        </p:nvSpPr>
        <p:spPr>
          <a:xfrm>
            <a:off x="1741475" y="2649525"/>
            <a:ext cx="7506900" cy="332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00"/>
                </a:solidFill>
                <a:latin typeface="Courier"/>
                <a:ea typeface="Courier"/>
                <a:cs typeface="Courier"/>
                <a:sym typeface="Courier"/>
              </a:rPr>
              <a:t>sum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('Before', </a:t>
            </a:r>
            <a:r>
              <a:rPr b="0" i="0" lang="en-US" sz="2600" u="none" cap="none" strike="noStrike">
                <a:solidFill>
                  <a:srgbClr val="00FF00"/>
                </a:solidFill>
                <a:latin typeface="Courier"/>
                <a:ea typeface="Courier"/>
                <a:cs typeface="Courier"/>
                <a:sym typeface="Courier"/>
              </a:rPr>
              <a:t>sum</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for</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FF"/>
                </a:solidFill>
                <a:latin typeface="Courier"/>
                <a:ea typeface="Courier"/>
                <a:cs typeface="Courier"/>
                <a:sym typeface="Courier"/>
              </a:rPr>
              <a:t>value </a:t>
            </a:r>
            <a:r>
              <a:rPr b="0" i="0" lang="en-US" sz="2600" u="none" cap="none" strike="noStrike">
                <a:solidFill>
                  <a:srgbClr val="FFFF00"/>
                </a:solidFill>
                <a:latin typeface="Courier"/>
                <a:ea typeface="Courier"/>
                <a:cs typeface="Courier"/>
                <a:sym typeface="Courier"/>
              </a:rPr>
              <a:t>in</a:t>
            </a:r>
            <a:r>
              <a:rPr b="0" i="0" lang="en-US" sz="2600" u="none" cap="none" strike="noStrike">
                <a:solidFill>
                  <a:schemeClr val="lt1"/>
                </a:solidFill>
                <a:latin typeface="Courier"/>
                <a:ea typeface="Courier"/>
                <a:cs typeface="Courier"/>
                <a:sym typeface="Courier"/>
              </a:rPr>
              <a:t> [9, 41, 12, 3, 74, 15]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sum = sum +</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FF"/>
                </a:solidFill>
                <a:latin typeface="Courier"/>
                <a:ea typeface="Courier"/>
                <a:cs typeface="Courier"/>
                <a:sym typeface="Courier"/>
              </a:rPr>
              <a:t>value</a:t>
            </a:r>
            <a:endParaRPr b="0" i="0" sz="2600" u="none" cap="none" strike="noStrike">
              <a:solidFill>
                <a:srgbClr val="00FF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00"/>
                </a:solidFill>
                <a:latin typeface="Courier"/>
                <a:ea typeface="Courier"/>
                <a:cs typeface="Courier"/>
                <a:sym typeface="Courier"/>
              </a:rPr>
              <a:t>sum</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FF"/>
                </a:solidFill>
                <a:latin typeface="Courier"/>
                <a:ea typeface="Courier"/>
                <a:cs typeface="Courier"/>
                <a:sym typeface="Courier"/>
              </a:rPr>
              <a:t>value</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('After', </a:t>
            </a:r>
            <a:r>
              <a:rPr b="0" i="0" lang="en-US" sz="2600" u="none" cap="none" strike="noStrike">
                <a:solidFill>
                  <a:srgbClr val="00FF00"/>
                </a:solidFill>
                <a:latin typeface="Courier"/>
                <a:ea typeface="Courier"/>
                <a:cs typeface="Courier"/>
                <a:sym typeface="Courier"/>
              </a:rPr>
              <a:t>sum</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p:txBody>
      </p:sp>
      <p:sp>
        <p:nvSpPr>
          <p:cNvPr id="200" name="Google Shape;200;p17"/>
          <p:cNvSpPr txBox="1"/>
          <p:nvPr/>
        </p:nvSpPr>
        <p:spPr>
          <a:xfrm>
            <a:off x="10261600" y="2209800"/>
            <a:ext cx="4219499" cy="49862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rgbClr val="FF7F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7F00"/>
                </a:solidFill>
                <a:latin typeface="Arial"/>
                <a:ea typeface="Arial"/>
                <a:cs typeface="Arial"/>
                <a:sym typeface="Arial"/>
              </a:rPr>
              <a:t>Before </a:t>
            </a:r>
            <a:r>
              <a:rPr b="0" i="0" lang="en-US" sz="3000" u="none" cap="none" strike="noStrike">
                <a:solidFill>
                  <a:srgbClr val="00FF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9</a:t>
            </a:r>
            <a:r>
              <a:rPr b="0" i="0" lang="en-US" sz="3000" u="none" cap="none" strike="noStrike">
                <a:solidFill>
                  <a:srgbClr val="FF00FF"/>
                </a:solidFill>
                <a:latin typeface="Arial"/>
                <a:ea typeface="Arial"/>
                <a:cs typeface="Arial"/>
                <a:sym typeface="Arial"/>
              </a:rPr>
              <a:t> </a:t>
            </a:r>
            <a:r>
              <a:rPr b="0" i="0" lang="en-US" sz="3000" u="none" cap="none" strike="noStrike">
                <a:solidFill>
                  <a:srgbClr val="00FFFF"/>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50</a:t>
            </a:r>
            <a:r>
              <a:rPr b="0" i="0" lang="en-US" sz="3000" u="none" cap="none" strike="noStrike">
                <a:solidFill>
                  <a:srgbClr val="FF00FF"/>
                </a:solidFill>
                <a:latin typeface="Arial"/>
                <a:ea typeface="Arial"/>
                <a:cs typeface="Arial"/>
                <a:sym typeface="Arial"/>
              </a:rPr>
              <a:t> </a:t>
            </a:r>
            <a:r>
              <a:rPr b="0" i="0" lang="en-US" sz="3000" u="none" cap="none" strike="noStrike">
                <a:solidFill>
                  <a:srgbClr val="00FFFF"/>
                </a:solidFill>
                <a:latin typeface="Arial"/>
                <a:ea typeface="Arial"/>
                <a:cs typeface="Arial"/>
                <a:sym typeface="Arial"/>
              </a:rPr>
              <a:t>41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62</a:t>
            </a:r>
            <a:r>
              <a:rPr b="0" i="0" lang="en-US" sz="3000" u="none" cap="none" strike="noStrike">
                <a:solidFill>
                  <a:srgbClr val="FF00FF"/>
                </a:solidFill>
                <a:latin typeface="Arial"/>
                <a:ea typeface="Arial"/>
                <a:cs typeface="Arial"/>
                <a:sym typeface="Arial"/>
              </a:rPr>
              <a:t> </a:t>
            </a:r>
            <a:r>
              <a:rPr b="0" i="0" lang="en-US" sz="3000" u="none" cap="none" strike="noStrike">
                <a:solidFill>
                  <a:srgbClr val="00FFFF"/>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65</a:t>
            </a:r>
            <a:r>
              <a:rPr b="0" i="0" lang="en-US" sz="3000" u="none" cap="none" strike="noStrike">
                <a:solidFill>
                  <a:srgbClr val="FF00FF"/>
                </a:solidFill>
                <a:latin typeface="Arial"/>
                <a:ea typeface="Arial"/>
                <a:cs typeface="Arial"/>
                <a:sym typeface="Arial"/>
              </a:rPr>
              <a:t> </a:t>
            </a:r>
            <a:r>
              <a:rPr b="0" i="0" lang="en-US" sz="3000" u="none" cap="none" strike="noStrike">
                <a:solidFill>
                  <a:srgbClr val="00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139</a:t>
            </a:r>
            <a:r>
              <a:rPr b="0" i="0" lang="en-US" sz="3000" u="none" cap="none" strike="noStrike">
                <a:solidFill>
                  <a:srgbClr val="FF00FF"/>
                </a:solidFill>
                <a:latin typeface="Arial"/>
                <a:ea typeface="Arial"/>
                <a:cs typeface="Arial"/>
                <a:sym typeface="Arial"/>
              </a:rPr>
              <a:t> </a:t>
            </a:r>
            <a:r>
              <a:rPr b="0" i="0" lang="en-US" sz="3000" u="none" cap="none" strike="noStrike">
                <a:solidFill>
                  <a:srgbClr val="00FFFF"/>
                </a:solidFill>
                <a:latin typeface="Arial"/>
                <a:ea typeface="Arial"/>
                <a:cs typeface="Arial"/>
                <a:sym typeface="Arial"/>
              </a:rPr>
              <a:t>74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154</a:t>
            </a:r>
            <a:r>
              <a:rPr b="0" i="0" lang="en-US" sz="3000" u="none" cap="none" strike="noStrike">
                <a:solidFill>
                  <a:srgbClr val="FF00FF"/>
                </a:solidFill>
                <a:latin typeface="Arial"/>
                <a:ea typeface="Arial"/>
                <a:cs typeface="Arial"/>
                <a:sym typeface="Arial"/>
              </a:rPr>
              <a:t> </a:t>
            </a:r>
            <a:r>
              <a:rPr b="0" i="0" lang="en-US" sz="3000" u="none" cap="none" strike="noStrike">
                <a:solidFill>
                  <a:srgbClr val="00FFFF"/>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7F00"/>
                </a:solidFill>
                <a:latin typeface="Arial"/>
                <a:ea typeface="Arial"/>
                <a:cs typeface="Arial"/>
                <a:sym typeface="Arial"/>
              </a:rPr>
              <a:t>After </a:t>
            </a:r>
            <a:r>
              <a:rPr b="0" i="0" lang="en-US" sz="3000" u="none" cap="none" strike="noStrike">
                <a:solidFill>
                  <a:srgbClr val="00FF00"/>
                </a:solidFill>
                <a:latin typeface="Arial"/>
                <a:ea typeface="Arial"/>
                <a:cs typeface="Arial"/>
                <a:sym typeface="Arial"/>
              </a:rPr>
              <a:t>154</a:t>
            </a:r>
            <a:endParaRPr b="0" i="0" sz="1400" u="none" cap="none" strike="noStrike">
              <a:solidFill>
                <a:srgbClr val="000000"/>
              </a:solidFill>
              <a:latin typeface="Arial"/>
              <a:ea typeface="Arial"/>
              <a:cs typeface="Arial"/>
              <a:sym typeface="Arial"/>
            </a:endParaRPr>
          </a:p>
        </p:txBody>
      </p:sp>
      <p:sp>
        <p:nvSpPr>
          <p:cNvPr id="201" name="Google Shape;201;p17"/>
          <p:cNvSpPr txBox="1"/>
          <p:nvPr/>
        </p:nvSpPr>
        <p:spPr>
          <a:xfrm>
            <a:off x="1050925" y="7162899"/>
            <a:ext cx="14643000" cy="1143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To </a:t>
            </a:r>
            <a:r>
              <a:rPr b="0" i="0" lang="en-US" sz="3200" u="none" cap="none" strike="noStrike">
                <a:solidFill>
                  <a:srgbClr val="00FF00"/>
                </a:solidFill>
                <a:latin typeface="Arial"/>
                <a:ea typeface="Arial"/>
                <a:cs typeface="Arial"/>
                <a:sym typeface="Arial"/>
              </a:rPr>
              <a:t>add up </a:t>
            </a:r>
            <a:r>
              <a:rPr b="0" i="0" lang="en-US" sz="3200" u="none" cap="none" strike="noStrike">
                <a:solidFill>
                  <a:schemeClr val="lt1"/>
                </a:solidFill>
                <a:latin typeface="Arial"/>
                <a:ea typeface="Arial"/>
                <a:cs typeface="Arial"/>
                <a:sym typeface="Arial"/>
              </a:rPr>
              <a:t>a </a:t>
            </a:r>
            <a:r>
              <a:rPr b="0" i="0" lang="en-US" sz="3200" u="none" cap="none" strike="noStrike">
                <a:solidFill>
                  <a:srgbClr val="00FFFF"/>
                </a:solidFill>
                <a:latin typeface="Arial"/>
                <a:ea typeface="Arial"/>
                <a:cs typeface="Arial"/>
                <a:sym typeface="Arial"/>
              </a:rPr>
              <a:t>value</a:t>
            </a:r>
            <a:r>
              <a:rPr b="0" i="0" lang="en-US" sz="3200" u="none" cap="none" strike="noStrike">
                <a:solidFill>
                  <a:schemeClr val="lt1"/>
                </a:solidFill>
                <a:latin typeface="Arial"/>
                <a:ea typeface="Arial"/>
                <a:cs typeface="Arial"/>
                <a:sym typeface="Arial"/>
              </a:rPr>
              <a:t> we encounter in a loop,  we introduce a </a:t>
            </a:r>
            <a:r>
              <a:rPr b="0" i="0" lang="en-US" sz="3200" u="none" cap="none" strike="noStrike">
                <a:solidFill>
                  <a:srgbClr val="00FF00"/>
                </a:solidFill>
                <a:latin typeface="Arial"/>
                <a:ea typeface="Arial"/>
                <a:cs typeface="Arial"/>
                <a:sym typeface="Arial"/>
              </a:rPr>
              <a:t>sum variable that starts at 0</a:t>
            </a:r>
            <a:r>
              <a:rPr b="0" i="0" lang="en-US" sz="3200" u="none" cap="none" strike="noStrike">
                <a:solidFill>
                  <a:schemeClr val="lt1"/>
                </a:solidFill>
                <a:latin typeface="Arial"/>
                <a:ea typeface="Arial"/>
                <a:cs typeface="Arial"/>
                <a:sym typeface="Arial"/>
              </a:rPr>
              <a:t> and we add the </a:t>
            </a:r>
            <a:r>
              <a:rPr b="0" i="0" lang="en-US" sz="3200" u="none" cap="none" strike="noStrike">
                <a:solidFill>
                  <a:srgbClr val="00FFFF"/>
                </a:solidFill>
                <a:latin typeface="Arial"/>
                <a:ea typeface="Arial"/>
                <a:cs typeface="Arial"/>
                <a:sym typeface="Arial"/>
              </a:rPr>
              <a:t>value</a:t>
            </a:r>
            <a:r>
              <a:rPr b="0" i="0" lang="en-US" sz="3200" u="none" cap="none" strike="noStrike">
                <a:solidFill>
                  <a:schemeClr val="lt1"/>
                </a:solidFill>
                <a:latin typeface="Arial"/>
                <a:ea typeface="Arial"/>
                <a:cs typeface="Arial"/>
                <a:sym typeface="Arial"/>
              </a:rPr>
              <a:t> to the sum each time through the loop.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8"/>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Finding the Average in a Loop</a:t>
            </a:r>
            <a:endParaRPr/>
          </a:p>
        </p:txBody>
      </p:sp>
      <p:sp>
        <p:nvSpPr>
          <p:cNvPr id="207" name="Google Shape;207;p18"/>
          <p:cNvSpPr txBox="1"/>
          <p:nvPr/>
        </p:nvSpPr>
        <p:spPr>
          <a:xfrm>
            <a:off x="838550" y="2717875"/>
            <a:ext cx="7984200" cy="406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FF"/>
              </a:buClr>
              <a:buSzPts val="650"/>
              <a:buFont typeface="Cabin"/>
              <a:buNone/>
            </a:pPr>
            <a:r>
              <a:rPr b="0" i="0" lang="en-US" sz="2600" u="none" cap="none" strike="noStrike">
                <a:solidFill>
                  <a:srgbClr val="00FFFF"/>
                </a:solidFill>
                <a:latin typeface="Courier"/>
                <a:ea typeface="Courier"/>
                <a:cs typeface="Courier"/>
                <a:sym typeface="Courier"/>
              </a:rPr>
              <a:t>count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00"/>
                </a:solidFill>
                <a:latin typeface="Courier"/>
                <a:ea typeface="Courier"/>
                <a:cs typeface="Courier"/>
                <a:sym typeface="Courier"/>
              </a:rPr>
              <a:t>sum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'Before', </a:t>
            </a:r>
            <a:r>
              <a:rPr b="0" i="0" lang="en-US" sz="2600" u="none" cap="none" strike="noStrike">
                <a:solidFill>
                  <a:srgbClr val="00FFFF"/>
                </a:solidFill>
                <a:latin typeface="Courier"/>
                <a:ea typeface="Courier"/>
                <a:cs typeface="Courier"/>
                <a:sym typeface="Courier"/>
              </a:rPr>
              <a:t>count,</a:t>
            </a:r>
            <a:r>
              <a:rPr b="0" i="0" lang="en-US" sz="2600" u="none" cap="none" strike="noStrike">
                <a:solidFill>
                  <a:srgbClr val="FF7F00"/>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sum</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for</a:t>
            </a:r>
            <a:r>
              <a:rPr b="0" i="0" lang="en-US" sz="2600" u="none" cap="none" strike="noStrike">
                <a:solidFill>
                  <a:srgbClr val="FF00FF"/>
                </a:solidFill>
                <a:latin typeface="Courier"/>
                <a:ea typeface="Courier"/>
                <a:cs typeface="Courier"/>
                <a:sym typeface="Courier"/>
              </a:rPr>
              <a:t> value </a:t>
            </a:r>
            <a:r>
              <a:rPr b="0" i="0" lang="en-US" sz="2600" u="none" cap="none" strike="noStrike">
                <a:solidFill>
                  <a:srgbClr val="FFFF00"/>
                </a:solidFill>
                <a:latin typeface="Courier"/>
                <a:ea typeface="Courier"/>
                <a:cs typeface="Courier"/>
                <a:sym typeface="Courier"/>
              </a:rPr>
              <a:t>in</a:t>
            </a:r>
            <a:r>
              <a:rPr b="0" i="0" lang="en-US" sz="2600" u="none" cap="none" strike="noStrike">
                <a:solidFill>
                  <a:srgbClr val="FF00FF"/>
                </a:solidFill>
                <a:latin typeface="Courier"/>
                <a:ea typeface="Courier"/>
                <a:cs typeface="Courier"/>
                <a:sym typeface="Courier"/>
              </a:rPr>
              <a:t> [9, 41, 12, 3, 74, 15]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    count = count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00"/>
                </a:solidFill>
                <a:latin typeface="Courier"/>
                <a:ea typeface="Courier"/>
                <a:cs typeface="Courier"/>
                <a:sym typeface="Courier"/>
              </a:rPr>
              <a:t>    </a:t>
            </a:r>
            <a:r>
              <a:rPr b="0" i="0" lang="en-US" sz="2600" u="none" cap="none" strike="noStrike">
                <a:solidFill>
                  <a:schemeClr val="lt1"/>
                </a:solidFill>
                <a:latin typeface="Courier"/>
                <a:ea typeface="Courier"/>
                <a:cs typeface="Courier"/>
                <a:sym typeface="Courier"/>
              </a:rPr>
              <a:t>sum = sum +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00FFFF"/>
                </a:solidFill>
                <a:latin typeface="Courier"/>
                <a:ea typeface="Courier"/>
                <a:cs typeface="Courier"/>
                <a:sym typeface="Courier"/>
              </a:rPr>
              <a:t>count</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sum,</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00FF"/>
                </a:solidFill>
                <a:latin typeface="Courier"/>
                <a:ea typeface="Courier"/>
                <a:cs typeface="Courier"/>
                <a:sym typeface="Courier"/>
              </a:rPr>
              <a:t>value</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'After', </a:t>
            </a:r>
            <a:r>
              <a:rPr b="0" i="0" lang="en-US" sz="2600" u="none" cap="none" strike="noStrike">
                <a:solidFill>
                  <a:srgbClr val="00FFFF"/>
                </a:solidFill>
                <a:latin typeface="Courier"/>
                <a:ea typeface="Courier"/>
                <a:cs typeface="Courier"/>
                <a:sym typeface="Courier"/>
              </a:rPr>
              <a:t>count,</a:t>
            </a:r>
            <a:r>
              <a:rPr b="0" i="0" lang="en-US" sz="2600" u="none" cap="none" strike="noStrike">
                <a:solidFill>
                  <a:srgbClr val="FF7F00"/>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sum,</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sum / count</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p:txBody>
      </p:sp>
      <p:sp>
        <p:nvSpPr>
          <p:cNvPr id="208" name="Google Shape;208;p18"/>
          <p:cNvSpPr txBox="1"/>
          <p:nvPr/>
        </p:nvSpPr>
        <p:spPr>
          <a:xfrm>
            <a:off x="10034575" y="2441575"/>
            <a:ext cx="4540199" cy="4746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7F00"/>
                </a:solidFill>
                <a:latin typeface="Arial"/>
                <a:ea typeface="Arial"/>
                <a:cs typeface="Arial"/>
                <a:sym typeface="Arial"/>
              </a:rPr>
              <a:t>Before </a:t>
            </a:r>
            <a:r>
              <a:rPr b="0" i="0" lang="en-US" sz="3000" u="none" cap="none" strike="noStrike">
                <a:solidFill>
                  <a:srgbClr val="00FFFF"/>
                </a:solidFill>
                <a:latin typeface="Arial"/>
                <a:ea typeface="Arial"/>
                <a:cs typeface="Arial"/>
                <a:sym typeface="Arial"/>
              </a:rPr>
              <a:t>0</a:t>
            </a:r>
            <a:r>
              <a:rPr b="0" i="0" lang="en-US" sz="3000" u="none" cap="none" strike="noStrike">
                <a:solidFill>
                  <a:srgbClr val="FF7F00"/>
                </a:solidFill>
                <a:latin typeface="Arial"/>
                <a:ea typeface="Arial"/>
                <a:cs typeface="Arial"/>
                <a:sym typeface="Arial"/>
              </a:rPr>
              <a:t> </a:t>
            </a:r>
            <a:r>
              <a:rPr b="0" i="0" lang="en-US" sz="3000" u="none" cap="none" strike="noStrike">
                <a:solidFill>
                  <a:srgbClr val="00FF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1</a:t>
            </a:r>
            <a:r>
              <a:rPr b="0" i="0" lang="en-US" sz="3000" u="none" cap="none" strike="noStrike">
                <a:solidFill>
                  <a:srgbClr val="FF00FF"/>
                </a:solidFill>
                <a:latin typeface="Arial"/>
                <a:ea typeface="Arial"/>
                <a:cs typeface="Arial"/>
                <a:sym typeface="Arial"/>
              </a:rPr>
              <a:t> </a:t>
            </a:r>
            <a:r>
              <a:rPr b="0" i="0" lang="en-US" sz="3000" u="none" cap="none" strike="noStrike">
                <a:solidFill>
                  <a:srgbClr val="00FF00"/>
                </a:solidFill>
                <a:latin typeface="Arial"/>
                <a:ea typeface="Arial"/>
                <a:cs typeface="Arial"/>
                <a:sym typeface="Arial"/>
              </a:rPr>
              <a:t>9</a:t>
            </a:r>
            <a:r>
              <a:rPr b="0" i="0" lang="en-US" sz="3000" u="none" cap="none" strike="noStrike">
                <a:solidFill>
                  <a:srgbClr val="FF00FF"/>
                </a:solidFill>
                <a:latin typeface="Arial"/>
                <a:ea typeface="Arial"/>
                <a:cs typeface="Arial"/>
                <a:sym typeface="Arial"/>
              </a:rPr>
              <a:t> 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2</a:t>
            </a:r>
            <a:r>
              <a:rPr b="0" i="0" lang="en-US" sz="3000" u="none" cap="none" strike="noStrike">
                <a:solidFill>
                  <a:srgbClr val="FF00FF"/>
                </a:solidFill>
                <a:latin typeface="Arial"/>
                <a:ea typeface="Arial"/>
                <a:cs typeface="Arial"/>
                <a:sym typeface="Arial"/>
              </a:rPr>
              <a:t> </a:t>
            </a:r>
            <a:r>
              <a:rPr b="0" i="0" lang="en-US" sz="3000" u="none" cap="none" strike="noStrike">
                <a:solidFill>
                  <a:srgbClr val="00FF00"/>
                </a:solidFill>
                <a:latin typeface="Arial"/>
                <a:ea typeface="Arial"/>
                <a:cs typeface="Arial"/>
                <a:sym typeface="Arial"/>
              </a:rPr>
              <a:t>50</a:t>
            </a:r>
            <a:r>
              <a:rPr b="0" i="0" lang="en-US" sz="3000" u="none" cap="none" strike="noStrike">
                <a:solidFill>
                  <a:srgbClr val="FF00FF"/>
                </a:solidFill>
                <a:latin typeface="Arial"/>
                <a:ea typeface="Arial"/>
                <a:cs typeface="Arial"/>
                <a:sym typeface="Arial"/>
              </a:rPr>
              <a:t> 41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3</a:t>
            </a:r>
            <a:r>
              <a:rPr b="0" i="0" lang="en-US" sz="3000" u="none" cap="none" strike="noStrike">
                <a:solidFill>
                  <a:srgbClr val="FF00FF"/>
                </a:solidFill>
                <a:latin typeface="Arial"/>
                <a:ea typeface="Arial"/>
                <a:cs typeface="Arial"/>
                <a:sym typeface="Arial"/>
              </a:rPr>
              <a:t> </a:t>
            </a:r>
            <a:r>
              <a:rPr b="0" i="0" lang="en-US" sz="3000" u="none" cap="none" strike="noStrike">
                <a:solidFill>
                  <a:srgbClr val="00FF00"/>
                </a:solidFill>
                <a:latin typeface="Arial"/>
                <a:ea typeface="Arial"/>
                <a:cs typeface="Arial"/>
                <a:sym typeface="Arial"/>
              </a:rPr>
              <a:t>62</a:t>
            </a:r>
            <a:r>
              <a:rPr b="0" i="0" lang="en-US" sz="3000" u="none" cap="none" strike="noStrike">
                <a:solidFill>
                  <a:srgbClr val="FF00FF"/>
                </a:solidFill>
                <a:latin typeface="Arial"/>
                <a:ea typeface="Arial"/>
                <a:cs typeface="Arial"/>
                <a:sym typeface="Arial"/>
              </a:rPr>
              <a:t> 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4</a:t>
            </a:r>
            <a:r>
              <a:rPr b="0" i="0" lang="en-US" sz="3000" u="none" cap="none" strike="noStrike">
                <a:solidFill>
                  <a:srgbClr val="FF00FF"/>
                </a:solidFill>
                <a:latin typeface="Arial"/>
                <a:ea typeface="Arial"/>
                <a:cs typeface="Arial"/>
                <a:sym typeface="Arial"/>
              </a:rPr>
              <a:t> </a:t>
            </a:r>
            <a:r>
              <a:rPr b="0" i="0" lang="en-US" sz="3000" u="none" cap="none" strike="noStrike">
                <a:solidFill>
                  <a:srgbClr val="00FF00"/>
                </a:solidFill>
                <a:latin typeface="Arial"/>
                <a:ea typeface="Arial"/>
                <a:cs typeface="Arial"/>
                <a:sym typeface="Arial"/>
              </a:rPr>
              <a:t>65</a:t>
            </a:r>
            <a:r>
              <a:rPr b="0" i="0" lang="en-US" sz="3000" u="none" cap="none" strike="noStrike">
                <a:solidFill>
                  <a:srgbClr val="FF00FF"/>
                </a:solidFill>
                <a:latin typeface="Arial"/>
                <a:ea typeface="Arial"/>
                <a:cs typeface="Arial"/>
                <a:sym typeface="Arial"/>
              </a:rPr>
              <a:t>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5</a:t>
            </a:r>
            <a:r>
              <a:rPr b="0" i="0" lang="en-US" sz="3000" u="none" cap="none" strike="noStrike">
                <a:solidFill>
                  <a:srgbClr val="FF00FF"/>
                </a:solidFill>
                <a:latin typeface="Arial"/>
                <a:ea typeface="Arial"/>
                <a:cs typeface="Arial"/>
                <a:sym typeface="Arial"/>
              </a:rPr>
              <a:t> </a:t>
            </a:r>
            <a:r>
              <a:rPr b="0" i="0" lang="en-US" sz="3000" u="none" cap="none" strike="noStrike">
                <a:solidFill>
                  <a:srgbClr val="00FF00"/>
                </a:solidFill>
                <a:latin typeface="Arial"/>
                <a:ea typeface="Arial"/>
                <a:cs typeface="Arial"/>
                <a:sym typeface="Arial"/>
              </a:rPr>
              <a:t>139</a:t>
            </a:r>
            <a:r>
              <a:rPr b="0" i="0" lang="en-US" sz="3000" u="none" cap="none" strike="noStrike">
                <a:solidFill>
                  <a:srgbClr val="FF00FF"/>
                </a:solidFill>
                <a:latin typeface="Arial"/>
                <a:ea typeface="Arial"/>
                <a:cs typeface="Arial"/>
                <a:sym typeface="Arial"/>
              </a:rPr>
              <a:t> 74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6</a:t>
            </a:r>
            <a:r>
              <a:rPr b="0" i="0" lang="en-US" sz="3000" u="none" cap="none" strike="noStrike">
                <a:solidFill>
                  <a:srgbClr val="FF00FF"/>
                </a:solidFill>
                <a:latin typeface="Arial"/>
                <a:ea typeface="Arial"/>
                <a:cs typeface="Arial"/>
                <a:sym typeface="Arial"/>
              </a:rPr>
              <a:t> </a:t>
            </a:r>
            <a:r>
              <a:rPr b="0" i="0" lang="en-US" sz="3000" u="none" cap="none" strike="noStrike">
                <a:solidFill>
                  <a:srgbClr val="00FF00"/>
                </a:solidFill>
                <a:latin typeface="Arial"/>
                <a:ea typeface="Arial"/>
                <a:cs typeface="Arial"/>
                <a:sym typeface="Arial"/>
              </a:rPr>
              <a:t>154</a:t>
            </a:r>
            <a:r>
              <a:rPr b="0" i="0" lang="en-US" sz="3000" u="none" cap="none" strike="noStrike">
                <a:solidFill>
                  <a:srgbClr val="FF00FF"/>
                </a:solidFill>
                <a:latin typeface="Arial"/>
                <a:ea typeface="Arial"/>
                <a:cs typeface="Arial"/>
                <a:sym typeface="Arial"/>
              </a:rPr>
              <a:t> 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7F00"/>
                </a:solidFill>
                <a:latin typeface="Arial"/>
                <a:ea typeface="Arial"/>
                <a:cs typeface="Arial"/>
                <a:sym typeface="Arial"/>
              </a:rPr>
              <a:t>After </a:t>
            </a:r>
            <a:r>
              <a:rPr b="0" i="0" lang="en-US" sz="3000" u="none" cap="none" strike="noStrike">
                <a:solidFill>
                  <a:srgbClr val="00FFFF"/>
                </a:solidFill>
                <a:latin typeface="Arial"/>
                <a:ea typeface="Arial"/>
                <a:cs typeface="Arial"/>
                <a:sym typeface="Arial"/>
              </a:rPr>
              <a:t>6</a:t>
            </a:r>
            <a:r>
              <a:rPr b="0" i="0" lang="en-US" sz="3000" u="none" cap="none" strike="noStrike">
                <a:solidFill>
                  <a:srgbClr val="FF7F00"/>
                </a:solidFill>
                <a:latin typeface="Arial"/>
                <a:ea typeface="Arial"/>
                <a:cs typeface="Arial"/>
                <a:sym typeface="Arial"/>
              </a:rPr>
              <a:t> </a:t>
            </a:r>
            <a:r>
              <a:rPr b="0" i="0" lang="en-US" sz="3000" u="none" cap="none" strike="noStrike">
                <a:solidFill>
                  <a:srgbClr val="00FF00"/>
                </a:solidFill>
                <a:latin typeface="Arial"/>
                <a:ea typeface="Arial"/>
                <a:cs typeface="Arial"/>
                <a:sym typeface="Arial"/>
              </a:rPr>
              <a:t>154</a:t>
            </a:r>
            <a:r>
              <a:rPr b="0" i="0" lang="en-US" sz="3000" u="none" cap="none" strike="noStrike">
                <a:solidFill>
                  <a:schemeClr val="lt1"/>
                </a:solidFill>
                <a:latin typeface="Arial"/>
                <a:ea typeface="Arial"/>
                <a:cs typeface="Arial"/>
                <a:sym typeface="Arial"/>
              </a:rPr>
              <a:t> </a:t>
            </a:r>
            <a:r>
              <a:rPr b="0" i="0" lang="en-US" sz="3000" u="none" cap="none" strike="noStrike">
                <a:solidFill>
                  <a:srgbClr val="FFFF00"/>
                </a:solidFill>
                <a:latin typeface="Arial"/>
                <a:ea typeface="Arial"/>
                <a:cs typeface="Arial"/>
                <a:sym typeface="Arial"/>
              </a:rPr>
              <a:t>25.666</a:t>
            </a:r>
            <a:endParaRPr b="0" i="0" sz="3000" u="none" cap="none" strike="noStrike">
              <a:solidFill>
                <a:srgbClr val="FFFF00"/>
              </a:solidFill>
              <a:latin typeface="Arial"/>
              <a:ea typeface="Arial"/>
              <a:cs typeface="Arial"/>
              <a:sym typeface="Arial"/>
            </a:endParaRPr>
          </a:p>
        </p:txBody>
      </p:sp>
      <p:sp>
        <p:nvSpPr>
          <p:cNvPr id="209" name="Google Shape;209;p18"/>
          <p:cNvSpPr txBox="1"/>
          <p:nvPr/>
        </p:nvSpPr>
        <p:spPr>
          <a:xfrm>
            <a:off x="2952750" y="7188175"/>
            <a:ext cx="11087099" cy="1143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An </a:t>
            </a:r>
            <a:r>
              <a:rPr b="0" i="0" lang="en-US" sz="3200" u="none" cap="none" strike="noStrike">
                <a:solidFill>
                  <a:srgbClr val="FFFF00"/>
                </a:solidFill>
                <a:latin typeface="Arial"/>
                <a:ea typeface="Arial"/>
                <a:cs typeface="Arial"/>
                <a:sym typeface="Arial"/>
              </a:rPr>
              <a:t>average</a:t>
            </a:r>
            <a:r>
              <a:rPr b="0" i="0" lang="en-US" sz="3200" u="none" cap="none" strike="noStrike">
                <a:solidFill>
                  <a:schemeClr val="lt1"/>
                </a:solidFill>
                <a:latin typeface="Arial"/>
                <a:ea typeface="Arial"/>
                <a:cs typeface="Arial"/>
                <a:sym typeface="Arial"/>
              </a:rPr>
              <a:t> just combines the </a:t>
            </a:r>
            <a:r>
              <a:rPr b="0" i="0" lang="en-US" sz="3200" u="none" cap="none" strike="noStrike">
                <a:solidFill>
                  <a:srgbClr val="00FFFF"/>
                </a:solidFill>
                <a:latin typeface="Arial"/>
                <a:ea typeface="Arial"/>
                <a:cs typeface="Arial"/>
                <a:sym typeface="Arial"/>
              </a:rPr>
              <a:t>counting</a:t>
            </a:r>
            <a:r>
              <a:rPr b="0" i="0" lang="en-US" sz="3200" u="none" cap="none" strike="noStrike">
                <a:solidFill>
                  <a:schemeClr val="lt1"/>
                </a:solidFill>
                <a:latin typeface="Arial"/>
                <a:ea typeface="Arial"/>
                <a:cs typeface="Arial"/>
                <a:sym typeface="Arial"/>
              </a:rPr>
              <a:t> and </a:t>
            </a:r>
            <a:r>
              <a:rPr b="0" i="0" lang="en-US" sz="3200" u="none" cap="none" strike="noStrike">
                <a:solidFill>
                  <a:srgbClr val="00FF00"/>
                </a:solidFill>
                <a:latin typeface="Arial"/>
                <a:ea typeface="Arial"/>
                <a:cs typeface="Arial"/>
                <a:sym typeface="Arial"/>
              </a:rPr>
              <a:t>sum</a:t>
            </a:r>
            <a:r>
              <a:rPr b="0" i="0" lang="en-US" sz="3200" u="none" cap="none" strike="noStrike">
                <a:solidFill>
                  <a:schemeClr val="lt1"/>
                </a:solidFill>
                <a:latin typeface="Arial"/>
                <a:ea typeface="Arial"/>
                <a:cs typeface="Arial"/>
                <a:sym typeface="Arial"/>
              </a:rPr>
              <a:t> patterns and </a:t>
            </a:r>
            <a:r>
              <a:rPr b="0" i="0" lang="en-US" sz="3200" u="none" cap="none" strike="noStrike">
                <a:solidFill>
                  <a:srgbClr val="FFFF00"/>
                </a:solidFill>
                <a:latin typeface="Arial"/>
                <a:ea typeface="Arial"/>
                <a:cs typeface="Arial"/>
                <a:sym typeface="Arial"/>
              </a:rPr>
              <a:t>divides when the loop is done</a:t>
            </a:r>
            <a:r>
              <a:rPr b="0" i="0" lang="en-US" sz="3200" u="none" cap="none" strike="noStrike">
                <a:solidFill>
                  <a:schemeClr val="l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9"/>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FF"/>
              </a:buClr>
              <a:buSzPts val="1900"/>
              <a:buFont typeface="Cabin"/>
              <a:buNone/>
            </a:pPr>
            <a:r>
              <a:rPr lang="en-US" sz="7600" u="none" cap="none" strike="noStrike">
                <a:solidFill>
                  <a:srgbClr val="FFD966"/>
                </a:solidFill>
                <a:latin typeface="Arial"/>
                <a:ea typeface="Arial"/>
                <a:cs typeface="Arial"/>
                <a:sym typeface="Arial"/>
              </a:rPr>
              <a:t>Filtering in a Loop</a:t>
            </a:r>
            <a:endParaRPr/>
          </a:p>
        </p:txBody>
      </p:sp>
      <p:sp>
        <p:nvSpPr>
          <p:cNvPr id="215" name="Google Shape;215;p19"/>
          <p:cNvSpPr txBox="1"/>
          <p:nvPr/>
        </p:nvSpPr>
        <p:spPr>
          <a:xfrm>
            <a:off x="1703375" y="3219450"/>
            <a:ext cx="7687500" cy="276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'Before'</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for</a:t>
            </a:r>
            <a:r>
              <a:rPr b="0" i="0" lang="en-US" sz="2600" u="none" cap="none" strike="noStrike">
                <a:solidFill>
                  <a:srgbClr val="FF00FF"/>
                </a:solidFill>
                <a:latin typeface="Courier"/>
                <a:ea typeface="Courier"/>
                <a:cs typeface="Courier"/>
                <a:sym typeface="Courier"/>
              </a:rPr>
              <a:t> value </a:t>
            </a:r>
            <a:r>
              <a:rPr b="0" i="0" lang="en-US" sz="2600" u="none" cap="none" strike="noStrike">
                <a:solidFill>
                  <a:srgbClr val="FFFF00"/>
                </a:solidFill>
                <a:latin typeface="Courier"/>
                <a:ea typeface="Courier"/>
                <a:cs typeface="Courier"/>
                <a:sym typeface="Courier"/>
              </a:rPr>
              <a:t>in</a:t>
            </a:r>
            <a:r>
              <a:rPr b="0" i="0" lang="en-US" sz="2600" u="none" cap="none" strike="noStrike">
                <a:solidFill>
                  <a:srgbClr val="FF00FF"/>
                </a:solidFill>
                <a:latin typeface="Courier"/>
                <a:ea typeface="Courier"/>
                <a:cs typeface="Courier"/>
                <a:sym typeface="Courier"/>
              </a:rPr>
              <a:t> [9, 41, 12, 3, 74, 15]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650"/>
              <a:buFont typeface="Cabin"/>
              <a:buNone/>
            </a:pPr>
            <a:r>
              <a:rPr b="0" i="0" lang="en-US" sz="2600" u="none" cap="none" strike="noStrike">
                <a:solidFill>
                  <a:srgbClr val="00FFFF"/>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if</a:t>
            </a:r>
            <a:r>
              <a:rPr b="0" i="0" lang="en-US" sz="2600" u="none" cap="none" strike="noStrike">
                <a:solidFill>
                  <a:srgbClr val="00FFFF"/>
                </a:solidFill>
                <a:latin typeface="Courier"/>
                <a:ea typeface="Courier"/>
                <a:cs typeface="Courier"/>
                <a:sym typeface="Courier"/>
              </a:rPr>
              <a:t> </a:t>
            </a:r>
            <a:r>
              <a:rPr b="0" i="0" lang="en-US" sz="2600" u="none" cap="none" strike="noStrike">
                <a:solidFill>
                  <a:srgbClr val="FF00FF"/>
                </a:solidFill>
                <a:latin typeface="Courier"/>
                <a:ea typeface="Courier"/>
                <a:cs typeface="Courier"/>
                <a:sym typeface="Courier"/>
              </a:rPr>
              <a:t>value</a:t>
            </a:r>
            <a:r>
              <a:rPr b="0" i="0" lang="en-US" sz="2600" u="none" cap="none" strike="noStrike">
                <a:solidFill>
                  <a:srgbClr val="00FFFF"/>
                </a:solidFill>
                <a:latin typeface="Courier"/>
                <a:ea typeface="Courier"/>
                <a:cs typeface="Courier"/>
                <a:sym typeface="Courier"/>
              </a:rPr>
              <a:t> &gt; 20: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650"/>
              <a:buFont typeface="Cabin"/>
              <a:buNone/>
            </a:pPr>
            <a:r>
              <a:rPr b="0" i="0" lang="en-US" sz="2600" u="none" cap="none" strike="noStrike">
                <a:solidFill>
                  <a:srgbClr val="00FFFF"/>
                </a:solidFill>
                <a:latin typeface="Courier"/>
                <a:ea typeface="Courier"/>
                <a:cs typeface="Courier"/>
                <a:sym typeface="Courier"/>
              </a:rPr>
              <a:t> 	    print('Large number',value)</a:t>
            </a:r>
            <a:endParaRPr b="0" i="0" sz="2600" u="none" cap="none" strike="noStrike">
              <a:solidFill>
                <a:srgbClr val="00FFFF"/>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t>
            </a:r>
            <a:r>
              <a:rPr b="0" i="0" lang="en-US" sz="2600" u="none" cap="none" strike="noStrike">
                <a:solidFill>
                  <a:srgbClr val="FF7F00"/>
                </a:solidFill>
                <a:latin typeface="Courier"/>
                <a:ea typeface="Courier"/>
                <a:cs typeface="Courier"/>
                <a:sym typeface="Courier"/>
              </a:rPr>
              <a:t>'After'</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p:txBody>
      </p:sp>
      <p:sp>
        <p:nvSpPr>
          <p:cNvPr id="216" name="Google Shape;216;p19"/>
          <p:cNvSpPr txBox="1"/>
          <p:nvPr/>
        </p:nvSpPr>
        <p:spPr>
          <a:xfrm>
            <a:off x="10034586" y="3321050"/>
            <a:ext cx="3744899" cy="276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7F00"/>
                </a:solidFill>
                <a:latin typeface="Arial"/>
                <a:ea typeface="Arial"/>
                <a:cs typeface="Arial"/>
                <a:sym typeface="Arial"/>
              </a:rPr>
              <a:t>Before</a:t>
            </a:r>
            <a:endParaRPr b="0" i="0" sz="3000" u="none" cap="none" strike="noStrike">
              <a:solidFill>
                <a:srgbClr val="FF7F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Large number 41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FF"/>
              </a:buClr>
              <a:buSzPts val="750"/>
              <a:buFont typeface="Cabin"/>
              <a:buNone/>
            </a:pPr>
            <a:r>
              <a:rPr b="0" i="0" lang="en-US" sz="3000" u="none" cap="none" strike="noStrike">
                <a:solidFill>
                  <a:srgbClr val="00FFFF"/>
                </a:solidFill>
                <a:latin typeface="Arial"/>
                <a:ea typeface="Arial"/>
                <a:cs typeface="Arial"/>
                <a:sym typeface="Arial"/>
              </a:rPr>
              <a:t>Large number 74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7F00"/>
                </a:solidFill>
                <a:latin typeface="Arial"/>
                <a:ea typeface="Arial"/>
                <a:cs typeface="Arial"/>
                <a:sym typeface="Arial"/>
              </a:rPr>
              <a:t>After</a:t>
            </a:r>
            <a:endParaRPr b="0" i="0" sz="1400" u="none" cap="none" strike="noStrike">
              <a:solidFill>
                <a:srgbClr val="000000"/>
              </a:solidFill>
              <a:latin typeface="Arial"/>
              <a:ea typeface="Arial"/>
              <a:cs typeface="Arial"/>
              <a:sym typeface="Arial"/>
            </a:endParaRPr>
          </a:p>
        </p:txBody>
      </p:sp>
      <p:sp>
        <p:nvSpPr>
          <p:cNvPr id="217" name="Google Shape;217;p19"/>
          <p:cNvSpPr txBox="1"/>
          <p:nvPr/>
        </p:nvSpPr>
        <p:spPr>
          <a:xfrm>
            <a:off x="2692386" y="7046913"/>
            <a:ext cx="11087099" cy="114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We use an</a:t>
            </a:r>
            <a:r>
              <a:rPr b="0" i="0" lang="en-US" sz="3600" u="none" cap="none" strike="noStrike">
                <a:solidFill>
                  <a:srgbClr val="FFFFFF"/>
                </a:solidFill>
                <a:latin typeface="Arial"/>
                <a:ea typeface="Arial"/>
                <a:cs typeface="Arial"/>
                <a:sym typeface="Arial"/>
              </a:rPr>
              <a:t> </a:t>
            </a:r>
            <a:r>
              <a:rPr b="0" i="0" lang="en-US" sz="3600" u="none" cap="none" strike="noStrike">
                <a:solidFill>
                  <a:srgbClr val="FFFF00"/>
                </a:solidFill>
                <a:latin typeface="Arial"/>
                <a:ea typeface="Arial"/>
                <a:cs typeface="Arial"/>
                <a:sym typeface="Arial"/>
              </a:rPr>
              <a:t>if</a:t>
            </a:r>
            <a:r>
              <a:rPr b="0" i="0" lang="en-US" sz="3600" u="none" cap="none" strike="noStrike">
                <a:solidFill>
                  <a:srgbClr val="FFFFFF"/>
                </a:solidFill>
                <a:latin typeface="Arial"/>
                <a:ea typeface="Arial"/>
                <a:cs typeface="Arial"/>
                <a:sym typeface="Arial"/>
              </a:rPr>
              <a:t> statement </a:t>
            </a:r>
            <a:r>
              <a:rPr b="0" i="0" lang="en-US" sz="3600" u="none" cap="none" strike="noStrike">
                <a:solidFill>
                  <a:schemeClr val="lt1"/>
                </a:solidFill>
                <a:latin typeface="Arial"/>
                <a:ea typeface="Arial"/>
                <a:cs typeface="Arial"/>
                <a:sym typeface="Arial"/>
              </a:rPr>
              <a:t>in the </a:t>
            </a:r>
            <a:r>
              <a:rPr b="0" i="0" lang="en-US" sz="3600" u="none" cap="none" strike="noStrike">
                <a:solidFill>
                  <a:srgbClr val="FF00FF"/>
                </a:solidFill>
                <a:latin typeface="Arial"/>
                <a:ea typeface="Arial"/>
                <a:cs typeface="Arial"/>
                <a:sym typeface="Arial"/>
              </a:rPr>
              <a:t>loop</a:t>
            </a:r>
            <a:r>
              <a:rPr b="0" i="0" lang="en-US" sz="3600" u="none" cap="none" strike="noStrike">
                <a:solidFill>
                  <a:schemeClr val="lt1"/>
                </a:solidFill>
                <a:latin typeface="Arial"/>
                <a:ea typeface="Arial"/>
                <a:cs typeface="Arial"/>
                <a:sym typeface="Arial"/>
              </a:rPr>
              <a:t> to catch / filter the values we are looking for.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0"/>
          <p:cNvSpPr txBox="1"/>
          <p:nvPr>
            <p:ph type="title"/>
          </p:nvPr>
        </p:nvSpPr>
        <p:spPr>
          <a:xfrm>
            <a:off x="1155700" y="817418"/>
            <a:ext cx="14731999"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The</a:t>
            </a:r>
            <a:r>
              <a:rPr lang="en-US" sz="7600" u="none" cap="none" strike="noStrike">
                <a:solidFill>
                  <a:srgbClr val="FFFF00"/>
                </a:solidFill>
                <a:latin typeface="Arial"/>
                <a:ea typeface="Arial"/>
                <a:cs typeface="Arial"/>
                <a:sym typeface="Arial"/>
              </a:rPr>
              <a:t> </a:t>
            </a:r>
            <a:r>
              <a:rPr lang="en-US" sz="7600" u="none" cap="none" strike="noStrike">
                <a:solidFill>
                  <a:srgbClr val="00FFFF"/>
                </a:solidFill>
                <a:latin typeface="Arial"/>
                <a:ea typeface="Arial"/>
                <a:cs typeface="Arial"/>
                <a:sym typeface="Arial"/>
              </a:rPr>
              <a:t>is</a:t>
            </a:r>
            <a:r>
              <a:rPr lang="en-US" sz="7600">
                <a:solidFill>
                  <a:srgbClr val="FFD966"/>
                </a:solidFill>
                <a:latin typeface="Arial"/>
                <a:ea typeface="Arial"/>
                <a:cs typeface="Arial"/>
                <a:sym typeface="Arial"/>
              </a:rPr>
              <a:t>, </a:t>
            </a:r>
            <a:r>
              <a:rPr lang="en-US" sz="7600" u="none" cap="none" strike="noStrike">
                <a:solidFill>
                  <a:srgbClr val="FF9900"/>
                </a:solidFill>
                <a:latin typeface="Arial"/>
                <a:ea typeface="Arial"/>
                <a:cs typeface="Arial"/>
                <a:sym typeface="Arial"/>
              </a:rPr>
              <a:t>is not, in, not in</a:t>
            </a:r>
            <a:r>
              <a:rPr lang="en-US" sz="7600" u="none" cap="none" strike="noStrike">
                <a:solidFill>
                  <a:srgbClr val="FFD966"/>
                </a:solidFill>
                <a:latin typeface="Arial"/>
                <a:ea typeface="Arial"/>
                <a:cs typeface="Arial"/>
                <a:sym typeface="Arial"/>
              </a:rPr>
              <a:t> Operators</a:t>
            </a:r>
            <a:endParaRPr/>
          </a:p>
        </p:txBody>
      </p:sp>
      <p:sp>
        <p:nvSpPr>
          <p:cNvPr id="223" name="Google Shape;223;p20"/>
          <p:cNvSpPr txBox="1"/>
          <p:nvPr>
            <p:ph idx="1" type="body"/>
          </p:nvPr>
        </p:nvSpPr>
        <p:spPr>
          <a:xfrm>
            <a:off x="8616824" y="2603500"/>
            <a:ext cx="6470875" cy="5702399"/>
          </a:xfrm>
          <a:prstGeom prst="rect">
            <a:avLst/>
          </a:prstGeom>
          <a:noFill/>
          <a:ln>
            <a:noFill/>
          </a:ln>
        </p:spPr>
        <p:txBody>
          <a:bodyPr anchorCtr="0" anchor="ctr" bIns="38100" lIns="38100" spcFirstLastPara="1" rIns="38100" wrap="square" tIns="38100">
            <a:noAutofit/>
          </a:bodyPr>
          <a:lstStyle/>
          <a:p>
            <a:pPr indent="-358394" lvl="0" marL="749300" marR="0" rtl="0" algn="l">
              <a:lnSpc>
                <a:spcPct val="100000"/>
              </a:lnSpc>
              <a:spcBef>
                <a:spcPts val="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Python has an</a:t>
            </a:r>
            <a:r>
              <a:rPr lang="en-US" sz="3400">
                <a:solidFill>
                  <a:schemeClr val="lt1"/>
                </a:solidFill>
                <a:latin typeface="Arial"/>
                <a:ea typeface="Arial"/>
                <a:cs typeface="Arial"/>
                <a:sym typeface="Arial"/>
              </a:rPr>
              <a:t> </a:t>
            </a:r>
            <a:r>
              <a:rPr lang="en-US" sz="3400" u="none" cap="none" strike="noStrike">
                <a:solidFill>
                  <a:srgbClr val="00FFFF"/>
                </a:solidFill>
                <a:latin typeface="Arial"/>
                <a:ea typeface="Arial"/>
                <a:cs typeface="Arial"/>
                <a:sym typeface="Arial"/>
              </a:rPr>
              <a:t>is</a:t>
            </a:r>
            <a:r>
              <a:rPr lang="en-US" sz="3400" u="none" cap="none" strike="noStrike">
                <a:solidFill>
                  <a:schemeClr val="lt1"/>
                </a:solidFill>
                <a:latin typeface="Arial"/>
                <a:ea typeface="Arial"/>
                <a:cs typeface="Arial"/>
                <a:sym typeface="Arial"/>
              </a:rPr>
              <a:t> opera</a:t>
            </a:r>
            <a:r>
              <a:rPr lang="en-US" sz="3400">
                <a:solidFill>
                  <a:schemeClr val="lt1"/>
                </a:solidFill>
                <a:latin typeface="Arial"/>
                <a:ea typeface="Arial"/>
                <a:cs typeface="Arial"/>
                <a:sym typeface="Arial"/>
              </a:rPr>
              <a:t>t</a:t>
            </a:r>
            <a:r>
              <a:rPr lang="en-US" sz="3400" u="none" cap="none" strike="noStrike">
                <a:solidFill>
                  <a:schemeClr val="lt1"/>
                </a:solidFill>
                <a:latin typeface="Arial"/>
                <a:ea typeface="Arial"/>
                <a:cs typeface="Arial"/>
                <a:sym typeface="Arial"/>
              </a:rPr>
              <a:t>or that can be used in logical expressions</a:t>
            </a:r>
            <a:endParaRPr/>
          </a:p>
          <a:p>
            <a:pPr indent="-358394" lvl="0" marL="749300" marR="0" rtl="0" algn="l">
              <a:lnSpc>
                <a:spcPct val="100000"/>
              </a:lnSpc>
              <a:spcBef>
                <a:spcPts val="350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Implies </a:t>
            </a:r>
            <a:r>
              <a:rPr lang="en-US" sz="3400">
                <a:solidFill>
                  <a:schemeClr val="lt1"/>
                </a:solidFill>
                <a:latin typeface="Arial"/>
                <a:ea typeface="Arial"/>
                <a:cs typeface="Arial"/>
                <a:sym typeface="Arial"/>
              </a:rPr>
              <a:t>“</a:t>
            </a:r>
            <a:r>
              <a:rPr lang="en-US" sz="3400" u="none" cap="none" strike="noStrike">
                <a:solidFill>
                  <a:srgbClr val="00FFFF"/>
                </a:solidFill>
                <a:latin typeface="Arial"/>
                <a:ea typeface="Arial"/>
                <a:cs typeface="Arial"/>
                <a:sym typeface="Arial"/>
              </a:rPr>
              <a:t>is the same as</a:t>
            </a:r>
            <a:r>
              <a:rPr lang="en-US" sz="3400">
                <a:solidFill>
                  <a:schemeClr val="lt1"/>
                </a:solidFill>
                <a:latin typeface="Arial"/>
                <a:ea typeface="Arial"/>
                <a:cs typeface="Arial"/>
                <a:sym typeface="Arial"/>
              </a:rPr>
              <a:t>”</a:t>
            </a:r>
            <a:endParaRPr/>
          </a:p>
          <a:p>
            <a:pPr indent="-358394" lvl="0" marL="749300" marR="0" rtl="0" algn="l">
              <a:lnSpc>
                <a:spcPct val="100000"/>
              </a:lnSpc>
              <a:spcBef>
                <a:spcPts val="350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Similar to, but stronger than </a:t>
            </a:r>
            <a:r>
              <a:rPr lang="en-US" sz="3400" u="none" cap="none" strike="noStrike">
                <a:solidFill>
                  <a:srgbClr val="00FFFF"/>
                </a:solidFill>
                <a:latin typeface="Arial"/>
                <a:ea typeface="Arial"/>
                <a:cs typeface="Arial"/>
                <a:sym typeface="Arial"/>
              </a:rPr>
              <a:t>==</a:t>
            </a:r>
            <a:endParaRPr/>
          </a:p>
          <a:p>
            <a:pPr indent="-358394" lvl="0" marL="749300" marR="0" rtl="0" algn="l">
              <a:lnSpc>
                <a:spcPct val="100000"/>
              </a:lnSpc>
              <a:spcBef>
                <a:spcPts val="3500"/>
              </a:spcBef>
              <a:spcAft>
                <a:spcPts val="0"/>
              </a:spcAft>
              <a:buClr>
                <a:schemeClr val="lt1"/>
              </a:buClr>
              <a:buSzPts val="3400"/>
              <a:buFont typeface="Cabin"/>
              <a:buChar char="•"/>
            </a:pPr>
            <a:r>
              <a:rPr lang="en-US" sz="3400" u="none" cap="none" strike="noStrike">
                <a:solidFill>
                  <a:srgbClr val="FF7F00"/>
                </a:solidFill>
                <a:latin typeface="Arial"/>
                <a:ea typeface="Arial"/>
                <a:cs typeface="Arial"/>
                <a:sym typeface="Arial"/>
              </a:rPr>
              <a:t>is not</a:t>
            </a:r>
            <a:r>
              <a:rPr lang="en-US" sz="3400">
                <a:solidFill>
                  <a:schemeClr val="lt1"/>
                </a:solidFill>
                <a:latin typeface="Arial"/>
                <a:ea typeface="Arial"/>
                <a:cs typeface="Arial"/>
                <a:sym typeface="Arial"/>
              </a:rPr>
              <a:t> </a:t>
            </a:r>
            <a:r>
              <a:rPr lang="en-US" sz="3400" u="none" cap="none" strike="noStrike">
                <a:solidFill>
                  <a:schemeClr val="lt1"/>
                </a:solidFill>
                <a:latin typeface="Arial"/>
                <a:ea typeface="Arial"/>
                <a:cs typeface="Arial"/>
                <a:sym typeface="Arial"/>
              </a:rPr>
              <a:t> also is a logical operator</a:t>
            </a:r>
            <a:endParaRPr/>
          </a:p>
        </p:txBody>
      </p:sp>
      <p:sp>
        <p:nvSpPr>
          <p:cNvPr id="224" name="Google Shape;224;p20"/>
          <p:cNvSpPr txBox="1"/>
          <p:nvPr/>
        </p:nvSpPr>
        <p:spPr>
          <a:xfrm>
            <a:off x="874425" y="2962250"/>
            <a:ext cx="7742400" cy="49847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50"/>
              <a:buFont typeface="Cabin"/>
              <a:buNone/>
            </a:pPr>
            <a:r>
              <a:rPr b="0" i="0" lang="en-US" sz="2600" u="none" cap="none" strike="noStrike">
                <a:solidFill>
                  <a:srgbClr val="00FF00"/>
                </a:solidFill>
                <a:latin typeface="Courier"/>
                <a:ea typeface="Courier"/>
                <a:cs typeface="Courier"/>
                <a:sym typeface="Courier"/>
              </a:rPr>
              <a:t>smallest</a:t>
            </a:r>
            <a:r>
              <a:rPr b="0" i="0" lang="en-US" sz="2600" u="none" cap="none" strike="noStrike">
                <a:solidFill>
                  <a:schemeClr val="lt1"/>
                </a:solidFill>
                <a:latin typeface="Courier"/>
                <a:ea typeface="Courier"/>
                <a:cs typeface="Courier"/>
                <a:sym typeface="Courier"/>
              </a:rPr>
              <a:t> = </a:t>
            </a:r>
            <a:r>
              <a:rPr b="0" i="0" lang="en-US" sz="2600" u="none" cap="none" strike="noStrike">
                <a:solidFill>
                  <a:srgbClr val="FFFF00"/>
                </a:solidFill>
                <a:latin typeface="Courier"/>
                <a:ea typeface="Courier"/>
                <a:cs typeface="Courier"/>
                <a:sym typeface="Courier"/>
              </a:rPr>
              <a:t>None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('Before')</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for</a:t>
            </a:r>
            <a:r>
              <a:rPr b="0" i="0" lang="en-US" sz="2600" u="none" cap="none" strike="noStrike">
                <a:solidFill>
                  <a:schemeClr val="lt1"/>
                </a:solidFill>
                <a:latin typeface="Courier"/>
                <a:ea typeface="Courier"/>
                <a:cs typeface="Courier"/>
                <a:sym typeface="Courier"/>
              </a:rPr>
              <a:t> value </a:t>
            </a:r>
            <a:r>
              <a:rPr b="0" i="0" lang="en-US" sz="2600" u="none" cap="none" strike="noStrike">
                <a:solidFill>
                  <a:srgbClr val="FFFF00"/>
                </a:solidFill>
                <a:latin typeface="Courier"/>
                <a:ea typeface="Courier"/>
                <a:cs typeface="Courier"/>
                <a:sym typeface="Courier"/>
              </a:rPr>
              <a:t>in</a:t>
            </a:r>
            <a:r>
              <a:rPr b="0" i="0" lang="en-US" sz="2600" u="none" cap="none" strike="noStrike">
                <a:solidFill>
                  <a:schemeClr val="lt1"/>
                </a:solidFill>
                <a:latin typeface="Courier"/>
                <a:ea typeface="Courier"/>
                <a:cs typeface="Courier"/>
                <a:sym typeface="Courier"/>
              </a:rPr>
              <a:t> [3, 41, 12, 9, 74, 15]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if</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smallest</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FF"/>
                </a:solidFill>
                <a:latin typeface="Courier"/>
                <a:ea typeface="Courier"/>
                <a:cs typeface="Courier"/>
                <a:sym typeface="Courier"/>
              </a:rPr>
              <a:t>is</a:t>
            </a: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None</a:t>
            </a:r>
            <a:r>
              <a:rPr b="0" i="0" lang="en-US" sz="2600" u="none" cap="none" strike="noStrike">
                <a:solidFill>
                  <a:schemeClr val="lt1"/>
                </a:solidFill>
                <a:latin typeface="Courier"/>
                <a:ea typeface="Courier"/>
                <a:cs typeface="Courier"/>
                <a:sym typeface="Courier"/>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smallest</a:t>
            </a:r>
            <a:r>
              <a:rPr b="0" i="0" lang="en-US" sz="2600" u="none" cap="none" strike="noStrike">
                <a:solidFill>
                  <a:schemeClr val="lt1"/>
                </a:solidFill>
                <a:latin typeface="Courier"/>
                <a:ea typeface="Courier"/>
                <a:cs typeface="Courier"/>
                <a:sym typeface="Courier"/>
              </a:rPr>
              <a:t> =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elif</a:t>
            </a:r>
            <a:r>
              <a:rPr b="0" i="0" lang="en-US" sz="2600" u="none" cap="none" strike="noStrike">
                <a:solidFill>
                  <a:schemeClr val="lt1"/>
                </a:solidFill>
                <a:latin typeface="Courier"/>
                <a:ea typeface="Courier"/>
                <a:cs typeface="Courier"/>
                <a:sym typeface="Courier"/>
              </a:rPr>
              <a:t> value &lt; </a:t>
            </a:r>
            <a:r>
              <a:rPr b="0" i="0" lang="en-US" sz="2600" u="none" cap="none" strike="noStrike">
                <a:solidFill>
                  <a:srgbClr val="00FF00"/>
                </a:solidFill>
                <a:latin typeface="Courier"/>
                <a:ea typeface="Courier"/>
                <a:cs typeface="Courier"/>
                <a:sym typeface="Courier"/>
              </a:rPr>
              <a:t>smallest</a:t>
            </a:r>
            <a:r>
              <a:rPr b="0" i="0" lang="en-US" sz="2600" u="none" cap="none" strike="noStrike">
                <a:solidFill>
                  <a:schemeClr val="lt1"/>
                </a:solidFill>
                <a:latin typeface="Courier"/>
                <a:ea typeface="Courier"/>
                <a:cs typeface="Courier"/>
                <a:sym typeface="Courier"/>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00FF00"/>
                </a:solidFill>
                <a:latin typeface="Courier"/>
                <a:ea typeface="Courier"/>
                <a:cs typeface="Courier"/>
                <a:sym typeface="Courier"/>
              </a:rPr>
              <a:t>smallest</a:t>
            </a:r>
            <a:r>
              <a:rPr b="0" i="0" lang="en-US" sz="2600" u="none" cap="none" strike="noStrike">
                <a:solidFill>
                  <a:schemeClr val="lt1"/>
                </a:solidFill>
                <a:latin typeface="Courier"/>
                <a:ea typeface="Courier"/>
                <a:cs typeface="Courier"/>
                <a:sym typeface="Courier"/>
              </a:rPr>
              <a:t> =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Courier"/>
                <a:ea typeface="Courier"/>
                <a:cs typeface="Courier"/>
                <a:sym typeface="Courier"/>
              </a:rPr>
              <a:t>    </a:t>
            </a:r>
            <a:r>
              <a:rPr b="0" i="0" lang="en-US" sz="2600" u="none" cap="none" strike="noStrike">
                <a:solidFill>
                  <a:srgbClr val="FFFF00"/>
                </a:solidFill>
                <a:latin typeface="Courier"/>
                <a:ea typeface="Courier"/>
                <a:cs typeface="Courier"/>
                <a:sym typeface="Courier"/>
              </a:rPr>
              <a:t>print(</a:t>
            </a:r>
            <a:r>
              <a:rPr b="0" i="0" lang="en-US" sz="2600" u="none" cap="none" strike="noStrike">
                <a:solidFill>
                  <a:srgbClr val="00FF00"/>
                </a:solidFill>
                <a:latin typeface="Courier"/>
                <a:ea typeface="Courier"/>
                <a:cs typeface="Courier"/>
                <a:sym typeface="Courier"/>
              </a:rPr>
              <a:t>smallest</a:t>
            </a:r>
            <a:r>
              <a:rPr b="0" i="0" lang="en-US" sz="2600" u="none" cap="none" strike="noStrike">
                <a:solidFill>
                  <a:schemeClr val="lt1"/>
                </a:solidFill>
                <a:latin typeface="Courier"/>
                <a:ea typeface="Courier"/>
                <a:cs typeface="Courier"/>
                <a:sym typeface="Courier"/>
              </a:rPr>
              <a:t>, value</a:t>
            </a:r>
            <a:r>
              <a:rPr b="0" i="0" lang="en-US" sz="2600" u="none" cap="none" strike="noStrike">
                <a:solidFill>
                  <a:srgbClr val="FFF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50"/>
              <a:buFont typeface="Cabin"/>
              <a:buNone/>
            </a:pPr>
            <a:r>
              <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650"/>
              <a:buFont typeface="Cabin"/>
              <a:buNone/>
            </a:pPr>
            <a:r>
              <a:rPr b="0" i="0" lang="en-US" sz="2600" u="none" cap="none" strike="noStrike">
                <a:solidFill>
                  <a:srgbClr val="FFFF00"/>
                </a:solidFill>
                <a:latin typeface="Courier"/>
                <a:ea typeface="Courier"/>
                <a:cs typeface="Courier"/>
                <a:sym typeface="Courier"/>
              </a:rPr>
              <a:t>print</a:t>
            </a:r>
            <a:r>
              <a:rPr b="0" i="0" lang="en-US" sz="2600" u="none" cap="none" strike="noStrike">
                <a:solidFill>
                  <a:schemeClr val="lt1"/>
                </a:solidFill>
                <a:latin typeface="Courier"/>
                <a:ea typeface="Courier"/>
                <a:cs typeface="Courier"/>
                <a:sym typeface="Courier"/>
              </a:rPr>
              <a:t>('After', </a:t>
            </a:r>
            <a:r>
              <a:rPr b="0" i="0" lang="en-US" sz="2600" u="none" cap="none" strike="noStrike">
                <a:solidFill>
                  <a:srgbClr val="00FF00"/>
                </a:solidFill>
                <a:latin typeface="Courier"/>
                <a:ea typeface="Courier"/>
                <a:cs typeface="Courier"/>
                <a:sym typeface="Courier"/>
              </a:rPr>
              <a:t>smallest</a:t>
            </a:r>
            <a:r>
              <a:rPr b="0" i="0" lang="en-US" sz="2600" u="none" cap="none" strike="noStrike">
                <a:solidFill>
                  <a:schemeClr val="lt1"/>
                </a:solidFill>
                <a:latin typeface="Courier"/>
                <a:ea typeface="Courier"/>
                <a:cs typeface="Courier"/>
                <a:sym typeface="Courier"/>
              </a:rPr>
              <a:t>)</a:t>
            </a:r>
            <a:endParaRPr b="0" i="0" sz="2600" u="none" cap="none" strike="noStrike">
              <a:solidFill>
                <a:schemeClr val="lt1"/>
              </a:solidFill>
              <a:latin typeface="Courier"/>
              <a:ea typeface="Courier"/>
              <a:cs typeface="Courier"/>
              <a:sym typeface="Couri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1"/>
          <p:cNvSpPr txBox="1"/>
          <p:nvPr>
            <p:ph type="title"/>
          </p:nvPr>
        </p:nvSpPr>
        <p:spPr>
          <a:xfrm>
            <a:off x="1155700" y="817418"/>
            <a:ext cx="13932000" cy="17224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Summary</a:t>
            </a:r>
            <a:endParaRPr/>
          </a:p>
        </p:txBody>
      </p:sp>
      <p:sp>
        <p:nvSpPr>
          <p:cNvPr id="230" name="Google Shape;230;p21"/>
          <p:cNvSpPr txBox="1"/>
          <p:nvPr>
            <p:ph idx="1" type="body"/>
          </p:nvPr>
        </p:nvSpPr>
        <p:spPr>
          <a:xfrm>
            <a:off x="1809750" y="2603500"/>
            <a:ext cx="6826250" cy="5702399"/>
          </a:xfrm>
          <a:prstGeom prst="rect">
            <a:avLst/>
          </a:prstGeom>
          <a:noFill/>
          <a:ln>
            <a:noFill/>
          </a:ln>
        </p:spPr>
        <p:txBody>
          <a:bodyPr anchorCtr="0" anchor="t" bIns="38100" lIns="38100" spcFirstLastPara="1" rIns="38100" wrap="square" tIns="38100">
            <a:noAutofit/>
          </a:bodyPr>
          <a:lstStyle/>
          <a:p>
            <a:pPr indent="-394461" lvl="0" marL="6858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While loops (indefinite)</a:t>
            </a:r>
            <a:endParaRPr/>
          </a:p>
          <a:p>
            <a:pPr indent="-39446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Infinite loops</a:t>
            </a:r>
            <a:endParaRPr/>
          </a:p>
          <a:p>
            <a:pPr indent="-39446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Using break</a:t>
            </a:r>
            <a:endParaRPr/>
          </a:p>
          <a:p>
            <a:pPr indent="-39446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Using continue</a:t>
            </a:r>
            <a:endParaRPr/>
          </a:p>
          <a:p>
            <a:pPr indent="-394461" lvl="0" marL="685800" marR="0" rtl="0" algn="l">
              <a:lnSpc>
                <a:spcPct val="100000"/>
              </a:lnSpc>
              <a:spcBef>
                <a:spcPts val="3500"/>
              </a:spcBef>
              <a:spcAft>
                <a:spcPts val="0"/>
              </a:spcAft>
              <a:buClr>
                <a:schemeClr val="lt1"/>
              </a:buClr>
              <a:buSzPts val="3600"/>
              <a:buFont typeface="Cabin"/>
              <a:buChar char="•"/>
            </a:pPr>
            <a:r>
              <a:rPr lang="en-US" sz="3600">
                <a:solidFill>
                  <a:schemeClr val="lt1"/>
                </a:solidFill>
                <a:latin typeface="Arial"/>
                <a:ea typeface="Arial"/>
                <a:cs typeface="Arial"/>
                <a:sym typeface="Arial"/>
              </a:rPr>
              <a:t>None constants and variables</a:t>
            </a:r>
            <a:endParaRPr sz="3600" u="none" cap="none" strike="noStrike">
              <a:solidFill>
                <a:schemeClr val="lt1"/>
              </a:solidFill>
              <a:latin typeface="Arial"/>
              <a:ea typeface="Arial"/>
              <a:cs typeface="Arial"/>
              <a:sym typeface="Arial"/>
            </a:endParaRPr>
          </a:p>
        </p:txBody>
      </p:sp>
      <p:sp>
        <p:nvSpPr>
          <p:cNvPr id="231" name="Google Shape;231;p21"/>
          <p:cNvSpPr txBox="1"/>
          <p:nvPr>
            <p:ph idx="4294967295" type="body"/>
          </p:nvPr>
        </p:nvSpPr>
        <p:spPr>
          <a:xfrm>
            <a:off x="9036050" y="2755900"/>
            <a:ext cx="6051650" cy="5702300"/>
          </a:xfrm>
          <a:prstGeom prst="rect">
            <a:avLst/>
          </a:prstGeom>
          <a:noFill/>
          <a:ln>
            <a:noFill/>
          </a:ln>
        </p:spPr>
        <p:txBody>
          <a:bodyPr anchorCtr="0" anchor="t" bIns="38100" lIns="38100" spcFirstLastPara="1" rIns="38100" wrap="square" tIns="38100">
            <a:noAutofit/>
          </a:bodyPr>
          <a:lstStyle/>
          <a:p>
            <a:pPr indent="-394461" lvl="0" marL="6858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For loops (definite)</a:t>
            </a:r>
            <a:endParaRPr/>
          </a:p>
          <a:p>
            <a:pPr indent="-39446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Iteration variables</a:t>
            </a:r>
            <a:endParaRPr/>
          </a:p>
          <a:p>
            <a:pPr indent="-394461" lvl="0" marL="685800" marR="0" rtl="0" algn="l">
              <a:lnSpc>
                <a:spcPct val="100000"/>
              </a:lnSpc>
              <a:spcBef>
                <a:spcPts val="3500"/>
              </a:spcBef>
              <a:spcAft>
                <a:spcPts val="0"/>
              </a:spcAft>
              <a:buClr>
                <a:schemeClr val="lt1"/>
              </a:buClr>
              <a:buSzPts val="3600"/>
              <a:buFont typeface="Cabin"/>
              <a:buChar char="•"/>
            </a:pPr>
            <a:r>
              <a:rPr lang="en-US" sz="3600">
                <a:solidFill>
                  <a:schemeClr val="lt1"/>
                </a:solidFill>
                <a:latin typeface="Arial"/>
                <a:ea typeface="Arial"/>
                <a:cs typeface="Arial"/>
                <a:sym typeface="Arial"/>
              </a:rPr>
              <a:t>Common loop patterns</a:t>
            </a:r>
            <a:endParaRPr sz="3600">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2"/>
          <p:cNvSpPr txBox="1"/>
          <p:nvPr>
            <p:ph type="title"/>
          </p:nvPr>
        </p:nvSpPr>
        <p:spPr>
          <a:xfrm>
            <a:off x="1155700" y="817418"/>
            <a:ext cx="13932000" cy="1127856"/>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FFFF00"/>
              </a:buClr>
              <a:buSzPts val="3600"/>
              <a:buFont typeface="Arial"/>
              <a:buNone/>
            </a:pPr>
            <a:r>
              <a:rPr lang="en-US" sz="3600">
                <a:solidFill>
                  <a:srgbClr val="FFFF00"/>
                </a:solidFill>
              </a:rPr>
              <a:t>Acknowledgements / Contributions</a:t>
            </a:r>
            <a:endParaRPr/>
          </a:p>
        </p:txBody>
      </p:sp>
      <p:sp>
        <p:nvSpPr>
          <p:cNvPr id="237" name="Google Shape;237;p22"/>
          <p:cNvSpPr txBox="1"/>
          <p:nvPr/>
        </p:nvSpPr>
        <p:spPr>
          <a:xfrm>
            <a:off x="1155700" y="2143125"/>
            <a:ext cx="6797699" cy="598431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These slides are Copyright 2010-  Charles R. Severance (</a:t>
            </a:r>
            <a:r>
              <a:rPr b="0" i="0" lang="en-US" sz="1800" u="sng" cap="none" strike="noStrike">
                <a:solidFill>
                  <a:srgbClr val="FFFF00"/>
                </a:solidFill>
                <a:latin typeface="Arial"/>
                <a:ea typeface="Arial"/>
                <a:cs typeface="Arial"/>
                <a:sym typeface="Arial"/>
                <a:hlinkClick r:id="rId3">
                  <a:extLst>
                    <a:ext uri="{A12FA001-AC4F-418D-AE19-62706E023703}">
                      <ahyp:hlinkClr val="tx"/>
                    </a:ext>
                  </a:extLst>
                </a:hlinkClick>
              </a:rPr>
              <a:t>www.dr-chuck.com</a:t>
            </a:r>
            <a:r>
              <a:rPr b="0" i="0" lang="en-US" sz="1800" u="none" cap="none" strike="noStrike">
                <a:solidFill>
                  <a:srgbClr val="FFFFFF"/>
                </a:solidFill>
                <a:latin typeface="Arial"/>
                <a:ea typeface="Arial"/>
                <a:cs typeface="Arial"/>
                <a:sym typeface="Arial"/>
              </a:rPr>
              <a:t>) of the University of Michigan School of Information and </a:t>
            </a:r>
            <a:r>
              <a:rPr b="0" i="0" lang="en-US" sz="1800" u="sng" cap="none" strike="noStrike">
                <a:solidFill>
                  <a:srgbClr val="FFFF00"/>
                </a:solidFill>
                <a:latin typeface="Arial"/>
                <a:ea typeface="Arial"/>
                <a:cs typeface="Arial"/>
                <a:sym typeface="Arial"/>
                <a:hlinkClick r:id="rId4">
                  <a:extLst>
                    <a:ext uri="{A12FA001-AC4F-418D-AE19-62706E023703}">
                      <ahyp:hlinkClr val="tx"/>
                    </a:ext>
                  </a:extLst>
                </a:hlinkClick>
              </a:rPr>
              <a:t>open.umich.edu</a:t>
            </a:r>
            <a:r>
              <a:rPr b="0" i="0" lang="en-US" sz="1800" u="none" cap="none" strike="noStrike">
                <a:solidFill>
                  <a:srgbClr val="FFFFFF"/>
                </a:solidFill>
                <a:latin typeface="Arial"/>
                <a:ea typeface="Arial"/>
                <a:cs typeface="Arial"/>
                <a:sym typeface="Arial"/>
              </a:rPr>
              <a:t>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Initial Development: Charles Severance, University of Michigan School of Information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Insert new Contributors and Translators here </a:t>
            </a:r>
            <a:endParaRPr b="0" i="0" sz="1400" u="none" cap="none" strike="noStrike">
              <a:solidFill>
                <a:srgbClr val="000000"/>
              </a:solidFill>
              <a:latin typeface="Arial"/>
              <a:ea typeface="Arial"/>
              <a:cs typeface="Arial"/>
              <a:sym typeface="Arial"/>
            </a:endParaRPr>
          </a:p>
        </p:txBody>
      </p:sp>
      <p:pic>
        <p:nvPicPr>
          <p:cNvPr id="238" name="Google Shape;238;p22"/>
          <p:cNvPicPr preferRelativeResize="0"/>
          <p:nvPr/>
        </p:nvPicPr>
        <p:blipFill rotWithShape="1">
          <a:blip r:embed="rId5">
            <a:alphaModFix/>
          </a:blip>
          <a:srcRect b="0" l="0" r="0" t="0"/>
          <a:stretch/>
        </p:blipFill>
        <p:spPr>
          <a:xfrm>
            <a:off x="13836902" y="1098674"/>
            <a:ext cx="1968599" cy="668400"/>
          </a:xfrm>
          <a:prstGeom prst="rect">
            <a:avLst/>
          </a:prstGeom>
          <a:noFill/>
          <a:ln>
            <a:noFill/>
          </a:ln>
        </p:spPr>
      </p:pic>
      <p:sp>
        <p:nvSpPr>
          <p:cNvPr id="239" name="Google Shape;239;p22"/>
          <p:cNvSpPr txBox="1"/>
          <p:nvPr/>
        </p:nvSpPr>
        <p:spPr>
          <a:xfrm>
            <a:off x="8704400" y="2143125"/>
            <a:ext cx="6797699" cy="598431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