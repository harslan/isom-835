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9144000" cx="16256000"/>
  <p:notesSz cx="6858000" cy="9144000"/>
  <p:embeddedFontLst>
    <p:embeddedFont>
      <p:font typeface="Gill Sans"/>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37" roundtripDataSignature="AMtx7mhq1QFxR4vhZizVtL9eYYK9YbOm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1DF0AF-02F5-4D51-8ACB-15D761418DEC}">
  <a:tblStyle styleId="{C41DF0AF-02F5-4D51-8ACB-15D761418DEC}" styleName="Table_0">
    <a:wholeTbl>
      <a:tcTxStyle b="off" i="off">
        <a:font>
          <a:latin typeface="Arial"/>
          <a:ea typeface="Arial"/>
          <a:cs typeface="Arial"/>
        </a:font>
        <a:srgbClr val="80808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GillSans-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GillSans-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Python is a powerful multi-purpose programming language. Our first material in learning about how to program in Python will be to focus on what variables are, how they are created, how we manipulate them, what a statement means in Python, how we execute statements in Python, what some of the common operators in Python are, and how we can combine variables and operators to create expressions in order to build Python scripts towards our computational purposes.</a:t>
            </a:r>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t>In our journey to learn Python, let us start with building our first statement: print()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A statement is simply a unit of code that Python interpreter can execute. It is a building block towards building enriched Python scripts.</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print() statement executes a pre-built function that Python interpreter knows how to handle. Upon execution of this statement, Python interpreter will simply print the argument inside the print function to the screen. Let us use constants as the arguments for the print() function. A constant refers to either a numerical value or a string that we do not change its value. If we are using a numerical constant such as a number 123, we simply call print(123). However, if we would like Python interpreter to treat this constant as a String, then we have to put it between single quotes (’123’) or double quotes (“123”) so that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Python interpreter will treat this parameter as a String. We have to know the language of the Python interpreter in order to synch ourselves with it! In order to communicate correctly with it! It is our friend and we have to know how to talk to it to give instructions that it can execute on behalf of us! </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We also note that there are different types of constants in Pyhon: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123 🡪 Integer type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98.6 🡪 Float type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’Hello world’ 🡪 String type</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We are going to talk more abot these data types in more detail later.</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One of the most powerful features of Python programming language is: </a:t>
            </a:r>
            <a:endParaRPr/>
          </a:p>
          <a:p>
            <a:pPr indent="0" lvl="0" marL="0" rtl="0" algn="l">
              <a:lnSpc>
                <a:spcPct val="100000"/>
              </a:lnSpc>
              <a:spcBef>
                <a:spcPts val="0"/>
              </a:spcBef>
              <a:spcAft>
                <a:spcPts val="0"/>
              </a:spcAft>
              <a:buClr>
                <a:schemeClr val="dk1"/>
              </a:buClr>
              <a:buSzPts val="1200"/>
              <a:buFont typeface="Arial"/>
              <a:buNone/>
            </a:pPr>
            <a:r>
              <a:rPr lang="en-US"/>
              <a:t>we can create variables to store data in them and later manipulate these data depending on our logic of actions in our Python script.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will be creating variables by choosing variable names that are meaningful to the context of our logic in our Python script. Also, we should note that we can not confuse our friend [Python interpreter] by choosing variable names that are the same of some special words that Python interpreter is using. We simply call them “Reserved Words”: these are reserved for the Python Interpreter. The interpreter knows what to do when these words are included in Python statements. We will be utilizing these reserved words throughout our course in building our scripts. By no means, we should memorize them at this point at all. We are going to get familiar with them as we build our confidence and knowledge in learning and using Python.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For example, in our next class we are going to use “if”, “elif”, “else” reserved words to build conditional logic in our scripts.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36" name="Google Shape;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dive into creating variables and storing values in Python. We choose a variable of our like (there are some constraints on choosing a variable name that we are going to talk about later) and this name will be used to allocate a certain amount of space in our computer’s memory. In this memory spot, our data (i.e., in the form of an Integer type, Floating type, or String type) will be stored.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are going to communicate with our Python interpreter using an assignment statement in the following form to create a variable and store its value in computer’s memory.</a:t>
            </a:r>
            <a:endParaRPr/>
          </a:p>
          <a:p>
            <a:pPr indent="0" lvl="0" marL="0" rtl="0" algn="l">
              <a:lnSpc>
                <a:spcPct val="100000"/>
              </a:lnSpc>
              <a:spcBef>
                <a:spcPts val="0"/>
              </a:spcBef>
              <a:spcAft>
                <a:spcPts val="0"/>
              </a:spcAft>
              <a:buClr>
                <a:schemeClr val="dk1"/>
              </a:buClr>
              <a:buSzPts val="1200"/>
              <a:buFont typeface="Arial"/>
              <a:buNone/>
            </a:pPr>
            <a:r>
              <a:rPr lang="en-US"/>
              <a:t>“variable_name = value_stored”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An assignment statement is using the assignment operator ‘=‘. Using the assignment operator, we can store our desired data. Our variable name will be simply our reference to access and modify our data in memory.  For example,</a:t>
            </a:r>
            <a:endParaRPr/>
          </a:p>
          <a:p>
            <a:pPr indent="0" lvl="0" marL="0" rtl="0" algn="l">
              <a:lnSpc>
                <a:spcPct val="100000"/>
              </a:lnSpc>
              <a:spcBef>
                <a:spcPts val="0"/>
              </a:spcBef>
              <a:spcAft>
                <a:spcPts val="0"/>
              </a:spcAft>
              <a:buClr>
                <a:schemeClr val="dk1"/>
              </a:buClr>
              <a:buSzPts val="1200"/>
              <a:buFont typeface="Arial"/>
              <a:buNone/>
            </a:pPr>
            <a:r>
              <a:rPr lang="en-US"/>
              <a:t> </a:t>
            </a:r>
            <a:endParaRPr/>
          </a:p>
          <a:p>
            <a:pPr indent="0" lvl="0" marL="0" rtl="0" algn="l">
              <a:lnSpc>
                <a:spcPct val="100000"/>
              </a:lnSpc>
              <a:spcBef>
                <a:spcPts val="0"/>
              </a:spcBef>
              <a:spcAft>
                <a:spcPts val="0"/>
              </a:spcAft>
              <a:buClr>
                <a:schemeClr val="dk1"/>
              </a:buClr>
              <a:buSzPts val="1200"/>
              <a:buFont typeface="Arial"/>
              <a:buNone/>
            </a:pPr>
            <a:r>
              <a:rPr lang="en-US"/>
              <a:t>x  = 12.2  🡪 we choose a variable name x and assign a Floating type value of 12.2. This data is now stored in computer’s memory. Similarly,</a:t>
            </a:r>
            <a:endParaRPr/>
          </a:p>
          <a:p>
            <a:pPr indent="0" lvl="0" marL="0" rtl="0" algn="l">
              <a:lnSpc>
                <a:spcPct val="100000"/>
              </a:lnSpc>
              <a:spcBef>
                <a:spcPts val="0"/>
              </a:spcBef>
              <a:spcAft>
                <a:spcPts val="0"/>
              </a:spcAft>
              <a:buClr>
                <a:schemeClr val="dk1"/>
              </a:buClr>
              <a:buSzPts val="1200"/>
              <a:buFont typeface="Arial"/>
              <a:buNone/>
            </a:pPr>
            <a:r>
              <a:rPr lang="en-US"/>
              <a:t>y = 14 🡪 we choose a variable name y and assign an Integer type value of 14. This data is alos stored in computer’s memory.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Now, we can refer and point to these data stored in memory by simply using variable names x and y. When we tell Python interpreter to execute x, it will know that it is dealing with a Floating type data of 12.2.</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43" name="Google Shape;4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After assigning values to variables through assignment operator =, we can update the values that the variables are referring to using assignment operator again.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 x = 12.2  🡪 x is assigned value of 12.2</a:t>
            </a:r>
            <a:endParaRPr/>
          </a:p>
          <a:p>
            <a:pPr indent="0" lvl="0" marL="0" rtl="0" algn="l">
              <a:lnSpc>
                <a:spcPct val="100000"/>
              </a:lnSpc>
              <a:spcBef>
                <a:spcPts val="0"/>
              </a:spcBef>
              <a:spcAft>
                <a:spcPts val="0"/>
              </a:spcAft>
              <a:buClr>
                <a:schemeClr val="dk1"/>
              </a:buClr>
              <a:buSzPts val="1200"/>
              <a:buFont typeface="Arial"/>
              <a:buNone/>
            </a:pPr>
            <a:r>
              <a:rPr lang="en-US"/>
              <a:t> x = 100 🡪 x’s value is updated to 100, now it is assigned a new value of 100.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 you can see, we can update the value of a variable to any type of data (i.e., from Floating type to Integer type in this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Assignment operator = is very important in storing and updating the data in Python!!!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55" name="Google Shape;5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We will strive to choose variable names that are meaningful to the context of our script, however, Python has some constraints for us in choosing variable names:</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Variable names can be arbitrarily long. They can contain letters and numbers and underscore (_) characters, but they cannot start with a number. It is legal to use uppercase letters, but it is a good idea to begin variable names with a lowercase letter. The underscore character ( _ ) can appear in a variable name. It is often used in names with multiple words, such as my_name or speed_of_aircraft.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Variable names can start with an underscore character, but we generally avoid doing this unless we are writing library code for others to use.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If you give a variable an illegal name, you get a syntax error from Python interpreter. Also, keep in mind that we cannot use “Reserved words” as of our variable names, it will result in a syntax error as well.</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Also, we should keep in mind that variable names are case-sensitive: spam, Spam, SPAM all refer to different variable names.</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Some good examples of variable names that follow Python rules would be: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spam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eggs</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spam23</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_speed</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Some bad examples of variable names that violate Python rules would be: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23spam 🡪 cannot begin with a numerical value in a variable name</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#sign  🡪 cannot use hashtag (#) as part of a variable name</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var.12 🡪 cannot use period(.) as part of a variable name</a:t>
            </a:r>
            <a:endParaRPr sz="1200">
              <a:solidFill>
                <a:schemeClr val="dk1"/>
              </a:solidFill>
              <a:latin typeface="Arial"/>
              <a:ea typeface="Arial"/>
              <a:cs typeface="Arial"/>
              <a:sym typeface="Arial"/>
            </a:endParaRPr>
          </a:p>
        </p:txBody>
      </p:sp>
      <p:sp>
        <p:nvSpPr>
          <p:cNvPr id="70" name="Google Shape;7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We need to emphasize that not only our variable names should follow the rules of Python, they should also be chosen meaningfully for our script to be readable not only by us but also by our teammates when we pass our script to them. It is a good practice to keep our variable names as meaningfully as possible to the context.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Even though above 3 sets of code blocks print the same results: 437.5, the last code block is much more informative and clean in terms of what our Python script is doing: it calculates the weekly pay for an employee who is paid 12.5 dollars per hour and works for 35 hours per week.</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77" name="Google Shape;7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This slide visually differentiates variables, mathematical operator (+), constants, and functions in a Python script.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 x = 2 🡪 this is an assignment statement where you assign value 2 to the variable x. </a:t>
            </a:r>
            <a:endParaRPr/>
          </a:p>
          <a:p>
            <a:pPr indent="0" lvl="0" marL="0" rtl="0" algn="l">
              <a:lnSpc>
                <a:spcPct val="100000"/>
              </a:lnSpc>
              <a:spcBef>
                <a:spcPts val="0"/>
              </a:spcBef>
              <a:spcAft>
                <a:spcPts val="0"/>
              </a:spcAft>
              <a:buClr>
                <a:schemeClr val="dk1"/>
              </a:buClr>
              <a:buSzPts val="1200"/>
              <a:buFont typeface="Arial"/>
              <a:buNone/>
            </a:pPr>
            <a:r>
              <a:rPr lang="en-US"/>
              <a:t> x = x + 2 🡪 the right hand side is a mathematical expression with an addition operator + that needs to be evaluated first before assigning the result to the variable x. </a:t>
            </a:r>
            <a:endParaRPr/>
          </a:p>
          <a:p>
            <a:pPr indent="0" lvl="0" marL="0" rtl="0" algn="l">
              <a:lnSpc>
                <a:spcPct val="100000"/>
              </a:lnSpc>
              <a:spcBef>
                <a:spcPts val="0"/>
              </a:spcBef>
              <a:spcAft>
                <a:spcPts val="0"/>
              </a:spcAft>
              <a:buClr>
                <a:schemeClr val="dk1"/>
              </a:buClr>
              <a:buSzPts val="1200"/>
              <a:buFont typeface="Arial"/>
              <a:buNone/>
            </a:pPr>
            <a:r>
              <a:rPr lang="en-US"/>
              <a:t> print(x) 🡪 print() is a buill-in Python function to print the results (or arguments) to the screen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Variables, Operators, Constants, and Functions are fundamental building blocks of Python scripts! You will utilize them all time!</a:t>
            </a:r>
            <a:endParaRPr/>
          </a:p>
        </p:txBody>
      </p:sp>
      <p:sp>
        <p:nvSpPr>
          <p:cNvPr id="85" name="Google Shape;8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Assignment statements are at the core of building Python scripts. Therefore, let us look into the following example in detail to understand how it works.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Assignment operator ( = ) has the following important TASK: update the value of the variable on left-hand-side to the executed value of the expression on the right-hand-side.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have the following right-hand-side expression: 3.9 * x  * ( 1 – x ). First, Python interpreter has to evaluate this expression to determine what value it results in. In doing so, Python interpreter will have to refer to the current value pointed by the variable x in evaluating this expression. Second, the assignment operator will update the value pointed by the variable x to the evaluated expression from the right-hand-side.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For those of you who are new to the programming language domain, this might be a bit confusing. It is totally ok. We are going to get used to the variable assignments throughout the course with more practice and experience with Python.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Next, let us assign a specific value to the variable x and see how the assignment will be executed.</a:t>
            </a:r>
            <a:endParaRPr/>
          </a:p>
        </p:txBody>
      </p:sp>
      <p:sp>
        <p:nvSpPr>
          <p:cNvPr id="99" name="Google Shape;9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First, let us assign the variable x with a Floating value of 0.6. Thus, whenever we call x in our Python script, we are calling a memory location used to store a value of 0.6. The variable x is pointing to the value of 0.6.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Second, let us evaluate the expression on the right-hand-side: 3.9 * x * (1 – x). To evaluate this expression, we have to follow the order of operators rule in Python (We are going to talk more about this concept later). Namely, we have to evaluate the expression in parenthesis first  ( 1 – x ). Since x points to 0.6, this will evaluate to 0.4. Then, multiplication operatort ( * ) will be executed by multiplying 3.9 by the value x points to, which is 0.6, and by 0.4. The corresponding result becomes 0.936. This result is assigned back to the variable x through assignment operator. The value stored in memory pointed by the variable x is updated from 0.6 to 0936. Now, the variable x will point to 0.936 in memory.</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Assignment operation is at the core of building Python scripts! If there are any questions on these steps, here is a good place to go over any questions!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07" name="Google Shape;10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This slide is a follow up of the previous one to  illustrate how the value pointed by x in memory is replaced from 0.6 to 0.936.</a:t>
            </a:r>
            <a:endParaRPr/>
          </a:p>
        </p:txBody>
      </p:sp>
      <p:sp>
        <p:nvSpPr>
          <p:cNvPr id="127" name="Google Shape;12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In Python, an expression is a combination of values, variables, and operators.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In this slide, we are mainly going to cover mathematical operators that can appear in an expression.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 assume that you are quite familiar with the syntaxes of  Addition (+), Subtraction (-), and Division (/) from your prior math exposure.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use asterisk (*) syntax for multiplication in Python.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use double-asterisk (**) syntax for exponentiation in Python. For example, 2 ** 3  will result in 8.</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Another useful math operator is Modulus operator (%). It works on integers and yields the remainder when the first operand is divided by the second. For example, 5 % 2 results in 1.</a:t>
            </a:r>
            <a:endParaRPr/>
          </a:p>
        </p:txBody>
      </p:sp>
      <p:sp>
        <p:nvSpPr>
          <p:cNvPr id="149" name="Google Shape;14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Here a few more examples in Python on how these mathematical operators are used:</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assign value of 2 to the variable xx. We increment the value of variable xx by 2, thus the variable xx now points to value 4. We use print() function to print its value. </a:t>
            </a:r>
            <a:endParaRPr/>
          </a:p>
          <a:p>
            <a:pPr indent="0" lvl="0" marL="0" rtl="0" algn="l">
              <a:lnSpc>
                <a:spcPct val="100000"/>
              </a:lnSpc>
              <a:spcBef>
                <a:spcPts val="0"/>
              </a:spcBef>
              <a:spcAft>
                <a:spcPts val="0"/>
              </a:spcAft>
              <a:buClr>
                <a:schemeClr val="dk1"/>
              </a:buClr>
              <a:buSzPts val="1200"/>
              <a:buFont typeface="Arial"/>
              <a:buNone/>
            </a:pPr>
            <a:r>
              <a:rPr lang="en-US"/>
              <a:t> xx = 2</a:t>
            </a:r>
            <a:endParaRPr/>
          </a:p>
          <a:p>
            <a:pPr indent="0" lvl="0" marL="0" rtl="0" algn="l">
              <a:lnSpc>
                <a:spcPct val="100000"/>
              </a:lnSpc>
              <a:spcBef>
                <a:spcPts val="0"/>
              </a:spcBef>
              <a:spcAft>
                <a:spcPts val="0"/>
              </a:spcAft>
              <a:buClr>
                <a:schemeClr val="dk1"/>
              </a:buClr>
              <a:buSzPts val="1200"/>
              <a:buFont typeface="Arial"/>
              <a:buNone/>
            </a:pPr>
            <a:r>
              <a:rPr lang="en-US"/>
              <a:t> xx = xx + 2</a:t>
            </a:r>
            <a:endParaRPr/>
          </a:p>
          <a:p>
            <a:pPr indent="0" lvl="0" marL="0" rtl="0" algn="l">
              <a:lnSpc>
                <a:spcPct val="100000"/>
              </a:lnSpc>
              <a:spcBef>
                <a:spcPts val="0"/>
              </a:spcBef>
              <a:spcAft>
                <a:spcPts val="0"/>
              </a:spcAft>
              <a:buClr>
                <a:schemeClr val="dk1"/>
              </a:buClr>
              <a:buSzPts val="1200"/>
              <a:buFont typeface="Arial"/>
              <a:buNone/>
            </a:pPr>
            <a:r>
              <a:rPr lang="en-US"/>
              <a:t> print(xx) </a:t>
            </a:r>
            <a:endParaRPr/>
          </a:p>
          <a:p>
            <a:pPr indent="0" lvl="0" marL="0" rtl="0" algn="l">
              <a:lnSpc>
                <a:spcPct val="100000"/>
              </a:lnSpc>
              <a:spcBef>
                <a:spcPts val="0"/>
              </a:spcBef>
              <a:spcAft>
                <a:spcPts val="0"/>
              </a:spcAft>
              <a:buClr>
                <a:schemeClr val="dk1"/>
              </a:buClr>
              <a:buSzPts val="1200"/>
              <a:buFont typeface="Arial"/>
              <a:buNone/>
            </a:pPr>
            <a:r>
              <a:rPr lang="en-US"/>
              <a:t> 4</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 We multiply 440 by 12 using multiplication operator (*) and assign the result to a variable named yy. We then use print() function to print the value that the variable yy holds.</a:t>
            </a:r>
            <a:endParaRPr/>
          </a:p>
          <a:p>
            <a:pPr indent="0" lvl="0" marL="0" rtl="0" algn="l">
              <a:lnSpc>
                <a:spcPct val="100000"/>
              </a:lnSpc>
              <a:spcBef>
                <a:spcPts val="0"/>
              </a:spcBef>
              <a:spcAft>
                <a:spcPts val="0"/>
              </a:spcAft>
              <a:buClr>
                <a:schemeClr val="dk1"/>
              </a:buClr>
              <a:buSzPts val="1200"/>
              <a:buFont typeface="Arial"/>
              <a:buNone/>
            </a:pPr>
            <a:r>
              <a:rPr lang="en-US"/>
              <a:t> yy = 440 * 12</a:t>
            </a:r>
            <a:endParaRPr/>
          </a:p>
          <a:p>
            <a:pPr indent="0" lvl="0" marL="0" rtl="0" algn="l">
              <a:lnSpc>
                <a:spcPct val="100000"/>
              </a:lnSpc>
              <a:spcBef>
                <a:spcPts val="0"/>
              </a:spcBef>
              <a:spcAft>
                <a:spcPts val="0"/>
              </a:spcAft>
              <a:buClr>
                <a:schemeClr val="dk1"/>
              </a:buClr>
              <a:buSzPts val="1200"/>
              <a:buFont typeface="Arial"/>
              <a:buNone/>
            </a:pPr>
            <a:r>
              <a:rPr lang="en-US"/>
              <a:t> print(yy) </a:t>
            </a:r>
            <a:endParaRPr/>
          </a:p>
          <a:p>
            <a:pPr indent="0" lvl="0" marL="0" rtl="0" algn="l">
              <a:lnSpc>
                <a:spcPct val="100000"/>
              </a:lnSpc>
              <a:spcBef>
                <a:spcPts val="0"/>
              </a:spcBef>
              <a:spcAft>
                <a:spcPts val="0"/>
              </a:spcAft>
              <a:buClr>
                <a:schemeClr val="dk1"/>
              </a:buClr>
              <a:buSzPts val="1200"/>
              <a:buFont typeface="Arial"/>
              <a:buNone/>
            </a:pPr>
            <a:r>
              <a:rPr lang="en-US"/>
              <a:t> 5280</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56" name="Google Shape;1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When you have more than one operator in an expression, the order of evaluation depends on the rules of precedence. For mathematical operators, Python follows the mathematical convention.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For example, we might wonder what value the variable x will be assigned in the following expression?</a:t>
            </a:r>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200"/>
              <a:buFont typeface="Courier"/>
              <a:buNone/>
            </a:pPr>
            <a:r>
              <a:rPr lang="en-US" sz="1200" u="none" cap="none" strike="noStrike">
                <a:solidFill>
                  <a:srgbClr val="00FF00"/>
                </a:solidFill>
                <a:latin typeface="Courier"/>
                <a:ea typeface="Courier"/>
                <a:cs typeface="Courier"/>
                <a:sym typeface="Courier"/>
              </a:rPr>
              <a:t>x</a:t>
            </a:r>
            <a:r>
              <a:rPr lang="en-US" sz="1200" u="none" cap="none" strike="noStrike">
                <a:solidFill>
                  <a:schemeClr val="lt1"/>
                </a:solidFill>
                <a:latin typeface="Courier"/>
                <a:ea typeface="Courier"/>
                <a:cs typeface="Courier"/>
                <a:sym typeface="Courier"/>
              </a:rPr>
              <a:t> = 1</a:t>
            </a:r>
            <a:r>
              <a:rPr lang="en-US" sz="1200" u="none" cap="none" strike="noStrike">
                <a:solidFill>
                  <a:srgbClr val="00FFFF"/>
                </a:solidFill>
                <a:latin typeface="Courier"/>
                <a:ea typeface="Courier"/>
                <a:cs typeface="Courier"/>
                <a:sym typeface="Courier"/>
              </a:rPr>
              <a:t> +</a:t>
            </a:r>
            <a:r>
              <a:rPr lang="en-US" sz="1200" u="none" cap="none" strike="noStrike">
                <a:solidFill>
                  <a:schemeClr val="lt1"/>
                </a:solidFill>
                <a:latin typeface="Courier"/>
                <a:ea typeface="Courier"/>
                <a:cs typeface="Courier"/>
                <a:sym typeface="Courier"/>
              </a:rPr>
              <a:t> 2 </a:t>
            </a:r>
            <a:r>
              <a:rPr lang="en-US" sz="1200" u="none" cap="none" strike="noStrike">
                <a:solidFill>
                  <a:srgbClr val="00FFFF"/>
                </a:solidFill>
                <a:latin typeface="Courier"/>
                <a:ea typeface="Courier"/>
                <a:cs typeface="Courier"/>
                <a:sym typeface="Courier"/>
              </a:rPr>
              <a:t>* </a:t>
            </a:r>
            <a:r>
              <a:rPr lang="en-US" sz="1200" u="none" cap="none" strike="noStrike">
                <a:solidFill>
                  <a:schemeClr val="lt1"/>
                </a:solidFill>
                <a:latin typeface="Courier"/>
                <a:ea typeface="Courier"/>
                <a:cs typeface="Courier"/>
                <a:sym typeface="Courier"/>
              </a:rPr>
              <a:t>3 </a:t>
            </a:r>
            <a:r>
              <a:rPr lang="en-US" sz="1200" u="none" cap="none" strike="noStrike">
                <a:solidFill>
                  <a:srgbClr val="00FFFF"/>
                </a:solidFill>
                <a:latin typeface="Courier"/>
                <a:ea typeface="Courier"/>
                <a:cs typeface="Courier"/>
                <a:sym typeface="Courier"/>
              </a:rPr>
              <a:t>- </a:t>
            </a:r>
            <a:r>
              <a:rPr lang="en-US" sz="1200" u="none" cap="none" strike="noStrike">
                <a:solidFill>
                  <a:schemeClr val="lt1"/>
                </a:solidFill>
                <a:latin typeface="Courier"/>
                <a:ea typeface="Courier"/>
                <a:cs typeface="Courier"/>
                <a:sym typeface="Courier"/>
              </a:rPr>
              <a:t>4</a:t>
            </a:r>
            <a:r>
              <a:rPr lang="en-US" sz="1200" u="none" cap="none" strike="noStrike">
                <a:solidFill>
                  <a:srgbClr val="00FFFF"/>
                </a:solidFill>
                <a:latin typeface="Courier"/>
                <a:ea typeface="Courier"/>
                <a:cs typeface="Courier"/>
                <a:sym typeface="Courier"/>
              </a:rPr>
              <a:t> / </a:t>
            </a:r>
            <a:r>
              <a:rPr lang="en-US" sz="1200" u="none" cap="none" strike="noStrike">
                <a:solidFill>
                  <a:schemeClr val="lt1"/>
                </a:solidFill>
                <a:latin typeface="Courier"/>
                <a:ea typeface="Courier"/>
                <a:cs typeface="Courier"/>
                <a:sym typeface="Courier"/>
              </a:rPr>
              <a:t>5 </a:t>
            </a:r>
            <a:r>
              <a:rPr lang="en-US" sz="1200" u="none" cap="none" strike="noStrike">
                <a:solidFill>
                  <a:srgbClr val="00FFFF"/>
                </a:solidFill>
                <a:latin typeface="Courier"/>
                <a:ea typeface="Courier"/>
                <a:cs typeface="Courier"/>
                <a:sym typeface="Courier"/>
              </a:rPr>
              <a:t>** </a:t>
            </a:r>
            <a:r>
              <a:rPr lang="en-US" sz="1200" u="none" cap="none" strike="noStrike">
                <a:solidFill>
                  <a:schemeClr val="lt1"/>
                </a:solidFill>
                <a:latin typeface="Courier"/>
                <a:ea typeface="Courier"/>
                <a:cs typeface="Courier"/>
                <a:sym typeface="Courier"/>
              </a:rPr>
              <a:t>6</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The correct answer requires us to revisit the mathematical convention for the order of evaluation in math! Next, let us refresh our memory on this!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72" name="Google Shape;17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Operator precedence rule indicates that: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Parentheses have the highest precedence and can be used to force an expression to evaluate in the order you want. You can also use parentheses to make an expression easier to read, even if it doesn’t change the result.</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Exponentiation has the next highest precedence, so 2**1+1 is 3, not 4, and 3*1**3 is 3, not 27.</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Multiplication and Division have the same precedence, which is higher than Addition and Subtraction, which also have the same precedence. So 2*3-1 is 5, not 4, and 6+4/2 is 8, not 5.</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Operators with the same precedence are evaluated from left to right. So the expression 5-3-1 is 1, not 3, because the 5-3 happens first and then 1 is subtracted from 2.</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When in doubt, always put parentheses in your expressions to make sure the computations are performed in the order you intend.</a:t>
            </a:r>
            <a:endParaRPr/>
          </a:p>
          <a:p>
            <a:pPr indent="-152400" lvl="0" marL="228600" rtl="0" algn="l">
              <a:lnSpc>
                <a:spcPct val="100000"/>
              </a:lnSpc>
              <a:spcBef>
                <a:spcPts val="0"/>
              </a:spcBef>
              <a:spcAft>
                <a:spcPts val="0"/>
              </a:spcAft>
              <a:buClr>
                <a:schemeClr val="dk1"/>
              </a:buClr>
              <a:buSzPts val="1200"/>
              <a:buFont typeface="Arial"/>
              <a:buNone/>
            </a:pPr>
            <a:r>
              <a:t/>
            </a:r>
            <a:endParaRPr/>
          </a:p>
        </p:txBody>
      </p:sp>
      <p:sp>
        <p:nvSpPr>
          <p:cNvPr id="179" name="Google Shape;17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practice the operator precedence rules and show visually how it is followed on the following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FF00"/>
                </a:solidFill>
                <a:latin typeface="Courier"/>
                <a:ea typeface="Courier"/>
                <a:cs typeface="Courier"/>
                <a:sym typeface="Courier"/>
              </a:rPr>
              <a:t>x = 1 + 2 ** 3 / 4 * 5</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FF00"/>
                </a:solidFill>
                <a:latin typeface="Courier"/>
                <a:ea typeface="Courier"/>
                <a:cs typeface="Courier"/>
                <a:sym typeface="Courier"/>
              </a:rPr>
              <a:t>print(x)</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11.0</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There are no parentheses. We move to the next level. There is an exponentiation. Let us evaluate 2 ** 3 to 8. There is division and multiplication. Let us carry them from left to right. 8 / 4 * 5 evaluates to 10. There is addition. 1 + 10 evaluates to 11.</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88" name="Google Shape;1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In summary on operator precedence, let us follow the following good practice.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Let us know and apply the rules of precedence. Let us make sure that we use parentheses to make sure that computations are executed in the order we intend to. Let us keep our expressions simple enough so that they are easy to understand and we are less prone to making mistakes in our script. Let us break down long math expressions into small expression along with using parentheses for clarity and for keeping our computational intentions clear.</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This good practice takes time to apply, but at the end our Python code will look more clear and more easy to understand by us and by our teammates.</a:t>
            </a:r>
            <a:endParaRPr/>
          </a:p>
        </p:txBody>
      </p:sp>
      <p:sp>
        <p:nvSpPr>
          <p:cNvPr id="205" name="Google Shape;20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In Python, everything (variables, literals, and constants) has a data type. </a:t>
            </a:r>
            <a:r>
              <a:rPr lang="en-US" sz="1200">
                <a:solidFill>
                  <a:schemeClr val="dk1"/>
                </a:solidFill>
                <a:latin typeface="Arial"/>
                <a:ea typeface="Arial"/>
                <a:cs typeface="Arial"/>
                <a:sym typeface="Arial"/>
              </a:rPr>
              <a:t>For example: 2 is an integer, and “Hello, World!” is a string, so called because it contains a “string” of letters. You (and the interpreter) can identify strings because they are enclosed in quotation marks. If you are not sure what type a value has, the interpreter can tell you. Simply use the pre-build Python function type() to learn about the type of something in Python. </a:t>
            </a:r>
            <a:endParaRPr/>
          </a:p>
          <a:p>
            <a:pPr indent="0" lvl="0" marL="0" rtl="0" algn="l">
              <a:lnSpc>
                <a:spcPct val="100000"/>
              </a:lnSpc>
              <a:spcBef>
                <a:spcPts val="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Depending on the type of constants used within an expression with + operator, the operator would behave differently. For example, ddd = 1 + 4 🡪 Interpreter treats + operator as a mathematical addition operator and evaluates 1 + 4 to 5 and assigns this result to the variable ddd because the interpreter knows that both 1 and 4 have integer types that are relevant to using math operator. However, eee = ‘hello ’ + </a:t>
            </a:r>
            <a:endParaRPr/>
          </a:p>
          <a:p>
            <a:pPr indent="0" lvl="0" marL="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‘there’ 🡪 interpreter treats + operator as a string concatenation (putting it together) action because ‘hello ‘ and ‘there’ are both string types. The interpreter knows the data type and acts based on that. Thus, it puts them together to create a string ‘hello there’ and assigns this string to the variables eee.  For string type operations, + operator comes very handy in building Python scripts!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14" name="Google Shape;21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make a good habit to use type() function whenever we are in doubt to learn about the type of something in Python. The interpreter knows that everything has a type and will gladly tell us what these types are whenever we need them and will also warn us if we are mixing types that cannot work together. For example, </a:t>
            </a:r>
            <a:endParaRPr/>
          </a:p>
          <a:p>
            <a:pPr indent="0" lvl="0" marL="0" marR="0" rtl="0" algn="l">
              <a:lnSpc>
                <a:spcPct val="100000"/>
              </a:lnSpc>
              <a:spcBef>
                <a:spcPts val="0"/>
              </a:spcBef>
              <a:spcAft>
                <a:spcPts val="0"/>
              </a:spcAft>
              <a:buClr>
                <a:srgbClr val="FFFF00"/>
              </a:buClr>
              <a:buSzPts val="300"/>
              <a:buFont typeface="Cabin"/>
              <a:buNone/>
            </a:pPr>
            <a:r>
              <a:t/>
            </a:r>
            <a:endParaRPr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eee = 'hello ' + 'there'</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00FFFF"/>
                </a:solidFill>
                <a:latin typeface="Courier"/>
                <a:ea typeface="Courier"/>
                <a:cs typeface="Courier"/>
                <a:sym typeface="Courier"/>
              </a:rPr>
              <a:t>eee = eee + 1</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The interpreter will complain here because we cannot add an integer type 1 to a string type. In order for this + operator to be meaningful here, we should convert integer type 1 to string first. We are going to talk about such conversions very soon. </a:t>
            </a:r>
            <a:endParaRPr/>
          </a:p>
        </p:txBody>
      </p:sp>
      <p:sp>
        <p:nvSpPr>
          <p:cNvPr id="222" name="Google Shape;22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It is a good idea to remind ourselves that numbers in Python have two main types: integers and Floating point numbers. We will be using them frequently in building our Python scripts. We can again use type() function to learn about data types whenever we need.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00FF00"/>
                </a:solidFill>
                <a:latin typeface="Courier"/>
                <a:ea typeface="Courier"/>
                <a:cs typeface="Courier"/>
                <a:sym typeface="Courier"/>
              </a:rPr>
              <a:t>xx</a:t>
            </a:r>
            <a:r>
              <a:rPr i="0" lang="en-US" sz="1200" u="none" cap="none" strike="noStrike">
                <a:solidFill>
                  <a:schemeClr val="lt1"/>
                </a:solidFill>
                <a:latin typeface="Courier"/>
                <a:ea typeface="Courier"/>
                <a:cs typeface="Courier"/>
                <a:sym typeface="Courier"/>
              </a:rPr>
              <a:t> = 1</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FF00"/>
                </a:solidFill>
                <a:latin typeface="Courier"/>
                <a:ea typeface="Courier"/>
                <a:cs typeface="Courier"/>
                <a:sym typeface="Courier"/>
              </a:rPr>
              <a:t>type</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xx</a:t>
            </a:r>
            <a:r>
              <a:rPr i="0" lang="en-US" sz="12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200"/>
              <a:buFont typeface="Arial"/>
              <a:buNone/>
            </a:pPr>
            <a:r>
              <a:rPr lang="en-US"/>
              <a:t>&lt;class ‘int’&gt;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Interpreter tells us that the variable xx has an integer data type.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29" name="Google Shape;22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We can convert an integer type to floating type using built-in function float(). For example, </a:t>
            </a:r>
            <a:endParaRPr/>
          </a:p>
          <a:p>
            <a:pPr indent="0" lvl="0" marL="0" rtl="0" algn="l">
              <a:lnSpc>
                <a:spcPct val="100000"/>
              </a:lnSpc>
              <a:spcBef>
                <a:spcPts val="0"/>
              </a:spcBef>
              <a:spcAft>
                <a:spcPts val="0"/>
              </a:spcAft>
              <a:buClr>
                <a:schemeClr val="dk1"/>
              </a:buClr>
              <a:buSzPts val="1200"/>
              <a:buFont typeface="Arial"/>
              <a:buNone/>
            </a:pPr>
            <a:r>
              <a:rPr lang="en-US"/>
              <a:t> i = 42</a:t>
            </a:r>
            <a:endParaRPr/>
          </a:p>
          <a:p>
            <a:pPr indent="0" lvl="0" marL="0" rtl="0" algn="l">
              <a:lnSpc>
                <a:spcPct val="100000"/>
              </a:lnSpc>
              <a:spcBef>
                <a:spcPts val="0"/>
              </a:spcBef>
              <a:spcAft>
                <a:spcPts val="0"/>
              </a:spcAft>
              <a:buClr>
                <a:schemeClr val="dk1"/>
              </a:buClr>
              <a:buSzPts val="1200"/>
              <a:buFont typeface="Arial"/>
              <a:buNone/>
            </a:pPr>
            <a:r>
              <a:rPr lang="en-US"/>
              <a:t> type(i)  🡪 will produce integer type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 i = float(i)</a:t>
            </a:r>
            <a:endParaRPr/>
          </a:p>
          <a:p>
            <a:pPr indent="0" lvl="0" marL="0" rtl="0" algn="l">
              <a:lnSpc>
                <a:spcPct val="100000"/>
              </a:lnSpc>
              <a:spcBef>
                <a:spcPts val="0"/>
              </a:spcBef>
              <a:spcAft>
                <a:spcPts val="0"/>
              </a:spcAft>
              <a:buClr>
                <a:schemeClr val="dk1"/>
              </a:buClr>
              <a:buSzPts val="1200"/>
              <a:buFont typeface="Arial"/>
              <a:buNone/>
            </a:pPr>
            <a:r>
              <a:rPr lang="en-US"/>
              <a:t> type(i)  🡪 will produce floating type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Similarly, we can cast (convert) a floating type to integer type using int() function. For example, int(42.0) 🡪 will result in integer type 42.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If we have a mix of integer types and floating point types in a mathematical expression, the integer types are automatically casted (converted) to floating point types by the interpreter. Depending our final intention, we can always use float() and int() functions to get our intended results.  </a:t>
            </a:r>
            <a:endParaRPr/>
          </a:p>
        </p:txBody>
      </p:sp>
      <p:sp>
        <p:nvSpPr>
          <p:cNvPr id="236" name="Google Shape;23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We can also use int() and float() functions to covert between string and integer types. For example, </a:t>
            </a:r>
            <a:endParaRPr/>
          </a:p>
          <a:p>
            <a:pPr indent="0" lvl="0" marL="0" marR="0" rtl="0" algn="l">
              <a:lnSpc>
                <a:spcPct val="100000"/>
              </a:lnSpc>
              <a:spcBef>
                <a:spcPts val="0"/>
              </a:spcBef>
              <a:spcAft>
                <a:spcPts val="0"/>
              </a:spcAft>
              <a:buClr>
                <a:schemeClr val="dk1"/>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1200"/>
              <a:buFont typeface="Courier"/>
              <a:buNone/>
            </a:pPr>
            <a:r>
              <a:rPr i="0" lang="en-US" sz="1200" u="none" cap="none" strike="noStrike">
                <a:solidFill>
                  <a:srgbClr val="00FF00"/>
                </a:solidFill>
                <a:latin typeface="Courier"/>
                <a:ea typeface="Courier"/>
                <a:cs typeface="Courier"/>
                <a:sym typeface="Courier"/>
              </a:rPr>
              <a:t>sval</a:t>
            </a:r>
            <a:r>
              <a:rPr i="0" lang="en-US" sz="1200" u="none" cap="none" strike="noStrike">
                <a:solidFill>
                  <a:schemeClr val="lt1"/>
                </a:solidFill>
                <a:latin typeface="Courier"/>
                <a:ea typeface="Courier"/>
                <a:cs typeface="Courier"/>
                <a:sym typeface="Courier"/>
              </a:rPr>
              <a:t> = '123’  🡪 sval is a string type. </a:t>
            </a:r>
            <a:endParaRPr/>
          </a:p>
          <a:p>
            <a:pPr indent="0" lvl="0" marL="0" marR="0" rtl="0" algn="l">
              <a:lnSpc>
                <a:spcPct val="100000"/>
              </a:lnSpc>
              <a:spcBef>
                <a:spcPts val="0"/>
              </a:spcBef>
              <a:spcAft>
                <a:spcPts val="0"/>
              </a:spcAft>
              <a:buClr>
                <a:schemeClr val="lt1"/>
              </a:buClr>
              <a:buSzPts val="1200"/>
              <a:buFont typeface="Courier"/>
              <a:buNone/>
            </a:pPr>
            <a:r>
              <a:rPr i="0" lang="en-US" sz="1200" u="none" cap="none" strike="noStrike">
                <a:solidFill>
                  <a:schemeClr val="lt1"/>
                </a:solidFill>
                <a:latin typeface="Courier"/>
                <a:ea typeface="Courier"/>
                <a:cs typeface="Courier"/>
                <a:sym typeface="Courier"/>
              </a:rPr>
              <a:t>sval = int(sval) 🡪 sval now is an integer type 123</a:t>
            </a:r>
            <a:endParaRPr/>
          </a:p>
          <a:p>
            <a:pPr indent="0" lvl="0" marL="0" marR="0" rtl="0" algn="l">
              <a:lnSpc>
                <a:spcPct val="100000"/>
              </a:lnSpc>
              <a:spcBef>
                <a:spcPts val="0"/>
              </a:spcBef>
              <a:spcAft>
                <a:spcPts val="0"/>
              </a:spcAft>
              <a:buClr>
                <a:schemeClr val="dk1"/>
              </a:buClr>
              <a:buSzPts val="1200"/>
              <a:buFont typeface="Arial"/>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00FF00"/>
                </a:solidFill>
                <a:latin typeface="Courier"/>
                <a:ea typeface="Courier"/>
                <a:cs typeface="Courier"/>
                <a:sym typeface="Courier"/>
              </a:rPr>
              <a:t>nsv</a:t>
            </a:r>
            <a:r>
              <a:rPr i="0" lang="en-US" sz="1200" u="none" cap="none" strike="noStrike">
                <a:solidFill>
                  <a:schemeClr val="lt1"/>
                </a:solidFill>
                <a:latin typeface="Courier"/>
                <a:ea typeface="Courier"/>
                <a:cs typeface="Courier"/>
                <a:sym typeface="Courier"/>
              </a:rPr>
              <a:t> = 'hello bob'</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00FF00"/>
                </a:solidFill>
                <a:latin typeface="Courier"/>
                <a:ea typeface="Courier"/>
                <a:cs typeface="Courier"/>
                <a:sym typeface="Courier"/>
              </a:rPr>
              <a:t>niv</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int</a:t>
            </a:r>
            <a:r>
              <a:rPr i="0" lang="en-US" sz="1200" u="none" cap="none" strike="noStrike">
                <a:solidFill>
                  <a:schemeClr val="lt1"/>
                </a:solidFill>
                <a:latin typeface="Courier"/>
                <a:ea typeface="Courier"/>
                <a:cs typeface="Courier"/>
                <a:sym typeface="Courier"/>
              </a:rPr>
              <a:t>(</a:t>
            </a:r>
            <a:r>
              <a:rPr i="0" lang="en-US" sz="1200" u="none" cap="none" strike="noStrike">
                <a:solidFill>
                  <a:srgbClr val="00FF00"/>
                </a:solidFill>
                <a:latin typeface="Courier"/>
                <a:ea typeface="Courier"/>
                <a:cs typeface="Courier"/>
                <a:sym typeface="Courier"/>
              </a:rPr>
              <a:t>nsv</a:t>
            </a:r>
            <a:r>
              <a:rPr i="0" lang="en-US" sz="1200" u="none" cap="none" strike="noStrike">
                <a:solidFill>
                  <a:schemeClr val="lt1"/>
                </a:solidFill>
                <a:latin typeface="Courier"/>
                <a:ea typeface="Courier"/>
                <a:cs typeface="Courier"/>
                <a:sym typeface="Courier"/>
              </a:rPr>
              <a:t>)  🡪 this will result an error by the interpreter because ‘hello bob’ string type cannot be casted to an appropriate integer type because the string is not made of numeric characters. Type conversion from strings is extremely useful especially in Python especially when we create Python scripts to scrape data from web resources where data types are in string forms and we might need to cast them to integer or floating types if they are, for example, prices of products in a website. Again, as we build more experience with Python, we will get better at type conversion concept.</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200"/>
              <a:buFont typeface="Arial"/>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43" name="Google Shape;24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Sometimes we would like to take the value for a variable from the user via their keyboard. Python provides a built-in function called input() that gets input from the keyboard. </a:t>
            </a:r>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When this function is called, the program stops and waits for the user to type something. When the user presses Return or Enter, the program resumes and input returns what the user typed as a string.</a:t>
            </a:r>
            <a:endParaRPr/>
          </a:p>
          <a:p>
            <a:pPr indent="0" lvl="0" marL="0" marR="0" rtl="0" algn="l">
              <a:lnSpc>
                <a:spcPct val="100000"/>
              </a:lnSpc>
              <a:spcBef>
                <a:spcPts val="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We can build interactive Python scripts with input() function. </a:t>
            </a:r>
            <a:endParaRPr/>
          </a:p>
          <a:p>
            <a:pPr indent="0" lvl="0" marL="0" marR="0" rtl="0" algn="l">
              <a:lnSpc>
                <a:spcPct val="100000"/>
              </a:lnSpc>
              <a:spcBef>
                <a:spcPts val="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For example,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nam</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input</a:t>
            </a:r>
            <a:r>
              <a:rPr i="0" lang="en-US" sz="1200" u="none" cap="none" strike="noStrike">
                <a:solidFill>
                  <a:schemeClr val="lt1"/>
                </a:solidFill>
                <a:latin typeface="Courier"/>
                <a:ea typeface="Courier"/>
                <a:cs typeface="Courier"/>
                <a:sym typeface="Courier"/>
              </a:rPr>
              <a:t>(</a:t>
            </a:r>
            <a:r>
              <a:rPr lang="en-US" sz="1200">
                <a:solidFill>
                  <a:schemeClr val="lt1"/>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Who are you? </a:t>
            </a:r>
            <a:r>
              <a:rPr lang="en-US" sz="1200">
                <a:solidFill>
                  <a:schemeClr val="lt1"/>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  🡪 interpreter stops and prompts us to enter a value via keyboard. Upon pressing enter, whatever we entered is converted to a string type by the input() functions and assigned to variable nam as a string type. </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p</a:t>
            </a:r>
            <a:r>
              <a:rPr i="0" lang="en-US" sz="1200" u="none" cap="none" strike="noStrike">
                <a:solidFill>
                  <a:srgbClr val="FFFF00"/>
                </a:solidFill>
                <a:latin typeface="Courier"/>
                <a:ea typeface="Courier"/>
                <a:cs typeface="Courier"/>
                <a:sym typeface="Courier"/>
              </a:rPr>
              <a:t>rint(</a:t>
            </a:r>
            <a:r>
              <a:rPr i="0" lang="en-US" sz="1200" u="none" cap="none" strike="noStrike">
                <a:solidFill>
                  <a:schemeClr val="lt1"/>
                </a:solidFill>
                <a:latin typeface="Courier"/>
                <a:ea typeface="Courier"/>
                <a:cs typeface="Courier"/>
                <a:sym typeface="Courier"/>
              </a:rPr>
              <a:t>'Welcome', </a:t>
            </a:r>
            <a:r>
              <a:rPr i="0" lang="en-US" sz="1200" u="none" cap="none" strike="noStrike">
                <a:solidFill>
                  <a:srgbClr val="00FF00"/>
                </a:solidFill>
                <a:latin typeface="Courier"/>
                <a:ea typeface="Courier"/>
                <a:cs typeface="Courier"/>
                <a:sym typeface="Courier"/>
              </a:rPr>
              <a:t>nam</a:t>
            </a:r>
            <a:r>
              <a:rPr lang="en-US" sz="1200">
                <a:solidFill>
                  <a:srgbClr val="FFFF00"/>
                </a:solidFill>
                <a:latin typeface="Courier"/>
                <a:ea typeface="Courier"/>
                <a:cs typeface="Courier"/>
                <a:sym typeface="Courier"/>
              </a:rPr>
              <a:t>)  🡪 here we use multiple arguments within print() function separated by commas (,)  these string type arguments are combined with a white space and printed to the screen. Alternatively, you can think of this as ‘Welcome’ + ‘ ’ + nam.</a:t>
            </a:r>
            <a:endParaRPr i="0" sz="1200" u="none" cap="none" strike="noStrike">
              <a:solidFill>
                <a:srgbClr val="00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50" name="Google Shape;25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Sometimes, depending on the context of the script and your intent,  you might </a:t>
            </a:r>
            <a:r>
              <a:rPr lang="en-US" sz="1200">
                <a:solidFill>
                  <a:schemeClr val="dk1"/>
                </a:solidFill>
                <a:latin typeface="Arial"/>
                <a:ea typeface="Arial"/>
                <a:cs typeface="Arial"/>
                <a:sym typeface="Arial"/>
              </a:rPr>
              <a:t>expect the user to type an integer instead of a string. In this case, you can try to convert the return value from input() function to int using the int() function before proceeding to the next level in your script.</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For example, in the following example, we are going to ask user to enter a European floor number in an elevator. We are going to convert that floor number to the corresponding floor number in US. Elevators in Europe has a starting floor value of 0, thus our conversion will be simply to add one more floor for the US.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inp</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input(</a:t>
            </a:r>
            <a:r>
              <a:rPr lang="en-US" sz="1200">
                <a:solidFill>
                  <a:schemeClr val="lt1"/>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Europe floor?</a:t>
            </a:r>
            <a:r>
              <a:rPr lang="en-US" sz="1200">
                <a:solidFill>
                  <a:schemeClr val="lt1"/>
                </a:solidFill>
                <a:latin typeface="Courier"/>
                <a:ea typeface="Courier"/>
                <a:cs typeface="Courier"/>
                <a:sym typeface="Courier"/>
              </a:rPr>
              <a:t>'</a:t>
            </a:r>
            <a:r>
              <a:rPr i="0" lang="en-US" sz="1200" u="none" cap="none" strike="noStrike">
                <a:solidFill>
                  <a:srgbClr val="FFFF00"/>
                </a:solidFill>
                <a:latin typeface="Courier"/>
                <a:ea typeface="Courier"/>
                <a:cs typeface="Courier"/>
                <a:sym typeface="Courier"/>
              </a:rPr>
              <a:t>) 🡪 we ask the user to enter an integer type. Even though the user enters an integer type, it will be casted to string type by input() function. Thus, we have to explicitly cast it back to integer type using int() function via int(inp) statement to get the desired result.</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usf</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int(</a:t>
            </a:r>
            <a:r>
              <a:rPr i="0" lang="en-US" sz="1200" u="none" cap="none" strike="noStrike">
                <a:solidFill>
                  <a:srgbClr val="00FF00"/>
                </a:solidFill>
                <a:latin typeface="Courier"/>
                <a:ea typeface="Courier"/>
                <a:cs typeface="Courier"/>
                <a:sym typeface="Courier"/>
              </a:rPr>
              <a:t>inp</a:t>
            </a:r>
            <a:r>
              <a:rPr i="0" lang="en-US" sz="1200" u="none" cap="none" strike="noStrike">
                <a:solidFill>
                  <a:srgbClr val="FFFF00"/>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FF"/>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 1   🡪 casting to integer type first and then using + operator to add 1 more floor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'US floor', </a:t>
            </a:r>
            <a:r>
              <a:rPr i="0" lang="en-US" sz="1200" u="none" cap="none" strike="noStrike">
                <a:solidFill>
                  <a:srgbClr val="00FF00"/>
                </a:solidFill>
                <a:latin typeface="Courier"/>
                <a:ea typeface="Courier"/>
                <a:cs typeface="Courier"/>
                <a:sym typeface="Courier"/>
              </a:rPr>
              <a:t>usf</a:t>
            </a:r>
            <a:r>
              <a:rPr i="0" lang="en-US" sz="1200" u="none" cap="none" strike="noStrike">
                <a:solidFill>
                  <a:srgbClr val="FFFF00"/>
                </a:solidFill>
                <a:latin typeface="Courier"/>
                <a:ea typeface="Courier"/>
                <a:cs typeface="Courier"/>
                <a:sym typeface="Courier"/>
              </a:rPr>
              <a:t>)  🡪 pring the result to the screen using print() function with multiple arguments.</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58" name="Google Shape;25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As your scripts get bigger and more complicated, they get more difficult to read. It is often difficult to look at a piece of code and figure out what it is doing, or why. For this reason, it is a good idea to add notes to your scripts to explain in natural language what the program is doing. These notes are called comments, and in Python they start with the # (hashtag) symbol.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Everything from the # to the end of the line is ignored; it has no effect on the program. Comments are most useful when they document non-obvious features of the code. It is reasonable to assume that the reader can figure out what the code does; however, it is much more useful to explain why especially when you are sharing your code with your teammates.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Sometimes, you would like to tell the interpreter to skip some lines in your script, you can comment out such lines using # symbol as well so that you can still preserve these lines in your code but exclude them from execution.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It is a very good practice to include as many meaningful comments as possible to your script to make it more readable and shareable!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67" name="Google Shape;267;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Here is a good example of how relevant comments are included at different code blocks in a Python script. We may not know the details on what this script does yet. This is just to illustrate how our scripts should look like with commenting features imbedded in them as a good practice.</a:t>
            </a:r>
            <a:endParaRPr/>
          </a:p>
        </p:txBody>
      </p:sp>
      <p:sp>
        <p:nvSpPr>
          <p:cNvPr id="273" name="Google Shape;27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278" name="Google Shape;27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285" name="Google Shape;285;p2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30"/>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5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30"/>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40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 name="Shape 13"/>
        <p:cNvGrpSpPr/>
        <p:nvPr/>
      </p:nvGrpSpPr>
      <p:grpSpPr>
        <a:xfrm>
          <a:off x="0" y="0"/>
          <a:ext cx="0" cy="0"/>
          <a:chOff x="0" y="0"/>
          <a:chExt cx="0" cy="0"/>
        </a:xfrm>
      </p:grpSpPr>
      <p:sp>
        <p:nvSpPr>
          <p:cNvPr id="14" name="Google Shape;14;p31"/>
          <p:cNvSpPr txBox="1"/>
          <p:nvPr>
            <p:ph type="title"/>
          </p:nvPr>
        </p:nvSpPr>
        <p:spPr>
          <a:xfrm>
            <a:off x="812800" y="785812"/>
            <a:ext cx="14630400" cy="1104899"/>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5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 name="Google Shape;15;p31"/>
          <p:cNvSpPr txBox="1"/>
          <p:nvPr>
            <p:ph idx="1" type="body"/>
          </p:nvPr>
        </p:nvSpPr>
        <p:spPr>
          <a:xfrm>
            <a:off x="812800" y="2133600"/>
            <a:ext cx="14630400" cy="6034087"/>
          </a:xfrm>
          <a:prstGeom prst="rect">
            <a:avLst/>
          </a:prstGeom>
          <a:noFill/>
          <a:ln>
            <a:noFill/>
          </a:ln>
        </p:spPr>
        <p:txBody>
          <a:bodyPr anchorCtr="0" anchor="t" bIns="91425" lIns="91425" spcFirstLastPara="1" rIns="91425" wrap="square" tIns="91425">
            <a:noAutofit/>
          </a:bodyPr>
          <a:lstStyle>
            <a:lvl1pPr indent="-482600" lvl="0" marL="457200" algn="l">
              <a:lnSpc>
                <a:spcPct val="100000"/>
              </a:lnSpc>
              <a:spcBef>
                <a:spcPts val="3500"/>
              </a:spcBef>
              <a:spcAft>
                <a:spcPts val="0"/>
              </a:spcAft>
              <a:buClr>
                <a:schemeClr val="lt1"/>
              </a:buClr>
              <a:buSzPts val="4000"/>
              <a:buFont typeface="Cabin"/>
              <a:buChar char="•"/>
              <a:defRPr/>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33"/>
          <p:cNvSpPr txBox="1"/>
          <p:nvPr>
            <p:ph type="title"/>
          </p:nvPr>
        </p:nvSpPr>
        <p:spPr>
          <a:xfrm>
            <a:off x="812800" y="785812"/>
            <a:ext cx="14630400" cy="1104899"/>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5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400"/>
              <a:buFont typeface="Arial"/>
              <a:buNone/>
              <a:defRPr b="0" i="0" sz="5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9"/>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4000"/>
              <a:buFont typeface="Arial"/>
              <a:buNone/>
              <a:defRPr b="0" i="0" sz="40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9"/>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29"/>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www.dr-chuck.com"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Variables, Expressions, and Statements</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2</a:t>
            </a:r>
            <a:endParaRPr/>
          </a:p>
        </p:txBody>
      </p:sp>
      <p:sp>
        <p:nvSpPr>
          <p:cNvPr id="25" name="Google Shape;25;p1"/>
          <p:cNvSpPr txBox="1"/>
          <p:nvPr/>
        </p:nvSpPr>
        <p:spPr>
          <a:xfrm>
            <a:off x="4081448" y="7131044"/>
            <a:ext cx="8328600"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800663" y="7435344"/>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812800" y="785812"/>
            <a:ext cx="14070625" cy="1104899"/>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7F00"/>
              </a:buClr>
              <a:buSzPts val="1950"/>
              <a:buFont typeface="Cabin"/>
              <a:buNone/>
            </a:pPr>
            <a:r>
              <a:rPr lang="en-US" sz="7800" u="none" cap="none" strike="noStrike">
                <a:solidFill>
                  <a:srgbClr val="FFD966"/>
                </a:solidFill>
                <a:latin typeface="Arial"/>
                <a:ea typeface="Arial"/>
                <a:cs typeface="Arial"/>
                <a:sym typeface="Arial"/>
              </a:rPr>
              <a:t>Constants</a:t>
            </a:r>
            <a:endParaRPr/>
          </a:p>
        </p:txBody>
      </p:sp>
      <p:sp>
        <p:nvSpPr>
          <p:cNvPr id="32" name="Google Shape;32;p2"/>
          <p:cNvSpPr txBox="1"/>
          <p:nvPr>
            <p:ph idx="1" type="body"/>
          </p:nvPr>
        </p:nvSpPr>
        <p:spPr>
          <a:xfrm>
            <a:off x="812800" y="2133600"/>
            <a:ext cx="14630400" cy="6034087"/>
          </a:xfrm>
          <a:prstGeom prst="rect">
            <a:avLst/>
          </a:prstGeom>
          <a:noFill/>
          <a:ln>
            <a:noFill/>
          </a:ln>
        </p:spPr>
        <p:txBody>
          <a:bodyPr anchorCtr="0" anchor="ctr" bIns="50800" lIns="50800" spcFirstLastPara="1" rIns="50800" wrap="square" tIns="50800">
            <a:noAutofit/>
          </a:bodyPr>
          <a:lstStyle/>
          <a:p>
            <a:pPr indent="-603377" lvl="0" marL="1104900" marR="0" rtl="0" algn="l">
              <a:lnSpc>
                <a:spcPct val="100000"/>
              </a:lnSpc>
              <a:spcBef>
                <a:spcPts val="0"/>
              </a:spcBef>
              <a:spcAft>
                <a:spcPts val="0"/>
              </a:spcAft>
              <a:buClr>
                <a:srgbClr val="FF9900"/>
              </a:buClr>
              <a:buSzPts val="3600"/>
              <a:buFont typeface="Cabin"/>
              <a:buChar char="•"/>
            </a:pPr>
            <a:r>
              <a:rPr lang="en-US" sz="3600" u="none" cap="none" strike="noStrike">
                <a:solidFill>
                  <a:srgbClr val="FF9900"/>
                </a:solidFill>
                <a:latin typeface="Arial"/>
                <a:ea typeface="Arial"/>
                <a:cs typeface="Arial"/>
                <a:sym typeface="Arial"/>
              </a:rPr>
              <a:t>Fixed values </a:t>
            </a:r>
            <a:r>
              <a:rPr lang="en-US" sz="3600" u="none" cap="none" strike="noStrike">
                <a:solidFill>
                  <a:srgbClr val="FFFFFF"/>
                </a:solidFill>
                <a:latin typeface="Arial"/>
                <a:ea typeface="Arial"/>
                <a:cs typeface="Arial"/>
                <a:sym typeface="Arial"/>
              </a:rPr>
              <a:t>such as numbers, letters, and strings, are called </a:t>
            </a:r>
            <a:r>
              <a:rPr b="0" i="0" lang="en-US" sz="3600" u="none" cap="none" strike="noStrike">
                <a:solidFill>
                  <a:srgbClr val="FF9900"/>
                </a:solidFill>
                <a:latin typeface="Arial"/>
                <a:ea typeface="Arial"/>
                <a:cs typeface="Arial"/>
                <a:sym typeface="Arial"/>
              </a:rPr>
              <a:t>“</a:t>
            </a:r>
            <a:r>
              <a:rPr lang="en-US" sz="3600" u="none" cap="none" strike="noStrike">
                <a:solidFill>
                  <a:srgbClr val="FF9900"/>
                </a:solidFill>
                <a:latin typeface="Arial"/>
                <a:ea typeface="Arial"/>
                <a:cs typeface="Arial"/>
                <a:sym typeface="Arial"/>
              </a:rPr>
              <a:t>constants</a:t>
            </a:r>
            <a:r>
              <a:rPr b="0" i="0" lang="en-US" sz="3600" u="none" cap="none" strike="noStrike">
                <a:solidFill>
                  <a:srgbClr val="FF9900"/>
                </a:solidFill>
                <a:latin typeface="Arial"/>
                <a:ea typeface="Arial"/>
                <a:cs typeface="Arial"/>
                <a:sym typeface="Arial"/>
              </a:rPr>
              <a:t>”</a:t>
            </a:r>
            <a:r>
              <a:rPr lang="en-US" sz="3600" u="none" cap="none" strike="noStrike">
                <a:solidFill>
                  <a:srgbClr val="FF9900"/>
                </a:solidFill>
                <a:latin typeface="Arial"/>
                <a:ea typeface="Arial"/>
                <a:cs typeface="Arial"/>
                <a:sym typeface="Arial"/>
              </a:rPr>
              <a:t> </a:t>
            </a:r>
            <a:r>
              <a:rPr lang="en-US" sz="3600" u="none" cap="none" strike="noStrike">
                <a:solidFill>
                  <a:srgbClr val="FFFFFF"/>
                </a:solidFill>
                <a:latin typeface="Arial"/>
                <a:ea typeface="Arial"/>
                <a:cs typeface="Arial"/>
                <a:sym typeface="Arial"/>
              </a:rPr>
              <a:t>because their value does not change</a:t>
            </a:r>
            <a:endParaRPr/>
          </a:p>
          <a:p>
            <a:pPr indent="-603377"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Numeric </a:t>
            </a:r>
            <a:r>
              <a:rPr lang="en-US" sz="3600" u="none" cap="none" strike="noStrike">
                <a:solidFill>
                  <a:srgbClr val="FF9900"/>
                </a:solidFill>
                <a:latin typeface="Arial"/>
                <a:ea typeface="Arial"/>
                <a:cs typeface="Arial"/>
                <a:sym typeface="Arial"/>
              </a:rPr>
              <a:t>constants</a:t>
            </a:r>
            <a:r>
              <a:rPr lang="en-US" sz="3600" u="none" cap="none" strike="noStrike">
                <a:solidFill>
                  <a:schemeClr val="lt1"/>
                </a:solidFill>
                <a:latin typeface="Arial"/>
                <a:ea typeface="Arial"/>
                <a:cs typeface="Arial"/>
                <a:sym typeface="Arial"/>
              </a:rPr>
              <a:t> are as you expect</a:t>
            </a:r>
            <a:endParaRPr/>
          </a:p>
          <a:p>
            <a:pPr indent="-603377"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String </a:t>
            </a:r>
            <a:r>
              <a:rPr lang="en-US" sz="3600" u="none" cap="none" strike="noStrike">
                <a:solidFill>
                  <a:srgbClr val="FF9900"/>
                </a:solidFill>
                <a:latin typeface="Arial"/>
                <a:ea typeface="Arial"/>
                <a:cs typeface="Arial"/>
                <a:sym typeface="Arial"/>
              </a:rPr>
              <a:t>constants</a:t>
            </a:r>
            <a:r>
              <a:rPr lang="en-US" sz="3600" u="none" cap="none" strike="noStrike">
                <a:solidFill>
                  <a:schemeClr val="lt1"/>
                </a:solidFill>
                <a:latin typeface="Arial"/>
                <a:ea typeface="Arial"/>
                <a:cs typeface="Arial"/>
                <a:sym typeface="Arial"/>
              </a:rPr>
              <a:t> use single</a:t>
            </a:r>
            <a:r>
              <a:rPr lang="en-US" sz="3600">
                <a:solidFill>
                  <a:schemeClr val="lt1"/>
                </a:solidFill>
                <a:latin typeface="Arial"/>
                <a:ea typeface="Arial"/>
                <a:cs typeface="Arial"/>
                <a:sym typeface="Arial"/>
              </a:rPr>
              <a:t> </a:t>
            </a:r>
            <a:r>
              <a:rPr lang="en-US" sz="3600" u="none" cap="none" strike="noStrike">
                <a:solidFill>
                  <a:schemeClr val="lt1"/>
                </a:solidFill>
                <a:latin typeface="Arial"/>
                <a:ea typeface="Arial"/>
                <a:cs typeface="Arial"/>
                <a:sym typeface="Arial"/>
              </a:rPr>
              <a:t>quotes (')</a:t>
            </a:r>
            <a:br>
              <a:rPr lang="en-US" sz="3600" u="none" cap="none" strike="noStrike">
                <a:solidFill>
                  <a:schemeClr val="lt1"/>
                </a:solidFill>
                <a:latin typeface="Arial"/>
                <a:ea typeface="Arial"/>
                <a:cs typeface="Arial"/>
                <a:sym typeface="Arial"/>
              </a:rPr>
            </a:br>
            <a:r>
              <a:rPr lang="en-US" sz="3600" u="none" cap="none" strike="noStrike">
                <a:solidFill>
                  <a:schemeClr val="lt1"/>
                </a:solidFill>
                <a:latin typeface="Arial"/>
                <a:ea typeface="Arial"/>
                <a:cs typeface="Arial"/>
                <a:sym typeface="Arial"/>
              </a:rPr>
              <a:t>or double</a:t>
            </a:r>
            <a:r>
              <a:rPr lang="en-US" sz="3600">
                <a:solidFill>
                  <a:schemeClr val="lt1"/>
                </a:solidFill>
                <a:latin typeface="Arial"/>
                <a:ea typeface="Arial"/>
                <a:cs typeface="Arial"/>
                <a:sym typeface="Arial"/>
              </a:rPr>
              <a:t> </a:t>
            </a:r>
            <a:r>
              <a:rPr lang="en-US" sz="3600" u="none" cap="none" strike="noStrike">
                <a:solidFill>
                  <a:schemeClr val="lt1"/>
                </a:solidFill>
                <a:latin typeface="Arial"/>
                <a:ea typeface="Arial"/>
                <a:cs typeface="Arial"/>
                <a:sym typeface="Arial"/>
              </a:rPr>
              <a:t>quotes (")</a:t>
            </a:r>
            <a:br>
              <a:rPr lang="en-US" sz="3600" u="none" cap="none" strike="noStrike">
                <a:solidFill>
                  <a:schemeClr val="lt1"/>
                </a:solidFill>
                <a:latin typeface="Arial"/>
                <a:ea typeface="Arial"/>
                <a:cs typeface="Arial"/>
                <a:sym typeface="Arial"/>
              </a:rPr>
            </a:br>
            <a:endParaRPr sz="3600" u="none" cap="none" strike="noStrike">
              <a:solidFill>
                <a:schemeClr val="lt1"/>
              </a:solidFill>
              <a:latin typeface="Arial"/>
              <a:ea typeface="Arial"/>
              <a:cs typeface="Arial"/>
              <a:sym typeface="Arial"/>
            </a:endParaRPr>
          </a:p>
        </p:txBody>
      </p:sp>
      <p:sp>
        <p:nvSpPr>
          <p:cNvPr id="33" name="Google Shape;33;p2"/>
          <p:cNvSpPr txBox="1"/>
          <p:nvPr/>
        </p:nvSpPr>
        <p:spPr>
          <a:xfrm>
            <a:off x="10115550" y="5041900"/>
            <a:ext cx="5986463" cy="3125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9900"/>
                </a:solidFill>
                <a:latin typeface="Courier"/>
                <a:ea typeface="Courier"/>
                <a:cs typeface="Courier"/>
                <a:sym typeface="Courier"/>
              </a:rPr>
              <a:t>123</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123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9900"/>
                </a:solidFill>
                <a:latin typeface="Courier"/>
                <a:ea typeface="Courier"/>
                <a:cs typeface="Courier"/>
                <a:sym typeface="Courier"/>
              </a:rPr>
              <a:t>98.6</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98.6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a:t>
            </a:r>
            <a:r>
              <a:rPr b="0" i="0" lang="en-US" sz="3000" u="none" cap="none" strike="noStrike">
                <a:solidFill>
                  <a:srgbClr val="FFFF00"/>
                </a:solidFill>
                <a:latin typeface="Courier"/>
                <a:ea typeface="Courier"/>
                <a:cs typeface="Courier"/>
                <a:sym typeface="Courier"/>
              </a:rPr>
              <a:t> print(</a:t>
            </a:r>
            <a:r>
              <a:rPr b="0" i="0" lang="en-US" sz="3000" u="none" cap="none" strike="noStrike">
                <a:solidFill>
                  <a:srgbClr val="FF9900"/>
                </a:solidFill>
                <a:latin typeface="Courier"/>
                <a:ea typeface="Courier"/>
                <a:cs typeface="Courier"/>
                <a:sym typeface="Courier"/>
              </a:rPr>
              <a:t>'Hello world'</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Hello world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3"/>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Reserved Words</a:t>
            </a:r>
            <a:endParaRPr/>
          </a:p>
        </p:txBody>
      </p:sp>
      <p:sp>
        <p:nvSpPr>
          <p:cNvPr id="39" name="Google Shape;39;p3"/>
          <p:cNvSpPr txBox="1"/>
          <p:nvPr>
            <p:ph idx="1" type="body"/>
          </p:nvPr>
        </p:nvSpPr>
        <p:spPr>
          <a:xfrm>
            <a:off x="812800" y="2529191"/>
            <a:ext cx="14630400" cy="1186775"/>
          </a:xfrm>
          <a:prstGeom prst="rect">
            <a:avLst/>
          </a:prstGeom>
          <a:noFill/>
          <a:ln>
            <a:noFill/>
          </a:ln>
        </p:spPr>
        <p:txBody>
          <a:bodyPr anchorCtr="0" anchor="t"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You</a:t>
            </a:r>
            <a:r>
              <a:rPr lang="en-US" sz="3600" u="none" cap="none" strike="noStrike">
                <a:solidFill>
                  <a:srgbClr val="FFFF00"/>
                </a:solidFill>
                <a:latin typeface="Arial"/>
                <a:ea typeface="Arial"/>
                <a:cs typeface="Arial"/>
                <a:sym typeface="Arial"/>
              </a:rPr>
              <a:t> </a:t>
            </a:r>
            <a:r>
              <a:rPr lang="en-US" sz="3600" u="none" cap="none" strike="noStrike">
                <a:solidFill>
                  <a:schemeClr val="lt1"/>
                </a:solidFill>
                <a:latin typeface="Arial"/>
                <a:ea typeface="Arial"/>
                <a:cs typeface="Arial"/>
                <a:sym typeface="Arial"/>
              </a:rPr>
              <a:t>cannot</a:t>
            </a:r>
            <a:r>
              <a:rPr lang="en-US" sz="3600" u="none" cap="none" strike="noStrike">
                <a:solidFill>
                  <a:srgbClr val="FFFF00"/>
                </a:solidFill>
                <a:latin typeface="Arial"/>
                <a:ea typeface="Arial"/>
                <a:cs typeface="Arial"/>
                <a:sym typeface="Arial"/>
              </a:rPr>
              <a:t> </a:t>
            </a:r>
            <a:r>
              <a:rPr lang="en-US" sz="3600" u="none" cap="none" strike="noStrike">
                <a:solidFill>
                  <a:schemeClr val="lt1"/>
                </a:solidFill>
                <a:latin typeface="Arial"/>
                <a:ea typeface="Arial"/>
                <a:cs typeface="Arial"/>
                <a:sym typeface="Arial"/>
              </a:rPr>
              <a:t>use </a:t>
            </a:r>
            <a:r>
              <a:rPr lang="en-US" sz="3600" u="none" cap="none" strike="noStrike">
                <a:solidFill>
                  <a:srgbClr val="FFFF00"/>
                </a:solidFill>
                <a:latin typeface="Arial"/>
                <a:ea typeface="Arial"/>
                <a:cs typeface="Arial"/>
                <a:sym typeface="Arial"/>
              </a:rPr>
              <a:t>reserved words</a:t>
            </a:r>
            <a:r>
              <a:rPr lang="en-US" sz="3600" u="none" cap="none" strike="noStrike">
                <a:solidFill>
                  <a:schemeClr val="lt1"/>
                </a:solidFill>
                <a:latin typeface="Arial"/>
                <a:ea typeface="Arial"/>
                <a:cs typeface="Arial"/>
                <a:sym typeface="Arial"/>
              </a:rPr>
              <a:t> as variable names / identifiers</a:t>
            </a:r>
            <a:endParaRPr/>
          </a:p>
        </p:txBody>
      </p:sp>
      <p:sp>
        <p:nvSpPr>
          <p:cNvPr id="40" name="Google Shape;40;p3"/>
          <p:cNvSpPr txBox="1"/>
          <p:nvPr/>
        </p:nvSpPr>
        <p:spPr>
          <a:xfrm>
            <a:off x="3346315" y="3482501"/>
            <a:ext cx="10369686" cy="418226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False 	class 	return	is 		finally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None 	if		for 	lambda 	continue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True 	def 	from 	while	nonlocal</a:t>
            </a:r>
            <a:endParaRPr b="0"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and 	del 	global 	not 	with</a:t>
            </a:r>
            <a:endParaRPr b="0"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as  	elif 	try		or 		yield</a:t>
            </a:r>
            <a:endParaRPr b="0"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assert 	else 	import 	pass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800"/>
              <a:buFont typeface="Courier"/>
              <a:buNone/>
            </a:pPr>
            <a:r>
              <a:rPr b="0" i="0" lang="en-US" sz="3200" u="none" cap="none" strike="noStrike">
                <a:solidFill>
                  <a:srgbClr val="FFFF00"/>
                </a:solidFill>
                <a:latin typeface="Courier"/>
                <a:ea typeface="Courier"/>
                <a:cs typeface="Courier"/>
                <a:sym typeface="Courier"/>
              </a:rPr>
              <a:t>break 	except 	in 		raise</a:t>
            </a:r>
            <a:endParaRPr b="0" i="0" sz="3200" u="none" cap="none" strike="noStrike">
              <a:solidFill>
                <a:srgbClr val="FFFF00"/>
              </a:solidFill>
              <a:latin typeface="Courier"/>
              <a:ea typeface="Courier"/>
              <a:cs typeface="Courier"/>
              <a:sym typeface="Couri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4"/>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Variables</a:t>
            </a:r>
            <a:endParaRPr/>
          </a:p>
        </p:txBody>
      </p:sp>
      <p:sp>
        <p:nvSpPr>
          <p:cNvPr id="46" name="Google Shape;46;p4"/>
          <p:cNvSpPr txBox="1"/>
          <p:nvPr>
            <p:ph idx="1" type="body"/>
          </p:nvPr>
        </p:nvSpPr>
        <p:spPr>
          <a:xfrm>
            <a:off x="812800" y="2133601"/>
            <a:ext cx="14630400" cy="2674938"/>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A </a:t>
            </a:r>
            <a:r>
              <a:rPr lang="en-US" sz="3200" u="none" cap="none" strike="noStrike">
                <a:solidFill>
                  <a:srgbClr val="00FF00"/>
                </a:solidFill>
                <a:latin typeface="Arial"/>
                <a:ea typeface="Arial"/>
                <a:cs typeface="Arial"/>
                <a:sym typeface="Arial"/>
              </a:rPr>
              <a:t>variable</a:t>
            </a:r>
            <a:r>
              <a:rPr lang="en-US" sz="3200" u="none" cap="none" strike="noStrike">
                <a:solidFill>
                  <a:schemeClr val="lt1"/>
                </a:solidFill>
                <a:latin typeface="Arial"/>
                <a:ea typeface="Arial"/>
                <a:cs typeface="Arial"/>
                <a:sym typeface="Arial"/>
              </a:rPr>
              <a:t> is a named place in the memory where a programmer can store data and later retrieve the data using the </a:t>
            </a:r>
            <a:r>
              <a:rPr lang="en-US" sz="3200" u="none" cap="none" strike="noStrike">
                <a:solidFill>
                  <a:srgbClr val="00FF00"/>
                </a:solidFill>
                <a:latin typeface="Arial"/>
                <a:ea typeface="Arial"/>
                <a:cs typeface="Arial"/>
                <a:sym typeface="Arial"/>
              </a:rPr>
              <a:t>variable</a:t>
            </a:r>
            <a:r>
              <a:rPr lang="en-US" sz="3200" u="none" cap="none" strike="noStrike">
                <a:solidFill>
                  <a:schemeClr val="lt1"/>
                </a:solidFill>
                <a:latin typeface="Arial"/>
                <a:ea typeface="Arial"/>
                <a:cs typeface="Arial"/>
                <a:sym typeface="Arial"/>
              </a:rPr>
              <a:t> </a:t>
            </a:r>
            <a:r>
              <a:rPr b="0" i="0" lang="en-US" sz="3200" u="none" cap="none" strike="noStrike">
                <a:solidFill>
                  <a:schemeClr val="lt1"/>
                </a:solidFill>
              </a:rPr>
              <a:t>“</a:t>
            </a:r>
            <a:r>
              <a:rPr lang="en-US" sz="3200" u="none" cap="none" strike="noStrike">
                <a:solidFill>
                  <a:schemeClr val="lt1"/>
                </a:solidFill>
                <a:latin typeface="Arial"/>
                <a:ea typeface="Arial"/>
                <a:cs typeface="Arial"/>
                <a:sym typeface="Arial"/>
              </a:rPr>
              <a:t>name</a:t>
            </a:r>
            <a:r>
              <a:rPr b="0" i="0" lang="en-US" sz="3200" u="none" cap="none" strike="noStrike">
                <a:solidFill>
                  <a:schemeClr val="lt1"/>
                </a:solidFill>
              </a:rPr>
              <a:t>”</a:t>
            </a:r>
            <a:endParaRPr/>
          </a:p>
          <a:p>
            <a:pPr indent="-371094" lvl="0" marL="7493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Programmers get to choose the names of the </a:t>
            </a:r>
            <a:r>
              <a:rPr lang="en-US" sz="3200" u="none" cap="none" strike="noStrike">
                <a:solidFill>
                  <a:srgbClr val="00FF00"/>
                </a:solidFill>
                <a:latin typeface="Arial"/>
                <a:ea typeface="Arial"/>
                <a:cs typeface="Arial"/>
                <a:sym typeface="Arial"/>
              </a:rPr>
              <a:t>variables</a:t>
            </a:r>
            <a:endParaRPr/>
          </a:p>
          <a:p>
            <a:pPr indent="-371094" lvl="0" marL="7493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You can change the contents of a </a:t>
            </a:r>
            <a:r>
              <a:rPr lang="en-US" sz="3200" u="none" cap="none" strike="noStrike">
                <a:solidFill>
                  <a:srgbClr val="00FF00"/>
                </a:solidFill>
                <a:latin typeface="Arial"/>
                <a:ea typeface="Arial"/>
                <a:cs typeface="Arial"/>
                <a:sym typeface="Arial"/>
              </a:rPr>
              <a:t>variable </a:t>
            </a:r>
            <a:r>
              <a:rPr lang="en-US" sz="3200" u="none" cap="none" strike="noStrike">
                <a:solidFill>
                  <a:schemeClr val="lt1"/>
                </a:solidFill>
                <a:latin typeface="Arial"/>
                <a:ea typeface="Arial"/>
                <a:cs typeface="Arial"/>
                <a:sym typeface="Arial"/>
              </a:rPr>
              <a:t>in a later statement</a:t>
            </a:r>
            <a:endParaRPr/>
          </a:p>
        </p:txBody>
      </p:sp>
      <p:sp>
        <p:nvSpPr>
          <p:cNvPr id="47" name="Google Shape;47;p4"/>
          <p:cNvSpPr txBox="1"/>
          <p:nvPr/>
        </p:nvSpPr>
        <p:spPr>
          <a:xfrm>
            <a:off x="10388600" y="5083164"/>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1225"/>
              <a:buFont typeface="Cabin"/>
              <a:buNone/>
            </a:pPr>
            <a:r>
              <a:rPr b="0" i="0" lang="en-US" sz="4900" u="none" cap="none" strike="noStrike">
                <a:solidFill>
                  <a:schemeClr val="lt1"/>
                </a:solidFill>
                <a:latin typeface="Arial"/>
                <a:ea typeface="Arial"/>
                <a:cs typeface="Arial"/>
                <a:sym typeface="Arial"/>
              </a:rPr>
              <a:t> 12.2</a:t>
            </a:r>
            <a:endParaRPr b="0" i="0" sz="1400" u="none" cap="none" strike="noStrike">
              <a:solidFill>
                <a:srgbClr val="000000"/>
              </a:solidFill>
              <a:latin typeface="Arial"/>
              <a:ea typeface="Arial"/>
              <a:cs typeface="Arial"/>
              <a:sym typeface="Arial"/>
            </a:endParaRPr>
          </a:p>
        </p:txBody>
      </p:sp>
      <p:sp>
        <p:nvSpPr>
          <p:cNvPr id="48" name="Google Shape;48;p4"/>
          <p:cNvSpPr txBox="1"/>
          <p:nvPr/>
        </p:nvSpPr>
        <p:spPr>
          <a:xfrm>
            <a:off x="9534525" y="5280014"/>
            <a:ext cx="444500"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49" name="Google Shape;49;p4"/>
          <p:cNvSpPr txBox="1"/>
          <p:nvPr/>
        </p:nvSpPr>
        <p:spPr>
          <a:xfrm>
            <a:off x="10350500" y="6721464"/>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1225"/>
              <a:buFont typeface="Cabin"/>
              <a:buNone/>
            </a:pPr>
            <a:r>
              <a:rPr b="0" i="0" lang="en-US" sz="4900" u="none" cap="none" strike="noStrike">
                <a:solidFill>
                  <a:schemeClr val="lt1"/>
                </a:solidFill>
                <a:latin typeface="Arial"/>
                <a:ea typeface="Arial"/>
                <a:cs typeface="Arial"/>
                <a:sym typeface="Arial"/>
              </a:rPr>
              <a:t> 14               </a:t>
            </a:r>
            <a:endParaRPr b="0" i="0" sz="1400" u="none" cap="none" strike="noStrike">
              <a:solidFill>
                <a:srgbClr val="000000"/>
              </a:solidFill>
              <a:latin typeface="Arial"/>
              <a:ea typeface="Arial"/>
              <a:cs typeface="Arial"/>
              <a:sym typeface="Arial"/>
            </a:endParaRPr>
          </a:p>
        </p:txBody>
      </p:sp>
      <p:sp>
        <p:nvSpPr>
          <p:cNvPr id="50" name="Google Shape;50;p4"/>
          <p:cNvSpPr txBox="1"/>
          <p:nvPr/>
        </p:nvSpPr>
        <p:spPr>
          <a:xfrm>
            <a:off x="9518650" y="6924664"/>
            <a:ext cx="404811"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51" name="Google Shape;51;p4"/>
          <p:cNvSpPr txBox="1"/>
          <p:nvPr/>
        </p:nvSpPr>
        <p:spPr>
          <a:xfrm>
            <a:off x="2624125" y="5314827"/>
            <a:ext cx="4038900" cy="2387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200"/>
              <a:buFont typeface="Cabin"/>
              <a:buNone/>
            </a:pPr>
            <a:r>
              <a:rPr b="0" i="0" lang="en-US" sz="4800" u="none" cap="none" strike="noStrike">
                <a:solidFill>
                  <a:srgbClr val="00FF00"/>
                </a:solidFill>
                <a:latin typeface="Courier"/>
                <a:ea typeface="Courier"/>
                <a:cs typeface="Courier"/>
                <a:sym typeface="Courier"/>
              </a:rPr>
              <a:t>x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12.2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200"/>
              <a:buFont typeface="Cabin"/>
              <a:buNone/>
            </a:pPr>
            <a:r>
              <a:rPr b="0" i="0" lang="en-US" sz="4800" u="none" cap="none" strike="noStrike">
                <a:solidFill>
                  <a:srgbClr val="00FF00"/>
                </a:solidFill>
                <a:latin typeface="Courier"/>
                <a:ea typeface="Courier"/>
                <a:cs typeface="Courier"/>
                <a:sym typeface="Courier"/>
              </a:rPr>
              <a:t>y</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14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rgbClr val="000000"/>
              </a:solidFill>
              <a:latin typeface="Courier"/>
              <a:ea typeface="Courier"/>
              <a:cs typeface="Courier"/>
              <a:sym typeface="Courier"/>
            </a:endParaRPr>
          </a:p>
        </p:txBody>
      </p:sp>
      <p:sp>
        <p:nvSpPr>
          <p:cNvPr id="52" name="Google Shape;52;p4"/>
          <p:cNvSpPr txBox="1"/>
          <p:nvPr/>
        </p:nvSpPr>
        <p:spPr>
          <a:xfrm>
            <a:off x="2624125" y="8034325"/>
            <a:ext cx="3789000" cy="86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4800"/>
              <a:buFont typeface="Cabin"/>
              <a:buNone/>
            </a:pPr>
            <a:r>
              <a:t/>
            </a:r>
            <a:endParaRPr b="0" i="0" sz="4800" u="none" cap="none" strike="noStrike">
              <a:solidFill>
                <a:srgbClr val="000000"/>
              </a:solidFill>
              <a:latin typeface="Courier"/>
              <a:ea typeface="Courier"/>
              <a:cs typeface="Courier"/>
              <a:sym typeface="Couri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5"/>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Variables</a:t>
            </a:r>
            <a:endParaRPr/>
          </a:p>
        </p:txBody>
      </p:sp>
      <p:sp>
        <p:nvSpPr>
          <p:cNvPr id="58" name="Google Shape;58;p5"/>
          <p:cNvSpPr txBox="1"/>
          <p:nvPr>
            <p:ph idx="1" type="body"/>
          </p:nvPr>
        </p:nvSpPr>
        <p:spPr>
          <a:xfrm>
            <a:off x="812800" y="2133601"/>
            <a:ext cx="14630400" cy="2674938"/>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A </a:t>
            </a:r>
            <a:r>
              <a:rPr lang="en-US" sz="3200" u="none" cap="none" strike="noStrike">
                <a:solidFill>
                  <a:srgbClr val="00FF00"/>
                </a:solidFill>
                <a:latin typeface="Arial"/>
                <a:ea typeface="Arial"/>
                <a:cs typeface="Arial"/>
                <a:sym typeface="Arial"/>
              </a:rPr>
              <a:t>variable</a:t>
            </a:r>
            <a:r>
              <a:rPr lang="en-US" sz="3200" u="none" cap="none" strike="noStrike">
                <a:solidFill>
                  <a:schemeClr val="lt1"/>
                </a:solidFill>
                <a:latin typeface="Arial"/>
                <a:ea typeface="Arial"/>
                <a:cs typeface="Arial"/>
                <a:sym typeface="Arial"/>
              </a:rPr>
              <a:t> is a named place in the memory where a programmer can store data and later retrieve the data using the </a:t>
            </a:r>
            <a:r>
              <a:rPr lang="en-US" sz="3200" u="none" cap="none" strike="noStrike">
                <a:solidFill>
                  <a:srgbClr val="00FF00"/>
                </a:solidFill>
                <a:latin typeface="Arial"/>
                <a:ea typeface="Arial"/>
                <a:cs typeface="Arial"/>
                <a:sym typeface="Arial"/>
              </a:rPr>
              <a:t>variable</a:t>
            </a:r>
            <a:r>
              <a:rPr lang="en-US" sz="3200" u="none" cap="none" strike="noStrike">
                <a:solidFill>
                  <a:schemeClr val="lt1"/>
                </a:solidFill>
                <a:latin typeface="Arial"/>
                <a:ea typeface="Arial"/>
                <a:cs typeface="Arial"/>
                <a:sym typeface="Arial"/>
              </a:rPr>
              <a:t> </a:t>
            </a:r>
            <a:r>
              <a:rPr b="0" i="0" lang="en-US" sz="3200" u="none" cap="none" strike="noStrike">
                <a:solidFill>
                  <a:schemeClr val="lt1"/>
                </a:solidFill>
              </a:rPr>
              <a:t>“</a:t>
            </a:r>
            <a:r>
              <a:rPr lang="en-US" sz="3200" u="none" cap="none" strike="noStrike">
                <a:solidFill>
                  <a:schemeClr val="lt1"/>
                </a:solidFill>
                <a:latin typeface="Arial"/>
                <a:ea typeface="Arial"/>
                <a:cs typeface="Arial"/>
                <a:sym typeface="Arial"/>
              </a:rPr>
              <a:t>name</a:t>
            </a:r>
            <a:r>
              <a:rPr b="0" i="0" lang="en-US" sz="3200" u="none" cap="none" strike="noStrike">
                <a:solidFill>
                  <a:schemeClr val="lt1"/>
                </a:solidFill>
              </a:rPr>
              <a:t>”</a:t>
            </a:r>
            <a:endParaRPr/>
          </a:p>
          <a:p>
            <a:pPr indent="-371094" lvl="0" marL="7493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Programmers get to choose the names of the </a:t>
            </a:r>
            <a:r>
              <a:rPr lang="en-US" sz="3200" u="none" cap="none" strike="noStrike">
                <a:solidFill>
                  <a:srgbClr val="00FF00"/>
                </a:solidFill>
                <a:latin typeface="Arial"/>
                <a:ea typeface="Arial"/>
                <a:cs typeface="Arial"/>
                <a:sym typeface="Arial"/>
              </a:rPr>
              <a:t>variables</a:t>
            </a:r>
            <a:endParaRPr/>
          </a:p>
          <a:p>
            <a:pPr indent="-371094" lvl="0" marL="7493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You can change the contents of a </a:t>
            </a:r>
            <a:r>
              <a:rPr lang="en-US" sz="3200" u="none" cap="none" strike="noStrike">
                <a:solidFill>
                  <a:srgbClr val="00FF00"/>
                </a:solidFill>
                <a:latin typeface="Arial"/>
                <a:ea typeface="Arial"/>
                <a:cs typeface="Arial"/>
                <a:sym typeface="Arial"/>
              </a:rPr>
              <a:t>variable </a:t>
            </a:r>
            <a:r>
              <a:rPr lang="en-US" sz="3200" u="none" cap="none" strike="noStrike">
                <a:solidFill>
                  <a:schemeClr val="lt1"/>
                </a:solidFill>
                <a:latin typeface="Arial"/>
                <a:ea typeface="Arial"/>
                <a:cs typeface="Arial"/>
                <a:sym typeface="Arial"/>
              </a:rPr>
              <a:t>in a later statement</a:t>
            </a:r>
            <a:endParaRPr/>
          </a:p>
        </p:txBody>
      </p:sp>
      <p:sp>
        <p:nvSpPr>
          <p:cNvPr id="59" name="Google Shape;59;p5"/>
          <p:cNvSpPr txBox="1"/>
          <p:nvPr/>
        </p:nvSpPr>
        <p:spPr>
          <a:xfrm>
            <a:off x="10388600" y="5083164"/>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1225"/>
              <a:buFont typeface="Cabin"/>
              <a:buNone/>
            </a:pPr>
            <a:r>
              <a:rPr b="0" i="0" lang="en-US" sz="4900" u="none" cap="none" strike="noStrike">
                <a:solidFill>
                  <a:schemeClr val="lt1"/>
                </a:solidFill>
                <a:latin typeface="Arial"/>
                <a:ea typeface="Arial"/>
                <a:cs typeface="Arial"/>
                <a:sym typeface="Arial"/>
              </a:rPr>
              <a:t> 12.2</a:t>
            </a:r>
            <a:endParaRPr b="0" i="0" sz="1400" u="none" cap="none" strike="noStrike">
              <a:solidFill>
                <a:srgbClr val="000000"/>
              </a:solidFill>
              <a:latin typeface="Arial"/>
              <a:ea typeface="Arial"/>
              <a:cs typeface="Arial"/>
              <a:sym typeface="Arial"/>
            </a:endParaRPr>
          </a:p>
        </p:txBody>
      </p:sp>
      <p:sp>
        <p:nvSpPr>
          <p:cNvPr id="60" name="Google Shape;60;p5"/>
          <p:cNvSpPr txBox="1"/>
          <p:nvPr/>
        </p:nvSpPr>
        <p:spPr>
          <a:xfrm>
            <a:off x="9534525" y="5280014"/>
            <a:ext cx="444500"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61" name="Google Shape;61;p5"/>
          <p:cNvSpPr txBox="1"/>
          <p:nvPr/>
        </p:nvSpPr>
        <p:spPr>
          <a:xfrm>
            <a:off x="10350500" y="6721464"/>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1225"/>
              <a:buFont typeface="Cabin"/>
              <a:buNone/>
            </a:pPr>
            <a:r>
              <a:rPr b="0" i="0" lang="en-US" sz="4900" u="none" cap="none" strike="noStrike">
                <a:solidFill>
                  <a:schemeClr val="lt1"/>
                </a:solidFill>
                <a:latin typeface="Arial"/>
                <a:ea typeface="Arial"/>
                <a:cs typeface="Arial"/>
                <a:sym typeface="Arial"/>
              </a:rPr>
              <a:t> 14               </a:t>
            </a:r>
            <a:endParaRPr b="0" i="0" sz="1400" u="none" cap="none" strike="noStrike">
              <a:solidFill>
                <a:srgbClr val="000000"/>
              </a:solidFill>
              <a:latin typeface="Arial"/>
              <a:ea typeface="Arial"/>
              <a:cs typeface="Arial"/>
              <a:sym typeface="Arial"/>
            </a:endParaRPr>
          </a:p>
        </p:txBody>
      </p:sp>
      <p:sp>
        <p:nvSpPr>
          <p:cNvPr id="62" name="Google Shape;62;p5"/>
          <p:cNvSpPr txBox="1"/>
          <p:nvPr/>
        </p:nvSpPr>
        <p:spPr>
          <a:xfrm>
            <a:off x="9518650" y="6924664"/>
            <a:ext cx="404811"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grpSp>
        <p:nvGrpSpPr>
          <p:cNvPr id="63" name="Google Shape;63;p5"/>
          <p:cNvGrpSpPr/>
          <p:nvPr/>
        </p:nvGrpSpPr>
        <p:grpSpPr>
          <a:xfrm>
            <a:off x="10690224" y="5319702"/>
            <a:ext cx="763600" cy="903398"/>
            <a:chOff x="0" y="0"/>
            <a:chExt cx="762000" cy="901775"/>
          </a:xfrm>
        </p:grpSpPr>
        <p:cxnSp>
          <p:nvCxnSpPr>
            <p:cNvPr id="64" name="Google Shape;64;p5"/>
            <p:cNvCxnSpPr/>
            <p:nvPr/>
          </p:nvCxnSpPr>
          <p:spPr>
            <a:xfrm flipH="1">
              <a:off x="0" y="15875"/>
              <a:ext cx="762000" cy="885900"/>
            </a:xfrm>
            <a:prstGeom prst="straightConnector1">
              <a:avLst/>
            </a:prstGeom>
            <a:noFill/>
            <a:ln cap="rnd" cmpd="sng" w="63500">
              <a:solidFill>
                <a:srgbClr val="FFFF00"/>
              </a:solidFill>
              <a:prstDash val="solid"/>
              <a:miter lim="8000"/>
              <a:headEnd len="sm" w="sm" type="none"/>
              <a:tailEnd len="sm" w="sm" type="none"/>
            </a:ln>
          </p:spPr>
        </p:cxnSp>
        <p:cxnSp>
          <p:nvCxnSpPr>
            <p:cNvPr id="65" name="Google Shape;65;p5"/>
            <p:cNvCxnSpPr/>
            <p:nvPr/>
          </p:nvCxnSpPr>
          <p:spPr>
            <a:xfrm>
              <a:off x="0" y="0"/>
              <a:ext cx="571500" cy="796799"/>
            </a:xfrm>
            <a:prstGeom prst="straightConnector1">
              <a:avLst/>
            </a:prstGeom>
            <a:noFill/>
            <a:ln cap="rnd" cmpd="sng" w="63500">
              <a:solidFill>
                <a:srgbClr val="FFFF00"/>
              </a:solidFill>
              <a:prstDash val="solid"/>
              <a:miter lim="8000"/>
              <a:headEnd len="sm" w="sm" type="none"/>
              <a:tailEnd len="sm" w="sm" type="none"/>
            </a:ln>
          </p:spPr>
        </p:cxnSp>
      </p:grpSp>
      <p:sp>
        <p:nvSpPr>
          <p:cNvPr id="66" name="Google Shape;66;p5"/>
          <p:cNvSpPr txBox="1"/>
          <p:nvPr/>
        </p:nvSpPr>
        <p:spPr>
          <a:xfrm>
            <a:off x="11852275" y="5256202"/>
            <a:ext cx="1669799" cy="939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1450"/>
              <a:buFont typeface="Cabin"/>
              <a:buNone/>
            </a:pPr>
            <a:r>
              <a:rPr b="0" i="0" lang="en-US" sz="5800" u="none" cap="none" strike="noStrike">
                <a:solidFill>
                  <a:schemeClr val="lt1"/>
                </a:solidFill>
                <a:latin typeface="Arial"/>
                <a:ea typeface="Arial"/>
                <a:cs typeface="Arial"/>
                <a:sym typeface="Arial"/>
              </a:rPr>
              <a:t>100</a:t>
            </a:r>
            <a:endParaRPr b="0" i="0" sz="1400" u="none" cap="none" strike="noStrike">
              <a:solidFill>
                <a:srgbClr val="000000"/>
              </a:solidFill>
              <a:latin typeface="Arial"/>
              <a:ea typeface="Arial"/>
              <a:cs typeface="Arial"/>
              <a:sym typeface="Arial"/>
            </a:endParaRPr>
          </a:p>
        </p:txBody>
      </p:sp>
      <p:sp>
        <p:nvSpPr>
          <p:cNvPr id="67" name="Google Shape;67;p5"/>
          <p:cNvSpPr txBox="1"/>
          <p:nvPr/>
        </p:nvSpPr>
        <p:spPr>
          <a:xfrm>
            <a:off x="2624125" y="5314827"/>
            <a:ext cx="4038900" cy="2387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200"/>
              <a:buFont typeface="Cabin"/>
              <a:buNone/>
            </a:pPr>
            <a:r>
              <a:rPr b="0" i="0" lang="en-US" sz="4800" u="none" cap="none" strike="noStrike">
                <a:solidFill>
                  <a:srgbClr val="00FF00"/>
                </a:solidFill>
                <a:latin typeface="Courier"/>
                <a:ea typeface="Courier"/>
                <a:cs typeface="Courier"/>
                <a:sym typeface="Courier"/>
              </a:rPr>
              <a:t>x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12.2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200"/>
              <a:buFont typeface="Cabin"/>
              <a:buNone/>
            </a:pPr>
            <a:r>
              <a:rPr b="0" i="0" lang="en-US" sz="4800" u="none" cap="none" strike="noStrike">
                <a:solidFill>
                  <a:srgbClr val="00FF00"/>
                </a:solidFill>
                <a:latin typeface="Courier"/>
                <a:ea typeface="Courier"/>
                <a:cs typeface="Courier"/>
                <a:sym typeface="Courier"/>
              </a:rPr>
              <a:t>y</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4800"/>
              <a:buFont typeface="Courier"/>
              <a:buNone/>
            </a:pPr>
            <a:r>
              <a:rPr b="0" i="0" lang="en-US" sz="4800" u="none" cap="none" strike="noStrike">
                <a:solidFill>
                  <a:srgbClr val="00FF00"/>
                </a:solidFill>
                <a:latin typeface="Courier"/>
                <a:ea typeface="Courier"/>
                <a:cs typeface="Courier"/>
                <a:sym typeface="Courier"/>
              </a:rPr>
              <a:t>x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F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100</a:t>
            </a:r>
            <a:endParaRPr b="0" i="0" sz="4800" u="none" cap="none" strike="noStrike">
              <a:solidFill>
                <a:srgbClr val="FF9900"/>
              </a:solidFill>
              <a:latin typeface="Courier"/>
              <a:ea typeface="Courier"/>
              <a:cs typeface="Courier"/>
              <a:sym typeface="Couri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6"/>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Python Variable Name Rules</a:t>
            </a:r>
            <a:endParaRPr/>
          </a:p>
        </p:txBody>
      </p:sp>
      <p:sp>
        <p:nvSpPr>
          <p:cNvPr id="73" name="Google Shape;73;p6"/>
          <p:cNvSpPr txBox="1"/>
          <p:nvPr>
            <p:ph idx="1" type="body"/>
          </p:nvPr>
        </p:nvSpPr>
        <p:spPr>
          <a:xfrm>
            <a:off x="812800" y="2133601"/>
            <a:ext cx="14630400" cy="3124200"/>
          </a:xfrm>
          <a:prstGeom prst="rect">
            <a:avLst/>
          </a:prstGeom>
          <a:noFill/>
          <a:ln>
            <a:noFill/>
          </a:ln>
        </p:spPr>
        <p:txBody>
          <a:bodyPr anchorCtr="0" anchor="ctr" bIns="38100" lIns="38100" spcFirstLastPara="1" rIns="38100" wrap="square" tIns="38100">
            <a:noAutofit/>
          </a:bodyPr>
          <a:lstStyle/>
          <a:p>
            <a:pPr indent="-571500" lvl="0" marL="949706" rtl="0" algn="l">
              <a:lnSpc>
                <a:spcPct val="100000"/>
              </a:lnSpc>
              <a:spcBef>
                <a:spcPts val="0"/>
              </a:spcBef>
              <a:spcAft>
                <a:spcPts val="0"/>
              </a:spcAft>
              <a:buSzPts val="3600"/>
              <a:buChar char="•"/>
            </a:pPr>
            <a:r>
              <a:rPr lang="en-US" sz="3600" u="none" cap="none" strike="noStrike">
                <a:solidFill>
                  <a:schemeClr val="lt1"/>
                </a:solidFill>
                <a:latin typeface="Arial"/>
                <a:ea typeface="Arial"/>
                <a:cs typeface="Arial"/>
                <a:sym typeface="Arial"/>
              </a:rPr>
              <a:t>Must start with a letter or underscore _ </a:t>
            </a:r>
            <a:endParaRPr/>
          </a:p>
          <a:p>
            <a:pPr indent="-571500" lvl="0" marL="949706" rtl="0" algn="l">
              <a:lnSpc>
                <a:spcPct val="100000"/>
              </a:lnSpc>
              <a:spcBef>
                <a:spcPts val="3500"/>
              </a:spcBef>
              <a:spcAft>
                <a:spcPts val="0"/>
              </a:spcAft>
              <a:buSzPts val="3600"/>
              <a:buChar char="•"/>
            </a:pPr>
            <a:r>
              <a:rPr lang="en-US" sz="3600" u="none" cap="none" strike="noStrike">
                <a:solidFill>
                  <a:schemeClr val="lt1"/>
                </a:solidFill>
                <a:latin typeface="Arial"/>
                <a:ea typeface="Arial"/>
                <a:cs typeface="Arial"/>
                <a:sym typeface="Arial"/>
              </a:rPr>
              <a:t>Must consist of letters, numbers, and underscores</a:t>
            </a:r>
            <a:endParaRPr/>
          </a:p>
          <a:p>
            <a:pPr indent="-571500" lvl="0" marL="949706" rtl="0" algn="l">
              <a:lnSpc>
                <a:spcPct val="100000"/>
              </a:lnSpc>
              <a:spcBef>
                <a:spcPts val="3500"/>
              </a:spcBef>
              <a:spcAft>
                <a:spcPts val="0"/>
              </a:spcAft>
              <a:buSzPts val="3600"/>
              <a:buChar char="•"/>
            </a:pPr>
            <a:r>
              <a:rPr lang="en-US" sz="3600" u="none" cap="none" strike="noStrike">
                <a:solidFill>
                  <a:schemeClr val="lt1"/>
                </a:solidFill>
                <a:latin typeface="Arial"/>
                <a:ea typeface="Arial"/>
                <a:cs typeface="Arial"/>
                <a:sym typeface="Arial"/>
              </a:rPr>
              <a:t>Case Sensitive</a:t>
            </a:r>
            <a:br>
              <a:rPr lang="en-US" sz="3600">
                <a:solidFill>
                  <a:schemeClr val="lt1"/>
                </a:solidFill>
                <a:latin typeface="Arial"/>
                <a:ea typeface="Arial"/>
                <a:cs typeface="Arial"/>
                <a:sym typeface="Arial"/>
              </a:rPr>
            </a:br>
            <a:endParaRPr sz="3600">
              <a:solidFill>
                <a:schemeClr val="lt1"/>
              </a:solidFill>
              <a:latin typeface="Arial"/>
              <a:ea typeface="Arial"/>
              <a:cs typeface="Arial"/>
              <a:sym typeface="Arial"/>
            </a:endParaRPr>
          </a:p>
        </p:txBody>
      </p:sp>
      <p:sp>
        <p:nvSpPr>
          <p:cNvPr id="74" name="Google Shape;74;p6"/>
          <p:cNvSpPr txBox="1"/>
          <p:nvPr/>
        </p:nvSpPr>
        <p:spPr>
          <a:xfrm>
            <a:off x="2234291" y="5500691"/>
            <a:ext cx="11551560" cy="17543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FA00"/>
              </a:buClr>
              <a:buSzPts val="3600"/>
              <a:buFont typeface="Courier"/>
              <a:buNone/>
            </a:pPr>
            <a:r>
              <a:rPr b="0" i="0" lang="en-US" sz="3600" u="none" cap="none" strike="noStrike">
                <a:solidFill>
                  <a:srgbClr val="00FA00"/>
                </a:solidFill>
                <a:latin typeface="Courier"/>
                <a:ea typeface="Courier"/>
                <a:cs typeface="Courier"/>
                <a:sym typeface="Courier"/>
              </a:rPr>
              <a:t>Good:    </a:t>
            </a:r>
            <a:r>
              <a:rPr b="0" i="0" lang="en-US" sz="3600" u="none" cap="none" strike="noStrike">
                <a:solidFill>
                  <a:schemeClr val="lt1"/>
                </a:solidFill>
                <a:latin typeface="Courier"/>
                <a:ea typeface="Courier"/>
                <a:cs typeface="Courier"/>
                <a:sym typeface="Courier"/>
              </a:rPr>
              <a:t>spam    eggs   spam23    _speed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545A"/>
              </a:buClr>
              <a:buSzPts val="3600"/>
              <a:buFont typeface="Courier"/>
              <a:buNone/>
            </a:pPr>
            <a:r>
              <a:rPr b="0" i="0" lang="en-US" sz="3600" u="none" cap="none" strike="noStrike">
                <a:solidFill>
                  <a:srgbClr val="FF545A"/>
                </a:solidFill>
                <a:latin typeface="Courier"/>
                <a:ea typeface="Courier"/>
                <a:cs typeface="Courier"/>
                <a:sym typeface="Courier"/>
              </a:rPr>
              <a:t>Bad:</a:t>
            </a:r>
            <a:r>
              <a:rPr b="0" i="0" lang="en-US" sz="3600" u="none" cap="none" strike="noStrike">
                <a:solidFill>
                  <a:srgbClr val="FF0000"/>
                </a:solidFill>
                <a:latin typeface="Courier"/>
                <a:ea typeface="Courier"/>
                <a:cs typeface="Courier"/>
                <a:sym typeface="Courier"/>
              </a:rPr>
              <a:t>     </a:t>
            </a:r>
            <a:r>
              <a:rPr b="0" i="0" lang="en-US" sz="3600" u="none" cap="none" strike="noStrike">
                <a:solidFill>
                  <a:schemeClr val="lt1"/>
                </a:solidFill>
                <a:latin typeface="Courier"/>
                <a:ea typeface="Courier"/>
                <a:cs typeface="Courier"/>
                <a:sym typeface="Courier"/>
              </a:rPr>
              <a:t>23spam     #sign  var.12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DFF"/>
              </a:buClr>
              <a:buSzPts val="3600"/>
              <a:buFont typeface="Courier"/>
              <a:buNone/>
            </a:pPr>
            <a:r>
              <a:rPr b="0" i="0" lang="en-US" sz="3600" u="none" cap="none" strike="noStrike">
                <a:solidFill>
                  <a:srgbClr val="00FDFF"/>
                </a:solidFill>
                <a:latin typeface="Courier"/>
                <a:ea typeface="Courier"/>
                <a:cs typeface="Courier"/>
                <a:sym typeface="Courier"/>
              </a:rPr>
              <a:t>Different:    </a:t>
            </a:r>
            <a:r>
              <a:rPr b="0" i="0" lang="en-US" sz="3600" u="none" cap="none" strike="noStrike">
                <a:solidFill>
                  <a:schemeClr val="lt1"/>
                </a:solidFill>
                <a:latin typeface="Courier"/>
                <a:ea typeface="Courier"/>
                <a:cs typeface="Courier"/>
                <a:sym typeface="Courier"/>
              </a:rPr>
              <a:t>spam   Spam   SPAM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7"/>
          <p:cNvSpPr txBox="1"/>
          <p:nvPr/>
        </p:nvSpPr>
        <p:spPr>
          <a:xfrm>
            <a:off x="1208073" y="1676400"/>
            <a:ext cx="8341499" cy="233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x1q3z9ocd = 35.0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x1q3z9afd = 12.50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x1q3p9afd = x1q3z9ocd * x1q3z9afd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print(x1q3p9afd)</a:t>
            </a:r>
            <a:endParaRPr b="0" i="0" sz="3000" u="none" cap="none" strike="noStrike">
              <a:solidFill>
                <a:srgbClr val="FFFF00"/>
              </a:solidFill>
              <a:latin typeface="Courier"/>
              <a:ea typeface="Courier"/>
              <a:cs typeface="Courier"/>
              <a:sym typeface="Courier"/>
            </a:endParaRPr>
          </a:p>
        </p:txBody>
      </p:sp>
      <p:sp>
        <p:nvSpPr>
          <p:cNvPr id="80" name="Google Shape;80;p7"/>
          <p:cNvSpPr txBox="1"/>
          <p:nvPr/>
        </p:nvSpPr>
        <p:spPr>
          <a:xfrm>
            <a:off x="7137400" y="5499100"/>
            <a:ext cx="5208599" cy="233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hours = 35.0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rate = 12.50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pay = hours * rate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print(pay)</a:t>
            </a:r>
            <a:endParaRPr b="0" i="0" sz="3000" u="none" cap="none" strike="noStrike">
              <a:solidFill>
                <a:srgbClr val="00FF00"/>
              </a:solidFill>
              <a:latin typeface="Courier"/>
              <a:ea typeface="Courier"/>
              <a:cs typeface="Courier"/>
              <a:sym typeface="Courier"/>
            </a:endParaRPr>
          </a:p>
        </p:txBody>
      </p:sp>
      <p:sp>
        <p:nvSpPr>
          <p:cNvPr id="81" name="Google Shape;81;p7"/>
          <p:cNvSpPr txBox="1"/>
          <p:nvPr/>
        </p:nvSpPr>
        <p:spPr>
          <a:xfrm>
            <a:off x="11531600" y="1676400"/>
            <a:ext cx="2109786" cy="233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00FFFF"/>
                </a:solidFill>
                <a:latin typeface="Courier"/>
                <a:ea typeface="Courier"/>
                <a:cs typeface="Courier"/>
                <a:sym typeface="Courier"/>
              </a:rPr>
              <a:t>a = 35.0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00FFFF"/>
                </a:solidFill>
                <a:latin typeface="Courier"/>
                <a:ea typeface="Courier"/>
                <a:cs typeface="Courier"/>
                <a:sym typeface="Courier"/>
              </a:rPr>
              <a:t>b = 12.50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00FFFF"/>
                </a:solidFill>
                <a:latin typeface="Courier"/>
                <a:ea typeface="Courier"/>
                <a:cs typeface="Courier"/>
                <a:sym typeface="Courier"/>
              </a:rPr>
              <a:t>c = a * b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00FFFF"/>
                </a:solidFill>
                <a:latin typeface="Courier"/>
                <a:ea typeface="Courier"/>
                <a:cs typeface="Courier"/>
                <a:sym typeface="Courier"/>
              </a:rPr>
              <a:t>print(c)</a:t>
            </a:r>
            <a:endParaRPr b="0" i="0" sz="3000" u="none" cap="none" strike="noStrike">
              <a:solidFill>
                <a:srgbClr val="00FFFF"/>
              </a:solidFill>
              <a:latin typeface="Courier"/>
              <a:ea typeface="Courier"/>
              <a:cs typeface="Courier"/>
              <a:sym typeface="Courier"/>
            </a:endParaRPr>
          </a:p>
        </p:txBody>
      </p:sp>
      <p:sp>
        <p:nvSpPr>
          <p:cNvPr id="82" name="Google Shape;82;p7"/>
          <p:cNvSpPr txBox="1"/>
          <p:nvPr/>
        </p:nvSpPr>
        <p:spPr>
          <a:xfrm>
            <a:off x="1505339" y="6057900"/>
            <a:ext cx="4249136" cy="1219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50"/>
              <a:buFont typeface="Cabin"/>
              <a:buNone/>
            </a:pPr>
            <a:r>
              <a:rPr b="0" i="0" lang="en-US" sz="3800" u="none" cap="none" strike="noStrike">
                <a:solidFill>
                  <a:schemeClr val="lt1"/>
                </a:solidFill>
                <a:latin typeface="Arial"/>
                <a:ea typeface="Arial"/>
                <a:cs typeface="Arial"/>
                <a:sym typeface="Arial"/>
              </a:rPr>
              <a:t>What are these bits of code doing?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8"/>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Statements and Expressions</a:t>
            </a:r>
            <a:endParaRPr sz="7600" u="none" cap="none" strike="noStrike">
              <a:solidFill>
                <a:srgbClr val="FFD966"/>
              </a:solidFill>
              <a:latin typeface="Arial"/>
              <a:ea typeface="Arial"/>
              <a:cs typeface="Arial"/>
              <a:sym typeface="Arial"/>
            </a:endParaRPr>
          </a:p>
        </p:txBody>
      </p:sp>
      <p:sp>
        <p:nvSpPr>
          <p:cNvPr id="88" name="Google Shape;88;p8"/>
          <p:cNvSpPr txBox="1"/>
          <p:nvPr/>
        </p:nvSpPr>
        <p:spPr>
          <a:xfrm>
            <a:off x="1554125" y="2730300"/>
            <a:ext cx="4003499" cy="4038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1200"/>
              <a:buFont typeface="Cabin"/>
              <a:buNone/>
            </a:pPr>
            <a:r>
              <a:rPr b="0" i="0" lang="en-US" sz="4800" u="none" cap="none" strike="noStrike">
                <a:solidFill>
                  <a:srgbClr val="FF9900"/>
                </a:solidFill>
                <a:latin typeface="Courier"/>
                <a:ea typeface="Courier"/>
                <a:cs typeface="Courier"/>
                <a:sym typeface="Courier"/>
              </a:rPr>
              <a:t>x</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00FFFF"/>
                </a:solidFill>
                <a:latin typeface="Courier"/>
                <a:ea typeface="Courier"/>
                <a:cs typeface="Courier"/>
                <a:sym typeface="Courier"/>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1200"/>
              <a:buFont typeface="Cabin"/>
              <a:buNone/>
            </a:pPr>
            <a:r>
              <a:rPr b="0" i="0" lang="en-US" sz="4800" u="none" cap="none" strike="noStrike">
                <a:solidFill>
                  <a:srgbClr val="FF9900"/>
                </a:solidFill>
                <a:latin typeface="Courier"/>
                <a:ea typeface="Courier"/>
                <a:cs typeface="Courier"/>
                <a:sym typeface="Courier"/>
              </a:rPr>
              <a:t>x</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FF9900"/>
                </a:solidFill>
                <a:latin typeface="Courier"/>
                <a:ea typeface="Courier"/>
                <a:cs typeface="Courier"/>
                <a:sym typeface="Courier"/>
              </a:rPr>
              <a:t>x</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FFFFFF"/>
                </a:solidFill>
                <a:latin typeface="Courier"/>
                <a:ea typeface="Courier"/>
                <a:cs typeface="Courier"/>
                <a:sym typeface="Courier"/>
              </a:rPr>
              <a:t>+</a:t>
            </a:r>
            <a:r>
              <a:rPr b="0" i="0" lang="en-US" sz="4800" u="none" cap="none" strike="noStrike">
                <a:solidFill>
                  <a:srgbClr val="FF7F00"/>
                </a:solidFill>
                <a:latin typeface="Courier"/>
                <a:ea typeface="Courier"/>
                <a:cs typeface="Courier"/>
                <a:sym typeface="Courier"/>
              </a:rPr>
              <a:t> </a:t>
            </a:r>
            <a:r>
              <a:rPr b="0" i="0" lang="en-US" sz="4800" u="none" cap="none" strike="noStrike">
                <a:solidFill>
                  <a:srgbClr val="00FFFF"/>
                </a:solidFill>
                <a:latin typeface="Courier"/>
                <a:ea typeface="Courier"/>
                <a:cs typeface="Courier"/>
                <a:sym typeface="Courier"/>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1200"/>
              <a:buFont typeface="Cabin"/>
              <a:buNone/>
            </a:pPr>
            <a:r>
              <a:rPr b="0" i="0" lang="en-US" sz="4800" u="none" cap="none" strike="noStrike">
                <a:solidFill>
                  <a:srgbClr val="FFFF00"/>
                </a:solidFill>
                <a:latin typeface="Courier"/>
                <a:ea typeface="Courier"/>
                <a:cs typeface="Courier"/>
                <a:sym typeface="Courier"/>
              </a:rPr>
              <a:t>print(</a:t>
            </a:r>
            <a:r>
              <a:rPr b="0" i="0" lang="en-US" sz="4800" u="none" cap="none" strike="noStrike">
                <a:solidFill>
                  <a:srgbClr val="FF9900"/>
                </a:solidFill>
                <a:latin typeface="Courier"/>
                <a:ea typeface="Courier"/>
                <a:cs typeface="Courier"/>
                <a:sym typeface="Courier"/>
              </a:rPr>
              <a:t>x</a:t>
            </a:r>
            <a:r>
              <a:rPr b="0" i="0" lang="en-US" sz="4800" u="none" cap="none" strike="noStrike">
                <a:solidFill>
                  <a:srgbClr val="FFFF00"/>
                </a:solidFill>
                <a:latin typeface="Courier"/>
                <a:ea typeface="Courier"/>
                <a:cs typeface="Courier"/>
                <a:sym typeface="Courier"/>
              </a:rPr>
              <a:t>)</a:t>
            </a:r>
            <a:endParaRPr b="0" i="0" sz="4800" u="none" cap="none" strike="noStrike">
              <a:solidFill>
                <a:srgbClr val="FFFF00"/>
              </a:solidFill>
              <a:latin typeface="Courier"/>
              <a:ea typeface="Courier"/>
              <a:cs typeface="Courier"/>
              <a:sym typeface="Courier"/>
            </a:endParaRPr>
          </a:p>
        </p:txBody>
      </p:sp>
      <p:sp>
        <p:nvSpPr>
          <p:cNvPr id="89" name="Google Shape;89;p8"/>
          <p:cNvSpPr txBox="1"/>
          <p:nvPr/>
        </p:nvSpPr>
        <p:spPr>
          <a:xfrm>
            <a:off x="1322915" y="7037422"/>
            <a:ext cx="2341499" cy="72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1050"/>
              <a:buFont typeface="Cabin"/>
              <a:buNone/>
            </a:pPr>
            <a:r>
              <a:rPr b="0" i="0" lang="en-US" sz="4200" u="none" cap="none" strike="noStrike">
                <a:solidFill>
                  <a:srgbClr val="FF9900"/>
                </a:solidFill>
                <a:latin typeface="Arial"/>
                <a:ea typeface="Arial"/>
                <a:cs typeface="Arial"/>
                <a:sym typeface="Arial"/>
              </a:rPr>
              <a:t>Variable</a:t>
            </a:r>
            <a:endParaRPr b="0" i="0" sz="1400" u="none" cap="none" strike="noStrike">
              <a:solidFill>
                <a:srgbClr val="000000"/>
              </a:solidFill>
              <a:latin typeface="Arial"/>
              <a:ea typeface="Arial"/>
              <a:cs typeface="Arial"/>
              <a:sym typeface="Arial"/>
            </a:endParaRPr>
          </a:p>
        </p:txBody>
      </p:sp>
      <p:sp>
        <p:nvSpPr>
          <p:cNvPr id="90" name="Google Shape;90;p8"/>
          <p:cNvSpPr txBox="1"/>
          <p:nvPr/>
        </p:nvSpPr>
        <p:spPr>
          <a:xfrm>
            <a:off x="4696365" y="7037422"/>
            <a:ext cx="2197200" cy="72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1050"/>
              <a:buFont typeface="Cabin"/>
              <a:buNone/>
            </a:pPr>
            <a:r>
              <a:rPr b="0" i="0" lang="en-US" sz="4200" u="none" cap="none" strike="noStrike">
                <a:solidFill>
                  <a:srgbClr val="FFFFFF"/>
                </a:solidFill>
                <a:latin typeface="Arial"/>
                <a:ea typeface="Arial"/>
                <a:cs typeface="Arial"/>
                <a:sym typeface="Arial"/>
              </a:rPr>
              <a:t>Operator</a:t>
            </a:r>
            <a:endParaRPr b="0" i="0" sz="1400" u="none" cap="none" strike="noStrike">
              <a:solidFill>
                <a:srgbClr val="000000"/>
              </a:solidFill>
              <a:latin typeface="Arial"/>
              <a:ea typeface="Arial"/>
              <a:cs typeface="Arial"/>
              <a:sym typeface="Arial"/>
            </a:endParaRPr>
          </a:p>
        </p:txBody>
      </p:sp>
      <p:sp>
        <p:nvSpPr>
          <p:cNvPr id="91" name="Google Shape;91;p8"/>
          <p:cNvSpPr txBox="1"/>
          <p:nvPr/>
        </p:nvSpPr>
        <p:spPr>
          <a:xfrm>
            <a:off x="8080914" y="7088222"/>
            <a:ext cx="2455889" cy="72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FF"/>
              </a:buClr>
              <a:buSzPts val="1050"/>
              <a:buFont typeface="Cabin"/>
              <a:buNone/>
            </a:pPr>
            <a:r>
              <a:rPr b="0" i="0" lang="en-US" sz="4200" u="none" cap="none" strike="noStrike">
                <a:solidFill>
                  <a:srgbClr val="00FFFF"/>
                </a:solidFill>
                <a:latin typeface="Arial"/>
                <a:ea typeface="Arial"/>
                <a:cs typeface="Arial"/>
                <a:sym typeface="Arial"/>
              </a:rPr>
              <a:t>Constant</a:t>
            </a:r>
            <a:endParaRPr b="0" i="0" sz="1400" u="none" cap="none" strike="noStrike">
              <a:solidFill>
                <a:srgbClr val="000000"/>
              </a:solidFill>
              <a:latin typeface="Arial"/>
              <a:ea typeface="Arial"/>
              <a:cs typeface="Arial"/>
              <a:sym typeface="Arial"/>
            </a:endParaRPr>
          </a:p>
        </p:txBody>
      </p:sp>
      <p:sp>
        <p:nvSpPr>
          <p:cNvPr id="92" name="Google Shape;92;p8"/>
          <p:cNvSpPr txBox="1"/>
          <p:nvPr/>
        </p:nvSpPr>
        <p:spPr>
          <a:xfrm>
            <a:off x="11589607" y="7103710"/>
            <a:ext cx="3009992" cy="72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1050"/>
              <a:buFont typeface="Cabin"/>
              <a:buNone/>
            </a:pPr>
            <a:r>
              <a:rPr b="0" i="0" lang="en-US" sz="4200" u="none" cap="none" strike="noStrike">
                <a:solidFill>
                  <a:srgbClr val="FFFF00"/>
                </a:solidFill>
                <a:latin typeface="Arial"/>
                <a:ea typeface="Arial"/>
                <a:cs typeface="Arial"/>
                <a:sym typeface="Arial"/>
              </a:rPr>
              <a:t>Function</a:t>
            </a:r>
            <a:endParaRPr b="0" i="0" sz="4200" u="none" cap="none" strike="noStrike">
              <a:solidFill>
                <a:srgbClr val="FFFF00"/>
              </a:solidFill>
              <a:latin typeface="Arial"/>
              <a:ea typeface="Arial"/>
              <a:cs typeface="Arial"/>
              <a:sym typeface="Arial"/>
            </a:endParaRPr>
          </a:p>
        </p:txBody>
      </p:sp>
      <p:sp>
        <p:nvSpPr>
          <p:cNvPr id="93" name="Google Shape;93;p8"/>
          <p:cNvSpPr txBox="1"/>
          <p:nvPr/>
        </p:nvSpPr>
        <p:spPr>
          <a:xfrm>
            <a:off x="7213600" y="2717800"/>
            <a:ext cx="8807450" cy="4038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1350"/>
              <a:buFont typeface="Cabin"/>
              <a:buNone/>
            </a:pPr>
            <a:r>
              <a:rPr b="0" i="0" lang="en-US" sz="5400" u="none" cap="none" strike="noStrike">
                <a:solidFill>
                  <a:schemeClr val="lt1"/>
                </a:solidFill>
                <a:latin typeface="Arial"/>
                <a:ea typeface="Arial"/>
                <a:cs typeface="Arial"/>
                <a:sym typeface="Arial"/>
              </a:rPr>
              <a:t>Assignment statement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350"/>
              <a:buFont typeface="Cabin"/>
              <a:buNone/>
            </a:pPr>
            <a:r>
              <a:rPr b="0" i="0" lang="en-US" sz="5400" u="none" cap="none" strike="noStrike">
                <a:solidFill>
                  <a:schemeClr val="lt1"/>
                </a:solidFill>
                <a:latin typeface="Arial"/>
                <a:ea typeface="Arial"/>
                <a:cs typeface="Arial"/>
                <a:sym typeface="Arial"/>
              </a:rPr>
              <a:t>Assignment with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350"/>
              <a:buFont typeface="Cabin"/>
              <a:buNone/>
            </a:pPr>
            <a:r>
              <a:rPr b="0" i="0" lang="en-US" sz="5400" u="none" cap="none" strike="noStrike">
                <a:solidFill>
                  <a:schemeClr val="lt1"/>
                </a:solidFill>
                <a:latin typeface="Arial"/>
                <a:ea typeface="Arial"/>
                <a:cs typeface="Arial"/>
                <a:sym typeface="Arial"/>
              </a:rPr>
              <a:t>Print statement</a:t>
            </a:r>
            <a:endParaRPr b="0" i="0" sz="1400" u="none" cap="none" strike="noStrike">
              <a:solidFill>
                <a:srgbClr val="000000"/>
              </a:solidFill>
              <a:latin typeface="Arial"/>
              <a:ea typeface="Arial"/>
              <a:cs typeface="Arial"/>
              <a:sym typeface="Arial"/>
            </a:endParaRPr>
          </a:p>
        </p:txBody>
      </p:sp>
      <p:cxnSp>
        <p:nvCxnSpPr>
          <p:cNvPr id="94" name="Google Shape;94;p8"/>
          <p:cNvCxnSpPr/>
          <p:nvPr/>
        </p:nvCxnSpPr>
        <p:spPr>
          <a:xfrm flipH="1" rot="10800000">
            <a:off x="5308600" y="3886262"/>
            <a:ext cx="1330199" cy="17399"/>
          </a:xfrm>
          <a:prstGeom prst="straightConnector1">
            <a:avLst/>
          </a:prstGeom>
          <a:noFill/>
          <a:ln cap="rnd" cmpd="sng" w="63500">
            <a:solidFill>
              <a:schemeClr val="lt1"/>
            </a:solidFill>
            <a:prstDash val="solid"/>
            <a:miter lim="8000"/>
            <a:headEnd len="med" w="med" type="stealth"/>
            <a:tailEnd len="sm" w="sm" type="none"/>
          </a:ln>
        </p:spPr>
      </p:cxnSp>
      <p:cxnSp>
        <p:nvCxnSpPr>
          <p:cNvPr id="95" name="Google Shape;95;p8"/>
          <p:cNvCxnSpPr/>
          <p:nvPr/>
        </p:nvCxnSpPr>
        <p:spPr>
          <a:xfrm flipH="1" rot="10800000">
            <a:off x="5816600" y="4734062"/>
            <a:ext cx="933599" cy="7800"/>
          </a:xfrm>
          <a:prstGeom prst="straightConnector1">
            <a:avLst/>
          </a:prstGeom>
          <a:noFill/>
          <a:ln cap="rnd" cmpd="sng" w="63500">
            <a:solidFill>
              <a:schemeClr val="lt1"/>
            </a:solidFill>
            <a:prstDash val="solid"/>
            <a:miter lim="8000"/>
            <a:headEnd len="med" w="med" type="stealth"/>
            <a:tailEnd len="sm" w="sm" type="none"/>
          </a:ln>
        </p:spPr>
      </p:cxnSp>
      <p:cxnSp>
        <p:nvCxnSpPr>
          <p:cNvPr id="96" name="Google Shape;96;p8"/>
          <p:cNvCxnSpPr/>
          <p:nvPr/>
        </p:nvCxnSpPr>
        <p:spPr>
          <a:xfrm flipH="1" rot="10800000">
            <a:off x="5384800" y="5562662"/>
            <a:ext cx="1330199" cy="17399"/>
          </a:xfrm>
          <a:prstGeom prst="straightConnector1">
            <a:avLst/>
          </a:prstGeom>
          <a:noFill/>
          <a:ln cap="rnd" cmpd="sng" w="63500">
            <a:solidFill>
              <a:schemeClr val="lt1"/>
            </a:solidFill>
            <a:prstDash val="solid"/>
            <a:miter lim="8000"/>
            <a:headEnd len="med" w="med" type="stealth"/>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Assignment Statements</a:t>
            </a:r>
            <a:endParaRPr/>
          </a:p>
        </p:txBody>
      </p:sp>
      <p:sp>
        <p:nvSpPr>
          <p:cNvPr id="102" name="Google Shape;102;p9"/>
          <p:cNvSpPr txBox="1"/>
          <p:nvPr>
            <p:ph idx="1" type="body"/>
          </p:nvPr>
        </p:nvSpPr>
        <p:spPr>
          <a:xfrm>
            <a:off x="812800" y="2133601"/>
            <a:ext cx="14630400" cy="314324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We assign a value to a variable using the </a:t>
            </a:r>
            <a:r>
              <a:rPr lang="en-US" sz="3600" u="none" cap="none" strike="noStrike">
                <a:solidFill>
                  <a:srgbClr val="FFFFFF"/>
                </a:solidFill>
                <a:latin typeface="Arial"/>
                <a:ea typeface="Arial"/>
                <a:cs typeface="Arial"/>
                <a:sym typeface="Arial"/>
              </a:rPr>
              <a:t>assignment</a:t>
            </a:r>
            <a:r>
              <a:rPr lang="en-US" sz="3600" u="none" cap="none" strike="noStrike">
                <a:solidFill>
                  <a:schemeClr val="lt1"/>
                </a:solidFill>
                <a:latin typeface="Arial"/>
                <a:ea typeface="Arial"/>
                <a:cs typeface="Arial"/>
                <a:sym typeface="Arial"/>
              </a:rPr>
              <a:t> statement (=)</a:t>
            </a:r>
            <a:endParaRPr/>
          </a:p>
          <a:p>
            <a:pPr indent="-457200" lvl="0" marL="457200" marR="0" rtl="0" algn="l">
              <a:lnSpc>
                <a:spcPct val="100000"/>
              </a:lnSpc>
              <a:spcBef>
                <a:spcPts val="3500"/>
              </a:spcBef>
              <a:spcAft>
                <a:spcPts val="0"/>
              </a:spcAft>
              <a:buSzPts val="3600"/>
              <a:buFont typeface="Cabin"/>
              <a:buChar char="•"/>
            </a:pPr>
            <a:r>
              <a:rPr lang="en-US" sz="3600" u="none" cap="none" strike="noStrike">
                <a:solidFill>
                  <a:schemeClr val="lt1"/>
                </a:solidFill>
                <a:latin typeface="Arial"/>
                <a:ea typeface="Arial"/>
                <a:cs typeface="Arial"/>
                <a:sym typeface="Arial"/>
              </a:rPr>
              <a:t>An </a:t>
            </a:r>
            <a:r>
              <a:rPr lang="en-US" sz="3600" u="none" cap="none" strike="noStrike">
                <a:solidFill>
                  <a:srgbClr val="FFFFFF"/>
                </a:solidFill>
                <a:latin typeface="Arial"/>
                <a:ea typeface="Arial"/>
                <a:cs typeface="Arial"/>
                <a:sym typeface="Arial"/>
              </a:rPr>
              <a:t>assignment statement</a:t>
            </a:r>
            <a:r>
              <a:rPr lang="en-US" sz="3600" u="none" cap="none" strike="noStrike">
                <a:solidFill>
                  <a:schemeClr val="lt1"/>
                </a:solidFill>
                <a:latin typeface="Arial"/>
                <a:ea typeface="Arial"/>
                <a:cs typeface="Arial"/>
                <a:sym typeface="Arial"/>
              </a:rPr>
              <a:t> consists of an </a:t>
            </a:r>
            <a:r>
              <a:rPr lang="en-US" sz="3600" u="none" cap="none" strike="noStrike">
                <a:solidFill>
                  <a:srgbClr val="FFFF00"/>
                </a:solidFill>
                <a:latin typeface="Arial"/>
                <a:ea typeface="Arial"/>
                <a:cs typeface="Arial"/>
                <a:sym typeface="Arial"/>
              </a:rPr>
              <a:t>expression on the </a:t>
            </a:r>
            <a:br>
              <a:rPr lang="en-US" sz="3600" u="none" cap="none" strike="noStrike">
                <a:solidFill>
                  <a:srgbClr val="FFFF00"/>
                </a:solidFill>
                <a:latin typeface="Arial"/>
                <a:ea typeface="Arial"/>
                <a:cs typeface="Arial"/>
                <a:sym typeface="Arial"/>
              </a:rPr>
            </a:br>
            <a:r>
              <a:rPr lang="en-US" sz="3600" u="none" cap="none" strike="noStrike">
                <a:solidFill>
                  <a:srgbClr val="FFFF00"/>
                </a:solidFill>
                <a:latin typeface="Arial"/>
                <a:ea typeface="Arial"/>
                <a:cs typeface="Arial"/>
                <a:sym typeface="Arial"/>
              </a:rPr>
              <a:t>right</a:t>
            </a:r>
            <a:r>
              <a:rPr lang="en-US" sz="3600">
                <a:solidFill>
                  <a:srgbClr val="FFFF00"/>
                </a:solidFill>
                <a:latin typeface="Arial"/>
                <a:ea typeface="Arial"/>
                <a:cs typeface="Arial"/>
                <a:sym typeface="Arial"/>
              </a:rPr>
              <a:t>-</a:t>
            </a:r>
            <a:r>
              <a:rPr lang="en-US" sz="3600" u="none" cap="none" strike="noStrike">
                <a:solidFill>
                  <a:srgbClr val="FFFF00"/>
                </a:solidFill>
                <a:latin typeface="Arial"/>
                <a:ea typeface="Arial"/>
                <a:cs typeface="Arial"/>
                <a:sym typeface="Arial"/>
              </a:rPr>
              <a:t>hand side</a:t>
            </a:r>
            <a:r>
              <a:rPr lang="en-US" sz="3600" u="none" cap="none" strike="noStrike">
                <a:solidFill>
                  <a:schemeClr val="lt1"/>
                </a:solidFill>
                <a:latin typeface="Arial"/>
                <a:ea typeface="Arial"/>
                <a:cs typeface="Arial"/>
                <a:sym typeface="Arial"/>
              </a:rPr>
              <a:t> and a </a:t>
            </a:r>
            <a:r>
              <a:rPr lang="en-US" sz="3600" u="none" cap="none" strike="noStrike">
                <a:solidFill>
                  <a:srgbClr val="00FF00"/>
                </a:solidFill>
                <a:latin typeface="Arial"/>
                <a:ea typeface="Arial"/>
                <a:cs typeface="Arial"/>
                <a:sym typeface="Arial"/>
              </a:rPr>
              <a:t>variable</a:t>
            </a:r>
            <a:r>
              <a:rPr lang="en-US" sz="3600" u="none" cap="none" strike="noStrike">
                <a:solidFill>
                  <a:schemeClr val="lt1"/>
                </a:solidFill>
                <a:latin typeface="Arial"/>
                <a:ea typeface="Arial"/>
                <a:cs typeface="Arial"/>
                <a:sym typeface="Arial"/>
              </a:rPr>
              <a:t> to store the result</a:t>
            </a:r>
            <a:endParaRPr/>
          </a:p>
        </p:txBody>
      </p:sp>
      <p:sp>
        <p:nvSpPr>
          <p:cNvPr id="103" name="Google Shape;103;p9"/>
          <p:cNvSpPr txBox="1"/>
          <p:nvPr/>
        </p:nvSpPr>
        <p:spPr>
          <a:xfrm>
            <a:off x="4252109" y="6134100"/>
            <a:ext cx="10078835"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000"/>
              <a:buFont typeface="Cabin"/>
              <a:buNone/>
            </a:pPr>
            <a:r>
              <a:rPr b="0" i="0" lang="en-US" sz="4000" u="none" cap="none" strike="noStrike">
                <a:solidFill>
                  <a:srgbClr val="00FF00"/>
                </a:solidFill>
                <a:latin typeface="Courier"/>
                <a:ea typeface="Courier"/>
                <a:cs typeface="Courier"/>
                <a:sym typeface="Courier"/>
              </a:rPr>
              <a:t>x</a:t>
            </a:r>
            <a:r>
              <a:rPr b="0" i="0" lang="en-US" sz="4000" u="none" cap="none" strike="noStrike">
                <a:solidFill>
                  <a:schemeClr val="lt1"/>
                </a:solidFill>
                <a:latin typeface="Courier"/>
                <a:ea typeface="Courier"/>
                <a:cs typeface="Courier"/>
                <a:sym typeface="Courier"/>
              </a:rPr>
              <a:t> = 3.9 </a:t>
            </a:r>
            <a:r>
              <a:rPr b="0" i="0" lang="en-US" sz="4000" u="none" cap="none" strike="noStrike">
                <a:solidFill>
                  <a:srgbClr val="00FFFF"/>
                </a:solidFill>
                <a:latin typeface="Courier"/>
                <a:ea typeface="Courier"/>
                <a:cs typeface="Courier"/>
                <a:sym typeface="Courier"/>
              </a:rPr>
              <a:t>*</a:t>
            </a:r>
            <a:r>
              <a:rPr b="0" i="0" lang="en-US" sz="4000" u="none" cap="none" strike="noStrike">
                <a:solidFill>
                  <a:schemeClr val="lt1"/>
                </a:solidFill>
                <a:latin typeface="Courier"/>
                <a:ea typeface="Courier"/>
                <a:cs typeface="Courier"/>
                <a:sym typeface="Courier"/>
              </a:rPr>
              <a:t> </a:t>
            </a:r>
            <a:r>
              <a:rPr b="0" i="0" lang="en-US" sz="4000" u="none" cap="none" strike="noStrike">
                <a:solidFill>
                  <a:srgbClr val="00FF00"/>
                </a:solidFill>
                <a:latin typeface="Courier"/>
                <a:ea typeface="Courier"/>
                <a:cs typeface="Courier"/>
                <a:sym typeface="Courier"/>
              </a:rPr>
              <a:t>x </a:t>
            </a:r>
            <a:r>
              <a:rPr b="0" i="0" lang="en-US" sz="4000" u="none" cap="none" strike="noStrike">
                <a:solidFill>
                  <a:srgbClr val="00FFFF"/>
                </a:solidFill>
                <a:latin typeface="Courier"/>
                <a:ea typeface="Courier"/>
                <a:cs typeface="Courier"/>
                <a:sym typeface="Courier"/>
              </a:rPr>
              <a:t>*</a:t>
            </a:r>
            <a:r>
              <a:rPr b="0" i="0" lang="en-US" sz="4000" u="none" cap="none" strike="noStrike">
                <a:solidFill>
                  <a:schemeClr val="lt1"/>
                </a:solidFill>
                <a:latin typeface="Courier"/>
                <a:ea typeface="Courier"/>
                <a:cs typeface="Courier"/>
                <a:sym typeface="Courier"/>
              </a:rPr>
              <a:t> ( 1 </a:t>
            </a:r>
            <a:r>
              <a:rPr b="0" i="0" lang="en-US" sz="4000" u="none" cap="none" strike="noStrike">
                <a:solidFill>
                  <a:srgbClr val="00FFFF"/>
                </a:solidFill>
                <a:latin typeface="Courier"/>
                <a:ea typeface="Courier"/>
                <a:cs typeface="Courier"/>
                <a:sym typeface="Courier"/>
              </a:rPr>
              <a:t>-</a:t>
            </a:r>
            <a:r>
              <a:rPr b="0" i="0" lang="en-US" sz="4000" u="none" cap="none" strike="noStrike">
                <a:solidFill>
                  <a:schemeClr val="lt1"/>
                </a:solidFill>
                <a:latin typeface="Courier"/>
                <a:ea typeface="Courier"/>
                <a:cs typeface="Courier"/>
                <a:sym typeface="Courier"/>
              </a:rPr>
              <a:t> </a:t>
            </a:r>
            <a:r>
              <a:rPr b="0" i="0" lang="en-US" sz="4000" u="none" cap="none" strike="noStrike">
                <a:solidFill>
                  <a:srgbClr val="00FF00"/>
                </a:solidFill>
                <a:latin typeface="Courier"/>
                <a:ea typeface="Courier"/>
                <a:cs typeface="Courier"/>
                <a:sym typeface="Courier"/>
              </a:rPr>
              <a:t>x</a:t>
            </a:r>
            <a:r>
              <a:rPr b="0" i="0" lang="en-US" sz="4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p:txBody>
      </p:sp>
      <p:sp>
        <p:nvSpPr>
          <p:cNvPr id="104" name="Google Shape;104;p9"/>
          <p:cNvSpPr txBox="1"/>
          <p:nvPr/>
        </p:nvSpPr>
        <p:spPr>
          <a:xfrm>
            <a:off x="5248625" y="6081811"/>
            <a:ext cx="6324599" cy="1066799"/>
          </a:xfrm>
          <a:prstGeom prst="rect">
            <a:avLst/>
          </a:prstGeom>
          <a:noFill/>
          <a:ln cap="rnd" cmpd="sng" w="50800">
            <a:solidFill>
              <a:srgbClr val="FFFF00"/>
            </a:solidFill>
            <a:prstDash val="solid"/>
            <a:miter lim="8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0"/>
          <p:cNvSpPr txBox="1"/>
          <p:nvPr/>
        </p:nvSpPr>
        <p:spPr>
          <a:xfrm>
            <a:off x="6362700" y="3397148"/>
            <a:ext cx="8843961" cy="11494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1000"/>
              <a:buFont typeface="Cabin"/>
              <a:buNone/>
            </a:pPr>
            <a:r>
              <a:rPr b="0" i="0" lang="en-US" sz="4000" u="none" cap="none" strike="noStrike">
                <a:solidFill>
                  <a:srgbClr val="00FF00"/>
                </a:solidFill>
                <a:latin typeface="Courier"/>
                <a:ea typeface="Courier"/>
                <a:cs typeface="Courier"/>
                <a:sym typeface="Courier"/>
              </a:rPr>
              <a:t>x</a:t>
            </a:r>
            <a:r>
              <a:rPr b="0" i="0" lang="en-US" sz="4000" u="none" cap="none" strike="noStrike">
                <a:solidFill>
                  <a:srgbClr val="FF00FF"/>
                </a:solidFill>
                <a:latin typeface="Courier"/>
                <a:ea typeface="Courier"/>
                <a:cs typeface="Courier"/>
                <a:sym typeface="Courier"/>
              </a:rPr>
              <a:t> </a:t>
            </a:r>
            <a:r>
              <a:rPr b="0" i="0" lang="en-US" sz="4000" u="none" cap="none" strike="noStrike">
                <a:solidFill>
                  <a:srgbClr val="FFFFFF"/>
                </a:solidFill>
                <a:latin typeface="Courier"/>
                <a:ea typeface="Courier"/>
                <a:cs typeface="Courier"/>
                <a:sym typeface="Courier"/>
              </a:rPr>
              <a:t>=</a:t>
            </a:r>
            <a:r>
              <a:rPr b="0" i="0" lang="en-US" sz="4000" u="none" cap="none" strike="noStrike">
                <a:solidFill>
                  <a:schemeClr val="lt1"/>
                </a:solidFill>
                <a:latin typeface="Courier"/>
                <a:ea typeface="Courier"/>
                <a:cs typeface="Courier"/>
                <a:sym typeface="Courier"/>
              </a:rPr>
              <a:t> </a:t>
            </a:r>
            <a:r>
              <a:rPr b="0" i="0" lang="en-US" sz="4000" u="none" cap="none" strike="noStrike">
                <a:solidFill>
                  <a:srgbClr val="FFFF00"/>
                </a:solidFill>
                <a:latin typeface="Courier"/>
                <a:ea typeface="Courier"/>
                <a:cs typeface="Courier"/>
                <a:sym typeface="Courier"/>
              </a:rPr>
              <a:t>3.9 *  x  * ( 1  -  x )</a:t>
            </a:r>
            <a:endParaRPr b="0" i="0" sz="4000" u="none" cap="none" strike="noStrike">
              <a:solidFill>
                <a:srgbClr val="FFFF00"/>
              </a:solidFill>
              <a:latin typeface="Courier"/>
              <a:ea typeface="Courier"/>
              <a:cs typeface="Courier"/>
              <a:sym typeface="Courier"/>
            </a:endParaRPr>
          </a:p>
        </p:txBody>
      </p:sp>
      <p:sp>
        <p:nvSpPr>
          <p:cNvPr id="110" name="Google Shape;110;p10"/>
          <p:cNvSpPr txBox="1"/>
          <p:nvPr/>
        </p:nvSpPr>
        <p:spPr>
          <a:xfrm>
            <a:off x="10668000" y="850900"/>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1225"/>
              <a:buFont typeface="Cabin"/>
              <a:buNone/>
            </a:pPr>
            <a:r>
              <a:rPr b="0" i="0" lang="en-US" sz="4900" u="none" cap="none" strike="noStrike">
                <a:solidFill>
                  <a:schemeClr val="lt1"/>
                </a:solidFill>
                <a:latin typeface="Arial"/>
                <a:ea typeface="Arial"/>
                <a:cs typeface="Arial"/>
                <a:sym typeface="Arial"/>
              </a:rPr>
              <a:t> 0.6</a:t>
            </a:r>
            <a:endParaRPr b="0" i="0" sz="1400" u="none" cap="none" strike="noStrike">
              <a:solidFill>
                <a:srgbClr val="000000"/>
              </a:solidFill>
              <a:latin typeface="Arial"/>
              <a:ea typeface="Arial"/>
              <a:cs typeface="Arial"/>
              <a:sym typeface="Arial"/>
            </a:endParaRPr>
          </a:p>
        </p:txBody>
      </p:sp>
      <p:sp>
        <p:nvSpPr>
          <p:cNvPr id="111" name="Google Shape;111;p10"/>
          <p:cNvSpPr txBox="1"/>
          <p:nvPr/>
        </p:nvSpPr>
        <p:spPr>
          <a:xfrm>
            <a:off x="9813925" y="1047750"/>
            <a:ext cx="444500"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112" name="Google Shape;112;p10"/>
          <p:cNvSpPr txBox="1"/>
          <p:nvPr/>
        </p:nvSpPr>
        <p:spPr>
          <a:xfrm>
            <a:off x="581025" y="6354649"/>
            <a:ext cx="7724775" cy="166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The right side is an expression. </a:t>
            </a:r>
            <a:br>
              <a:rPr b="0" i="0" lang="en-US" sz="3600" u="none" cap="none" strike="noStrike">
                <a:solidFill>
                  <a:srgbClr val="FFFF00"/>
                </a:solidFill>
                <a:latin typeface="Arial"/>
                <a:ea typeface="Arial"/>
                <a:cs typeface="Arial"/>
                <a:sym typeface="Arial"/>
              </a:rPr>
            </a:br>
            <a:r>
              <a:rPr b="0" i="0" lang="en-US" sz="3600" u="none" cap="none" strike="noStrike">
                <a:solidFill>
                  <a:srgbClr val="FF9900"/>
                </a:solidFill>
                <a:latin typeface="Arial"/>
                <a:ea typeface="Arial"/>
                <a:cs typeface="Arial"/>
                <a:sym typeface="Arial"/>
              </a:rPr>
              <a:t>Once the expression is evaluated,</a:t>
            </a:r>
            <a:r>
              <a:rPr b="0" i="0" lang="en-US" sz="3600" u="none" cap="none" strike="noStrike">
                <a:solidFill>
                  <a:schemeClr val="lt1"/>
                </a:solidFill>
                <a:latin typeface="Arial"/>
                <a:ea typeface="Arial"/>
                <a:cs typeface="Arial"/>
                <a:sym typeface="Arial"/>
              </a:rPr>
              <a:t> </a:t>
            </a:r>
            <a:r>
              <a:rPr b="0" i="0" lang="en-US" sz="3600" u="none" cap="none" strike="noStrike">
                <a:solidFill>
                  <a:srgbClr val="00FF00"/>
                </a:solidFill>
                <a:latin typeface="Arial"/>
                <a:ea typeface="Arial"/>
                <a:cs typeface="Arial"/>
                <a:sym typeface="Arial"/>
              </a:rPr>
              <a:t>the result is placed in (assigned to) x.</a:t>
            </a:r>
            <a:endParaRPr b="0" i="0" sz="1400" u="none" cap="none" strike="noStrike">
              <a:solidFill>
                <a:srgbClr val="000000"/>
              </a:solidFill>
              <a:latin typeface="Arial"/>
              <a:ea typeface="Arial"/>
              <a:cs typeface="Arial"/>
              <a:sym typeface="Arial"/>
            </a:endParaRPr>
          </a:p>
        </p:txBody>
      </p:sp>
      <p:sp>
        <p:nvSpPr>
          <p:cNvPr id="113" name="Google Shape;113;p10"/>
          <p:cNvSpPr txBox="1"/>
          <p:nvPr/>
        </p:nvSpPr>
        <p:spPr>
          <a:xfrm>
            <a:off x="9423511" y="3086048"/>
            <a:ext cx="9000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14" name="Google Shape;114;p10"/>
          <p:cNvSpPr txBox="1"/>
          <p:nvPr/>
        </p:nvSpPr>
        <p:spPr>
          <a:xfrm>
            <a:off x="13244725" y="3192011"/>
            <a:ext cx="10632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cxnSp>
        <p:nvCxnSpPr>
          <p:cNvPr id="115" name="Google Shape;115;p10"/>
          <p:cNvCxnSpPr/>
          <p:nvPr/>
        </p:nvCxnSpPr>
        <p:spPr>
          <a:xfrm flipH="1" rot="10800000">
            <a:off x="10100344" y="2129110"/>
            <a:ext cx="606425" cy="956938"/>
          </a:xfrm>
          <a:prstGeom prst="straightConnector1">
            <a:avLst/>
          </a:prstGeom>
          <a:noFill/>
          <a:ln cap="rnd" cmpd="sng" w="63500">
            <a:solidFill>
              <a:schemeClr val="lt1"/>
            </a:solidFill>
            <a:prstDash val="solid"/>
            <a:miter lim="8000"/>
            <a:headEnd len="med" w="med" type="stealth"/>
            <a:tailEnd len="sm" w="sm" type="none"/>
          </a:ln>
        </p:spPr>
      </p:cxnSp>
      <p:cxnSp>
        <p:nvCxnSpPr>
          <p:cNvPr id="116" name="Google Shape;116;p10"/>
          <p:cNvCxnSpPr/>
          <p:nvPr/>
        </p:nvCxnSpPr>
        <p:spPr>
          <a:xfrm rot="10800000">
            <a:off x="11739324" y="2129111"/>
            <a:ext cx="1696621" cy="1147467"/>
          </a:xfrm>
          <a:prstGeom prst="straightConnector1">
            <a:avLst/>
          </a:prstGeom>
          <a:noFill/>
          <a:ln cap="rnd" cmpd="sng" w="63500">
            <a:solidFill>
              <a:schemeClr val="lt1"/>
            </a:solidFill>
            <a:prstDash val="solid"/>
            <a:miter lim="8000"/>
            <a:headEnd len="med" w="med" type="stealth"/>
            <a:tailEnd len="sm" w="sm" type="none"/>
          </a:ln>
        </p:spPr>
      </p:cxnSp>
      <p:sp>
        <p:nvSpPr>
          <p:cNvPr id="117" name="Google Shape;117;p10"/>
          <p:cNvSpPr txBox="1"/>
          <p:nvPr/>
        </p:nvSpPr>
        <p:spPr>
          <a:xfrm>
            <a:off x="12150725" y="5054600"/>
            <a:ext cx="10632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cxnSp>
        <p:nvCxnSpPr>
          <p:cNvPr id="118" name="Google Shape;118;p10"/>
          <p:cNvCxnSpPr/>
          <p:nvPr/>
        </p:nvCxnSpPr>
        <p:spPr>
          <a:xfrm rot="10800000">
            <a:off x="8085136" y="4457799"/>
            <a:ext cx="2393950" cy="2117626"/>
          </a:xfrm>
          <a:prstGeom prst="straightConnector1">
            <a:avLst/>
          </a:prstGeom>
          <a:noFill/>
          <a:ln cap="rnd" cmpd="sng" w="63500">
            <a:solidFill>
              <a:srgbClr val="FF9900"/>
            </a:solidFill>
            <a:prstDash val="solid"/>
            <a:miter lim="8000"/>
            <a:headEnd len="med" w="med" type="stealth"/>
            <a:tailEnd len="sm" w="sm" type="none"/>
          </a:ln>
        </p:spPr>
      </p:cxnSp>
      <p:cxnSp>
        <p:nvCxnSpPr>
          <p:cNvPr id="119" name="Google Shape;119;p10"/>
          <p:cNvCxnSpPr>
            <a:stCxn id="120" idx="0"/>
          </p:cNvCxnSpPr>
          <p:nvPr/>
        </p:nvCxnSpPr>
        <p:spPr>
          <a:xfrm rot="10800000">
            <a:off x="9988950" y="4457725"/>
            <a:ext cx="993000" cy="2117700"/>
          </a:xfrm>
          <a:prstGeom prst="straightConnector1">
            <a:avLst/>
          </a:prstGeom>
          <a:noFill/>
          <a:ln cap="rnd" cmpd="sng" w="63500">
            <a:solidFill>
              <a:srgbClr val="FF9900"/>
            </a:solidFill>
            <a:prstDash val="solid"/>
            <a:miter lim="8000"/>
            <a:headEnd len="med" w="med" type="stealth"/>
            <a:tailEnd len="sm" w="sm" type="none"/>
          </a:ln>
        </p:spPr>
      </p:cxnSp>
      <p:sp>
        <p:nvSpPr>
          <p:cNvPr id="120" name="Google Shape;120;p10"/>
          <p:cNvSpPr txBox="1"/>
          <p:nvPr/>
        </p:nvSpPr>
        <p:spPr>
          <a:xfrm>
            <a:off x="10115550" y="6575425"/>
            <a:ext cx="17328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0.936</a:t>
            </a:r>
            <a:endParaRPr b="0" i="0" sz="1400" u="none" cap="none" strike="noStrike">
              <a:solidFill>
                <a:srgbClr val="000000"/>
              </a:solidFill>
              <a:latin typeface="Arial"/>
              <a:ea typeface="Arial"/>
              <a:cs typeface="Arial"/>
              <a:sym typeface="Arial"/>
            </a:endParaRPr>
          </a:p>
        </p:txBody>
      </p:sp>
      <p:cxnSp>
        <p:nvCxnSpPr>
          <p:cNvPr id="121" name="Google Shape;121;p10"/>
          <p:cNvCxnSpPr/>
          <p:nvPr/>
        </p:nvCxnSpPr>
        <p:spPr>
          <a:xfrm flipH="1" rot="10800000">
            <a:off x="13166725" y="4580012"/>
            <a:ext cx="485699" cy="485699"/>
          </a:xfrm>
          <a:prstGeom prst="straightConnector1">
            <a:avLst/>
          </a:prstGeom>
          <a:noFill/>
          <a:ln cap="rnd" cmpd="sng" w="63500">
            <a:solidFill>
              <a:srgbClr val="FF9900"/>
            </a:solidFill>
            <a:prstDash val="solid"/>
            <a:miter lim="8000"/>
            <a:headEnd len="med" w="med" type="stealth"/>
            <a:tailEnd len="sm" w="sm" type="none"/>
          </a:ln>
        </p:spPr>
      </p:cxnSp>
      <p:cxnSp>
        <p:nvCxnSpPr>
          <p:cNvPr id="122" name="Google Shape;122;p10"/>
          <p:cNvCxnSpPr/>
          <p:nvPr/>
        </p:nvCxnSpPr>
        <p:spPr>
          <a:xfrm rot="10800000">
            <a:off x="11902974" y="4457799"/>
            <a:ext cx="520800" cy="660300"/>
          </a:xfrm>
          <a:prstGeom prst="straightConnector1">
            <a:avLst/>
          </a:prstGeom>
          <a:noFill/>
          <a:ln cap="rnd" cmpd="sng" w="63500">
            <a:solidFill>
              <a:srgbClr val="FF9900"/>
            </a:solidFill>
            <a:prstDash val="solid"/>
            <a:miter lim="8000"/>
            <a:headEnd len="med" w="med" type="stealth"/>
            <a:tailEnd len="sm" w="sm" type="none"/>
          </a:ln>
        </p:spPr>
      </p:cxnSp>
      <p:sp>
        <p:nvSpPr>
          <p:cNvPr id="123" name="Google Shape;123;p10"/>
          <p:cNvSpPr txBox="1"/>
          <p:nvPr/>
        </p:nvSpPr>
        <p:spPr>
          <a:xfrm>
            <a:off x="581025" y="1085850"/>
            <a:ext cx="6578599"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A variable is a memory location used to store a value (</a:t>
            </a:r>
            <a:r>
              <a:rPr b="0" i="0" lang="en-US" sz="3600" u="none" cap="none" strike="noStrike">
                <a:solidFill>
                  <a:srgbClr val="FFFFFF"/>
                </a:solidFill>
                <a:latin typeface="Arial"/>
                <a:ea typeface="Arial"/>
                <a:cs typeface="Arial"/>
                <a:sym typeface="Arial"/>
              </a:rPr>
              <a:t>0.6</a:t>
            </a:r>
            <a:r>
              <a:rPr b="0" i="0" lang="en-US" sz="3600" u="none" cap="none" strike="noStrike">
                <a:solidFill>
                  <a:srgbClr val="00FF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124" name="Google Shape;124;p10"/>
          <p:cNvCxnSpPr/>
          <p:nvPr/>
        </p:nvCxnSpPr>
        <p:spPr>
          <a:xfrm flipH="1" rot="10800000">
            <a:off x="11453192" y="5676799"/>
            <a:ext cx="1075640" cy="898626"/>
          </a:xfrm>
          <a:prstGeom prst="straightConnector1">
            <a:avLst/>
          </a:prstGeom>
          <a:noFill/>
          <a:ln cap="rnd" cmpd="sng" w="63500">
            <a:solidFill>
              <a:srgbClr val="FF9900"/>
            </a:solidFill>
            <a:prstDash val="solid"/>
            <a:miter lim="8000"/>
            <a:headEnd len="med" w="med" type="stealth"/>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nvSpPr>
        <p:spPr>
          <a:xfrm>
            <a:off x="6362700" y="3397148"/>
            <a:ext cx="8843961" cy="11494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1000"/>
              <a:buFont typeface="Cabin"/>
              <a:buNone/>
            </a:pPr>
            <a:r>
              <a:rPr b="0" i="0" lang="en-US" sz="4000" u="none" cap="none" strike="noStrike">
                <a:solidFill>
                  <a:srgbClr val="00FF00"/>
                </a:solidFill>
                <a:latin typeface="Courier"/>
                <a:ea typeface="Courier"/>
                <a:cs typeface="Courier"/>
                <a:sym typeface="Courier"/>
              </a:rPr>
              <a:t>x</a:t>
            </a:r>
            <a:r>
              <a:rPr b="0" i="0" lang="en-US" sz="4000" u="none" cap="none" strike="noStrike">
                <a:solidFill>
                  <a:srgbClr val="FF00FF"/>
                </a:solidFill>
                <a:latin typeface="Courier"/>
                <a:ea typeface="Courier"/>
                <a:cs typeface="Courier"/>
                <a:sym typeface="Courier"/>
              </a:rPr>
              <a:t> </a:t>
            </a:r>
            <a:r>
              <a:rPr b="0" i="0" lang="en-US" sz="4000" u="none" cap="none" strike="noStrike">
                <a:solidFill>
                  <a:srgbClr val="FFFFFF"/>
                </a:solidFill>
                <a:latin typeface="Courier"/>
                <a:ea typeface="Courier"/>
                <a:cs typeface="Courier"/>
                <a:sym typeface="Courier"/>
              </a:rPr>
              <a:t>=</a:t>
            </a:r>
            <a:r>
              <a:rPr b="0" i="0" lang="en-US" sz="4000" u="none" cap="none" strike="noStrike">
                <a:solidFill>
                  <a:schemeClr val="lt1"/>
                </a:solidFill>
                <a:latin typeface="Courier"/>
                <a:ea typeface="Courier"/>
                <a:cs typeface="Courier"/>
                <a:sym typeface="Courier"/>
              </a:rPr>
              <a:t> </a:t>
            </a:r>
            <a:r>
              <a:rPr b="0" i="0" lang="en-US" sz="4000" u="none" cap="none" strike="noStrike">
                <a:solidFill>
                  <a:srgbClr val="FFFF00"/>
                </a:solidFill>
                <a:latin typeface="Courier"/>
                <a:ea typeface="Courier"/>
                <a:cs typeface="Courier"/>
                <a:sym typeface="Courier"/>
              </a:rPr>
              <a:t>3.9 *  x  * ( 1  -  x )</a:t>
            </a:r>
            <a:endParaRPr b="0" i="0" sz="4000" u="none" cap="none" strike="noStrike">
              <a:solidFill>
                <a:srgbClr val="FFFF00"/>
              </a:solidFill>
              <a:latin typeface="Courier"/>
              <a:ea typeface="Courier"/>
              <a:cs typeface="Courier"/>
              <a:sym typeface="Courier"/>
            </a:endParaRPr>
          </a:p>
        </p:txBody>
      </p:sp>
      <p:sp>
        <p:nvSpPr>
          <p:cNvPr id="130" name="Google Shape;130;p11"/>
          <p:cNvSpPr txBox="1"/>
          <p:nvPr/>
        </p:nvSpPr>
        <p:spPr>
          <a:xfrm>
            <a:off x="10668000" y="850900"/>
            <a:ext cx="5016500" cy="1270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1225"/>
              <a:buFont typeface="Arial"/>
              <a:buNone/>
            </a:pPr>
            <a:r>
              <a:rPr b="0" i="0" lang="en-US" sz="4900" u="none" cap="none" strike="noStrike">
                <a:solidFill>
                  <a:schemeClr val="lt1"/>
                </a:solidFill>
                <a:latin typeface="Arial"/>
                <a:ea typeface="Arial"/>
                <a:cs typeface="Arial"/>
                <a:sym typeface="Arial"/>
              </a:rPr>
              <a:t> 0.6    0.936</a:t>
            </a:r>
            <a:endParaRPr b="0" i="0" sz="4900" u="none" cap="none" strike="noStrike">
              <a:solidFill>
                <a:schemeClr val="lt1"/>
              </a:solidFill>
              <a:latin typeface="Arial"/>
              <a:ea typeface="Arial"/>
              <a:cs typeface="Arial"/>
              <a:sym typeface="Arial"/>
            </a:endParaRPr>
          </a:p>
        </p:txBody>
      </p:sp>
      <p:sp>
        <p:nvSpPr>
          <p:cNvPr id="131" name="Google Shape;131;p11"/>
          <p:cNvSpPr txBox="1"/>
          <p:nvPr/>
        </p:nvSpPr>
        <p:spPr>
          <a:xfrm>
            <a:off x="9813925" y="1047750"/>
            <a:ext cx="444500" cy="863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300"/>
              <a:buFont typeface="Cabin"/>
              <a:buNone/>
            </a:pPr>
            <a:r>
              <a:rPr b="0" i="0" lang="en-US" sz="5200" u="none" cap="none" strike="noStrike">
                <a:solidFill>
                  <a:srgbClr val="00FF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132" name="Google Shape;132;p11"/>
          <p:cNvSpPr txBox="1"/>
          <p:nvPr/>
        </p:nvSpPr>
        <p:spPr>
          <a:xfrm>
            <a:off x="12150725" y="5054600"/>
            <a:ext cx="10632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cxnSp>
        <p:nvCxnSpPr>
          <p:cNvPr id="133" name="Google Shape;133;p11"/>
          <p:cNvCxnSpPr/>
          <p:nvPr/>
        </p:nvCxnSpPr>
        <p:spPr>
          <a:xfrm flipH="1" rot="10800000">
            <a:off x="11453192" y="5676799"/>
            <a:ext cx="1075640" cy="898626"/>
          </a:xfrm>
          <a:prstGeom prst="straightConnector1">
            <a:avLst/>
          </a:prstGeom>
          <a:noFill/>
          <a:ln cap="rnd" cmpd="sng" w="63500">
            <a:solidFill>
              <a:srgbClr val="FF9900"/>
            </a:solidFill>
            <a:prstDash val="solid"/>
            <a:miter lim="8000"/>
            <a:headEnd len="med" w="med" type="stealth"/>
            <a:tailEnd len="sm" w="sm" type="none"/>
          </a:ln>
        </p:spPr>
      </p:cxnSp>
      <p:sp>
        <p:nvSpPr>
          <p:cNvPr id="134" name="Google Shape;134;p11"/>
          <p:cNvSpPr txBox="1"/>
          <p:nvPr/>
        </p:nvSpPr>
        <p:spPr>
          <a:xfrm>
            <a:off x="10115550" y="6575425"/>
            <a:ext cx="17328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0.936</a:t>
            </a:r>
            <a:endParaRPr b="0" i="0" sz="1400" u="none" cap="none" strike="noStrike">
              <a:solidFill>
                <a:srgbClr val="000000"/>
              </a:solidFill>
              <a:latin typeface="Arial"/>
              <a:ea typeface="Arial"/>
              <a:cs typeface="Arial"/>
              <a:sym typeface="Arial"/>
            </a:endParaRPr>
          </a:p>
        </p:txBody>
      </p:sp>
      <p:cxnSp>
        <p:nvCxnSpPr>
          <p:cNvPr id="135" name="Google Shape;135;p11"/>
          <p:cNvCxnSpPr/>
          <p:nvPr/>
        </p:nvCxnSpPr>
        <p:spPr>
          <a:xfrm flipH="1" rot="10800000">
            <a:off x="13166725" y="4580012"/>
            <a:ext cx="485699" cy="485699"/>
          </a:xfrm>
          <a:prstGeom prst="straightConnector1">
            <a:avLst/>
          </a:prstGeom>
          <a:noFill/>
          <a:ln cap="rnd" cmpd="sng" w="63500">
            <a:solidFill>
              <a:srgbClr val="FF9900"/>
            </a:solidFill>
            <a:prstDash val="solid"/>
            <a:miter lim="8000"/>
            <a:headEnd len="med" w="med" type="stealth"/>
            <a:tailEnd len="sm" w="sm" type="none"/>
          </a:ln>
        </p:spPr>
      </p:cxnSp>
      <p:cxnSp>
        <p:nvCxnSpPr>
          <p:cNvPr id="136" name="Google Shape;136;p11"/>
          <p:cNvCxnSpPr/>
          <p:nvPr/>
        </p:nvCxnSpPr>
        <p:spPr>
          <a:xfrm rot="10800000">
            <a:off x="11902974" y="4457799"/>
            <a:ext cx="520800" cy="660300"/>
          </a:xfrm>
          <a:prstGeom prst="straightConnector1">
            <a:avLst/>
          </a:prstGeom>
          <a:noFill/>
          <a:ln cap="rnd" cmpd="sng" w="63500">
            <a:solidFill>
              <a:srgbClr val="FF9900"/>
            </a:solidFill>
            <a:prstDash val="solid"/>
            <a:miter lim="8000"/>
            <a:headEnd len="med" w="med" type="stealth"/>
            <a:tailEnd len="sm" w="sm" type="none"/>
          </a:ln>
        </p:spPr>
      </p:cxnSp>
      <p:cxnSp>
        <p:nvCxnSpPr>
          <p:cNvPr id="137" name="Google Shape;137;p11"/>
          <p:cNvCxnSpPr/>
          <p:nvPr/>
        </p:nvCxnSpPr>
        <p:spPr>
          <a:xfrm flipH="1">
            <a:off x="10944311" y="1039812"/>
            <a:ext cx="763500" cy="885900"/>
          </a:xfrm>
          <a:prstGeom prst="straightConnector1">
            <a:avLst/>
          </a:prstGeom>
          <a:noFill/>
          <a:ln cap="rnd" cmpd="sng" w="63500">
            <a:solidFill>
              <a:srgbClr val="FFFF00"/>
            </a:solidFill>
            <a:prstDash val="solid"/>
            <a:miter lim="8000"/>
            <a:headEnd len="sm" w="sm" type="none"/>
            <a:tailEnd len="sm" w="sm" type="none"/>
          </a:ln>
        </p:spPr>
      </p:cxnSp>
      <p:cxnSp>
        <p:nvCxnSpPr>
          <p:cNvPr id="138" name="Google Shape;138;p11"/>
          <p:cNvCxnSpPr/>
          <p:nvPr/>
        </p:nvCxnSpPr>
        <p:spPr>
          <a:xfrm>
            <a:off x="10944225" y="1022350"/>
            <a:ext cx="572999" cy="798600"/>
          </a:xfrm>
          <a:prstGeom prst="straightConnector1">
            <a:avLst/>
          </a:prstGeom>
          <a:noFill/>
          <a:ln cap="rnd" cmpd="sng" w="63500">
            <a:solidFill>
              <a:srgbClr val="FFFF00"/>
            </a:solidFill>
            <a:prstDash val="solid"/>
            <a:miter lim="8000"/>
            <a:headEnd len="sm" w="sm" type="none"/>
            <a:tailEnd len="sm" w="sm" type="none"/>
          </a:ln>
        </p:spPr>
      </p:cxnSp>
      <p:sp>
        <p:nvSpPr>
          <p:cNvPr id="139" name="Google Shape;139;p11"/>
          <p:cNvSpPr txBox="1"/>
          <p:nvPr/>
        </p:nvSpPr>
        <p:spPr>
          <a:xfrm>
            <a:off x="618357" y="5851475"/>
            <a:ext cx="7663862" cy="207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The right side is an expression. </a:t>
            </a:r>
            <a:r>
              <a:rPr b="0" i="0" lang="en-US" sz="3200" u="none" cap="none" strike="noStrike">
                <a:solidFill>
                  <a:schemeClr val="lt1"/>
                </a:solidFill>
                <a:latin typeface="Arial"/>
                <a:ea typeface="Arial"/>
                <a:cs typeface="Arial"/>
                <a:sym typeface="Arial"/>
              </a:rPr>
              <a:t> </a:t>
            </a:r>
            <a:r>
              <a:rPr b="0" i="0" lang="en-US" sz="3200" u="none" cap="none" strike="noStrike">
                <a:solidFill>
                  <a:srgbClr val="FF9900"/>
                </a:solidFill>
                <a:latin typeface="Arial"/>
                <a:ea typeface="Arial"/>
                <a:cs typeface="Arial"/>
                <a:sym typeface="Arial"/>
              </a:rPr>
              <a:t>Once the expression is evaluated,</a:t>
            </a:r>
            <a:r>
              <a:rPr b="0" i="0" lang="en-US" sz="3200" u="none" cap="none" strike="noStrike">
                <a:solidFill>
                  <a:schemeClr val="lt1"/>
                </a:solidFill>
                <a:latin typeface="Arial"/>
                <a:ea typeface="Arial"/>
                <a:cs typeface="Arial"/>
                <a:sym typeface="Arial"/>
              </a:rPr>
              <a:t> </a:t>
            </a:r>
            <a:r>
              <a:rPr b="0" i="0" lang="en-US" sz="3200" u="none" cap="none" strike="noStrike">
                <a:solidFill>
                  <a:srgbClr val="00FF00"/>
                </a:solidFill>
                <a:latin typeface="Arial"/>
                <a:ea typeface="Arial"/>
                <a:cs typeface="Arial"/>
                <a:sym typeface="Arial"/>
              </a:rPr>
              <a:t>the result is placed in (assigned to) the variable on the left side (i.e., x).</a:t>
            </a:r>
            <a:endParaRPr b="0" i="0" sz="1400" u="none" cap="none" strike="noStrike">
              <a:solidFill>
                <a:srgbClr val="000000"/>
              </a:solidFill>
              <a:latin typeface="Arial"/>
              <a:ea typeface="Arial"/>
              <a:cs typeface="Arial"/>
              <a:sym typeface="Arial"/>
            </a:endParaRPr>
          </a:p>
        </p:txBody>
      </p:sp>
      <p:sp>
        <p:nvSpPr>
          <p:cNvPr id="140" name="Google Shape;140;p11"/>
          <p:cNvSpPr txBox="1"/>
          <p:nvPr/>
        </p:nvSpPr>
        <p:spPr>
          <a:xfrm>
            <a:off x="581025" y="850900"/>
            <a:ext cx="7504111" cy="215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800"/>
              <a:buFont typeface="Cabin"/>
              <a:buNone/>
            </a:pPr>
            <a:r>
              <a:rPr b="0" i="0" lang="en-US" sz="3200" u="none" cap="none" strike="noStrike">
                <a:solidFill>
                  <a:srgbClr val="00FF00"/>
                </a:solidFill>
                <a:latin typeface="Arial"/>
                <a:ea typeface="Arial"/>
                <a:cs typeface="Arial"/>
                <a:sym typeface="Arial"/>
              </a:rPr>
              <a:t>A variable is a memory location used to store a value.  The value stored in a variable can be updated by replacing the old value (</a:t>
            </a:r>
            <a:r>
              <a:rPr b="0" i="0" lang="en-US" sz="3200" u="none" cap="none" strike="noStrike">
                <a:solidFill>
                  <a:srgbClr val="FFFFFF"/>
                </a:solidFill>
                <a:latin typeface="Arial"/>
                <a:ea typeface="Arial"/>
                <a:cs typeface="Arial"/>
                <a:sym typeface="Arial"/>
              </a:rPr>
              <a:t>0.6</a:t>
            </a:r>
            <a:r>
              <a:rPr b="0" i="0" lang="en-US" sz="3200" u="none" cap="none" strike="noStrike">
                <a:solidFill>
                  <a:srgbClr val="00FF00"/>
                </a:solidFill>
                <a:latin typeface="Arial"/>
                <a:ea typeface="Arial"/>
                <a:cs typeface="Arial"/>
                <a:sym typeface="Arial"/>
              </a:rPr>
              <a:t>) with a new value (</a:t>
            </a:r>
            <a:r>
              <a:rPr b="0" i="0" lang="en-US" sz="3200" u="none" cap="none" strike="noStrike">
                <a:solidFill>
                  <a:srgbClr val="FFFFFF"/>
                </a:solidFill>
                <a:latin typeface="Arial"/>
                <a:ea typeface="Arial"/>
                <a:cs typeface="Arial"/>
                <a:sym typeface="Arial"/>
              </a:rPr>
              <a:t>0.936</a:t>
            </a:r>
            <a:r>
              <a:rPr b="0" i="0" lang="en-US" sz="3200" u="none" cap="none" strike="noStrike">
                <a:solidFill>
                  <a:srgbClr val="00FF00"/>
                </a:solidFill>
                <a:latin typeface="Arial"/>
                <a:ea typeface="Arial"/>
                <a:cs typeface="Arial"/>
                <a:sym typeface="Arial"/>
              </a:rPr>
              <a:t>).</a:t>
            </a:r>
            <a:endParaRPr b="0" i="0" sz="3200" u="none" cap="none" strike="noStrike">
              <a:solidFill>
                <a:srgbClr val="00FF00"/>
              </a:solidFill>
              <a:latin typeface="Arial"/>
              <a:ea typeface="Arial"/>
              <a:cs typeface="Arial"/>
              <a:sym typeface="Arial"/>
            </a:endParaRPr>
          </a:p>
        </p:txBody>
      </p:sp>
      <p:sp>
        <p:nvSpPr>
          <p:cNvPr id="141" name="Google Shape;141;p11"/>
          <p:cNvSpPr txBox="1"/>
          <p:nvPr/>
        </p:nvSpPr>
        <p:spPr>
          <a:xfrm>
            <a:off x="9423511" y="3086048"/>
            <a:ext cx="9000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42" name="Google Shape;142;p11"/>
          <p:cNvSpPr txBox="1"/>
          <p:nvPr/>
        </p:nvSpPr>
        <p:spPr>
          <a:xfrm>
            <a:off x="13244725" y="3192011"/>
            <a:ext cx="10632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cxnSp>
        <p:nvCxnSpPr>
          <p:cNvPr id="143" name="Google Shape;143;p11"/>
          <p:cNvCxnSpPr/>
          <p:nvPr/>
        </p:nvCxnSpPr>
        <p:spPr>
          <a:xfrm flipH="1" rot="10800000">
            <a:off x="10100344" y="2129110"/>
            <a:ext cx="606425" cy="956938"/>
          </a:xfrm>
          <a:prstGeom prst="straightConnector1">
            <a:avLst/>
          </a:prstGeom>
          <a:noFill/>
          <a:ln cap="rnd" cmpd="sng" w="63500">
            <a:solidFill>
              <a:schemeClr val="lt1"/>
            </a:solidFill>
            <a:prstDash val="solid"/>
            <a:miter lim="8000"/>
            <a:headEnd len="med" w="med" type="stealth"/>
            <a:tailEnd len="sm" w="sm" type="none"/>
          </a:ln>
        </p:spPr>
      </p:cxnSp>
      <p:cxnSp>
        <p:nvCxnSpPr>
          <p:cNvPr id="144" name="Google Shape;144;p11"/>
          <p:cNvCxnSpPr/>
          <p:nvPr/>
        </p:nvCxnSpPr>
        <p:spPr>
          <a:xfrm rot="10800000">
            <a:off x="11739324" y="2129111"/>
            <a:ext cx="1696621" cy="1147467"/>
          </a:xfrm>
          <a:prstGeom prst="straightConnector1">
            <a:avLst/>
          </a:prstGeom>
          <a:noFill/>
          <a:ln cap="rnd" cmpd="sng" w="63500">
            <a:solidFill>
              <a:schemeClr val="lt1"/>
            </a:solidFill>
            <a:prstDash val="solid"/>
            <a:miter lim="8000"/>
            <a:headEnd len="med" w="med" type="stealth"/>
            <a:tailEnd len="sm" w="sm" type="none"/>
          </a:ln>
        </p:spPr>
      </p:cxnSp>
      <p:cxnSp>
        <p:nvCxnSpPr>
          <p:cNvPr id="145" name="Google Shape;145;p11"/>
          <p:cNvCxnSpPr/>
          <p:nvPr/>
        </p:nvCxnSpPr>
        <p:spPr>
          <a:xfrm rot="10800000">
            <a:off x="8085136" y="4457799"/>
            <a:ext cx="2393950" cy="2117626"/>
          </a:xfrm>
          <a:prstGeom prst="straightConnector1">
            <a:avLst/>
          </a:prstGeom>
          <a:noFill/>
          <a:ln cap="rnd" cmpd="sng" w="63500">
            <a:solidFill>
              <a:srgbClr val="FF9900"/>
            </a:solidFill>
            <a:prstDash val="solid"/>
            <a:miter lim="8000"/>
            <a:headEnd len="med" w="med" type="stealth"/>
            <a:tailEnd len="sm" w="sm" type="none"/>
          </a:ln>
        </p:spPr>
      </p:cxnSp>
      <p:cxnSp>
        <p:nvCxnSpPr>
          <p:cNvPr id="146" name="Google Shape;146;p11"/>
          <p:cNvCxnSpPr/>
          <p:nvPr/>
        </p:nvCxnSpPr>
        <p:spPr>
          <a:xfrm rot="10800000">
            <a:off x="9988916" y="4457799"/>
            <a:ext cx="993034" cy="2117626"/>
          </a:xfrm>
          <a:prstGeom prst="straightConnector1">
            <a:avLst/>
          </a:prstGeom>
          <a:noFill/>
          <a:ln cap="rnd" cmpd="sng" w="63500">
            <a:solidFill>
              <a:srgbClr val="FF9900"/>
            </a:solidFill>
            <a:prstDash val="solid"/>
            <a:miter lim="8000"/>
            <a:headEnd len="med" w="med" type="stealth"/>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Numeric Expressions</a:t>
            </a:r>
            <a:endParaRPr/>
          </a:p>
        </p:txBody>
      </p:sp>
      <p:sp>
        <p:nvSpPr>
          <p:cNvPr id="152" name="Google Shape;152;p12"/>
          <p:cNvSpPr txBox="1"/>
          <p:nvPr>
            <p:ph idx="1" type="body"/>
          </p:nvPr>
        </p:nvSpPr>
        <p:spPr>
          <a:xfrm>
            <a:off x="812800" y="2133600"/>
            <a:ext cx="9036050" cy="603408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Because of the lack of mathematical symbols on computer keyboards - we use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computer-speak</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to express the classic math operations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Asterisk is multiplication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Exponentiation (raise to a power) looks different than in math</a:t>
            </a:r>
            <a:endParaRPr sz="3600" u="none" cap="none" strike="noStrike">
              <a:solidFill>
                <a:schemeClr val="lt1"/>
              </a:solidFill>
              <a:latin typeface="Arial"/>
              <a:ea typeface="Arial"/>
              <a:cs typeface="Arial"/>
              <a:sym typeface="Arial"/>
            </a:endParaRPr>
          </a:p>
        </p:txBody>
      </p:sp>
      <p:graphicFrame>
        <p:nvGraphicFramePr>
          <p:cNvPr id="153" name="Google Shape;153;p12"/>
          <p:cNvGraphicFramePr/>
          <p:nvPr/>
        </p:nvGraphicFramePr>
        <p:xfrm>
          <a:off x="10337800" y="2289175"/>
          <a:ext cx="3000000" cy="3000000"/>
        </p:xfrm>
        <a:graphic>
          <a:graphicData uri="http://schemas.openxmlformats.org/drawingml/2006/table">
            <a:tbl>
              <a:tblPr>
                <a:noFill/>
                <a:tableStyleId>{C41DF0AF-02F5-4D51-8ACB-15D761418DEC}</a:tableStyleId>
              </a:tblPr>
              <a:tblGrid>
                <a:gridCol w="2398575"/>
                <a:gridCol w="2626675"/>
              </a:tblGrid>
              <a:tr h="795325">
                <a:tc>
                  <a:txBody>
                    <a:bodyPr/>
                    <a:lstStyle/>
                    <a:p>
                      <a:pPr indent="0" lvl="0" marL="0" marR="0" rtl="0" algn="ctr">
                        <a:lnSpc>
                          <a:spcPct val="100000"/>
                        </a:lnSpc>
                        <a:spcBef>
                          <a:spcPts val="0"/>
                        </a:spcBef>
                        <a:spcAft>
                          <a:spcPts val="0"/>
                        </a:spcAft>
                        <a:buClr>
                          <a:srgbClr val="00FFFF"/>
                        </a:buClr>
                        <a:buSzPts val="800"/>
                        <a:buFont typeface="Cabin"/>
                        <a:buNone/>
                      </a:pPr>
                      <a:r>
                        <a:rPr b="0" i="0" lang="en-US" sz="3200" u="none" cap="none" strike="noStrike">
                          <a:solidFill>
                            <a:srgbClr val="00FFFF"/>
                          </a:solidFill>
                          <a:latin typeface="Arial"/>
                          <a:ea typeface="Arial"/>
                          <a:cs typeface="Arial"/>
                          <a:sym typeface="Arial"/>
                        </a:rPr>
                        <a:t>Operator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c>
                  <a:txBody>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Operation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Addition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Subtraction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Multiplication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Division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Power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79532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Remainder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nvSpPr>
        <p:spPr>
          <a:xfrm>
            <a:off x="1727200" y="2230157"/>
            <a:ext cx="4460999" cy="530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xx</a:t>
            </a:r>
            <a:r>
              <a:rPr b="0" i="0" lang="en-US" sz="3000" u="none" cap="none" strike="noStrike">
                <a:solidFill>
                  <a:schemeClr val="lt1"/>
                </a:solidFill>
                <a:latin typeface="Courier"/>
                <a:ea typeface="Courier"/>
                <a:cs typeface="Courier"/>
                <a:sym typeface="Courier"/>
              </a:rPr>
              <a:t>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xx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xx</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xx</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yy</a:t>
            </a:r>
            <a:r>
              <a:rPr b="0" i="0" lang="en-US" sz="3000" u="none" cap="none" strike="noStrike">
                <a:solidFill>
                  <a:schemeClr val="lt1"/>
                </a:solidFill>
                <a:latin typeface="Courier"/>
                <a:ea typeface="Courier"/>
                <a:cs typeface="Courier"/>
                <a:sym typeface="Courier"/>
              </a:rPr>
              <a:t> = 440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yy</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5280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zz</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yy</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1000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A00"/>
                </a:solidFill>
                <a:latin typeface="Courier"/>
                <a:ea typeface="Courier"/>
                <a:cs typeface="Courier"/>
                <a:sym typeface="Courier"/>
              </a:rPr>
              <a:t>zz</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5.28</a:t>
            </a:r>
            <a:endParaRPr b="0" i="0" sz="3000" u="none" cap="none" strike="noStrike">
              <a:solidFill>
                <a:schemeClr val="lt1"/>
              </a:solidFill>
              <a:latin typeface="Courier"/>
              <a:ea typeface="Courier"/>
              <a:cs typeface="Courier"/>
              <a:sym typeface="Courier"/>
            </a:endParaRPr>
          </a:p>
        </p:txBody>
      </p:sp>
      <p:sp>
        <p:nvSpPr>
          <p:cNvPr id="159" name="Google Shape;159;p13"/>
          <p:cNvSpPr txBox="1"/>
          <p:nvPr/>
        </p:nvSpPr>
        <p:spPr>
          <a:xfrm>
            <a:off x="7073900" y="2298700"/>
            <a:ext cx="4026600" cy="32258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a:t>
            </a:r>
            <a:r>
              <a:rPr b="0" i="0" lang="en-US" sz="3000" u="none" cap="none" strike="noStrike">
                <a:solidFill>
                  <a:srgbClr val="00FF00"/>
                </a:solidFill>
                <a:latin typeface="Courier"/>
                <a:ea typeface="Courier"/>
                <a:cs typeface="Courier"/>
                <a:sym typeface="Courier"/>
              </a:rPr>
              <a:t> jj</a:t>
            </a:r>
            <a:r>
              <a:rPr b="0" i="0" lang="en-US" sz="3000" u="none" cap="none" strike="noStrike">
                <a:solidFill>
                  <a:schemeClr val="lt1"/>
                </a:solidFill>
                <a:latin typeface="Courier"/>
                <a:ea typeface="Courier"/>
                <a:cs typeface="Courier"/>
                <a:sym typeface="Courier"/>
              </a:rPr>
              <a:t> = 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00FF00"/>
                </a:solidFill>
                <a:latin typeface="Courier"/>
                <a:ea typeface="Courier"/>
                <a:cs typeface="Courier"/>
                <a:sym typeface="Courier"/>
              </a:rPr>
              <a:t>kk</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jj</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kk</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C000"/>
                </a:solidFill>
                <a:latin typeface="Courier"/>
                <a:ea typeface="Courier"/>
                <a:cs typeface="Courier"/>
                <a:sym typeface="Courier"/>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&gt;&gt;&gt;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4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3</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64</a:t>
            </a:r>
            <a:endParaRPr b="0" i="0" sz="1400" u="none" cap="none" strike="noStrike">
              <a:solidFill>
                <a:srgbClr val="000000"/>
              </a:solidFill>
              <a:latin typeface="Arial"/>
              <a:ea typeface="Arial"/>
              <a:cs typeface="Arial"/>
              <a:sym typeface="Arial"/>
            </a:endParaRPr>
          </a:p>
        </p:txBody>
      </p:sp>
      <p:graphicFrame>
        <p:nvGraphicFramePr>
          <p:cNvPr id="160" name="Google Shape;160;p13"/>
          <p:cNvGraphicFramePr/>
          <p:nvPr/>
        </p:nvGraphicFramePr>
        <p:xfrm>
          <a:off x="11783875" y="2965450"/>
          <a:ext cx="3000000" cy="3000000"/>
        </p:xfrm>
        <a:graphic>
          <a:graphicData uri="http://schemas.openxmlformats.org/drawingml/2006/table">
            <a:tbl>
              <a:tblPr>
                <a:noFill/>
                <a:tableStyleId>{C41DF0AF-02F5-4D51-8ACB-15D761418DEC}</a:tableStyleId>
              </a:tblPr>
              <a:tblGrid>
                <a:gridCol w="1876000"/>
                <a:gridCol w="1876000"/>
              </a:tblGrid>
              <a:tr h="650875">
                <a:tc>
                  <a:txBody>
                    <a:bodyPr/>
                    <a:lstStyle/>
                    <a:p>
                      <a:pPr indent="0" lvl="0" marL="0" marR="0" rtl="0" algn="ctr">
                        <a:lnSpc>
                          <a:spcPct val="100000"/>
                        </a:lnSpc>
                        <a:spcBef>
                          <a:spcPts val="0"/>
                        </a:spcBef>
                        <a:spcAft>
                          <a:spcPts val="0"/>
                        </a:spcAft>
                        <a:buClr>
                          <a:srgbClr val="00FFFF"/>
                        </a:buClr>
                        <a:buSzPts val="600"/>
                        <a:buFont typeface="Cabin"/>
                        <a:buNone/>
                      </a:pPr>
                      <a:r>
                        <a:rPr b="0" i="0" lang="en-US" sz="2400" u="none" cap="none" strike="noStrike">
                          <a:solidFill>
                            <a:srgbClr val="00FFFF"/>
                          </a:solidFill>
                          <a:latin typeface="Arial"/>
                          <a:ea typeface="Arial"/>
                          <a:cs typeface="Arial"/>
                          <a:sym typeface="Arial"/>
                        </a:rPr>
                        <a:t>Operator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c>
                  <a:txBody>
                    <a:bodyPr/>
                    <a:lstStyle/>
                    <a:p>
                      <a:pPr indent="0" lvl="0" marL="0" marR="0" rtl="0" algn="ctr">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Arial"/>
                          <a:ea typeface="Arial"/>
                          <a:cs typeface="Arial"/>
                          <a:sym typeface="Arial"/>
                        </a:rPr>
                        <a:t>Operation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Addition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Subtraction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Multiplication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Division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Power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650875">
                <a:tc>
                  <a:txBody>
                    <a:bodyPr/>
                    <a:lstStyle/>
                    <a:p>
                      <a:pPr indent="0" lvl="0" marL="0" marR="0" rtl="0" algn="ctr">
                        <a:lnSpc>
                          <a:spcPct val="100000"/>
                        </a:lnSpc>
                        <a:spcBef>
                          <a:spcPts val="0"/>
                        </a:spcBef>
                        <a:spcAft>
                          <a:spcPts val="0"/>
                        </a:spcAft>
                        <a:buClr>
                          <a:srgbClr val="00FFFF"/>
                        </a:buClr>
                        <a:buSzPts val="575"/>
                        <a:buFont typeface="Cabin"/>
                        <a:buNone/>
                      </a:pPr>
                      <a:r>
                        <a:rPr b="0" i="0" lang="en-US" sz="23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575"/>
                        <a:buFont typeface="Cabin"/>
                        <a:buNone/>
                      </a:pPr>
                      <a:r>
                        <a:rPr b="0" i="0" lang="en-US" sz="2300" u="none" cap="none" strike="noStrike">
                          <a:solidFill>
                            <a:schemeClr val="lt1"/>
                          </a:solidFill>
                          <a:latin typeface="Arial"/>
                          <a:ea typeface="Arial"/>
                          <a:cs typeface="Arial"/>
                          <a:sym typeface="Arial"/>
                        </a:rPr>
                        <a:t>Remainder</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bl>
          </a:graphicData>
        </a:graphic>
      </p:graphicFrame>
      <p:cxnSp>
        <p:nvCxnSpPr>
          <p:cNvPr id="161" name="Google Shape;161;p13"/>
          <p:cNvCxnSpPr/>
          <p:nvPr/>
        </p:nvCxnSpPr>
        <p:spPr>
          <a:xfrm>
            <a:off x="8432800" y="6225788"/>
            <a:ext cx="12699" cy="595311"/>
          </a:xfrm>
          <a:prstGeom prst="straightConnector1">
            <a:avLst/>
          </a:prstGeom>
          <a:noFill/>
          <a:ln cap="rnd" cmpd="sng" w="25400">
            <a:solidFill>
              <a:schemeClr val="lt1"/>
            </a:solidFill>
            <a:prstDash val="solid"/>
            <a:miter lim="8000"/>
            <a:headEnd len="sm" w="sm" type="none"/>
            <a:tailEnd len="sm" w="sm" type="none"/>
          </a:ln>
        </p:spPr>
      </p:cxnSp>
      <p:cxnSp>
        <p:nvCxnSpPr>
          <p:cNvPr id="162" name="Google Shape;162;p13"/>
          <p:cNvCxnSpPr/>
          <p:nvPr/>
        </p:nvCxnSpPr>
        <p:spPr>
          <a:xfrm flipH="1" rot="10800000">
            <a:off x="8432800" y="6210300"/>
            <a:ext cx="2035175" cy="25399"/>
          </a:xfrm>
          <a:prstGeom prst="straightConnector1">
            <a:avLst/>
          </a:prstGeom>
          <a:noFill/>
          <a:ln cap="rnd" cmpd="sng" w="25400">
            <a:solidFill>
              <a:schemeClr val="lt1"/>
            </a:solidFill>
            <a:prstDash val="solid"/>
            <a:miter lim="8000"/>
            <a:headEnd len="sm" w="sm" type="none"/>
            <a:tailEnd len="sm" w="sm" type="none"/>
          </a:ln>
        </p:spPr>
      </p:cxnSp>
      <p:sp>
        <p:nvSpPr>
          <p:cNvPr id="163" name="Google Shape;163;p13"/>
          <p:cNvSpPr txBox="1"/>
          <p:nvPr/>
        </p:nvSpPr>
        <p:spPr>
          <a:xfrm>
            <a:off x="7807325" y="6273800"/>
            <a:ext cx="342899"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64" name="Google Shape;164;p13"/>
          <p:cNvSpPr txBox="1"/>
          <p:nvPr/>
        </p:nvSpPr>
        <p:spPr>
          <a:xfrm>
            <a:off x="8572500" y="6273800"/>
            <a:ext cx="571500"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23</a:t>
            </a:r>
            <a:endParaRPr b="0" i="0" sz="1400" u="none" cap="none" strike="noStrike">
              <a:solidFill>
                <a:srgbClr val="000000"/>
              </a:solidFill>
              <a:latin typeface="Arial"/>
              <a:ea typeface="Arial"/>
              <a:cs typeface="Arial"/>
              <a:sym typeface="Arial"/>
            </a:endParaRPr>
          </a:p>
        </p:txBody>
      </p:sp>
      <p:sp>
        <p:nvSpPr>
          <p:cNvPr id="165" name="Google Shape;165;p13"/>
          <p:cNvSpPr txBox="1"/>
          <p:nvPr/>
        </p:nvSpPr>
        <p:spPr>
          <a:xfrm>
            <a:off x="8816975" y="5605462"/>
            <a:ext cx="1100136"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4 R 3</a:t>
            </a:r>
            <a:endParaRPr b="0" i="0" sz="1400" u="none" cap="none" strike="noStrike">
              <a:solidFill>
                <a:srgbClr val="000000"/>
              </a:solidFill>
              <a:latin typeface="Arial"/>
              <a:ea typeface="Arial"/>
              <a:cs typeface="Arial"/>
              <a:sym typeface="Arial"/>
            </a:endParaRPr>
          </a:p>
        </p:txBody>
      </p:sp>
      <p:sp>
        <p:nvSpPr>
          <p:cNvPr id="166" name="Google Shape;166;p13"/>
          <p:cNvSpPr txBox="1"/>
          <p:nvPr/>
        </p:nvSpPr>
        <p:spPr>
          <a:xfrm>
            <a:off x="8572500" y="6731000"/>
            <a:ext cx="571500"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20</a:t>
            </a:r>
            <a:endParaRPr b="0" i="0" sz="1400" u="none" cap="none" strike="noStrike">
              <a:solidFill>
                <a:srgbClr val="000000"/>
              </a:solidFill>
              <a:latin typeface="Arial"/>
              <a:ea typeface="Arial"/>
              <a:cs typeface="Arial"/>
              <a:sym typeface="Arial"/>
            </a:endParaRPr>
          </a:p>
        </p:txBody>
      </p:sp>
      <p:cxnSp>
        <p:nvCxnSpPr>
          <p:cNvPr id="167" name="Google Shape;167;p13"/>
          <p:cNvCxnSpPr/>
          <p:nvPr/>
        </p:nvCxnSpPr>
        <p:spPr>
          <a:xfrm>
            <a:off x="8496300" y="7440611"/>
            <a:ext cx="584200" cy="0"/>
          </a:xfrm>
          <a:prstGeom prst="straightConnector1">
            <a:avLst/>
          </a:prstGeom>
          <a:noFill/>
          <a:ln cap="rnd" cmpd="sng" w="25400">
            <a:solidFill>
              <a:schemeClr val="lt1"/>
            </a:solidFill>
            <a:prstDash val="solid"/>
            <a:miter lim="8000"/>
            <a:headEnd len="sm" w="sm" type="none"/>
            <a:tailEnd len="sm" w="sm" type="none"/>
          </a:ln>
        </p:spPr>
      </p:cxnSp>
      <p:sp>
        <p:nvSpPr>
          <p:cNvPr id="168" name="Google Shape;168;p13"/>
          <p:cNvSpPr txBox="1"/>
          <p:nvPr/>
        </p:nvSpPr>
        <p:spPr>
          <a:xfrm>
            <a:off x="8801100" y="7505700"/>
            <a:ext cx="342899"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rgbClr val="FFC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69" name="Google Shape;169;p13"/>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Numeric Expressions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FFD966"/>
                </a:solidFill>
                <a:latin typeface="Arial"/>
                <a:ea typeface="Arial"/>
                <a:cs typeface="Arial"/>
                <a:sym typeface="Arial"/>
              </a:rPr>
              <a:t>Order of Evaluation</a:t>
            </a:r>
            <a:endParaRPr/>
          </a:p>
        </p:txBody>
      </p:sp>
      <p:sp>
        <p:nvSpPr>
          <p:cNvPr id="175" name="Google Shape;175;p14"/>
          <p:cNvSpPr txBox="1"/>
          <p:nvPr>
            <p:ph idx="1" type="body"/>
          </p:nvPr>
        </p:nvSpPr>
        <p:spPr>
          <a:xfrm>
            <a:off x="812800" y="2133600"/>
            <a:ext cx="14630400" cy="40004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When we string operators together - Python must know which one to do first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This is called </a:t>
            </a:r>
            <a:r>
              <a:rPr b="0" i="0" lang="en-US" sz="3600" u="none" cap="none" strike="noStrike">
                <a:solidFill>
                  <a:schemeClr val="lt1"/>
                </a:solidFill>
                <a:latin typeface="Arial"/>
                <a:ea typeface="Arial"/>
                <a:cs typeface="Arial"/>
                <a:sym typeface="Arial"/>
              </a:rPr>
              <a:t>“</a:t>
            </a:r>
            <a:r>
              <a:rPr lang="en-US" sz="3600" u="none" cap="none" strike="noStrike">
                <a:solidFill>
                  <a:srgbClr val="00FFFF"/>
                </a:solidFill>
                <a:latin typeface="Arial"/>
                <a:ea typeface="Arial"/>
                <a:cs typeface="Arial"/>
                <a:sym typeface="Arial"/>
              </a:rPr>
              <a:t>operator precedence</a:t>
            </a:r>
            <a:r>
              <a:rPr b="0" i="0" lang="en-US" sz="3600" u="none" cap="none" strike="noStrike">
                <a:solidFill>
                  <a:schemeClr val="lt1"/>
                </a:solidFill>
                <a:latin typeface="Arial"/>
                <a:ea typeface="Arial"/>
                <a:cs typeface="Arial"/>
                <a:sym typeface="Arial"/>
              </a:rPr>
              <a: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Which operator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takes precedence</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over the others?</a:t>
            </a:r>
            <a:endParaRPr/>
          </a:p>
        </p:txBody>
      </p:sp>
      <p:sp>
        <p:nvSpPr>
          <p:cNvPr id="176" name="Google Shape;176;p14"/>
          <p:cNvSpPr txBox="1"/>
          <p:nvPr/>
        </p:nvSpPr>
        <p:spPr>
          <a:xfrm>
            <a:off x="3756025" y="6640900"/>
            <a:ext cx="874395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1100"/>
              <a:buFont typeface="Cabin"/>
              <a:buNone/>
            </a:pPr>
            <a:r>
              <a:rPr b="0" i="0" lang="en-US" sz="4400" u="none" cap="none" strike="noStrike">
                <a:solidFill>
                  <a:srgbClr val="00FF00"/>
                </a:solidFill>
                <a:latin typeface="Courier"/>
                <a:ea typeface="Courier"/>
                <a:cs typeface="Courier"/>
                <a:sym typeface="Courier"/>
              </a:rPr>
              <a:t>x</a:t>
            </a:r>
            <a:r>
              <a:rPr b="0" i="0" lang="en-US" sz="4400" u="none" cap="none" strike="noStrike">
                <a:solidFill>
                  <a:schemeClr val="lt1"/>
                </a:solidFill>
                <a:latin typeface="Courier"/>
                <a:ea typeface="Courier"/>
                <a:cs typeface="Courier"/>
                <a:sym typeface="Courier"/>
              </a:rPr>
              <a:t> = 1</a:t>
            </a:r>
            <a:r>
              <a:rPr b="0" i="0" lang="en-US" sz="4400" u="none" cap="none" strike="noStrike">
                <a:solidFill>
                  <a:srgbClr val="00FFFF"/>
                </a:solidFill>
                <a:latin typeface="Courier"/>
                <a:ea typeface="Courier"/>
                <a:cs typeface="Courier"/>
                <a:sym typeface="Courier"/>
              </a:rPr>
              <a:t> +</a:t>
            </a:r>
            <a:r>
              <a:rPr b="0" i="0" lang="en-US" sz="4400" u="none" cap="none" strike="noStrike">
                <a:solidFill>
                  <a:schemeClr val="lt1"/>
                </a:solidFill>
                <a:latin typeface="Courier"/>
                <a:ea typeface="Courier"/>
                <a:cs typeface="Courier"/>
                <a:sym typeface="Courier"/>
              </a:rPr>
              <a:t> 2 </a:t>
            </a:r>
            <a:r>
              <a:rPr b="0" i="0" lang="en-US" sz="4400" u="none" cap="none" strike="noStrike">
                <a:solidFill>
                  <a:srgbClr val="00FFFF"/>
                </a:solidFill>
                <a:latin typeface="Courier"/>
                <a:ea typeface="Courier"/>
                <a:cs typeface="Courier"/>
                <a:sym typeface="Courier"/>
              </a:rPr>
              <a:t>* </a:t>
            </a:r>
            <a:r>
              <a:rPr b="0" i="0" lang="en-US" sz="4400" u="none" cap="none" strike="noStrike">
                <a:solidFill>
                  <a:schemeClr val="lt1"/>
                </a:solidFill>
                <a:latin typeface="Courier"/>
                <a:ea typeface="Courier"/>
                <a:cs typeface="Courier"/>
                <a:sym typeface="Courier"/>
              </a:rPr>
              <a:t>3 </a:t>
            </a:r>
            <a:r>
              <a:rPr b="0" i="0" lang="en-US" sz="4400" u="none" cap="none" strike="noStrike">
                <a:solidFill>
                  <a:srgbClr val="00FFFF"/>
                </a:solidFill>
                <a:latin typeface="Courier"/>
                <a:ea typeface="Courier"/>
                <a:cs typeface="Courier"/>
                <a:sym typeface="Courier"/>
              </a:rPr>
              <a:t>- </a:t>
            </a:r>
            <a:r>
              <a:rPr b="0" i="0" lang="en-US" sz="4400" u="none" cap="none" strike="noStrike">
                <a:solidFill>
                  <a:schemeClr val="lt1"/>
                </a:solidFill>
                <a:latin typeface="Courier"/>
                <a:ea typeface="Courier"/>
                <a:cs typeface="Courier"/>
                <a:sym typeface="Courier"/>
              </a:rPr>
              <a:t>4</a:t>
            </a:r>
            <a:r>
              <a:rPr b="0" i="0" lang="en-US" sz="4400" u="none" cap="none" strike="noStrike">
                <a:solidFill>
                  <a:srgbClr val="00FFFF"/>
                </a:solidFill>
                <a:latin typeface="Courier"/>
                <a:ea typeface="Courier"/>
                <a:cs typeface="Courier"/>
                <a:sym typeface="Courier"/>
              </a:rPr>
              <a:t> / </a:t>
            </a:r>
            <a:r>
              <a:rPr b="0" i="0" lang="en-US" sz="4400" u="none" cap="none" strike="noStrike">
                <a:solidFill>
                  <a:schemeClr val="lt1"/>
                </a:solidFill>
                <a:latin typeface="Courier"/>
                <a:ea typeface="Courier"/>
                <a:cs typeface="Courier"/>
                <a:sym typeface="Courier"/>
              </a:rPr>
              <a:t>5 </a:t>
            </a:r>
            <a:r>
              <a:rPr b="0" i="0" lang="en-US" sz="4400" u="none" cap="none" strike="noStrike">
                <a:solidFill>
                  <a:srgbClr val="00FFFF"/>
                </a:solidFill>
                <a:latin typeface="Courier"/>
                <a:ea typeface="Courier"/>
                <a:cs typeface="Courier"/>
                <a:sym typeface="Courier"/>
              </a:rPr>
              <a:t>** </a:t>
            </a:r>
            <a:r>
              <a:rPr b="0" i="0" lang="en-US" sz="4400" u="none" cap="none" strike="noStrike">
                <a:solidFill>
                  <a:schemeClr val="lt1"/>
                </a:solidFill>
                <a:latin typeface="Courier"/>
                <a:ea typeface="Courier"/>
                <a:cs typeface="Courier"/>
                <a:sym typeface="Courier"/>
              </a:rPr>
              <a:t>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Operator Precedence Rules</a:t>
            </a:r>
            <a:endParaRPr/>
          </a:p>
        </p:txBody>
      </p:sp>
      <p:sp>
        <p:nvSpPr>
          <p:cNvPr id="182" name="Google Shape;182;p15"/>
          <p:cNvSpPr txBox="1"/>
          <p:nvPr>
            <p:ph idx="1" type="body"/>
          </p:nvPr>
        </p:nvSpPr>
        <p:spPr>
          <a:xfrm>
            <a:off x="812800" y="2133600"/>
            <a:ext cx="14630400" cy="6034087"/>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200"/>
              <a:buNone/>
            </a:pPr>
            <a:r>
              <a:rPr lang="en-US" sz="3200" u="none" cap="none" strike="noStrike">
                <a:solidFill>
                  <a:schemeClr val="lt1"/>
                </a:solidFill>
                <a:latin typeface="Arial"/>
                <a:ea typeface="Arial"/>
                <a:cs typeface="Arial"/>
                <a:sym typeface="Arial"/>
              </a:rPr>
              <a:t>Highest precedence rule to lowest precedence rule:</a:t>
            </a:r>
            <a:endParaRPr/>
          </a:p>
          <a:p>
            <a:pPr indent="-345694" lvl="1" marL="10414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Parentheses are always respected</a:t>
            </a:r>
            <a:endParaRPr/>
          </a:p>
          <a:p>
            <a:pPr indent="-345694" lvl="1" marL="10414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Exponentiation (raise to a power)</a:t>
            </a:r>
            <a:endParaRPr/>
          </a:p>
          <a:p>
            <a:pPr indent="-345694" lvl="1" marL="10414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Multiplication, Division, and Remainder</a:t>
            </a:r>
            <a:endParaRPr/>
          </a:p>
          <a:p>
            <a:pPr indent="-345694" lvl="1" marL="10414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Addition and Subtraction</a:t>
            </a:r>
            <a:endParaRPr/>
          </a:p>
          <a:p>
            <a:pPr indent="-345694" lvl="1" marL="1041400" marR="0" rtl="0" algn="l">
              <a:lnSpc>
                <a:spcPct val="100000"/>
              </a:lnSpc>
              <a:spcBef>
                <a:spcPts val="3500"/>
              </a:spcBef>
              <a:spcAft>
                <a:spcPts val="0"/>
              </a:spcAft>
              <a:buClr>
                <a:schemeClr val="lt1"/>
              </a:buClr>
              <a:buSzPts val="3200"/>
              <a:buFont typeface="Cabin"/>
              <a:buChar char="•"/>
            </a:pPr>
            <a:r>
              <a:rPr lang="en-US" sz="3200" u="none" cap="none" strike="noStrike">
                <a:solidFill>
                  <a:schemeClr val="lt1"/>
                </a:solidFill>
                <a:latin typeface="Arial"/>
                <a:ea typeface="Arial"/>
                <a:cs typeface="Arial"/>
                <a:sym typeface="Arial"/>
              </a:rPr>
              <a:t>Left to right</a:t>
            </a:r>
            <a:endParaRPr/>
          </a:p>
        </p:txBody>
      </p:sp>
      <p:grpSp>
        <p:nvGrpSpPr>
          <p:cNvPr id="183" name="Google Shape;183;p15"/>
          <p:cNvGrpSpPr/>
          <p:nvPr/>
        </p:nvGrpSpPr>
        <p:grpSpPr>
          <a:xfrm>
            <a:off x="12079286" y="3276578"/>
            <a:ext cx="3338701" cy="3020428"/>
            <a:chOff x="0" y="-349272"/>
            <a:chExt cx="2522536" cy="3020428"/>
          </a:xfrm>
        </p:grpSpPr>
        <p:sp>
          <p:nvSpPr>
            <p:cNvPr id="184" name="Google Shape;184;p15"/>
            <p:cNvSpPr txBox="1"/>
            <p:nvPr/>
          </p:nvSpPr>
          <p:spPr>
            <a:xfrm>
              <a:off x="0" y="-349272"/>
              <a:ext cx="2262187" cy="30204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Parenthesis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00FFFF"/>
                  </a:solidFill>
                  <a:latin typeface="Arial"/>
                  <a:ea typeface="Arial"/>
                  <a:cs typeface="Arial"/>
                  <a:sym typeface="Arial"/>
                </a:rPr>
                <a:t>Power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Multiplication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Addition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Left to Right</a:t>
              </a:r>
              <a:endParaRPr b="0" i="0" sz="1400" u="none" cap="none" strike="noStrike">
                <a:solidFill>
                  <a:srgbClr val="000000"/>
                </a:solidFill>
                <a:latin typeface="Arial"/>
                <a:ea typeface="Arial"/>
                <a:cs typeface="Arial"/>
                <a:sym typeface="Arial"/>
              </a:endParaRPr>
            </a:p>
          </p:txBody>
        </p:sp>
        <p:cxnSp>
          <p:nvCxnSpPr>
            <p:cNvPr id="185" name="Google Shape;185;p15"/>
            <p:cNvCxnSpPr/>
            <p:nvPr/>
          </p:nvCxnSpPr>
          <p:spPr>
            <a:xfrm rot="10800000">
              <a:off x="2522536" y="134936"/>
              <a:ext cx="0" cy="2051050"/>
            </a:xfrm>
            <a:prstGeom prst="straightConnector1">
              <a:avLst/>
            </a:prstGeom>
            <a:noFill/>
            <a:ln cap="rnd" cmpd="sng" w="88900">
              <a:solidFill>
                <a:schemeClr val="lt1"/>
              </a:solidFill>
              <a:prstDash val="solid"/>
              <a:miter lim="8000"/>
              <a:headEnd len="med" w="med" type="stealth"/>
              <a:tailEnd len="sm" w="sm" type="none"/>
            </a:ln>
          </p:spPr>
        </p:cxn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nvSpPr>
        <p:spPr>
          <a:xfrm>
            <a:off x="10307636" y="990600"/>
            <a:ext cx="4627564" cy="800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1 + </a:t>
            </a:r>
            <a:r>
              <a:rPr b="0" i="0" lang="en-US" sz="3200" u="none" cap="none" strike="noStrike">
                <a:solidFill>
                  <a:srgbClr val="00FFFF"/>
                </a:solidFill>
                <a:latin typeface="Courier"/>
                <a:ea typeface="Courier"/>
                <a:cs typeface="Courier"/>
                <a:sym typeface="Courier"/>
              </a:rPr>
              <a:t>2 ** 3</a:t>
            </a:r>
            <a:r>
              <a:rPr b="0" i="0" lang="en-US" sz="3200" u="none" cap="none" strike="noStrike">
                <a:solidFill>
                  <a:schemeClr val="lt1"/>
                </a:solidFill>
                <a:latin typeface="Courier"/>
                <a:ea typeface="Courier"/>
                <a:cs typeface="Courier"/>
                <a:sym typeface="Courier"/>
              </a:rPr>
              <a:t> / 4 * 5</a:t>
            </a:r>
            <a:endParaRPr b="0" i="0" sz="1400" u="none" cap="none" strike="noStrike">
              <a:solidFill>
                <a:srgbClr val="000000"/>
              </a:solidFill>
              <a:latin typeface="Arial"/>
              <a:ea typeface="Arial"/>
              <a:cs typeface="Arial"/>
              <a:sym typeface="Arial"/>
            </a:endParaRPr>
          </a:p>
        </p:txBody>
      </p:sp>
      <p:sp>
        <p:nvSpPr>
          <p:cNvPr id="191" name="Google Shape;191;p16"/>
          <p:cNvSpPr txBox="1"/>
          <p:nvPr/>
        </p:nvSpPr>
        <p:spPr>
          <a:xfrm>
            <a:off x="10891836" y="2540000"/>
            <a:ext cx="4043364" cy="800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1 + </a:t>
            </a:r>
            <a:r>
              <a:rPr b="0" i="0" lang="en-US" sz="3200" u="none" cap="none" strike="noStrike">
                <a:solidFill>
                  <a:srgbClr val="00FF00"/>
                </a:solidFill>
                <a:latin typeface="Courier"/>
                <a:ea typeface="Courier"/>
                <a:cs typeface="Courier"/>
                <a:sym typeface="Courier"/>
              </a:rPr>
              <a:t>8 / 4</a:t>
            </a:r>
            <a:r>
              <a:rPr b="0" i="0" lang="en-US" sz="3200" u="none" cap="none" strike="noStrike">
                <a:solidFill>
                  <a:schemeClr val="lt1"/>
                </a:solidFill>
                <a:latin typeface="Courier"/>
                <a:ea typeface="Courier"/>
                <a:cs typeface="Courier"/>
                <a:sym typeface="Courier"/>
              </a:rPr>
              <a:t> * 5</a:t>
            </a:r>
            <a:endParaRPr b="0" i="0" sz="1400" u="none" cap="none" strike="noStrike">
              <a:solidFill>
                <a:srgbClr val="000000"/>
              </a:solidFill>
              <a:latin typeface="Arial"/>
              <a:ea typeface="Arial"/>
              <a:cs typeface="Arial"/>
              <a:sym typeface="Arial"/>
            </a:endParaRPr>
          </a:p>
        </p:txBody>
      </p:sp>
      <p:cxnSp>
        <p:nvCxnSpPr>
          <p:cNvPr id="192" name="Google Shape;192;p16"/>
          <p:cNvCxnSpPr/>
          <p:nvPr/>
        </p:nvCxnSpPr>
        <p:spPr>
          <a:xfrm rot="10800000">
            <a:off x="11917975" y="1686224"/>
            <a:ext cx="277199" cy="837900"/>
          </a:xfrm>
          <a:prstGeom prst="straightConnector1">
            <a:avLst/>
          </a:prstGeom>
          <a:noFill/>
          <a:ln cap="rnd" cmpd="sng" w="63500">
            <a:solidFill>
              <a:srgbClr val="00FFFF"/>
            </a:solidFill>
            <a:prstDash val="solid"/>
            <a:miter lim="8000"/>
            <a:headEnd len="med" w="med" type="stealth"/>
            <a:tailEnd len="sm" w="sm" type="none"/>
          </a:ln>
        </p:spPr>
      </p:cxnSp>
      <p:sp>
        <p:nvSpPr>
          <p:cNvPr id="193" name="Google Shape;193;p16"/>
          <p:cNvSpPr txBox="1"/>
          <p:nvPr/>
        </p:nvSpPr>
        <p:spPr>
          <a:xfrm>
            <a:off x="11298236" y="4000500"/>
            <a:ext cx="3217864" cy="800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1 + </a:t>
            </a:r>
            <a:r>
              <a:rPr b="0" i="0" lang="en-US" sz="3200" u="none" cap="none" strike="noStrike">
                <a:solidFill>
                  <a:srgbClr val="00FF00"/>
                </a:solidFill>
                <a:latin typeface="Courier"/>
                <a:ea typeface="Courier"/>
                <a:cs typeface="Courier"/>
                <a:sym typeface="Courier"/>
              </a:rPr>
              <a:t>2 * 5</a:t>
            </a:r>
            <a:endParaRPr b="0" i="0" sz="1400" u="none" cap="none" strike="noStrike">
              <a:solidFill>
                <a:srgbClr val="000000"/>
              </a:solidFill>
              <a:latin typeface="Arial"/>
              <a:ea typeface="Arial"/>
              <a:cs typeface="Arial"/>
              <a:sym typeface="Arial"/>
            </a:endParaRPr>
          </a:p>
        </p:txBody>
      </p:sp>
      <p:cxnSp>
        <p:nvCxnSpPr>
          <p:cNvPr id="194" name="Google Shape;194;p16"/>
          <p:cNvCxnSpPr/>
          <p:nvPr/>
        </p:nvCxnSpPr>
        <p:spPr>
          <a:xfrm flipH="1" rot="10800000">
            <a:off x="12322173" y="3348026"/>
            <a:ext cx="74752" cy="652474"/>
          </a:xfrm>
          <a:prstGeom prst="straightConnector1">
            <a:avLst/>
          </a:prstGeom>
          <a:noFill/>
          <a:ln cap="rnd" cmpd="sng" w="63500">
            <a:solidFill>
              <a:srgbClr val="00FF00"/>
            </a:solidFill>
            <a:prstDash val="solid"/>
            <a:miter lim="8000"/>
            <a:headEnd len="med" w="med" type="stealth"/>
            <a:tailEnd len="sm" w="sm" type="none"/>
          </a:ln>
        </p:spPr>
      </p:cxnSp>
      <p:sp>
        <p:nvSpPr>
          <p:cNvPr id="195" name="Google Shape;195;p16"/>
          <p:cNvSpPr txBox="1"/>
          <p:nvPr/>
        </p:nvSpPr>
        <p:spPr>
          <a:xfrm>
            <a:off x="11590336" y="5638800"/>
            <a:ext cx="2259014" cy="800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9900"/>
                </a:solidFill>
                <a:latin typeface="Courier"/>
                <a:ea typeface="Courier"/>
                <a:cs typeface="Courier"/>
                <a:sym typeface="Courier"/>
              </a:rPr>
              <a:t>1 + 10</a:t>
            </a:r>
            <a:endParaRPr b="0" i="0" sz="1400" u="none" cap="none" strike="noStrike">
              <a:solidFill>
                <a:srgbClr val="000000"/>
              </a:solidFill>
              <a:latin typeface="Arial"/>
              <a:ea typeface="Arial"/>
              <a:cs typeface="Arial"/>
              <a:sym typeface="Arial"/>
            </a:endParaRPr>
          </a:p>
        </p:txBody>
      </p:sp>
      <p:cxnSp>
        <p:nvCxnSpPr>
          <p:cNvPr id="196" name="Google Shape;196;p16"/>
          <p:cNvCxnSpPr>
            <a:endCxn id="193" idx="2"/>
          </p:cNvCxnSpPr>
          <p:nvPr/>
        </p:nvCxnSpPr>
        <p:spPr>
          <a:xfrm flipH="1" rot="10800000">
            <a:off x="12785668" y="4800599"/>
            <a:ext cx="121500" cy="863700"/>
          </a:xfrm>
          <a:prstGeom prst="straightConnector1">
            <a:avLst/>
          </a:prstGeom>
          <a:noFill/>
          <a:ln cap="rnd" cmpd="sng" w="63500">
            <a:solidFill>
              <a:srgbClr val="00FF00"/>
            </a:solidFill>
            <a:prstDash val="solid"/>
            <a:miter lim="8000"/>
            <a:headEnd len="med" w="med" type="stealth"/>
            <a:tailEnd len="sm" w="sm" type="none"/>
          </a:ln>
        </p:spPr>
      </p:cxnSp>
      <p:sp>
        <p:nvSpPr>
          <p:cNvPr id="197" name="Google Shape;197;p16"/>
          <p:cNvSpPr txBox="1"/>
          <p:nvPr/>
        </p:nvSpPr>
        <p:spPr>
          <a:xfrm>
            <a:off x="12085636" y="6934200"/>
            <a:ext cx="723900" cy="800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9900"/>
                </a:solidFill>
                <a:latin typeface="Courier"/>
                <a:ea typeface="Courier"/>
                <a:cs typeface="Courier"/>
                <a:sym typeface="Courier"/>
              </a:rPr>
              <a:t>11</a:t>
            </a:r>
            <a:endParaRPr b="0" i="0" sz="1400" u="none" cap="none" strike="noStrike">
              <a:solidFill>
                <a:srgbClr val="000000"/>
              </a:solidFill>
              <a:latin typeface="Arial"/>
              <a:ea typeface="Arial"/>
              <a:cs typeface="Arial"/>
              <a:sym typeface="Arial"/>
            </a:endParaRPr>
          </a:p>
        </p:txBody>
      </p:sp>
      <p:cxnSp>
        <p:nvCxnSpPr>
          <p:cNvPr id="198" name="Google Shape;198;p16"/>
          <p:cNvCxnSpPr/>
          <p:nvPr/>
        </p:nvCxnSpPr>
        <p:spPr>
          <a:xfrm rot="10800000">
            <a:off x="12225274" y="6308749"/>
            <a:ext cx="96899" cy="708000"/>
          </a:xfrm>
          <a:prstGeom prst="straightConnector1">
            <a:avLst/>
          </a:prstGeom>
          <a:noFill/>
          <a:ln cap="rnd" cmpd="sng" w="63500">
            <a:solidFill>
              <a:srgbClr val="FF9900"/>
            </a:solidFill>
            <a:prstDash val="solid"/>
            <a:miter lim="8000"/>
            <a:headEnd len="med" w="med" type="stealth"/>
            <a:tailEnd len="sm" w="sm" type="none"/>
          </a:ln>
        </p:spPr>
      </p:cxnSp>
      <p:sp>
        <p:nvSpPr>
          <p:cNvPr id="199" name="Google Shape;199;p16"/>
          <p:cNvSpPr txBox="1"/>
          <p:nvPr/>
        </p:nvSpPr>
        <p:spPr>
          <a:xfrm>
            <a:off x="1455723" y="1309675"/>
            <a:ext cx="7351799" cy="29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&gt;&gt;&gt; </a:t>
            </a:r>
            <a:r>
              <a:rPr b="0" i="0" lang="en-US" sz="3600" u="none" cap="none" strike="noStrike">
                <a:solidFill>
                  <a:srgbClr val="FFFF00"/>
                </a:solidFill>
                <a:latin typeface="Courier"/>
                <a:ea typeface="Courier"/>
                <a:cs typeface="Courier"/>
                <a:sym typeface="Courier"/>
              </a:rPr>
              <a:t>x = 1 + 2 ** 3 / 4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&gt;&gt;&gt; </a:t>
            </a:r>
            <a:r>
              <a:rPr b="0" i="0" lang="en-US" sz="3600" u="none" cap="none" strike="noStrike">
                <a:solidFill>
                  <a:srgbClr val="FFFF00"/>
                </a:solidFill>
                <a:latin typeface="Courier"/>
                <a:ea typeface="Courier"/>
                <a:cs typeface="Courier"/>
                <a:sym typeface="Courier"/>
              </a:rPr>
              <a:t>print(x)</a:t>
            </a:r>
            <a:endParaRPr b="0" i="0" sz="36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11.0</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&gt;&gt;&gt;</a:t>
            </a:r>
            <a:r>
              <a:rPr b="1" i="0" lang="en-US" sz="36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p:txBody>
      </p:sp>
      <p:grpSp>
        <p:nvGrpSpPr>
          <p:cNvPr id="200" name="Google Shape;200;p16"/>
          <p:cNvGrpSpPr/>
          <p:nvPr/>
        </p:nvGrpSpPr>
        <p:grpSpPr>
          <a:xfrm>
            <a:off x="3242938" y="4450596"/>
            <a:ext cx="3338701" cy="3020428"/>
            <a:chOff x="0" y="-349272"/>
            <a:chExt cx="2522536" cy="3020428"/>
          </a:xfrm>
        </p:grpSpPr>
        <p:sp>
          <p:nvSpPr>
            <p:cNvPr id="201" name="Google Shape;201;p16"/>
            <p:cNvSpPr txBox="1"/>
            <p:nvPr/>
          </p:nvSpPr>
          <p:spPr>
            <a:xfrm>
              <a:off x="0" y="-349272"/>
              <a:ext cx="2262187" cy="30204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Parenthesis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00FFFF"/>
                  </a:solidFill>
                  <a:latin typeface="Arial"/>
                  <a:ea typeface="Arial"/>
                  <a:cs typeface="Arial"/>
                  <a:sym typeface="Arial"/>
                </a:rPr>
                <a:t>Power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Multiplication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Addition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Left to Right</a:t>
              </a:r>
              <a:endParaRPr b="0" i="0" sz="1400" u="none" cap="none" strike="noStrike">
                <a:solidFill>
                  <a:srgbClr val="000000"/>
                </a:solidFill>
                <a:latin typeface="Arial"/>
                <a:ea typeface="Arial"/>
                <a:cs typeface="Arial"/>
                <a:sym typeface="Arial"/>
              </a:endParaRPr>
            </a:p>
          </p:txBody>
        </p:sp>
        <p:cxnSp>
          <p:nvCxnSpPr>
            <p:cNvPr id="202" name="Google Shape;202;p16"/>
            <p:cNvCxnSpPr/>
            <p:nvPr/>
          </p:nvCxnSpPr>
          <p:spPr>
            <a:xfrm rot="10800000">
              <a:off x="2522536" y="134936"/>
              <a:ext cx="0" cy="2051050"/>
            </a:xfrm>
            <a:prstGeom prst="straightConnector1">
              <a:avLst/>
            </a:prstGeom>
            <a:noFill/>
            <a:ln cap="rnd" cmpd="sng" w="88900">
              <a:solidFill>
                <a:schemeClr val="lt1"/>
              </a:solidFill>
              <a:prstDash val="solid"/>
              <a:miter lim="8000"/>
              <a:headEnd len="med" w="med" type="stealth"/>
              <a:tailEnd len="sm" w="sm"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ph type="title"/>
          </p:nvPr>
        </p:nvSpPr>
        <p:spPr>
          <a:xfrm>
            <a:off x="812800" y="785812"/>
            <a:ext cx="10621667"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Operator Precedence</a:t>
            </a:r>
            <a:endParaRPr/>
          </a:p>
        </p:txBody>
      </p:sp>
      <p:sp>
        <p:nvSpPr>
          <p:cNvPr id="208" name="Google Shape;208;p17"/>
          <p:cNvSpPr txBox="1"/>
          <p:nvPr>
            <p:ph idx="1" type="body"/>
          </p:nvPr>
        </p:nvSpPr>
        <p:spPr>
          <a:xfrm>
            <a:off x="812800" y="2133601"/>
            <a:ext cx="14630400" cy="5067300"/>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Remember the rules top to bottom</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When writing code - use parentheses</a:t>
            </a:r>
            <a:endParaRPr sz="3600" u="none" cap="none" strike="noStrike">
              <a:solidFill>
                <a:schemeClr val="lt1"/>
              </a:solidFill>
              <a:latin typeface="Arial"/>
              <a:ea typeface="Arial"/>
              <a:cs typeface="Arial"/>
              <a:sym typeface="Arial"/>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When writing code - keep mathematical expressions simple enough that they are easy to understand</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Break long series of mathematical operations up to make them more clear</a:t>
            </a:r>
            <a:endParaRPr/>
          </a:p>
        </p:txBody>
      </p:sp>
      <p:grpSp>
        <p:nvGrpSpPr>
          <p:cNvPr id="209" name="Google Shape;209;p17"/>
          <p:cNvGrpSpPr/>
          <p:nvPr/>
        </p:nvGrpSpPr>
        <p:grpSpPr>
          <a:xfrm>
            <a:off x="11767343" y="1543050"/>
            <a:ext cx="3249613" cy="2324099"/>
            <a:chOff x="0" y="0"/>
            <a:chExt cx="2541585" cy="2324099"/>
          </a:xfrm>
        </p:grpSpPr>
        <p:sp>
          <p:nvSpPr>
            <p:cNvPr id="210" name="Google Shape;210;p17"/>
            <p:cNvSpPr txBox="1"/>
            <p:nvPr/>
          </p:nvSpPr>
          <p:spPr>
            <a:xfrm>
              <a:off x="0" y="0"/>
              <a:ext cx="2262187" cy="2324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775"/>
                <a:buFont typeface="Cabin"/>
                <a:buNone/>
              </a:pPr>
              <a:r>
                <a:rPr b="0" i="0" lang="en-US" sz="3100" u="none" cap="none" strike="noStrike">
                  <a:solidFill>
                    <a:srgbClr val="FF00FF"/>
                  </a:solidFill>
                  <a:latin typeface="Arial"/>
                  <a:ea typeface="Arial"/>
                  <a:cs typeface="Arial"/>
                  <a:sym typeface="Arial"/>
                </a:rPr>
                <a:t>Parenthesis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775"/>
                <a:buFont typeface="Cabin"/>
                <a:buNone/>
              </a:pPr>
              <a:r>
                <a:rPr b="0" i="0" lang="en-US" sz="3100" u="none" cap="none" strike="noStrike">
                  <a:solidFill>
                    <a:srgbClr val="00FFFF"/>
                  </a:solidFill>
                  <a:latin typeface="Arial"/>
                  <a:ea typeface="Arial"/>
                  <a:cs typeface="Arial"/>
                  <a:sym typeface="Arial"/>
                </a:rPr>
                <a:t>Power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FF00"/>
                </a:buClr>
                <a:buSzPts val="775"/>
                <a:buFont typeface="Cabin"/>
                <a:buNone/>
              </a:pPr>
              <a:r>
                <a:rPr b="0" i="0" lang="en-US" sz="3100" u="none" cap="none" strike="noStrike">
                  <a:solidFill>
                    <a:srgbClr val="00FF00"/>
                  </a:solidFill>
                  <a:latin typeface="Arial"/>
                  <a:ea typeface="Arial"/>
                  <a:cs typeface="Arial"/>
                  <a:sym typeface="Arial"/>
                </a:rPr>
                <a:t>Multiplication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7F00"/>
                </a:buClr>
                <a:buSzPts val="775"/>
                <a:buFont typeface="Cabin"/>
                <a:buNone/>
              </a:pPr>
              <a:r>
                <a:rPr b="0" i="0" lang="en-US" sz="3100" u="none" cap="none" strike="noStrike">
                  <a:solidFill>
                    <a:srgbClr val="FF9900"/>
                  </a:solidFill>
                  <a:latin typeface="Arial"/>
                  <a:ea typeface="Arial"/>
                  <a:cs typeface="Arial"/>
                  <a:sym typeface="Arial"/>
                </a:rPr>
                <a:t>Addition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775"/>
                <a:buFont typeface="Cabin"/>
                <a:buNone/>
              </a:pPr>
              <a:r>
                <a:rPr b="0" i="0" lang="en-US" sz="3100" u="none" cap="none" strike="noStrike">
                  <a:solidFill>
                    <a:srgbClr val="FFFF00"/>
                  </a:solidFill>
                  <a:latin typeface="Arial"/>
                  <a:ea typeface="Arial"/>
                  <a:cs typeface="Arial"/>
                  <a:sym typeface="Arial"/>
                </a:rPr>
                <a:t>Left to Right</a:t>
              </a:r>
              <a:endParaRPr b="0" i="0" sz="1400" u="none" cap="none" strike="noStrike">
                <a:solidFill>
                  <a:srgbClr val="000000"/>
                </a:solidFill>
                <a:latin typeface="Arial"/>
                <a:ea typeface="Arial"/>
                <a:cs typeface="Arial"/>
                <a:sym typeface="Arial"/>
              </a:endParaRPr>
            </a:p>
          </p:txBody>
        </p:sp>
        <p:cxnSp>
          <p:nvCxnSpPr>
            <p:cNvPr id="211" name="Google Shape;211;p17"/>
            <p:cNvCxnSpPr/>
            <p:nvPr/>
          </p:nvCxnSpPr>
          <p:spPr>
            <a:xfrm rot="10800000">
              <a:off x="2522536" y="134936"/>
              <a:ext cx="19049" cy="2051050"/>
            </a:xfrm>
            <a:prstGeom prst="straightConnector1">
              <a:avLst/>
            </a:prstGeom>
            <a:noFill/>
            <a:ln cap="rnd" cmpd="sng" w="88900">
              <a:solidFill>
                <a:schemeClr val="lt1"/>
              </a:solidFill>
              <a:prstDash val="solid"/>
              <a:miter lim="8000"/>
              <a:headEnd len="med" w="med" type="stealth"/>
              <a:tailEnd len="sm" w="sm"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What Does </a:t>
            </a:r>
            <a:r>
              <a:rPr b="0" i="0" lang="en-US" sz="7600" u="none" cap="none" strike="noStrike">
                <a:solidFill>
                  <a:srgbClr val="FFD966"/>
                </a:solidFill>
                <a:latin typeface="Arial"/>
                <a:ea typeface="Arial"/>
                <a:cs typeface="Arial"/>
                <a:sym typeface="Arial"/>
              </a:rPr>
              <a:t>“</a:t>
            </a:r>
            <a:r>
              <a:rPr lang="en-US" sz="7600" u="none" cap="none" strike="noStrike">
                <a:solidFill>
                  <a:srgbClr val="FFD966"/>
                </a:solidFill>
                <a:latin typeface="Arial"/>
                <a:ea typeface="Arial"/>
                <a:cs typeface="Arial"/>
                <a:sym typeface="Arial"/>
              </a:rPr>
              <a:t>Type</a:t>
            </a:r>
            <a:r>
              <a:rPr b="0" i="0" lang="en-US" sz="7600" u="none" cap="none" strike="noStrike">
                <a:solidFill>
                  <a:srgbClr val="FFD966"/>
                </a:solidFill>
                <a:latin typeface="Arial"/>
                <a:ea typeface="Arial"/>
                <a:cs typeface="Arial"/>
                <a:sym typeface="Arial"/>
              </a:rPr>
              <a:t>”</a:t>
            </a:r>
            <a:r>
              <a:rPr lang="en-US" sz="7600" u="none" cap="none" strike="noStrike">
                <a:solidFill>
                  <a:srgbClr val="FFD966"/>
                </a:solidFill>
                <a:latin typeface="Arial"/>
                <a:ea typeface="Arial"/>
                <a:cs typeface="Arial"/>
                <a:sym typeface="Arial"/>
              </a:rPr>
              <a:t> Mean?</a:t>
            </a:r>
            <a:endParaRPr/>
          </a:p>
        </p:txBody>
      </p:sp>
      <p:sp>
        <p:nvSpPr>
          <p:cNvPr id="217" name="Google Shape;217;p18"/>
          <p:cNvSpPr txBox="1"/>
          <p:nvPr>
            <p:ph idx="1" type="body"/>
          </p:nvPr>
        </p:nvSpPr>
        <p:spPr>
          <a:xfrm>
            <a:off x="812800" y="2133600"/>
            <a:ext cx="8540750" cy="603408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 Python variables, literals, and constants have a </a:t>
            </a:r>
            <a:r>
              <a:rPr b="0" i="0" lang="en-US" sz="3600" u="none" cap="none" strike="noStrike">
                <a:solidFill>
                  <a:schemeClr val="lt1"/>
                </a:solidFill>
                <a:latin typeface="Arial"/>
                <a:ea typeface="Arial"/>
                <a:cs typeface="Arial"/>
                <a:sym typeface="Arial"/>
              </a:rPr>
              <a:t>“</a:t>
            </a:r>
            <a:r>
              <a:rPr lang="en-US" sz="3600" u="none" cap="none" strike="noStrike">
                <a:solidFill>
                  <a:srgbClr val="00FF00"/>
                </a:solidFill>
                <a:latin typeface="Arial"/>
                <a:ea typeface="Arial"/>
                <a:cs typeface="Arial"/>
                <a:sym typeface="Arial"/>
              </a:rPr>
              <a:t>type</a:t>
            </a:r>
            <a:r>
              <a:rPr b="0" i="0" lang="en-US" sz="3600" u="none" cap="none" strike="noStrike">
                <a:solidFill>
                  <a:schemeClr val="lt1"/>
                </a:solidFill>
                <a:latin typeface="Arial"/>
                <a:ea typeface="Arial"/>
                <a:cs typeface="Arial"/>
                <a:sym typeface="Arial"/>
              </a:rPr>
              <a: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Python knows the </a:t>
            </a:r>
            <a:r>
              <a:rPr lang="en-US" sz="3600" u="none" cap="none" strike="noStrike">
                <a:solidFill>
                  <a:srgbClr val="00FF00"/>
                </a:solidFill>
                <a:latin typeface="Arial"/>
                <a:ea typeface="Arial"/>
                <a:cs typeface="Arial"/>
                <a:sym typeface="Arial"/>
              </a:rPr>
              <a:t>difference</a:t>
            </a:r>
            <a:r>
              <a:rPr lang="en-US" sz="3600" u="none" cap="none" strike="noStrike">
                <a:solidFill>
                  <a:schemeClr val="lt1"/>
                </a:solidFill>
                <a:latin typeface="Arial"/>
                <a:ea typeface="Arial"/>
                <a:cs typeface="Arial"/>
                <a:sym typeface="Arial"/>
              </a:rPr>
              <a:t> between an integer number and a string</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For example </a:t>
            </a:r>
            <a:r>
              <a:rPr b="0" i="0" lang="en-US" sz="3600" u="none" cap="none" strike="noStrike">
                <a:solidFill>
                  <a:schemeClr val="lt1"/>
                </a:solidFill>
                <a:latin typeface="Arial"/>
                <a:ea typeface="Arial"/>
                <a:cs typeface="Arial"/>
                <a:sym typeface="Arial"/>
              </a:rPr>
              <a:t>“</a:t>
            </a:r>
            <a:r>
              <a:rPr lang="en-US" sz="3600" u="none" cap="none" strike="noStrike">
                <a:solidFill>
                  <a:srgbClr val="00FFFF"/>
                </a:solidFill>
                <a:latin typeface="Arial"/>
                <a:ea typeface="Arial"/>
                <a:cs typeface="Arial"/>
                <a:sym typeface="Arial"/>
              </a:rPr>
              <a:t>+</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means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addition</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if something is a number and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concatenate</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if something is a string </a:t>
            </a:r>
            <a:endParaRPr/>
          </a:p>
        </p:txBody>
      </p:sp>
      <p:sp>
        <p:nvSpPr>
          <p:cNvPr id="218" name="Google Shape;218;p18"/>
          <p:cNvSpPr txBox="1"/>
          <p:nvPr/>
        </p:nvSpPr>
        <p:spPr>
          <a:xfrm>
            <a:off x="9696450" y="3224956"/>
            <a:ext cx="6076799" cy="32258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ddd = 1 + 4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print(ddd)</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eee = 'hello ' +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print(eee)</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hello there</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9322576" y="7694909"/>
            <a:ext cx="62145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rgbClr val="00FA00"/>
                </a:solidFill>
                <a:latin typeface="Arial"/>
                <a:ea typeface="Arial"/>
                <a:cs typeface="Arial"/>
                <a:sym typeface="Arial"/>
              </a:rPr>
              <a:t>concatenate = put together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ph type="title"/>
          </p:nvPr>
        </p:nvSpPr>
        <p:spPr>
          <a:xfrm>
            <a:off x="812800" y="785812"/>
            <a:ext cx="13822826"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Type Matters</a:t>
            </a:r>
            <a:endParaRPr/>
          </a:p>
        </p:txBody>
      </p:sp>
      <p:sp>
        <p:nvSpPr>
          <p:cNvPr id="225" name="Google Shape;225;p19"/>
          <p:cNvSpPr txBox="1"/>
          <p:nvPr>
            <p:ph idx="1" type="body"/>
          </p:nvPr>
        </p:nvSpPr>
        <p:spPr>
          <a:xfrm>
            <a:off x="812800" y="2133600"/>
            <a:ext cx="7169150" cy="603408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Python knows what </a:t>
            </a:r>
            <a:r>
              <a:rPr b="0" i="0" lang="en-US" sz="3600" u="none" cap="none" strike="noStrike">
                <a:solidFill>
                  <a:schemeClr val="lt1"/>
                </a:solidFill>
                <a:latin typeface="Arial"/>
                <a:ea typeface="Arial"/>
                <a:cs typeface="Arial"/>
                <a:sym typeface="Arial"/>
              </a:rPr>
              <a:t>“</a:t>
            </a:r>
            <a:r>
              <a:rPr lang="en-US" sz="3600" u="none" cap="none" strike="noStrike">
                <a:solidFill>
                  <a:srgbClr val="00FF00"/>
                </a:solidFill>
                <a:latin typeface="Arial"/>
                <a:ea typeface="Arial"/>
                <a:cs typeface="Arial"/>
                <a:sym typeface="Arial"/>
              </a:rPr>
              <a:t>type</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everything is </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Some operations are prohibited</a:t>
            </a:r>
            <a:endParaRPr/>
          </a:p>
          <a:p>
            <a:pPr indent="-371094" lvl="0" marL="749300" marR="0" rtl="0" algn="l">
              <a:lnSpc>
                <a:spcPct val="100000"/>
              </a:lnSpc>
              <a:spcBef>
                <a:spcPts val="3500"/>
              </a:spcBef>
              <a:spcAft>
                <a:spcPts val="0"/>
              </a:spcAft>
              <a:buClr>
                <a:srgbClr val="00FFFF"/>
              </a:buClr>
              <a:buSzPts val="3600"/>
              <a:buFont typeface="Cabin"/>
              <a:buChar char="•"/>
            </a:pPr>
            <a:r>
              <a:rPr lang="en-US" sz="3600" u="none" cap="none" strike="noStrike">
                <a:solidFill>
                  <a:srgbClr val="00FFFF"/>
                </a:solidFill>
                <a:latin typeface="Arial"/>
                <a:ea typeface="Arial"/>
                <a:cs typeface="Arial"/>
                <a:sym typeface="Arial"/>
              </a:rPr>
              <a:t>You cannot </a:t>
            </a:r>
            <a:r>
              <a:rPr b="0" i="0" lang="en-US" sz="3600" u="none" cap="none" strike="noStrike">
                <a:solidFill>
                  <a:srgbClr val="00FFFF"/>
                </a:solidFill>
                <a:latin typeface="Arial"/>
                <a:ea typeface="Arial"/>
                <a:cs typeface="Arial"/>
                <a:sym typeface="Arial"/>
              </a:rPr>
              <a:t>“</a:t>
            </a:r>
            <a:r>
              <a:rPr lang="en-US" sz="3600" u="none" cap="none" strike="noStrike">
                <a:solidFill>
                  <a:srgbClr val="00FFFF"/>
                </a:solidFill>
                <a:latin typeface="Arial"/>
                <a:ea typeface="Arial"/>
                <a:cs typeface="Arial"/>
                <a:sym typeface="Arial"/>
              </a:rPr>
              <a:t>add 1</a:t>
            </a:r>
            <a:r>
              <a:rPr b="0" i="0" lang="en-US" sz="3600" u="none" cap="none" strike="noStrike">
                <a:solidFill>
                  <a:srgbClr val="00FFFF"/>
                </a:solidFill>
                <a:latin typeface="Arial"/>
                <a:ea typeface="Arial"/>
                <a:cs typeface="Arial"/>
                <a:sym typeface="Arial"/>
              </a:rPr>
              <a:t>”</a:t>
            </a:r>
            <a:r>
              <a:rPr lang="en-US" sz="3600" u="none" cap="none" strike="noStrike">
                <a:solidFill>
                  <a:srgbClr val="00FFFF"/>
                </a:solidFill>
                <a:latin typeface="Arial"/>
                <a:ea typeface="Arial"/>
                <a:cs typeface="Arial"/>
                <a:sym typeface="Arial"/>
              </a:rPr>
              <a:t> to a string</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ask Python what type something is by using the </a:t>
            </a:r>
            <a:r>
              <a:rPr lang="en-US" sz="3600" u="none" cap="none" strike="noStrike">
                <a:solidFill>
                  <a:srgbClr val="00FF00"/>
                </a:solidFill>
                <a:latin typeface="Arial"/>
                <a:ea typeface="Arial"/>
                <a:cs typeface="Arial"/>
                <a:sym typeface="Arial"/>
              </a:rPr>
              <a:t>type()</a:t>
            </a:r>
            <a:r>
              <a:rPr lang="en-US" sz="3600" u="none" cap="none" strike="noStrike">
                <a:solidFill>
                  <a:schemeClr val="lt1"/>
                </a:solidFill>
                <a:latin typeface="Arial"/>
                <a:ea typeface="Arial"/>
                <a:cs typeface="Arial"/>
                <a:sym typeface="Arial"/>
              </a:rPr>
              <a:t> function</a:t>
            </a:r>
            <a:endParaRPr/>
          </a:p>
        </p:txBody>
      </p:sp>
      <p:sp>
        <p:nvSpPr>
          <p:cNvPr id="226" name="Google Shape;226;p19"/>
          <p:cNvSpPr txBox="1"/>
          <p:nvPr/>
        </p:nvSpPr>
        <p:spPr>
          <a:xfrm>
            <a:off x="8586779" y="2120900"/>
            <a:ext cx="7315200" cy="604678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eee = 'hello ' +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a:t>
            </a:r>
            <a:r>
              <a:rPr b="0" i="0" lang="en-US" sz="2800" u="none" cap="none" strike="noStrike">
                <a:solidFill>
                  <a:srgbClr val="00FFFF"/>
                </a:solidFill>
                <a:latin typeface="Courier"/>
                <a:ea typeface="Courier"/>
                <a:cs typeface="Courier"/>
                <a:sym typeface="Courier"/>
              </a:rPr>
              <a:t>eee = eee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00"/>
              <a:buFont typeface="Courier"/>
              <a:buNone/>
            </a:pPr>
            <a:r>
              <a:rPr b="0" i="0" lang="en-US" sz="2800" u="none" cap="none" strike="noStrike">
                <a:solidFill>
                  <a:srgbClr val="E06666"/>
                </a:solidFill>
                <a:latin typeface="Courier"/>
                <a:ea typeface="Courier"/>
                <a:cs typeface="Courier"/>
                <a:sym typeface="Courier"/>
              </a:rPr>
              <a:t>Traceback (most recent call last):  File "&lt;stdin&gt;", line 1, in &lt;module&gt;TypeError: Can't convert 'int' object to str implicitly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00"/>
              <a:buFont typeface="Courier"/>
              <a:buNone/>
            </a:pPr>
            <a:r>
              <a:rPr b="0" i="0" lang="en-US" sz="2800" u="none" cap="none" strike="noStrike">
                <a:solidFill>
                  <a:srgbClr val="FFFF00"/>
                </a:solidFill>
                <a:latin typeface="Courier"/>
                <a:ea typeface="Courier"/>
                <a:cs typeface="Courier"/>
                <a:sym typeface="Courier"/>
              </a:rPr>
              <a:t>&gt;&gt;&gt; </a:t>
            </a:r>
            <a:r>
              <a:rPr b="0" i="0" lang="en-US" sz="2800" u="none" cap="none" strike="noStrike">
                <a:solidFill>
                  <a:srgbClr val="00FF00"/>
                </a:solidFill>
                <a:latin typeface="Courier"/>
                <a:ea typeface="Courier"/>
                <a:cs typeface="Courier"/>
                <a:sym typeface="Courier"/>
              </a:rPr>
              <a:t>type</a:t>
            </a:r>
            <a:r>
              <a:rPr b="0" i="0" lang="en-US" sz="2800" u="none" cap="none" strike="noStrike">
                <a:solidFill>
                  <a:srgbClr val="FFFF00"/>
                </a:solidFill>
                <a:latin typeface="Courier"/>
                <a:ea typeface="Courier"/>
                <a:cs typeface="Courier"/>
                <a:sym typeface="Courier"/>
              </a:rPr>
              <a:t>(eee)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&lt;class'str'&gt;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a:t>
            </a:r>
            <a:r>
              <a:rPr b="0" i="0" lang="en-US" sz="2800" u="none" cap="none" strike="noStrike">
                <a:solidFill>
                  <a:srgbClr val="00FF00"/>
                </a:solidFill>
                <a:latin typeface="Courier"/>
                <a:ea typeface="Courier"/>
                <a:cs typeface="Courier"/>
                <a:sym typeface="Courier"/>
              </a:rPr>
              <a:t>type</a:t>
            </a:r>
            <a:r>
              <a:rPr b="0" i="0" lang="en-US" sz="2800" u="none" cap="none" strike="noStrike">
                <a:solidFill>
                  <a:srgbClr val="FFFF00"/>
                </a:solidFill>
                <a:latin typeface="Courier"/>
                <a:ea typeface="Courier"/>
                <a:cs typeface="Courier"/>
                <a:sym typeface="Courier"/>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&lt;class'str'&gt;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a:t>
            </a:r>
            <a:r>
              <a:rPr b="0" i="0" lang="en-US" sz="2800" u="none" cap="none" strike="noStrike">
                <a:solidFill>
                  <a:srgbClr val="00FF00"/>
                </a:solidFill>
                <a:latin typeface="Courier"/>
                <a:ea typeface="Courier"/>
                <a:cs typeface="Courier"/>
                <a:sym typeface="Courier"/>
              </a:rPr>
              <a:t>type</a:t>
            </a:r>
            <a:r>
              <a:rPr b="0" i="0" lang="en-US" sz="2800" u="none" cap="none" strike="noStrike">
                <a:solidFill>
                  <a:srgbClr val="FFFF00"/>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&lt;class'int'&gt;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&gt;&gt;&gt;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Several Types of Numbers</a:t>
            </a:r>
            <a:endParaRPr/>
          </a:p>
        </p:txBody>
      </p:sp>
      <p:sp>
        <p:nvSpPr>
          <p:cNvPr id="232" name="Google Shape;232;p20"/>
          <p:cNvSpPr txBox="1"/>
          <p:nvPr>
            <p:ph idx="1" type="body"/>
          </p:nvPr>
        </p:nvSpPr>
        <p:spPr>
          <a:xfrm>
            <a:off x="812800" y="2133600"/>
            <a:ext cx="8350250" cy="603408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Numbers have two main types</a:t>
            </a:r>
            <a:endParaRPr/>
          </a:p>
          <a:p>
            <a:pPr indent="0" lvl="1" marL="670306" marR="0" rtl="0" algn="l">
              <a:lnSpc>
                <a:spcPct val="100000"/>
              </a:lnSpc>
              <a:spcBef>
                <a:spcPts val="3500"/>
              </a:spcBef>
              <a:spcAft>
                <a:spcPts val="0"/>
              </a:spcAft>
              <a:buClr>
                <a:schemeClr val="lt1"/>
              </a:buClr>
              <a:buSzPts val="3600"/>
              <a:buNone/>
            </a:pPr>
            <a:r>
              <a:rPr lang="en-US" sz="3600" u="none" cap="none" strike="noStrike">
                <a:solidFill>
                  <a:schemeClr val="lt1"/>
                </a:solidFill>
                <a:latin typeface="Arial"/>
                <a:ea typeface="Arial"/>
                <a:cs typeface="Arial"/>
                <a:sym typeface="Arial"/>
              </a:rPr>
              <a:t>-  </a:t>
            </a:r>
            <a:r>
              <a:rPr lang="en-US" sz="3600" u="none" cap="none" strike="noStrike">
                <a:solidFill>
                  <a:srgbClr val="FFFF00"/>
                </a:solidFill>
                <a:latin typeface="Arial"/>
                <a:ea typeface="Arial"/>
                <a:cs typeface="Arial"/>
                <a:sym typeface="Arial"/>
              </a:rPr>
              <a:t>Integers</a:t>
            </a:r>
            <a:r>
              <a:rPr lang="en-US" sz="3600" u="none" cap="none" strike="noStrike">
                <a:solidFill>
                  <a:schemeClr val="lt1"/>
                </a:solidFill>
                <a:latin typeface="Arial"/>
                <a:ea typeface="Arial"/>
                <a:cs typeface="Arial"/>
                <a:sym typeface="Arial"/>
              </a:rPr>
              <a:t> are whole numbers: </a:t>
            </a:r>
            <a:br>
              <a:rPr lang="en-US" sz="3600" u="none" cap="none" strike="noStrike">
                <a:solidFill>
                  <a:schemeClr val="lt1"/>
                </a:solidFill>
                <a:latin typeface="Arial"/>
                <a:ea typeface="Arial"/>
                <a:cs typeface="Arial"/>
                <a:sym typeface="Arial"/>
              </a:rPr>
            </a:br>
            <a:r>
              <a:rPr lang="en-US" sz="3600" u="none" cap="none" strike="noStrike">
                <a:solidFill>
                  <a:schemeClr val="lt1"/>
                </a:solidFill>
                <a:latin typeface="Arial"/>
                <a:ea typeface="Arial"/>
                <a:cs typeface="Arial"/>
                <a:sym typeface="Arial"/>
              </a:rPr>
              <a:t>   -14, -2, 0, 1, 100, 401233</a:t>
            </a:r>
            <a:endParaRPr/>
          </a:p>
          <a:p>
            <a:pPr indent="0" lvl="1" marL="670306" marR="0" rtl="0" algn="l">
              <a:lnSpc>
                <a:spcPct val="100000"/>
              </a:lnSpc>
              <a:spcBef>
                <a:spcPts val="3500"/>
              </a:spcBef>
              <a:spcAft>
                <a:spcPts val="0"/>
              </a:spcAft>
              <a:buClr>
                <a:schemeClr val="lt1"/>
              </a:buClr>
              <a:buSzPts val="3600"/>
              <a:buNone/>
            </a:pPr>
            <a:r>
              <a:rPr lang="en-US" sz="3600" u="none" cap="none" strike="noStrike">
                <a:solidFill>
                  <a:srgbClr val="FFFFFF"/>
                </a:solidFill>
                <a:latin typeface="Arial"/>
                <a:ea typeface="Arial"/>
                <a:cs typeface="Arial"/>
                <a:sym typeface="Arial"/>
              </a:rPr>
              <a:t>- </a:t>
            </a:r>
            <a:r>
              <a:rPr lang="en-US" sz="3600" u="none" cap="none" strike="noStrike">
                <a:solidFill>
                  <a:srgbClr val="FFFF00"/>
                </a:solidFill>
                <a:latin typeface="Arial"/>
                <a:ea typeface="Arial"/>
                <a:cs typeface="Arial"/>
                <a:sym typeface="Arial"/>
              </a:rPr>
              <a:t> Floating Point Numbers</a:t>
            </a:r>
            <a:r>
              <a:rPr lang="en-US" sz="3600" u="none" cap="none" strike="noStrike">
                <a:solidFill>
                  <a:schemeClr val="lt1"/>
                </a:solidFill>
                <a:latin typeface="Arial"/>
                <a:ea typeface="Arial"/>
                <a:cs typeface="Arial"/>
                <a:sym typeface="Arial"/>
              </a:rPr>
              <a:t> have  decimal parts:  -2.5 , 0.0, 98.6, 14.0</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There are other number types - they are variations on float and integer</a:t>
            </a:r>
            <a:endParaRPr/>
          </a:p>
        </p:txBody>
      </p:sp>
      <p:sp>
        <p:nvSpPr>
          <p:cNvPr id="233" name="Google Shape;233;p20"/>
          <p:cNvSpPr txBox="1"/>
          <p:nvPr/>
        </p:nvSpPr>
        <p:spPr>
          <a:xfrm>
            <a:off x="10598100" y="2040051"/>
            <a:ext cx="5371243" cy="69080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00FF00"/>
                </a:solidFill>
                <a:latin typeface="Courier"/>
                <a:ea typeface="Courier"/>
                <a:cs typeface="Courier"/>
                <a:sym typeface="Courier"/>
              </a:rPr>
              <a:t>xx</a:t>
            </a:r>
            <a:r>
              <a:rPr b="0" i="0" lang="en-US" sz="3400" u="none" cap="none" strike="noStrike">
                <a:solidFill>
                  <a:schemeClr val="lt1"/>
                </a:solidFill>
                <a:latin typeface="Courier"/>
                <a:ea typeface="Courier"/>
                <a:cs typeface="Courier"/>
                <a:sym typeface="Courier"/>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type</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xx</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&lt;class 'int'&gt;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00FF00"/>
                </a:solidFill>
                <a:latin typeface="Courier"/>
                <a:ea typeface="Courier"/>
                <a:cs typeface="Courier"/>
                <a:sym typeface="Courier"/>
              </a:rPr>
              <a:t>temp</a:t>
            </a:r>
            <a:r>
              <a:rPr b="0" i="0" lang="en-US" sz="3400" u="none" cap="none" strike="noStrike">
                <a:solidFill>
                  <a:schemeClr val="lt1"/>
                </a:solidFill>
                <a:latin typeface="Courier"/>
                <a:ea typeface="Courier"/>
                <a:cs typeface="Courier"/>
                <a:sym typeface="Courier"/>
              </a:rPr>
              <a:t> = 98.6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type</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00FF00"/>
                </a:solidFill>
                <a:latin typeface="Courier"/>
                <a:ea typeface="Courier"/>
                <a:cs typeface="Courier"/>
                <a:sym typeface="Courier"/>
              </a:rPr>
              <a:t>temp</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&lt;class'float'&gt;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type</a:t>
            </a:r>
            <a:r>
              <a:rPr b="0" i="0" lang="en-US" sz="3400" u="none" cap="none" strike="noStrike">
                <a:solidFill>
                  <a:schemeClr val="lt1"/>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&lt;class 'int'&gt;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type</a:t>
            </a:r>
            <a:r>
              <a:rPr b="0" i="0" lang="en-US" sz="3400" u="none" cap="none" strike="noStrike">
                <a:solidFill>
                  <a:schemeClr val="lt1"/>
                </a:solidFill>
                <a:latin typeface="Courier"/>
                <a:ea typeface="Courier"/>
                <a:cs typeface="Courier"/>
                <a:sym typeface="Courier"/>
              </a:rPr>
              <a:t>(1.0)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&lt;class'float'&gt;</a:t>
            </a:r>
            <a:endParaRPr b="0" i="0" sz="3400" u="none" cap="none" strike="noStrike">
              <a:solidFill>
                <a:schemeClr val="lt1"/>
              </a:solidFill>
              <a:latin typeface="Courier"/>
              <a:ea typeface="Courier"/>
              <a:cs typeface="Courier"/>
              <a:sym typeface="Couri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Type Conversions</a:t>
            </a:r>
            <a:endParaRPr/>
          </a:p>
        </p:txBody>
      </p:sp>
      <p:sp>
        <p:nvSpPr>
          <p:cNvPr id="239" name="Google Shape;239;p21"/>
          <p:cNvSpPr txBox="1"/>
          <p:nvPr>
            <p:ph idx="1" type="body"/>
          </p:nvPr>
        </p:nvSpPr>
        <p:spPr>
          <a:xfrm>
            <a:off x="812800" y="2133600"/>
            <a:ext cx="6921500" cy="6034087"/>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When you put an integer and floating point in an expression, the integer is </a:t>
            </a:r>
            <a:r>
              <a:rPr lang="en-US" sz="3600" u="none" cap="none" strike="noStrike">
                <a:solidFill>
                  <a:srgbClr val="FFFF00"/>
                </a:solidFill>
                <a:latin typeface="Arial"/>
                <a:ea typeface="Arial"/>
                <a:cs typeface="Arial"/>
                <a:sym typeface="Arial"/>
              </a:rPr>
              <a:t>implicitly </a:t>
            </a:r>
            <a:r>
              <a:rPr lang="en-US" sz="3600" u="none" cap="none" strike="noStrike">
                <a:solidFill>
                  <a:schemeClr val="lt1"/>
                </a:solidFill>
                <a:latin typeface="Arial"/>
                <a:ea typeface="Arial"/>
                <a:cs typeface="Arial"/>
                <a:sym typeface="Arial"/>
              </a:rPr>
              <a:t>converted to a float</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You can control this with the built</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in functions int() and float()</a:t>
            </a:r>
            <a:endParaRPr/>
          </a:p>
        </p:txBody>
      </p:sp>
      <p:sp>
        <p:nvSpPr>
          <p:cNvPr id="240" name="Google Shape;240;p21"/>
          <p:cNvSpPr txBox="1"/>
          <p:nvPr/>
        </p:nvSpPr>
        <p:spPr>
          <a:xfrm>
            <a:off x="9048750" y="1890711"/>
            <a:ext cx="7010399" cy="598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&gt;&gt;&gt; </a:t>
            </a: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00FF00"/>
                </a:solidFill>
                <a:latin typeface="Courier"/>
                <a:ea typeface="Courier"/>
                <a:cs typeface="Courier"/>
                <a:sym typeface="Courier"/>
              </a:rPr>
              <a:t>float</a:t>
            </a:r>
            <a:r>
              <a:rPr b="0" i="0" lang="en-US" sz="3200" u="none" cap="none" strike="noStrike">
                <a:solidFill>
                  <a:schemeClr val="lt1"/>
                </a:solidFill>
                <a:latin typeface="Courier"/>
                <a:ea typeface="Courier"/>
                <a:cs typeface="Courier"/>
                <a:sym typeface="Courier"/>
              </a:rPr>
              <a:t>(99) </a:t>
            </a:r>
            <a:r>
              <a:rPr b="0" i="0" lang="en-US" sz="3200" u="none" cap="none" strike="noStrike">
                <a:solidFill>
                  <a:srgbClr val="00FFFF"/>
                </a:solidFill>
                <a:latin typeface="Courier"/>
                <a:ea typeface="Courier"/>
                <a:cs typeface="Courier"/>
                <a:sym typeface="Courier"/>
              </a:rPr>
              <a:t>+</a:t>
            </a:r>
            <a:r>
              <a:rPr b="0" i="0" lang="en-US" sz="3200" u="none" cap="none" strike="noStrike">
                <a:solidFill>
                  <a:schemeClr val="lt1"/>
                </a:solidFill>
                <a:latin typeface="Courier"/>
                <a:ea typeface="Courier"/>
                <a:cs typeface="Courier"/>
                <a:sym typeface="Courier"/>
              </a:rPr>
              <a:t> 100</a:t>
            </a:r>
            <a:r>
              <a:rPr b="0" i="0" lang="en-US" sz="3200" u="none" cap="none" strike="noStrike">
                <a:solidFill>
                  <a:srgbClr val="FFFF00"/>
                </a:solidFill>
                <a:latin typeface="Courier"/>
                <a:ea typeface="Courier"/>
                <a:cs typeface="Courier"/>
                <a:sym typeface="Courier"/>
              </a:rPr>
              <a:t>)</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199.0</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&gt;&gt;&gt; i =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&gt;&gt;&gt; </a:t>
            </a:r>
            <a:r>
              <a:rPr b="0" i="0" lang="en-US" sz="3200" u="none" cap="none" strike="noStrike">
                <a:solidFill>
                  <a:srgbClr val="00FF00"/>
                </a:solidFill>
                <a:latin typeface="Courier"/>
                <a:ea typeface="Courier"/>
                <a:cs typeface="Courier"/>
                <a:sym typeface="Courier"/>
              </a:rPr>
              <a:t>type</a:t>
            </a:r>
            <a:r>
              <a:rPr b="0" i="0" lang="en-US" sz="3200" u="none" cap="none" strike="noStrike">
                <a:solidFill>
                  <a:schemeClr val="lt1"/>
                </a:solidFill>
                <a:latin typeface="Courier"/>
                <a:ea typeface="Courier"/>
                <a:cs typeface="Courier"/>
                <a:sym typeface="Courier"/>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&lt;class'int'&gt;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&gt;&gt;&gt; f = </a:t>
            </a:r>
            <a:r>
              <a:rPr b="0" i="0" lang="en-US" sz="3200" u="none" cap="none" strike="noStrike">
                <a:solidFill>
                  <a:srgbClr val="00FF00"/>
                </a:solidFill>
                <a:latin typeface="Courier"/>
                <a:ea typeface="Courier"/>
                <a:cs typeface="Courier"/>
                <a:sym typeface="Courier"/>
              </a:rPr>
              <a:t>float</a:t>
            </a:r>
            <a:r>
              <a:rPr b="0" i="0" lang="en-US" sz="3200" u="none" cap="none" strike="noStrike">
                <a:solidFill>
                  <a:schemeClr val="lt1"/>
                </a:solidFill>
                <a:latin typeface="Courier"/>
                <a:ea typeface="Courier"/>
                <a:cs typeface="Courier"/>
                <a:sym typeface="Courier"/>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&gt;&gt;&gt; </a:t>
            </a:r>
            <a:r>
              <a:rPr b="0" i="0" lang="en-US" sz="3200" u="none" cap="none" strike="noStrike">
                <a:solidFill>
                  <a:srgbClr val="FFFF00"/>
                </a:solidFill>
                <a:latin typeface="Courier"/>
                <a:ea typeface="Courier"/>
                <a:cs typeface="Courier"/>
                <a:sym typeface="Courier"/>
              </a:rPr>
              <a:t>print(</a:t>
            </a:r>
            <a:r>
              <a:rPr b="0" i="0" lang="en-US" sz="3200" u="none" cap="none" strike="noStrike">
                <a:solidFill>
                  <a:schemeClr val="lt1"/>
                </a:solidFill>
                <a:latin typeface="Courier"/>
                <a:ea typeface="Courier"/>
                <a:cs typeface="Courier"/>
                <a:sym typeface="Courier"/>
              </a:rPr>
              <a:t>f</a:t>
            </a:r>
            <a:r>
              <a:rPr b="0" i="0" lang="en-US" sz="3200" u="none" cap="none" strike="noStrike">
                <a:solidFill>
                  <a:srgbClr val="FFFF00"/>
                </a:solidFill>
                <a:latin typeface="Courier"/>
                <a:ea typeface="Courier"/>
                <a:cs typeface="Courier"/>
                <a:sym typeface="Courier"/>
              </a:rPr>
              <a:t>)</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42.0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&gt;&gt;&gt; </a:t>
            </a:r>
            <a:r>
              <a:rPr b="0" i="0" lang="en-US" sz="3200" u="none" cap="none" strike="noStrike">
                <a:solidFill>
                  <a:srgbClr val="00FF00"/>
                </a:solidFill>
                <a:latin typeface="Courier"/>
                <a:ea typeface="Courier"/>
                <a:cs typeface="Courier"/>
                <a:sym typeface="Courier"/>
              </a:rPr>
              <a:t>type</a:t>
            </a:r>
            <a:r>
              <a:rPr b="0" i="0" lang="en-US" sz="3200" u="none" cap="none" strike="noStrike">
                <a:solidFill>
                  <a:schemeClr val="lt1"/>
                </a:solidFill>
                <a:latin typeface="Courier"/>
                <a:ea typeface="Courier"/>
                <a:cs typeface="Courier"/>
                <a:sym typeface="Courier"/>
              </a:rPr>
              <a: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&lt;class'float'&gt;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&gt;&gt;&gt; </a:t>
            </a:r>
            <a:endParaRPr b="0" i="0" sz="3200" u="none" cap="none" strike="noStrike">
              <a:solidFill>
                <a:schemeClr val="lt1"/>
              </a:solidFill>
              <a:latin typeface="Courier"/>
              <a:ea typeface="Courier"/>
              <a:cs typeface="Courier"/>
              <a:sym typeface="Couri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type="title"/>
          </p:nvPr>
        </p:nvSpPr>
        <p:spPr>
          <a:xfrm>
            <a:off x="812800" y="785812"/>
            <a:ext cx="7283450" cy="2166938"/>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String Conversions</a:t>
            </a:r>
            <a:endParaRPr/>
          </a:p>
        </p:txBody>
      </p:sp>
      <p:sp>
        <p:nvSpPr>
          <p:cNvPr id="246" name="Google Shape;246;p22"/>
          <p:cNvSpPr txBox="1"/>
          <p:nvPr>
            <p:ph idx="1" type="body"/>
          </p:nvPr>
        </p:nvSpPr>
        <p:spPr>
          <a:xfrm>
            <a:off x="812800" y="3105150"/>
            <a:ext cx="7283450" cy="5062537"/>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You can also use </a:t>
            </a:r>
            <a:r>
              <a:rPr lang="en-US" sz="3600" u="none" cap="none" strike="noStrike">
                <a:solidFill>
                  <a:srgbClr val="FFFF00"/>
                </a:solidFill>
                <a:latin typeface="Arial"/>
                <a:ea typeface="Arial"/>
                <a:cs typeface="Arial"/>
                <a:sym typeface="Arial"/>
              </a:rPr>
              <a:t>int()</a:t>
            </a:r>
            <a:r>
              <a:rPr lang="en-US" sz="3600" u="none" cap="none" strike="noStrike">
                <a:solidFill>
                  <a:schemeClr val="lt1"/>
                </a:solidFill>
                <a:latin typeface="Arial"/>
                <a:ea typeface="Arial"/>
                <a:cs typeface="Arial"/>
                <a:sym typeface="Arial"/>
              </a:rPr>
              <a:t> and </a:t>
            </a:r>
            <a:r>
              <a:rPr lang="en-US" sz="3600" u="none" cap="none" strike="noStrike">
                <a:solidFill>
                  <a:srgbClr val="FFFF00"/>
                </a:solidFill>
                <a:latin typeface="Arial"/>
                <a:ea typeface="Arial"/>
                <a:cs typeface="Arial"/>
                <a:sym typeface="Arial"/>
              </a:rPr>
              <a:t>float()</a:t>
            </a:r>
            <a:r>
              <a:rPr lang="en-US" sz="3600" u="none" cap="none" strike="noStrike">
                <a:solidFill>
                  <a:schemeClr val="lt1"/>
                </a:solidFill>
                <a:latin typeface="Arial"/>
                <a:ea typeface="Arial"/>
                <a:cs typeface="Arial"/>
                <a:sym typeface="Arial"/>
              </a:rPr>
              <a:t> to convert between strings and integers</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You will get an </a:t>
            </a:r>
            <a:r>
              <a:rPr lang="en-US" sz="3600" u="none" cap="none" strike="noStrike">
                <a:solidFill>
                  <a:srgbClr val="E06666"/>
                </a:solidFill>
                <a:latin typeface="Arial"/>
                <a:ea typeface="Arial"/>
                <a:cs typeface="Arial"/>
                <a:sym typeface="Arial"/>
              </a:rPr>
              <a:t>error</a:t>
            </a:r>
            <a:r>
              <a:rPr lang="en-US" sz="3600" u="none" cap="none" strike="noStrike">
                <a:solidFill>
                  <a:schemeClr val="lt1"/>
                </a:solidFill>
                <a:latin typeface="Arial"/>
                <a:ea typeface="Arial"/>
                <a:cs typeface="Arial"/>
                <a:sym typeface="Arial"/>
              </a:rPr>
              <a:t> if the string does not contain numeric characters</a:t>
            </a:r>
            <a:endParaRPr/>
          </a:p>
        </p:txBody>
      </p:sp>
      <p:sp>
        <p:nvSpPr>
          <p:cNvPr id="247" name="Google Shape;247;p22"/>
          <p:cNvSpPr txBox="1"/>
          <p:nvPr/>
        </p:nvSpPr>
        <p:spPr>
          <a:xfrm>
            <a:off x="8470900" y="730250"/>
            <a:ext cx="7607300" cy="765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&gt;</a:t>
            </a:r>
            <a:r>
              <a:rPr b="0" i="0" lang="en-US" sz="2600" u="none" cap="none" strike="noStrike">
                <a:solidFill>
                  <a:schemeClr val="lt1"/>
                </a:solidFill>
                <a:latin typeface="Courier"/>
                <a:ea typeface="Courier"/>
                <a:cs typeface="Courier"/>
                <a:sym typeface="Courier"/>
              </a:rPr>
              <a:t>&gt;&gt; </a:t>
            </a:r>
            <a:r>
              <a:rPr b="0" i="0" lang="en-US" sz="2600" u="none" cap="none" strike="noStrike">
                <a:solidFill>
                  <a:srgbClr val="00FF00"/>
                </a:solidFill>
                <a:latin typeface="Courier"/>
                <a:ea typeface="Courier"/>
                <a:cs typeface="Courier"/>
                <a:sym typeface="Courier"/>
              </a:rPr>
              <a:t>sval</a:t>
            </a:r>
            <a:r>
              <a:rPr b="0" i="0" lang="en-US" sz="2600" u="none" cap="none" strike="noStrike">
                <a:solidFill>
                  <a:schemeClr val="lt1"/>
                </a:solidFill>
                <a:latin typeface="Courier"/>
                <a:ea typeface="Courier"/>
                <a:cs typeface="Courier"/>
                <a:sym typeface="Courier"/>
              </a:rPr>
              <a:t> = '123'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FFFF00"/>
                </a:solidFill>
                <a:latin typeface="Courier"/>
                <a:ea typeface="Courier"/>
                <a:cs typeface="Courier"/>
                <a:sym typeface="Courier"/>
              </a:rPr>
              <a:t>type</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sval</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&lt;class 'str'&gt;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sval</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a:t>
            </a:r>
            <a:r>
              <a:rPr b="0" i="0" lang="en-US" sz="2600" u="none" cap="none" strike="noStrike">
                <a:solidFill>
                  <a:schemeClr val="lt1"/>
                </a:solidFill>
                <a:latin typeface="Courier"/>
                <a:ea typeface="Courier"/>
                <a:cs typeface="Courier"/>
                <a:sym typeface="Courier"/>
              </a:rPr>
              <a:t> 1)</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0000"/>
              </a:buClr>
              <a:buSzPts val="650"/>
              <a:buFont typeface="Courier"/>
              <a:buNone/>
            </a:pPr>
            <a:r>
              <a:rPr b="0" i="0" lang="en-US" sz="2600" u="none" cap="none" strike="noStrike">
                <a:solidFill>
                  <a:srgbClr val="E06666"/>
                </a:solidFill>
                <a:latin typeface="Courier"/>
                <a:ea typeface="Courier"/>
                <a:cs typeface="Courier"/>
                <a:sym typeface="Courier"/>
              </a:rPr>
              <a:t>Traceback (most recent call last):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650"/>
              <a:buFont typeface="Courier"/>
              <a:buNone/>
            </a:pPr>
            <a:r>
              <a:rPr b="0" i="0" lang="en-US" sz="2600" u="none" cap="none" strike="noStrike">
                <a:solidFill>
                  <a:srgbClr val="E06666"/>
                </a:solidFill>
                <a:latin typeface="Courier"/>
                <a:ea typeface="Courier"/>
                <a:cs typeface="Courier"/>
                <a:sym typeface="Courier"/>
              </a:rPr>
              <a:t>TypeError: Can't convert 'int' object to str implicitly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00FF00"/>
                </a:solidFill>
                <a:latin typeface="Courier"/>
                <a:ea typeface="Courier"/>
                <a:cs typeface="Courier"/>
                <a:sym typeface="Courier"/>
              </a:rPr>
              <a:t>ival</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FF00"/>
                </a:solidFill>
                <a:latin typeface="Courier"/>
                <a:ea typeface="Courier"/>
                <a:cs typeface="Courier"/>
                <a:sym typeface="Courier"/>
              </a:rPr>
              <a:t>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sval</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FFFF00"/>
                </a:solidFill>
                <a:latin typeface="Courier"/>
                <a:ea typeface="Courier"/>
                <a:cs typeface="Courier"/>
                <a:sym typeface="Courier"/>
              </a:rPr>
              <a:t>type</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ival</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&lt;class 'int'&gt;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ival</a:t>
            </a:r>
            <a:r>
              <a:rPr b="0" i="0" lang="en-US" sz="2600" u="none" cap="none" strike="noStrike">
                <a:solidFill>
                  <a:schemeClr val="lt1"/>
                </a:solidFill>
                <a:latin typeface="Courier"/>
                <a:ea typeface="Courier"/>
                <a:cs typeface="Courier"/>
                <a:sym typeface="Courier"/>
              </a:rPr>
              <a:t> + 1)</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124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00FF00"/>
                </a:solidFill>
                <a:latin typeface="Courier"/>
                <a:ea typeface="Courier"/>
                <a:cs typeface="Courier"/>
                <a:sym typeface="Courier"/>
              </a:rPr>
              <a:t>nsv</a:t>
            </a:r>
            <a:r>
              <a:rPr b="0" i="0" lang="en-US" sz="2600" u="none" cap="none" strike="noStrike">
                <a:solidFill>
                  <a:schemeClr val="lt1"/>
                </a:solidFill>
                <a:latin typeface="Courier"/>
                <a:ea typeface="Courier"/>
                <a:cs typeface="Courier"/>
                <a:sym typeface="Courier"/>
              </a:rPr>
              <a:t> = 'hello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&gt;&gt;&gt; </a:t>
            </a:r>
            <a:r>
              <a:rPr b="0" i="0" lang="en-US" sz="2600" u="none" cap="none" strike="noStrike">
                <a:solidFill>
                  <a:srgbClr val="00FF00"/>
                </a:solidFill>
                <a:latin typeface="Courier"/>
                <a:ea typeface="Courier"/>
                <a:cs typeface="Courier"/>
                <a:sym typeface="Courier"/>
              </a:rPr>
              <a:t>niv</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FF00"/>
                </a:solidFill>
                <a:latin typeface="Courier"/>
                <a:ea typeface="Courier"/>
                <a:cs typeface="Courier"/>
                <a:sym typeface="Courier"/>
              </a:rPr>
              <a:t>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nsv</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650"/>
              <a:buFont typeface="Courier"/>
              <a:buNone/>
            </a:pPr>
            <a:r>
              <a:rPr b="0" i="0" lang="en-US" sz="2600" u="none" cap="none" strike="noStrike">
                <a:solidFill>
                  <a:srgbClr val="E06666"/>
                </a:solidFill>
                <a:latin typeface="Courier"/>
                <a:ea typeface="Courier"/>
                <a:cs typeface="Courier"/>
                <a:sym typeface="Courier"/>
              </a:rPr>
              <a:t>Traceback (most recent call last):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650"/>
              <a:buFont typeface="Courier"/>
              <a:buNone/>
            </a:pPr>
            <a:r>
              <a:rPr b="0" i="0" lang="en-US" sz="2600" u="none" cap="none" strike="noStrike">
                <a:solidFill>
                  <a:srgbClr val="E06666"/>
                </a:solidFill>
                <a:latin typeface="Courier"/>
                <a:ea typeface="Courier"/>
                <a:cs typeface="Courier"/>
                <a:sym typeface="Courier"/>
              </a:rPr>
              <a:t>ValueError: invalid literal for int() with base 10: 'x'</a:t>
            </a:r>
            <a:endParaRPr b="0" i="0" sz="2600" u="none" cap="none" strike="noStrike">
              <a:solidFill>
                <a:srgbClr val="E06666"/>
              </a:solidFill>
              <a:latin typeface="Courier"/>
              <a:ea typeface="Courier"/>
              <a:cs typeface="Courier"/>
              <a:sym typeface="Couri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type="title"/>
          </p:nvPr>
        </p:nvSpPr>
        <p:spPr>
          <a:xfrm>
            <a:off x="812800" y="785812"/>
            <a:ext cx="13652465" cy="1104899"/>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00FF"/>
              </a:buClr>
              <a:buSzPts val="1950"/>
              <a:buFont typeface="Cabin"/>
              <a:buNone/>
            </a:pPr>
            <a:r>
              <a:rPr lang="en-US" sz="7800" u="none" cap="none" strike="noStrike">
                <a:solidFill>
                  <a:srgbClr val="FFD966"/>
                </a:solidFill>
                <a:latin typeface="Arial"/>
                <a:ea typeface="Arial"/>
                <a:cs typeface="Arial"/>
                <a:sym typeface="Arial"/>
              </a:rPr>
              <a:t>User Input</a:t>
            </a:r>
            <a:endParaRPr/>
          </a:p>
        </p:txBody>
      </p:sp>
      <p:sp>
        <p:nvSpPr>
          <p:cNvPr id="253" name="Google Shape;253;p23"/>
          <p:cNvSpPr txBox="1"/>
          <p:nvPr>
            <p:ph idx="1" type="body"/>
          </p:nvPr>
        </p:nvSpPr>
        <p:spPr>
          <a:xfrm>
            <a:off x="812800" y="2133601"/>
            <a:ext cx="6864350" cy="5295900"/>
          </a:xfrm>
          <a:prstGeom prst="rect">
            <a:avLst/>
          </a:prstGeom>
          <a:noFill/>
          <a:ln>
            <a:noFill/>
          </a:ln>
        </p:spPr>
        <p:txBody>
          <a:bodyPr anchorCtr="0" anchor="ctr" bIns="50800" lIns="50800" spcFirstLastPara="1" rIns="50800" wrap="square" tIns="50800">
            <a:noAutofit/>
          </a:bodyPr>
          <a:lstStyle/>
          <a:p>
            <a:pPr indent="-787400" lvl="0" marL="1104900" marR="0" rtl="0" algn="l">
              <a:lnSpc>
                <a:spcPct val="100000"/>
              </a:lnSpc>
              <a:spcBef>
                <a:spcPts val="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We can instruct Python to pause and read data from the user using the </a:t>
            </a:r>
            <a:r>
              <a:rPr lang="en-US" sz="3800" u="none" cap="none" strike="noStrike">
                <a:solidFill>
                  <a:srgbClr val="FFFF00"/>
                </a:solidFill>
                <a:latin typeface="Arial"/>
                <a:ea typeface="Arial"/>
                <a:cs typeface="Arial"/>
                <a:sym typeface="Arial"/>
              </a:rPr>
              <a:t>input()</a:t>
            </a:r>
            <a:r>
              <a:rPr lang="en-US" sz="3800" u="none" cap="none" strike="noStrike">
                <a:solidFill>
                  <a:srgbClr val="FF00FF"/>
                </a:solidFill>
                <a:latin typeface="Arial"/>
                <a:ea typeface="Arial"/>
                <a:cs typeface="Arial"/>
                <a:sym typeface="Arial"/>
              </a:rPr>
              <a:t> </a:t>
            </a:r>
            <a:r>
              <a:rPr lang="en-US" sz="3800" u="none" cap="none" strike="noStrike">
                <a:solidFill>
                  <a:schemeClr val="lt1"/>
                </a:solidFill>
                <a:latin typeface="Arial"/>
                <a:ea typeface="Arial"/>
                <a:cs typeface="Arial"/>
                <a:sym typeface="Arial"/>
              </a:rPr>
              <a:t> function</a:t>
            </a:r>
            <a:endParaRPr/>
          </a:p>
          <a:p>
            <a:pPr indent="-787400" lvl="0" marL="1104900" marR="0" rtl="0" algn="l">
              <a:lnSpc>
                <a:spcPct val="100000"/>
              </a:lnSpc>
              <a:spcBef>
                <a:spcPts val="230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The </a:t>
            </a:r>
            <a:r>
              <a:rPr lang="en-US" sz="3800" u="none" cap="none" strike="noStrike">
                <a:solidFill>
                  <a:srgbClr val="FFFF00"/>
                </a:solidFill>
                <a:latin typeface="Arial"/>
                <a:ea typeface="Arial"/>
                <a:cs typeface="Arial"/>
                <a:sym typeface="Arial"/>
              </a:rPr>
              <a:t>input()</a:t>
            </a:r>
            <a:r>
              <a:rPr lang="en-US" sz="3800" u="none" cap="none" strike="noStrike">
                <a:solidFill>
                  <a:srgbClr val="FF00FF"/>
                </a:solidFill>
                <a:latin typeface="Arial"/>
                <a:ea typeface="Arial"/>
                <a:cs typeface="Arial"/>
                <a:sym typeface="Arial"/>
              </a:rPr>
              <a:t> </a:t>
            </a:r>
            <a:r>
              <a:rPr lang="en-US" sz="3800" u="none" cap="none" strike="noStrike">
                <a:solidFill>
                  <a:schemeClr val="lt1"/>
                </a:solidFill>
                <a:latin typeface="Arial"/>
                <a:ea typeface="Arial"/>
                <a:cs typeface="Arial"/>
                <a:sym typeface="Arial"/>
              </a:rPr>
              <a:t> function returns a string</a:t>
            </a:r>
            <a:endParaRPr/>
          </a:p>
        </p:txBody>
      </p:sp>
      <p:sp>
        <p:nvSpPr>
          <p:cNvPr id="254" name="Google Shape;254;p23"/>
          <p:cNvSpPr txBox="1"/>
          <p:nvPr/>
        </p:nvSpPr>
        <p:spPr>
          <a:xfrm>
            <a:off x="8822673" y="3226594"/>
            <a:ext cx="7077727" cy="1219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nam</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FF00"/>
                </a:solidFill>
                <a:latin typeface="Courier"/>
                <a:ea typeface="Courier"/>
                <a:cs typeface="Courier"/>
                <a:sym typeface="Courier"/>
              </a:rPr>
              <a:t>input</a:t>
            </a:r>
            <a:r>
              <a:rPr b="0" i="0" lang="en-US" sz="3000" u="none" cap="none" strike="noStrike">
                <a:solidFill>
                  <a:schemeClr val="lt1"/>
                </a:solidFill>
                <a:latin typeface="Courier"/>
                <a:ea typeface="Courier"/>
                <a:cs typeface="Courier"/>
                <a:sym typeface="Courier"/>
              </a:rPr>
              <a:t>('Who are you?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'Welcome', </a:t>
            </a:r>
            <a:r>
              <a:rPr b="0" i="0" lang="en-US" sz="3000" u="none" cap="none" strike="noStrike">
                <a:solidFill>
                  <a:srgbClr val="00FF00"/>
                </a:solidFill>
                <a:latin typeface="Courier"/>
                <a:ea typeface="Courier"/>
                <a:cs typeface="Courier"/>
                <a:sym typeface="Courier"/>
              </a:rPr>
              <a:t>nam</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p:txBody>
      </p:sp>
      <p:sp>
        <p:nvSpPr>
          <p:cNvPr id="255" name="Google Shape;255;p23"/>
          <p:cNvSpPr txBox="1"/>
          <p:nvPr/>
        </p:nvSpPr>
        <p:spPr>
          <a:xfrm>
            <a:off x="9385497" y="5781676"/>
            <a:ext cx="4679870" cy="192127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50"/>
              <a:buFont typeface="Cabin"/>
              <a:buNone/>
            </a:pPr>
            <a:r>
              <a:rPr b="0" i="0" lang="en-US" sz="3800" u="none" cap="none" strike="noStrike">
                <a:solidFill>
                  <a:schemeClr val="lt1"/>
                </a:solidFill>
                <a:latin typeface="Arial"/>
                <a:ea typeface="Arial"/>
                <a:cs typeface="Arial"/>
                <a:sym typeface="Arial"/>
              </a:rPr>
              <a:t>Who are you? </a:t>
            </a:r>
            <a:r>
              <a:rPr b="0" i="0" lang="en-US" sz="3800" u="none" cap="none" strike="noStrike">
                <a:solidFill>
                  <a:srgbClr val="FFFF00"/>
                </a:solidFill>
                <a:latin typeface="Arial"/>
                <a:ea typeface="Arial"/>
                <a:cs typeface="Arial"/>
                <a:sym typeface="Arial"/>
              </a:rPr>
              <a:t>Chuck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50"/>
              <a:buFont typeface="Cabin"/>
              <a:buNone/>
            </a:pPr>
            <a:r>
              <a:rPr b="0" i="0" lang="en-US" sz="3800" u="none" cap="none" strike="noStrike">
                <a:solidFill>
                  <a:schemeClr val="lt1"/>
                </a:solidFill>
                <a:latin typeface="Arial"/>
                <a:ea typeface="Arial"/>
                <a:cs typeface="Arial"/>
                <a:sym typeface="Arial"/>
              </a:rPr>
              <a:t>Welcome Chuck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812800" y="785812"/>
            <a:ext cx="10521950" cy="1104899"/>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00FF"/>
              </a:buClr>
              <a:buSzPts val="1950"/>
              <a:buFont typeface="Cabin"/>
              <a:buNone/>
            </a:pPr>
            <a:r>
              <a:rPr lang="en-US" sz="7800" u="none" cap="none" strike="noStrike">
                <a:solidFill>
                  <a:srgbClr val="FFD966"/>
                </a:solidFill>
                <a:latin typeface="Arial"/>
                <a:ea typeface="Arial"/>
                <a:cs typeface="Arial"/>
                <a:sym typeface="Arial"/>
              </a:rPr>
              <a:t>Converting User Input</a:t>
            </a:r>
            <a:endParaRPr/>
          </a:p>
        </p:txBody>
      </p:sp>
      <p:sp>
        <p:nvSpPr>
          <p:cNvPr id="261" name="Google Shape;261;p24"/>
          <p:cNvSpPr txBox="1"/>
          <p:nvPr>
            <p:ph idx="1" type="body"/>
          </p:nvPr>
        </p:nvSpPr>
        <p:spPr>
          <a:xfrm>
            <a:off x="812800" y="2133600"/>
            <a:ext cx="7245350" cy="6034087"/>
          </a:xfrm>
          <a:prstGeom prst="rect">
            <a:avLst/>
          </a:prstGeom>
          <a:noFill/>
          <a:ln>
            <a:noFill/>
          </a:ln>
        </p:spPr>
        <p:txBody>
          <a:bodyPr anchorCtr="0" anchor="ctr" bIns="50800" lIns="50800" spcFirstLastPara="1" rIns="50800" wrap="square" tIns="50800">
            <a:noAutofit/>
          </a:bodyPr>
          <a:lstStyle/>
          <a:p>
            <a:pPr indent="-787400" lvl="0" marL="1104900" marR="0" rtl="0" algn="l">
              <a:lnSpc>
                <a:spcPct val="100000"/>
              </a:lnSpc>
              <a:spcBef>
                <a:spcPts val="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If we want to read a number from the user, we must convert it from a string to a number using a type conversion function</a:t>
            </a:r>
            <a:endParaRPr/>
          </a:p>
          <a:p>
            <a:pPr indent="-787400" lvl="0" marL="1104900" marR="0" rtl="0" algn="l">
              <a:lnSpc>
                <a:spcPct val="100000"/>
              </a:lnSpc>
              <a:spcBef>
                <a:spcPts val="230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Later we will deal with bad input data</a:t>
            </a:r>
            <a:endParaRPr/>
          </a:p>
        </p:txBody>
      </p:sp>
      <p:sp>
        <p:nvSpPr>
          <p:cNvPr id="262" name="Google Shape;262;p24"/>
          <p:cNvSpPr txBox="1"/>
          <p:nvPr/>
        </p:nvSpPr>
        <p:spPr>
          <a:xfrm>
            <a:off x="8862999" y="3683000"/>
            <a:ext cx="6831899" cy="17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00"/>
              <a:buFont typeface="Cabin"/>
              <a:buNone/>
            </a:pPr>
            <a:r>
              <a:rPr b="0" i="0" lang="en-US" sz="2800" u="none" cap="none" strike="noStrike">
                <a:solidFill>
                  <a:srgbClr val="00FF00"/>
                </a:solidFill>
                <a:latin typeface="Courier"/>
                <a:ea typeface="Courier"/>
                <a:cs typeface="Courier"/>
                <a:sym typeface="Courier"/>
              </a:rPr>
              <a:t>inp</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FF00"/>
                </a:solidFill>
                <a:latin typeface="Courier"/>
                <a:ea typeface="Courier"/>
                <a:cs typeface="Courier"/>
                <a:sym typeface="Courier"/>
              </a:rPr>
              <a:t>input(</a:t>
            </a:r>
            <a:r>
              <a:rPr b="0" i="0" lang="en-US" sz="2800" u="none" cap="none" strike="noStrike">
                <a:solidFill>
                  <a:schemeClr val="lt1"/>
                </a:solidFill>
                <a:latin typeface="Courier"/>
                <a:ea typeface="Courier"/>
                <a:cs typeface="Courier"/>
                <a:sym typeface="Courier"/>
              </a:rPr>
              <a:t>'Europe floor?'</a:t>
            </a:r>
            <a:r>
              <a:rPr b="0" i="0" lang="en-US" sz="28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00"/>
              <a:buFont typeface="Cabin"/>
              <a:buNone/>
            </a:pPr>
            <a:r>
              <a:rPr b="0" i="0" lang="en-US" sz="2800" u="none" cap="none" strike="noStrike">
                <a:solidFill>
                  <a:srgbClr val="00FF00"/>
                </a:solidFill>
                <a:latin typeface="Courier"/>
                <a:ea typeface="Courier"/>
                <a:cs typeface="Courier"/>
                <a:sym typeface="Courier"/>
              </a:rPr>
              <a:t>usf</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FF00"/>
                </a:solidFill>
                <a:latin typeface="Courier"/>
                <a:ea typeface="Courier"/>
                <a:cs typeface="Courier"/>
                <a:sym typeface="Courier"/>
              </a:rPr>
              <a:t>int(</a:t>
            </a:r>
            <a:r>
              <a:rPr b="0" i="0" lang="en-US" sz="2800" u="none" cap="none" strike="noStrike">
                <a:solidFill>
                  <a:srgbClr val="00FF00"/>
                </a:solidFill>
                <a:latin typeface="Courier"/>
                <a:ea typeface="Courier"/>
                <a:cs typeface="Courier"/>
                <a:sym typeface="Courier"/>
              </a:rPr>
              <a:t>inp</a:t>
            </a:r>
            <a:r>
              <a:rPr b="0" i="0" lang="en-US" sz="2800" u="none" cap="none" strike="noStrike">
                <a:solidFill>
                  <a:srgbClr val="FFFF00"/>
                </a:solidFill>
                <a:latin typeface="Courier"/>
                <a:ea typeface="Courier"/>
                <a:cs typeface="Courier"/>
                <a:sym typeface="Courier"/>
              </a:rPr>
              <a:t>)</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FF"/>
                </a:solidFill>
                <a:latin typeface="Courier"/>
                <a:ea typeface="Courier"/>
                <a:cs typeface="Courier"/>
                <a:sym typeface="Courier"/>
              </a:rPr>
              <a:t>+</a:t>
            </a:r>
            <a:r>
              <a:rPr b="0" i="0" lang="en-US" sz="2800" u="none" cap="none" strike="noStrike">
                <a:solidFill>
                  <a:schemeClr val="lt1"/>
                </a:solidFill>
                <a:latin typeface="Courier"/>
                <a:ea typeface="Courier"/>
                <a:cs typeface="Courier"/>
                <a:sym typeface="Courier"/>
              </a:rPr>
              <a: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'US floor', </a:t>
            </a:r>
            <a:r>
              <a:rPr b="0" i="0" lang="en-US" sz="2800" u="none" cap="none" strike="noStrike">
                <a:solidFill>
                  <a:srgbClr val="00FF00"/>
                </a:solidFill>
                <a:latin typeface="Courier"/>
                <a:ea typeface="Courier"/>
                <a:cs typeface="Courier"/>
                <a:sym typeface="Courier"/>
              </a:rPr>
              <a:t>usf</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FF00"/>
              </a:solidFill>
              <a:latin typeface="Courier"/>
              <a:ea typeface="Courier"/>
              <a:cs typeface="Courier"/>
              <a:sym typeface="Courier"/>
            </a:endParaRPr>
          </a:p>
        </p:txBody>
      </p:sp>
      <p:sp>
        <p:nvSpPr>
          <p:cNvPr id="263" name="Google Shape;263;p24"/>
          <p:cNvSpPr txBox="1"/>
          <p:nvPr/>
        </p:nvSpPr>
        <p:spPr>
          <a:xfrm>
            <a:off x="10198100" y="6515100"/>
            <a:ext cx="4569900" cy="1219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50"/>
              <a:buFont typeface="Cabin"/>
              <a:buNone/>
            </a:pPr>
            <a:r>
              <a:rPr b="0" i="0" lang="en-US" sz="3800" u="none" cap="none" strike="noStrike">
                <a:solidFill>
                  <a:schemeClr val="lt1"/>
                </a:solidFill>
                <a:latin typeface="Arial"/>
                <a:ea typeface="Arial"/>
                <a:cs typeface="Arial"/>
                <a:sym typeface="Arial"/>
              </a:rPr>
              <a:t>Europe floor? </a:t>
            </a:r>
            <a:r>
              <a:rPr b="0" i="0" lang="en-US" sz="3800" u="none" cap="none" strike="noStrike">
                <a:solidFill>
                  <a:srgbClr val="FFFF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50"/>
              <a:buFont typeface="Cabin"/>
              <a:buNone/>
            </a:pPr>
            <a:r>
              <a:rPr b="0" i="0" lang="en-US" sz="3800" u="none" cap="none" strike="noStrike">
                <a:solidFill>
                  <a:schemeClr val="lt1"/>
                </a:solidFill>
                <a:latin typeface="Arial"/>
                <a:ea typeface="Arial"/>
                <a:cs typeface="Arial"/>
                <a:sym typeface="Arial"/>
              </a:rPr>
              <a:t>US floor 1</a:t>
            </a:r>
            <a:endParaRPr b="0" i="0" sz="1400" u="none" cap="none" strike="noStrike">
              <a:solidFill>
                <a:srgbClr val="000000"/>
              </a:solidFill>
              <a:latin typeface="Arial"/>
              <a:ea typeface="Arial"/>
              <a:cs typeface="Arial"/>
              <a:sym typeface="Arial"/>
            </a:endParaRPr>
          </a:p>
        </p:txBody>
      </p:sp>
      <p:pic>
        <p:nvPicPr>
          <p:cNvPr id="264" name="Google Shape;264;p24"/>
          <p:cNvPicPr preferRelativeResize="0"/>
          <p:nvPr/>
        </p:nvPicPr>
        <p:blipFill rotWithShape="1">
          <a:blip r:embed="rId3">
            <a:alphaModFix/>
          </a:blip>
          <a:srcRect b="0" l="0" r="0" t="0"/>
          <a:stretch/>
        </p:blipFill>
        <p:spPr>
          <a:xfrm>
            <a:off x="12153875" y="1193800"/>
            <a:ext cx="3174900" cy="2121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type="title"/>
          </p:nvPr>
        </p:nvSpPr>
        <p:spPr>
          <a:xfrm>
            <a:off x="812800" y="785812"/>
            <a:ext cx="1463040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Comments in Python</a:t>
            </a:r>
            <a:endParaRPr/>
          </a:p>
        </p:txBody>
      </p:sp>
      <p:sp>
        <p:nvSpPr>
          <p:cNvPr id="270" name="Google Shape;270;p25"/>
          <p:cNvSpPr txBox="1"/>
          <p:nvPr>
            <p:ph idx="1" type="body"/>
          </p:nvPr>
        </p:nvSpPr>
        <p:spPr>
          <a:xfrm>
            <a:off x="812800" y="2133600"/>
            <a:ext cx="14630400" cy="6034087"/>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Anything after a </a:t>
            </a:r>
            <a:r>
              <a:rPr lang="en-US" sz="3600" u="none" cap="none" strike="noStrike">
                <a:solidFill>
                  <a:srgbClr val="FFFF00"/>
                </a:solidFill>
                <a:latin typeface="Arial"/>
                <a:ea typeface="Arial"/>
                <a:cs typeface="Arial"/>
                <a:sym typeface="Arial"/>
              </a:rPr>
              <a:t># </a:t>
            </a:r>
            <a:r>
              <a:rPr lang="en-US" sz="3600" u="none" cap="none" strike="noStrike">
                <a:solidFill>
                  <a:schemeClr val="lt1"/>
                </a:solidFill>
                <a:latin typeface="Arial"/>
                <a:ea typeface="Arial"/>
                <a:cs typeface="Arial"/>
                <a:sym typeface="Arial"/>
              </a:rPr>
              <a:t>is ignored by Python</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Why comment?</a:t>
            </a:r>
            <a:endParaRPr/>
          </a:p>
          <a:p>
            <a:pPr indent="0" lvl="1" marL="670306" marR="0" rtl="0" algn="l">
              <a:lnSpc>
                <a:spcPct val="100000"/>
              </a:lnSpc>
              <a:spcBef>
                <a:spcPts val="3500"/>
              </a:spcBef>
              <a:spcAft>
                <a:spcPts val="0"/>
              </a:spcAft>
              <a:buClr>
                <a:schemeClr val="lt1"/>
              </a:buClr>
              <a:buSzPts val="3600"/>
              <a:buNone/>
            </a:pPr>
            <a:r>
              <a:rPr lang="en-US" sz="3600" u="none" cap="none" strike="noStrike">
                <a:solidFill>
                  <a:schemeClr val="lt1"/>
                </a:solidFill>
                <a:latin typeface="Arial"/>
                <a:ea typeface="Arial"/>
                <a:cs typeface="Arial"/>
                <a:sym typeface="Arial"/>
              </a:rPr>
              <a:t> -  Describe what is going to happen in a sequence of code</a:t>
            </a:r>
            <a:endParaRPr/>
          </a:p>
          <a:p>
            <a:pPr indent="0" lvl="1" marL="670306" marR="0" rtl="0" algn="l">
              <a:lnSpc>
                <a:spcPct val="100000"/>
              </a:lnSpc>
              <a:spcBef>
                <a:spcPts val="3500"/>
              </a:spcBef>
              <a:spcAft>
                <a:spcPts val="0"/>
              </a:spcAft>
              <a:buClr>
                <a:schemeClr val="lt1"/>
              </a:buClr>
              <a:buSzPts val="3600"/>
              <a:buNone/>
            </a:pPr>
            <a:r>
              <a:rPr lang="en-US" sz="3600" u="none" cap="none" strike="noStrike">
                <a:solidFill>
                  <a:schemeClr val="lt1"/>
                </a:solidFill>
                <a:latin typeface="Arial"/>
                <a:ea typeface="Arial"/>
                <a:cs typeface="Arial"/>
                <a:sym typeface="Arial"/>
              </a:rPr>
              <a:t> -  Document who wrote the code or other ancillary information</a:t>
            </a:r>
            <a:endParaRPr/>
          </a:p>
          <a:p>
            <a:pPr indent="0" lvl="1" marL="670306" marR="0" rtl="0" algn="l">
              <a:lnSpc>
                <a:spcPct val="100000"/>
              </a:lnSpc>
              <a:spcBef>
                <a:spcPts val="3500"/>
              </a:spcBef>
              <a:spcAft>
                <a:spcPts val="0"/>
              </a:spcAft>
              <a:buClr>
                <a:schemeClr val="lt1"/>
              </a:buClr>
              <a:buSzPts val="3600"/>
              <a:buNone/>
            </a:pPr>
            <a:r>
              <a:rPr lang="en-US" sz="3600" u="none" cap="none" strike="noStrike">
                <a:solidFill>
                  <a:schemeClr val="lt1"/>
                </a:solidFill>
                <a:latin typeface="Arial"/>
                <a:ea typeface="Arial"/>
                <a:cs typeface="Arial"/>
                <a:sym typeface="Arial"/>
              </a:rPr>
              <a:t> -  Turn off a line of code - perhaps temporarily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6"/>
          <p:cNvSpPr txBox="1"/>
          <p:nvPr/>
        </p:nvSpPr>
        <p:spPr>
          <a:xfrm>
            <a:off x="4241800" y="685801"/>
            <a:ext cx="8234400" cy="76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Get the name of the file and open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name = input('Enter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handle = open(name, 'r')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Count word frequency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ourier"/>
              <a:buNone/>
            </a:pPr>
            <a:r>
              <a:rPr b="0" i="0" lang="en-US" sz="2400" u="none" cap="none" strike="noStrike">
                <a:solidFill>
                  <a:srgbClr val="FFFFFF"/>
                </a:solidFill>
                <a:latin typeface="Courier"/>
                <a:ea typeface="Courier"/>
                <a:cs typeface="Courier"/>
                <a:sym typeface="Courier"/>
              </a:rPr>
              <a:t>counts = dict()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ourier"/>
              <a:buNone/>
            </a:pPr>
            <a:r>
              <a:rPr b="0" i="0" lang="en-US" sz="2400" u="none" cap="none" strike="noStrike">
                <a:solidFill>
                  <a:srgbClr val="FFFFFF"/>
                </a:solidFill>
                <a:latin typeface="Courier"/>
                <a:ea typeface="Courier"/>
                <a:cs typeface="Courier"/>
                <a:sym typeface="Courier"/>
              </a:rPr>
              <a:t>for line in handle: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ourier"/>
              <a:buNone/>
            </a:pPr>
            <a:r>
              <a:rPr b="0" i="0" lang="en-US" sz="2400" u="none" cap="none" strike="noStrike">
                <a:solidFill>
                  <a:srgbClr val="FFFFFF"/>
                </a:solidFill>
                <a:latin typeface="Courier"/>
                <a:ea typeface="Courier"/>
                <a:cs typeface="Courier"/>
                <a:sym typeface="Courier"/>
              </a:rPr>
              <a:t>    words = line.split()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ourier"/>
              <a:buNone/>
            </a:pPr>
            <a:r>
              <a:rPr b="0" i="0" lang="en-US" sz="2400" u="none" cap="none" strike="noStrike">
                <a:solidFill>
                  <a:srgbClr val="FFFFFF"/>
                </a:solidFill>
                <a:latin typeface="Courier"/>
                <a:ea typeface="Courier"/>
                <a:cs typeface="Courier"/>
                <a:sym typeface="Courier"/>
              </a:rPr>
              <a:t>    for word in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ourier"/>
              <a:buNone/>
            </a:pPr>
            <a:r>
              <a:rPr b="0" i="0" lang="en-US" sz="2400" u="none" cap="none" strike="noStrike">
                <a:solidFill>
                  <a:srgbClr val="FFFFFF"/>
                </a:solidFill>
                <a:latin typeface="Courier"/>
                <a:ea typeface="Courier"/>
                <a:cs typeface="Courier"/>
                <a:sym typeface="Courier"/>
              </a:rPr>
              <a:t>        counts[word] = counts.get(word,0) + 1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Find the most common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bigcount = 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bigword = 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for word,count in counts.items():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    if bigcount is None or count &gt; bigcount: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        bigword =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        bigcount = count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All done</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FF"/>
              </a:buClr>
              <a:buSzPts val="600"/>
              <a:buFont typeface="Cabin"/>
              <a:buNone/>
            </a:pPr>
            <a:r>
              <a:rPr b="0" i="0" lang="en-US" sz="2400" u="none" cap="none" strike="noStrike">
                <a:solidFill>
                  <a:srgbClr val="FFFFFF"/>
                </a:solidFill>
                <a:latin typeface="Courier"/>
                <a:ea typeface="Courier"/>
                <a:cs typeface="Courier"/>
                <a:sym typeface="Courier"/>
              </a:rPr>
              <a:t>print(bigword, bigcount)</a:t>
            </a:r>
            <a:endParaRPr b="0" i="0" sz="2400" u="none" cap="none" strike="noStrike">
              <a:solidFill>
                <a:srgbClr val="FFFFFF"/>
              </a:solidFill>
              <a:latin typeface="Courier"/>
              <a:ea typeface="Courier"/>
              <a:cs typeface="Courier"/>
              <a:sym typeface="Couri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812800" y="785812"/>
            <a:ext cx="13745390" cy="11048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281" name="Google Shape;281;p27"/>
          <p:cNvSpPr txBox="1"/>
          <p:nvPr>
            <p:ph idx="1" type="body"/>
          </p:nvPr>
        </p:nvSpPr>
        <p:spPr>
          <a:xfrm>
            <a:off x="1362894" y="2659529"/>
            <a:ext cx="6427286" cy="5508158"/>
          </a:xfrm>
          <a:prstGeom prst="rect">
            <a:avLst/>
          </a:prstGeom>
          <a:noFill/>
          <a:ln>
            <a:noFill/>
          </a:ln>
        </p:spPr>
        <p:txBody>
          <a:bodyPr anchorCtr="0" anchor="t" bIns="38100" lIns="38100" spcFirstLastPara="1" rIns="38100" wrap="square" tIns="38100">
            <a:noAutofit/>
          </a:bodyPr>
          <a:lstStyle/>
          <a:p>
            <a:pPr indent="-32931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Type</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Reserved words</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Variables (mnemonic)</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Operators</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Operator precedence</a:t>
            </a:r>
            <a:endParaRPr/>
          </a:p>
          <a:p>
            <a:pPr indent="0" lvl="0" marL="0" marR="0" rtl="0" algn="l">
              <a:lnSpc>
                <a:spcPct val="100000"/>
              </a:lnSpc>
              <a:spcBef>
                <a:spcPts val="3500"/>
              </a:spcBef>
              <a:spcAft>
                <a:spcPts val="0"/>
              </a:spcAft>
              <a:buSzPts val="3600"/>
              <a:buNone/>
            </a:pPr>
            <a:r>
              <a:t/>
            </a:r>
            <a:endParaRPr sz="3600"/>
          </a:p>
        </p:txBody>
      </p:sp>
      <p:sp>
        <p:nvSpPr>
          <p:cNvPr id="282" name="Google Shape;282;p27"/>
          <p:cNvSpPr txBox="1"/>
          <p:nvPr>
            <p:ph idx="4294967295" type="body"/>
          </p:nvPr>
        </p:nvSpPr>
        <p:spPr>
          <a:xfrm>
            <a:off x="8753402" y="2659529"/>
            <a:ext cx="6532697" cy="5395913"/>
          </a:xfrm>
          <a:prstGeom prst="rect">
            <a:avLst/>
          </a:prstGeom>
          <a:noFill/>
          <a:ln>
            <a:noFill/>
          </a:ln>
        </p:spPr>
        <p:txBody>
          <a:bodyPr anchorCtr="0" anchor="t" bIns="38100" lIns="38100" spcFirstLastPara="1" rIns="38100" wrap="square" tIns="38100">
            <a:noAutofit/>
          </a:bodyPr>
          <a:lstStyle/>
          <a:p>
            <a:pPr indent="-32931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Integer Division</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Conversion between types</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User input</a:t>
            </a:r>
            <a:endParaRPr/>
          </a:p>
          <a:p>
            <a:pPr indent="-32931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Comments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812800" y="785812"/>
            <a:ext cx="14630400" cy="1104899"/>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288" name="Google Shape;288;p28"/>
          <p:cNvSpPr txBox="1"/>
          <p:nvPr/>
        </p:nvSpPr>
        <p:spPr>
          <a:xfrm>
            <a:off x="1155700" y="2171403"/>
            <a:ext cx="6797699" cy="594389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100"/>
              <a:buFont typeface="Arial"/>
              <a:buNone/>
            </a:pPr>
            <a:r>
              <a:rPr b="0" i="0" lang="en-US" sz="1800" u="none" cap="none" strike="noStrike">
                <a:solidFill>
                  <a:schemeClr val="lt1"/>
                </a:solidFill>
                <a:latin typeface="Arial"/>
                <a:ea typeface="Arial"/>
                <a:cs typeface="Arial"/>
                <a:sym typeface="Arial"/>
              </a:rPr>
              <a:t>… Insert new Contributors and Translators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289" name="Google Shape;289;p28"/>
          <p:cNvPicPr preferRelativeResize="0"/>
          <p:nvPr/>
        </p:nvPicPr>
        <p:blipFill rotWithShape="1">
          <a:blip r:embed="rId4">
            <a:alphaModFix/>
          </a:blip>
          <a:srcRect b="0" l="0" r="0" t="0"/>
          <a:stretch/>
        </p:blipFill>
        <p:spPr>
          <a:xfrm>
            <a:off x="13897688" y="1170103"/>
            <a:ext cx="1968599" cy="668400"/>
          </a:xfrm>
          <a:prstGeom prst="rect">
            <a:avLst/>
          </a:prstGeom>
          <a:noFill/>
          <a:ln>
            <a:noFill/>
          </a:ln>
        </p:spPr>
      </p:pic>
      <p:sp>
        <p:nvSpPr>
          <p:cNvPr id="290" name="Google Shape;290;p28"/>
          <p:cNvSpPr txBox="1"/>
          <p:nvPr/>
        </p:nvSpPr>
        <p:spPr>
          <a:xfrm>
            <a:off x="8704400" y="2369453"/>
            <a:ext cx="6797699" cy="574584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