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9144000" cx="16256000"/>
  <p:notesSz cx="6858000" cy="9144000"/>
  <p:embeddedFontLst>
    <p:embeddedFont>
      <p:font typeface="Gill Sans"/>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illSans-bold.fntdata"/><Relationship Id="rId25" Type="http://schemas.openxmlformats.org/officeDocument/2006/relationships/font" Target="fonts/GillSans-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elopers.google.com/maps/documentation/geocoding/star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maps.googleapis.com/maps/api/geocode/json?address=Ann+Arbor,+MI" TargetMode="External"/><Relationship Id="rId3" Type="http://schemas.openxmlformats.org/officeDocument/2006/relationships/hyperlink" Target="https://developers.google.com/maps/documentation/javascript/geocoding"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ithub.com/harslan/Notebooks/blob/master/google_geocoding_service.ipynb"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2"/>
              </a:solidFill>
            </a:endParaRPr>
          </a:p>
        </p:txBody>
      </p:sp>
      <p:sp>
        <p:nvSpPr>
          <p:cNvPr id="21" name="Google Shape;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In addition to retrieving and parsing documents over HTTP in HTML format using programming languages, an approach has been developed to producing documents that were specifically designed to be consumed by other programs. There are two common formats that are used when exchanging data across the web: XML (eXtensible Markup Language) and JSON (JavaScript Object Notation). XML has been in use for a very long time and is best suited for exchanging document-style data. When programs just want to exchange dictionaries, lists, or other internal information with each other, they use JavaScript Object Notation (JSON). We will look at both formats.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
        <p:nvSpPr>
          <p:cNvPr id="29" name="Google Shape;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 name="Shape 33"/>
        <p:cNvGrpSpPr/>
        <p:nvPr/>
      </p:nvGrpSpPr>
      <p:grpSpPr>
        <a:xfrm>
          <a:off x="0" y="0"/>
          <a:ext cx="0" cy="0"/>
          <a:chOff x="0" y="0"/>
          <a:chExt cx="0" cy="0"/>
        </a:xfrm>
      </p:grpSpPr>
      <p:sp>
        <p:nvSpPr>
          <p:cNvPr id="34" name="Google Shape;34;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
        <p:nvSpPr>
          <p:cNvPr id="35" name="Google Shape;3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XML looks very similar to HTML, but more structured than HTML. </a:t>
            </a:r>
            <a:r>
              <a:rPr lang="en-US" sz="1100" u="none" cap="none" strike="noStrike">
                <a:solidFill>
                  <a:schemeClr val="lt1"/>
                </a:solidFill>
                <a:latin typeface="Arial"/>
                <a:ea typeface="Arial"/>
                <a:cs typeface="Arial"/>
                <a:sym typeface="Arial"/>
              </a:rPr>
              <a:t>Primary purpose of XML is to help information systems </a:t>
            </a:r>
            <a:r>
              <a:rPr lang="en-US" sz="1100" u="none" cap="none" strike="noStrike">
                <a:solidFill>
                  <a:srgbClr val="00FF00"/>
                </a:solidFill>
                <a:latin typeface="Arial"/>
                <a:ea typeface="Arial"/>
                <a:cs typeface="Arial"/>
                <a:sym typeface="Arial"/>
              </a:rPr>
              <a:t>share structured data. </a:t>
            </a:r>
            <a:r>
              <a:rPr lang="en-US"/>
              <a:t>Here is a sample of an XML document: </a:t>
            </a:r>
            <a:endParaRPr/>
          </a:p>
          <a:p>
            <a:pPr indent="0" lvl="0" marL="0" marR="0" rtl="0" algn="l">
              <a:lnSpc>
                <a:spcPct val="100000"/>
              </a:lnSpc>
              <a:spcBef>
                <a:spcPts val="0"/>
              </a:spcBef>
              <a:spcAft>
                <a:spcPts val="0"/>
              </a:spcAft>
              <a:buClr>
                <a:srgbClr val="00FF00"/>
              </a:buClr>
              <a:buSzPts val="275"/>
              <a:buFont typeface="Cabin"/>
              <a:buNone/>
            </a:pPr>
            <a:r>
              <a:t/>
            </a:r>
            <a:endParaRPr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275"/>
              <a:buFont typeface="Cabin"/>
              <a:buNone/>
            </a:pPr>
            <a:r>
              <a:rPr lang="en-US" sz="1100" u="none" cap="none" strike="noStrike">
                <a:solidFill>
                  <a:srgbClr val="00FF00"/>
                </a:solidFill>
                <a:latin typeface="Arial"/>
                <a:ea typeface="Arial"/>
                <a:cs typeface="Arial"/>
                <a:sym typeface="Arial"/>
              </a:rPr>
              <a:t>&lt;person&gt;</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  </a:t>
            </a:r>
            <a:r>
              <a:rPr lang="en-US" sz="1100" u="none" cap="none" strike="noStrike">
                <a:solidFill>
                  <a:srgbClr val="00FF00"/>
                </a:solidFill>
                <a:latin typeface="Arial"/>
                <a:ea typeface="Arial"/>
                <a:cs typeface="Arial"/>
                <a:sym typeface="Arial"/>
              </a:rPr>
              <a:t>&lt;name&gt;</a:t>
            </a:r>
            <a:r>
              <a:rPr lang="en-US" sz="1100" u="none" cap="none" strike="noStrike">
                <a:solidFill>
                  <a:schemeClr val="lt1"/>
                </a:solidFill>
                <a:latin typeface="Arial"/>
                <a:ea typeface="Arial"/>
                <a:cs typeface="Arial"/>
                <a:sym typeface="Arial"/>
              </a:rPr>
              <a:t>Chuck</a:t>
            </a:r>
            <a:r>
              <a:rPr lang="en-US" sz="1100" u="none" cap="none" strike="noStrike">
                <a:solidFill>
                  <a:srgbClr val="FFFF00"/>
                </a:solidFill>
                <a:latin typeface="Arial"/>
                <a:ea typeface="Arial"/>
                <a:cs typeface="Arial"/>
                <a:sym typeface="Arial"/>
              </a:rPr>
              <a:t>&lt;/name&gt;</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  </a:t>
            </a:r>
            <a:r>
              <a:rPr lang="en-US" sz="1100" u="none" cap="none" strike="noStrike">
                <a:solidFill>
                  <a:srgbClr val="00FF00"/>
                </a:solidFill>
                <a:latin typeface="Arial"/>
                <a:ea typeface="Arial"/>
                <a:cs typeface="Arial"/>
                <a:sym typeface="Arial"/>
              </a:rPr>
              <a:t>&lt;phone </a:t>
            </a:r>
            <a:r>
              <a:rPr lang="en-US" sz="1100" u="none" cap="none" strike="noStrike">
                <a:solidFill>
                  <a:srgbClr val="FF7F00"/>
                </a:solidFill>
                <a:latin typeface="Arial"/>
                <a:ea typeface="Arial"/>
                <a:cs typeface="Arial"/>
                <a:sym typeface="Arial"/>
              </a:rPr>
              <a:t>type=</a:t>
            </a:r>
            <a:r>
              <a:rPr lang="en-US" sz="1100">
                <a:solidFill>
                  <a:srgbClr val="FF7F00"/>
                </a:solidFill>
              </a:rPr>
              <a:t>"</a:t>
            </a:r>
            <a:r>
              <a:rPr lang="en-US" sz="1100" u="none" cap="none" strike="noStrike">
                <a:solidFill>
                  <a:srgbClr val="FF7F00"/>
                </a:solidFill>
                <a:latin typeface="Arial"/>
                <a:ea typeface="Arial"/>
                <a:cs typeface="Arial"/>
                <a:sym typeface="Arial"/>
              </a:rPr>
              <a:t>intl</a:t>
            </a:r>
            <a:r>
              <a:rPr lang="en-US" sz="1100">
                <a:solidFill>
                  <a:srgbClr val="FF7F00"/>
                </a:solidFill>
              </a:rPr>
              <a:t>"</a:t>
            </a:r>
            <a:r>
              <a:rPr lang="en-US" sz="1100" u="none" cap="none" strike="noStrike">
                <a:solidFill>
                  <a:srgbClr val="00FF00"/>
                </a:solidFill>
                <a:latin typeface="Arial"/>
                <a:ea typeface="Arial"/>
                <a:cs typeface="Arial"/>
                <a:sym typeface="Arial"/>
              </a:rPr>
              <a:t>&gt;</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     +1 734 303 4456</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   </a:t>
            </a:r>
            <a:r>
              <a:rPr lang="en-US" sz="1100" u="none" cap="none" strike="noStrike">
                <a:solidFill>
                  <a:srgbClr val="FFFF00"/>
                </a:solidFill>
                <a:latin typeface="Arial"/>
                <a:ea typeface="Arial"/>
                <a:cs typeface="Arial"/>
                <a:sym typeface="Arial"/>
              </a:rPr>
              <a:t>&lt;/phone&gt;</a:t>
            </a:r>
            <a:endParaRPr/>
          </a:p>
          <a:p>
            <a:pPr indent="0" lvl="0" marL="0" marR="0" rtl="0" algn="l">
              <a:lnSpc>
                <a:spcPct val="100000"/>
              </a:lnSpc>
              <a:spcBef>
                <a:spcPts val="0"/>
              </a:spcBef>
              <a:spcAft>
                <a:spcPts val="0"/>
              </a:spcAft>
              <a:buClr>
                <a:schemeClr val="lt1"/>
              </a:buClr>
              <a:buSzPts val="275"/>
              <a:buFont typeface="Cabin"/>
              <a:buNone/>
            </a:pPr>
            <a:r>
              <a:rPr lang="en-US" sz="1100" u="none" cap="none" strike="noStrike">
                <a:solidFill>
                  <a:schemeClr val="lt1"/>
                </a:solidFill>
                <a:latin typeface="Arial"/>
                <a:ea typeface="Arial"/>
                <a:cs typeface="Arial"/>
                <a:sym typeface="Arial"/>
              </a:rPr>
              <a:t>   </a:t>
            </a:r>
            <a:r>
              <a:rPr lang="en-US" sz="1100" u="none" cap="none" strike="noStrike">
                <a:solidFill>
                  <a:srgbClr val="FF00FF"/>
                </a:solidFill>
                <a:latin typeface="Arial"/>
                <a:ea typeface="Arial"/>
                <a:cs typeface="Arial"/>
                <a:sym typeface="Arial"/>
              </a:rPr>
              <a:t>&lt;email</a:t>
            </a:r>
            <a:r>
              <a:rPr lang="en-US" sz="1100" u="none" cap="none" strike="noStrike">
                <a:solidFill>
                  <a:schemeClr val="lt1"/>
                </a:solidFill>
                <a:latin typeface="Arial"/>
                <a:ea typeface="Arial"/>
                <a:cs typeface="Arial"/>
                <a:sym typeface="Arial"/>
              </a:rPr>
              <a:t> </a:t>
            </a:r>
            <a:r>
              <a:rPr lang="en-US" sz="1100" u="none" cap="none" strike="noStrike">
                <a:solidFill>
                  <a:srgbClr val="FF7F00"/>
                </a:solidFill>
                <a:latin typeface="Arial"/>
                <a:ea typeface="Arial"/>
                <a:cs typeface="Arial"/>
                <a:sym typeface="Arial"/>
              </a:rPr>
              <a:t>hide=</a:t>
            </a:r>
            <a:r>
              <a:rPr lang="en-US" sz="1100">
                <a:solidFill>
                  <a:srgbClr val="FF7F00"/>
                </a:solidFill>
              </a:rPr>
              <a:t>"</a:t>
            </a:r>
            <a:r>
              <a:rPr lang="en-US" sz="1100" u="none" cap="none" strike="noStrike">
                <a:solidFill>
                  <a:srgbClr val="FF7F00"/>
                </a:solidFill>
                <a:latin typeface="Arial"/>
                <a:ea typeface="Arial"/>
                <a:cs typeface="Arial"/>
                <a:sym typeface="Arial"/>
              </a:rPr>
              <a:t>yes</a:t>
            </a:r>
            <a:r>
              <a:rPr lang="en-US" sz="1100">
                <a:solidFill>
                  <a:srgbClr val="FF7F00"/>
                </a:solidFill>
              </a:rPr>
              <a:t>"</a:t>
            </a:r>
            <a:r>
              <a:rPr lang="en-US" sz="1100" u="none" cap="none" strike="noStrike">
                <a:solidFill>
                  <a:schemeClr val="lt1"/>
                </a:solidFill>
                <a:latin typeface="Arial"/>
                <a:ea typeface="Arial"/>
                <a:cs typeface="Arial"/>
                <a:sym typeface="Arial"/>
              </a:rPr>
              <a:t> </a:t>
            </a:r>
            <a:r>
              <a:rPr lang="en-US" sz="1100" u="none" cap="none" strike="noStrike">
                <a:solidFill>
                  <a:srgbClr val="FF00FF"/>
                </a:solidFill>
                <a:latin typeface="Arial"/>
                <a:ea typeface="Arial"/>
                <a:cs typeface="Arial"/>
                <a:sym typeface="Arial"/>
              </a:rPr>
              <a:t>/&gt;</a:t>
            </a:r>
            <a:endParaRPr/>
          </a:p>
          <a:p>
            <a:pPr indent="0" lvl="0" marL="0" marR="0" rtl="0" algn="l">
              <a:lnSpc>
                <a:spcPct val="100000"/>
              </a:lnSpc>
              <a:spcBef>
                <a:spcPts val="0"/>
              </a:spcBef>
              <a:spcAft>
                <a:spcPts val="0"/>
              </a:spcAft>
              <a:buClr>
                <a:srgbClr val="FFFF00"/>
              </a:buClr>
              <a:buSzPts val="275"/>
              <a:buFont typeface="Cabin"/>
              <a:buNone/>
            </a:pPr>
            <a:r>
              <a:rPr lang="en-US" sz="1100" u="none" cap="none" strike="noStrike">
                <a:solidFill>
                  <a:srgbClr val="FFFF00"/>
                </a:solidFill>
                <a:latin typeface="Arial"/>
                <a:ea typeface="Arial"/>
                <a:cs typeface="Arial"/>
                <a:sym typeface="Arial"/>
              </a:rPr>
              <a:t>&lt;/person&gt;</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Each pair of opening and closing tags represents a element or node with the same name as the tag (e.g., person). Each element can have some text, some attributes, and other nested elements. If an XML element is empty (i.e., has no content), then it may be depicted by a self-closing tag (e.g., &lt;email /&gt;). </a:t>
            </a:r>
            <a:r>
              <a:rPr lang="en-US" sz="1100" u="none" cap="none" strike="noStrike">
                <a:solidFill>
                  <a:schemeClr val="lt1"/>
                </a:solidFill>
                <a:latin typeface="Arial"/>
                <a:ea typeface="Arial"/>
                <a:cs typeface="Arial"/>
                <a:sym typeface="Arial"/>
              </a:rPr>
              <a:t>Line ends do not matter.  White space is generally discarded on text elements.  We indent only to be readable.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
        <p:nvSpPr>
          <p:cNvPr id="42" name="Google Shape;4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It is helpful to think of an XML document as a tree structure where there is a top element (i.e., person), and other tags (e.g., phone) are drawn as children of their parent elements.</a:t>
            </a:r>
            <a:endParaRPr/>
          </a:p>
        </p:txBody>
      </p:sp>
      <p:sp>
        <p:nvSpPr>
          <p:cNvPr id="49" name="Google Shape;4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Parsing XML in Python:</a:t>
            </a:r>
            <a:endParaRPr/>
          </a:p>
          <a:p>
            <a:pPr indent="0" lvl="0" marL="0" rtl="0" algn="l">
              <a:spcBef>
                <a:spcPts val="0"/>
              </a:spcBef>
              <a:spcAft>
                <a:spcPts val="0"/>
              </a:spcAft>
              <a:buClr>
                <a:schemeClr val="dk1"/>
              </a:buClr>
              <a:buSzPts val="1100"/>
              <a:buFont typeface="Arial"/>
              <a:buNone/>
            </a:pPr>
            <a:r>
              <a:rPr lang="en-US"/>
              <a:t>Here is a simple Python program that parses some XML and extracts some data elements from the XML structure:</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import xml.etree.ElementTree as ET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data = '''&lt;person&gt;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&lt;name&gt;Chuck&lt;/name&gt;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&lt;phone type="intl"&gt;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+1 734 303 4456</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&lt;/phone&gt;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&lt;email hide="yes"/&gt;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&lt;/person&gt;'''</a:t>
            </a:r>
            <a:endParaRPr/>
          </a:p>
          <a:p>
            <a:pPr indent="0" lvl="0" marL="0" marR="0" rtl="0" algn="ctr">
              <a:lnSpc>
                <a:spcPct val="100000"/>
              </a:lnSpc>
              <a:spcBef>
                <a:spcPts val="0"/>
              </a:spcBef>
              <a:spcAft>
                <a:spcPts val="0"/>
              </a:spcAft>
              <a:buClr>
                <a:schemeClr val="dk1"/>
              </a:buClr>
              <a:buSzPts val="1100"/>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tree = ET.fromstring(data)</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print('Name:',tree.find('name').text)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print('Attr:',tree.find('email').get('hide'))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Python program outputs the following:</a:t>
            </a:r>
            <a:endParaRPr/>
          </a:p>
          <a:p>
            <a:pPr indent="0" lvl="0" marL="0" rtl="0" algn="l">
              <a:spcBef>
                <a:spcPts val="0"/>
              </a:spcBef>
              <a:spcAft>
                <a:spcPts val="0"/>
              </a:spcAft>
              <a:buClr>
                <a:schemeClr val="dk1"/>
              </a:buClr>
              <a:buSzPts val="1100"/>
              <a:buFont typeface="Arial"/>
              <a:buNone/>
            </a:pPr>
            <a:r>
              <a:rPr lang="en-US"/>
              <a:t>Name: Chuck </a:t>
            </a:r>
            <a:endParaRPr/>
          </a:p>
          <a:p>
            <a:pPr indent="0" lvl="0" marL="0" rtl="0" algn="l">
              <a:spcBef>
                <a:spcPts val="0"/>
              </a:spcBef>
              <a:spcAft>
                <a:spcPts val="0"/>
              </a:spcAft>
              <a:buClr>
                <a:schemeClr val="dk1"/>
              </a:buClr>
              <a:buSzPts val="1100"/>
              <a:buFont typeface="Arial"/>
              <a:buNone/>
            </a:pPr>
            <a:r>
              <a:rPr lang="en-US"/>
              <a:t>Attr: yes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 note that the triple single quote ('''), as well as the triple double quote ("""), allow for the creation of strings that span multiple lines in Python. Calling fromstring method converts the string representation of the XML into a tree of XML elements. When the XML is in a tree, we have a series of methods we can call to extract portions of data from the XML string. For example, the find function searches through the XML tree and retrieves the element that matches the specified tag. Using an XML parser such as ElementTree allows us to extract data from XML without worrying about the rules of XML syntax.</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
        <p:nvSpPr>
          <p:cNvPr id="73" name="Google Shape;7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When the XML has multiple nodes, we need to write a loop to process all of the nodes. In the following Python program, we loop through all of the user nodes in the XML:</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import xml.etree.ElementTree as ET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input = '''&lt;stuff&gt;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&lt;users&gt;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&lt;user x="2"&gt;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&lt;id&gt;001&lt;/id&gt;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&lt;name&gt;Chuck&lt;/name&gt;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&lt;/user&gt;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&lt;user x="7"&gt;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&lt;id&gt;009&lt;/id&gt;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&lt;name&gt;Brent&lt;/name&gt;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&lt;/user&gt;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&lt;/users&gt;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&lt;/stuff&gt;'''</a:t>
            </a:r>
            <a:endParaRPr/>
          </a:p>
          <a:p>
            <a:pPr indent="0" lvl="0" marL="0" marR="0" rtl="0" algn="ctr">
              <a:lnSpc>
                <a:spcPct val="100000"/>
              </a:lnSpc>
              <a:spcBef>
                <a:spcPts val="0"/>
              </a:spcBef>
              <a:spcAft>
                <a:spcPts val="0"/>
              </a:spcAft>
              <a:buClr>
                <a:schemeClr val="dk1"/>
              </a:buClr>
              <a:buSzPts val="1100"/>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stuff = ET.fromstring(input)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lst = stuff.findall('users/user')</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print('User count:', len(lst))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for item in lst: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print('Name', item.find('name').text)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print('Id', item.find('id').text)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print('Attribute', item.get("x"))</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Python program outputs the following:</a:t>
            </a:r>
            <a:endParaRPr/>
          </a:p>
          <a:p>
            <a:pPr indent="0" lvl="0" marL="0" rtl="0" algn="l">
              <a:spcBef>
                <a:spcPts val="0"/>
              </a:spcBef>
              <a:spcAft>
                <a:spcPts val="0"/>
              </a:spcAft>
              <a:buClr>
                <a:schemeClr val="dk1"/>
              </a:buClr>
              <a:buSzPts val="1100"/>
              <a:buFont typeface="Arial"/>
              <a:buNone/>
            </a:pPr>
            <a:r>
              <a:rPr lang="en-US"/>
              <a:t>User count: 2 </a:t>
            </a:r>
            <a:endParaRPr/>
          </a:p>
          <a:p>
            <a:pPr indent="0" lvl="0" marL="0" rtl="0" algn="l">
              <a:spcBef>
                <a:spcPts val="0"/>
              </a:spcBef>
              <a:spcAft>
                <a:spcPts val="0"/>
              </a:spcAft>
              <a:buClr>
                <a:schemeClr val="dk1"/>
              </a:buClr>
              <a:buSzPts val="1100"/>
              <a:buFont typeface="Arial"/>
              <a:buNone/>
            </a:pPr>
            <a:r>
              <a:rPr lang="en-US"/>
              <a:t>Name Chuck </a:t>
            </a:r>
            <a:endParaRPr/>
          </a:p>
          <a:p>
            <a:pPr indent="0" lvl="0" marL="0" rtl="0" algn="l">
              <a:spcBef>
                <a:spcPts val="0"/>
              </a:spcBef>
              <a:spcAft>
                <a:spcPts val="0"/>
              </a:spcAft>
              <a:buClr>
                <a:schemeClr val="dk1"/>
              </a:buClr>
              <a:buSzPts val="1100"/>
              <a:buFont typeface="Arial"/>
              <a:buNone/>
            </a:pPr>
            <a:r>
              <a:rPr lang="en-US"/>
              <a:t>Id 001 </a:t>
            </a:r>
            <a:endParaRPr/>
          </a:p>
          <a:p>
            <a:pPr indent="0" lvl="0" marL="0" rtl="0" algn="l">
              <a:spcBef>
                <a:spcPts val="0"/>
              </a:spcBef>
              <a:spcAft>
                <a:spcPts val="0"/>
              </a:spcAft>
              <a:buClr>
                <a:schemeClr val="dk1"/>
              </a:buClr>
              <a:buSzPts val="1100"/>
              <a:buFont typeface="Arial"/>
              <a:buNone/>
            </a:pPr>
            <a:r>
              <a:rPr lang="en-US"/>
              <a:t>Attribute 2 </a:t>
            </a:r>
            <a:endParaRPr/>
          </a:p>
          <a:p>
            <a:pPr indent="0" lvl="0" marL="0" rtl="0" algn="l">
              <a:spcBef>
                <a:spcPts val="0"/>
              </a:spcBef>
              <a:spcAft>
                <a:spcPts val="0"/>
              </a:spcAft>
              <a:buClr>
                <a:schemeClr val="dk1"/>
              </a:buClr>
              <a:buSzPts val="1100"/>
              <a:buFont typeface="Arial"/>
              <a:buNone/>
            </a:pPr>
            <a:r>
              <a:rPr lang="en-US"/>
              <a:t>Name Brent </a:t>
            </a:r>
            <a:endParaRPr/>
          </a:p>
          <a:p>
            <a:pPr indent="0" lvl="0" marL="0" rtl="0" algn="l">
              <a:spcBef>
                <a:spcPts val="0"/>
              </a:spcBef>
              <a:spcAft>
                <a:spcPts val="0"/>
              </a:spcAft>
              <a:buClr>
                <a:schemeClr val="dk1"/>
              </a:buClr>
              <a:buSzPts val="1100"/>
              <a:buFont typeface="Arial"/>
              <a:buNone/>
            </a:pPr>
            <a:r>
              <a:rPr lang="en-US"/>
              <a:t>Id 009 </a:t>
            </a:r>
            <a:endParaRPr/>
          </a:p>
          <a:p>
            <a:pPr indent="0" lvl="0" marL="0" rtl="0" algn="l">
              <a:spcBef>
                <a:spcPts val="0"/>
              </a:spcBef>
              <a:spcAft>
                <a:spcPts val="0"/>
              </a:spcAft>
              <a:buClr>
                <a:schemeClr val="dk1"/>
              </a:buClr>
              <a:buSzPts val="1100"/>
              <a:buFont typeface="Arial"/>
              <a:buNone/>
            </a:pPr>
            <a:r>
              <a:rPr lang="en-US"/>
              <a:t>Attribute 7</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findall method retrieves a Python list of subtrees that represent the user structures in the XML tree. We can write a for loop that looks at each of the user nodes, and prints the name and id text elements as well as the x attribute from the user node. We note that we must include all parent level elements in the findall statement except for the top level element (e.g., users/user). Otherwise, Python will not find any desired nodes.</a:t>
            </a:r>
            <a:endParaRPr/>
          </a:p>
        </p:txBody>
      </p:sp>
      <p:sp>
        <p:nvSpPr>
          <p:cNvPr id="79" name="Google Shape;7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
        <p:nvSpPr>
          <p:cNvPr id="85" name="Google Shape;8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JSON format was inspired by the object and array format used in the JavaScript language. Since Python was invented before JavaScript, Python’s syntax for dictionaries and lists influenced the syn tax of JSON. So the format of JSON is nearly identical to a combination of Python lists and dictionaries. Here is a JSON encoding that is roughly equivalent to the simple XML format that we have seen earlier: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sz="1100">
                <a:solidFill>
                  <a:srgbClr val="00FF00"/>
                </a:solidFill>
                <a:latin typeface="Arial"/>
                <a:ea typeface="Arial"/>
                <a:cs typeface="Arial"/>
                <a:sym typeface="Arial"/>
              </a:rPr>
              <a:t>{  "name" : "Chuck", </a:t>
            </a:r>
            <a:endParaRPr sz="1100">
              <a:solidFill>
                <a:srgbClr val="00FF00"/>
              </a:solidFill>
              <a:latin typeface="Arial"/>
              <a:ea typeface="Arial"/>
              <a:cs typeface="Arial"/>
              <a:sym typeface="Arial"/>
            </a:endParaRPr>
          </a:p>
          <a:p>
            <a:pPr indent="0" lvl="0" marL="0" rtl="0" algn="l">
              <a:spcBef>
                <a:spcPts val="0"/>
              </a:spcBef>
              <a:spcAft>
                <a:spcPts val="0"/>
              </a:spcAft>
              <a:buNone/>
            </a:pPr>
            <a:r>
              <a:t/>
            </a:r>
            <a:endParaRPr sz="1100">
              <a:solidFill>
                <a:srgbClr val="00FF00"/>
              </a:solidFill>
              <a:latin typeface="Arial"/>
              <a:ea typeface="Arial"/>
              <a:cs typeface="Arial"/>
              <a:sym typeface="Arial"/>
            </a:endParaRPr>
          </a:p>
          <a:p>
            <a:pPr indent="0" lvl="0" marL="0" rtl="0" algn="l">
              <a:spcBef>
                <a:spcPts val="0"/>
              </a:spcBef>
              <a:spcAft>
                <a:spcPts val="0"/>
              </a:spcAft>
              <a:buNone/>
            </a:pPr>
            <a:r>
              <a:rPr lang="en-US" sz="1100">
                <a:solidFill>
                  <a:srgbClr val="00FF00"/>
                </a:solidFill>
                <a:latin typeface="Arial"/>
                <a:ea typeface="Arial"/>
                <a:cs typeface="Arial"/>
                <a:sym typeface="Arial"/>
              </a:rPr>
              <a:t>   "phone" : { "type" : "intl", </a:t>
            </a:r>
            <a:endParaRPr sz="1100">
              <a:solidFill>
                <a:srgbClr val="00FF00"/>
              </a:solidFill>
              <a:latin typeface="Arial"/>
              <a:ea typeface="Arial"/>
              <a:cs typeface="Arial"/>
              <a:sym typeface="Arial"/>
            </a:endParaRPr>
          </a:p>
          <a:p>
            <a:pPr indent="0" lvl="0" marL="0" rtl="0" algn="l">
              <a:spcBef>
                <a:spcPts val="0"/>
              </a:spcBef>
              <a:spcAft>
                <a:spcPts val="0"/>
              </a:spcAft>
              <a:buNone/>
            </a:pPr>
            <a:r>
              <a:rPr lang="en-US" sz="1100">
                <a:solidFill>
                  <a:srgbClr val="00FF00"/>
                </a:solidFill>
                <a:latin typeface="Arial"/>
                <a:ea typeface="Arial"/>
                <a:cs typeface="Arial"/>
                <a:sym typeface="Arial"/>
              </a:rPr>
              <a:t>                   "number" : "+1 734 303 4456”</a:t>
            </a:r>
            <a:endParaRPr sz="1100">
              <a:solidFill>
                <a:srgbClr val="00FF00"/>
              </a:solidFill>
              <a:latin typeface="Arial"/>
              <a:ea typeface="Arial"/>
              <a:cs typeface="Arial"/>
              <a:sym typeface="Arial"/>
            </a:endParaRPr>
          </a:p>
          <a:p>
            <a:pPr indent="0" lvl="0" marL="0" rtl="0" algn="l">
              <a:spcBef>
                <a:spcPts val="0"/>
              </a:spcBef>
              <a:spcAft>
                <a:spcPts val="0"/>
              </a:spcAft>
              <a:buNone/>
            </a:pPr>
            <a:r>
              <a:rPr lang="en-US" sz="1100">
                <a:solidFill>
                  <a:srgbClr val="00FF00"/>
                </a:solidFill>
                <a:latin typeface="Arial"/>
                <a:ea typeface="Arial"/>
                <a:cs typeface="Arial"/>
                <a:sym typeface="Arial"/>
              </a:rPr>
              <a:t>                   },    </a:t>
            </a:r>
            <a:endParaRPr/>
          </a:p>
          <a:p>
            <a:pPr indent="0" lvl="0" marL="0" rtl="0" algn="l">
              <a:spcBef>
                <a:spcPts val="0"/>
              </a:spcBef>
              <a:spcAft>
                <a:spcPts val="0"/>
              </a:spcAft>
              <a:buNone/>
            </a:pPr>
            <a:r>
              <a:rPr lang="en-US" sz="1100">
                <a:solidFill>
                  <a:srgbClr val="00FF00"/>
                </a:solidFill>
                <a:latin typeface="Arial"/>
                <a:ea typeface="Arial"/>
                <a:cs typeface="Arial"/>
                <a:sym typeface="Arial"/>
              </a:rPr>
              <a:t>  "email" : { "hide" : "yes" } </a:t>
            </a:r>
            <a:endParaRPr sz="1100">
              <a:solidFill>
                <a:srgbClr val="00FF00"/>
              </a:solidFill>
              <a:latin typeface="Arial"/>
              <a:ea typeface="Arial"/>
              <a:cs typeface="Arial"/>
              <a:sym typeface="Arial"/>
            </a:endParaRPr>
          </a:p>
          <a:p>
            <a:pPr indent="0" lvl="0" marL="0" rtl="0" algn="l">
              <a:spcBef>
                <a:spcPts val="0"/>
              </a:spcBef>
              <a:spcAft>
                <a:spcPts val="0"/>
              </a:spcAft>
              <a:buNone/>
            </a:pPr>
            <a:r>
              <a:rPr lang="en-US" sz="1100">
                <a:solidFill>
                  <a:srgbClr val="00FF00"/>
                </a:solidFill>
                <a:latin typeface="Arial"/>
                <a:ea typeface="Arial"/>
                <a:cs typeface="Arial"/>
                <a:sym typeface="Arial"/>
              </a:rPr>
              <a:t>}</a:t>
            </a:r>
            <a:endParaRPr sz="1100" u="none" cap="none" strike="noStrike">
              <a:solidFill>
                <a:srgbClr val="FFFF00"/>
              </a:solidFill>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 construct JSON structures by nesting dictionaries and lists as needed. Also, JSON structures are simpler than XML because JSON has fewer capabilities than XML. However,</a:t>
            </a:r>
            <a:endParaRPr/>
          </a:p>
          <a:p>
            <a:pPr indent="0" lvl="0" marL="0" rtl="0" algn="l">
              <a:spcBef>
                <a:spcPts val="0"/>
              </a:spcBef>
              <a:spcAft>
                <a:spcPts val="0"/>
              </a:spcAft>
              <a:buClr>
                <a:schemeClr val="dk1"/>
              </a:buClr>
              <a:buSzPts val="1100"/>
              <a:buFont typeface="Arial"/>
              <a:buNone/>
            </a:pPr>
            <a:r>
              <a:rPr lang="en-US"/>
              <a:t>JSON has the advantage that it maps directly to some combination of dictionaries and lists. Since nearly all programming languages have something equivalent to Python’s dictionaries and lists, JSON is a very natural format to have two cooperating programs exchange data. This is the main driver for the popularity of JSON structure in exchanging data across programs. JSON is quickly becoming the format of choice for nearly all data exchange between applications because of its relative simplicity compared to XML. </a:t>
            </a:r>
            <a:endParaRPr/>
          </a:p>
          <a:p>
            <a:pPr indent="0" lvl="0" marL="0" rtl="0" algn="l">
              <a:spcBef>
                <a:spcPts val="0"/>
              </a:spcBef>
              <a:spcAft>
                <a:spcPts val="0"/>
              </a:spcAft>
              <a:buClr>
                <a:schemeClr val="dk1"/>
              </a:buClr>
              <a:buSzPts val="1100"/>
              <a:buFont typeface="Arial"/>
              <a:buNone/>
            </a:pPr>
            <a:r>
              <a:t/>
            </a:r>
            <a:endParaRPr/>
          </a:p>
        </p:txBody>
      </p:sp>
      <p:sp>
        <p:nvSpPr>
          <p:cNvPr id="90" name="Google Shape;9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In the following Python program, we use the built-in json library to parse the JSON and read through the data. As a JSON, we have a list and that the list is of users and each user is a set of key-value pairs. </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import json</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input = '''[</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 "id" : "001",</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"x" : "2",</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"name" : "Chuck"</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 ,</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 "id" : "009",</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"x" : "7",</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"name" : ”Brent"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a:t>
            </a:r>
            <a:endParaRPr/>
          </a:p>
          <a:p>
            <a:pPr indent="0" lvl="0" marL="0" marR="0" rtl="0" algn="ctr">
              <a:lnSpc>
                <a:spcPct val="100000"/>
              </a:lnSpc>
              <a:spcBef>
                <a:spcPts val="0"/>
              </a:spcBef>
              <a:spcAft>
                <a:spcPts val="0"/>
              </a:spcAft>
              <a:buClr>
                <a:schemeClr val="dk1"/>
              </a:buClr>
              <a:buSzPts val="1100"/>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info = json.loads(input)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print('User count:', len(info))</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for item in info:</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print('Name', item['name'])</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print('Id', item['id'])</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print('Attribute', item['x'])</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program outputs the following:</a:t>
            </a:r>
            <a:endParaRPr/>
          </a:p>
          <a:p>
            <a:pPr indent="0" lvl="0" marL="0" rtl="0" algn="l">
              <a:spcBef>
                <a:spcPts val="0"/>
              </a:spcBef>
              <a:spcAft>
                <a:spcPts val="0"/>
              </a:spcAft>
              <a:buClr>
                <a:schemeClr val="dk1"/>
              </a:buClr>
              <a:buSzPts val="1100"/>
              <a:buFont typeface="Arial"/>
              <a:buNone/>
            </a:pPr>
            <a:r>
              <a:rPr lang="en-US"/>
              <a:t>User count: 2 </a:t>
            </a:r>
            <a:endParaRPr/>
          </a:p>
          <a:p>
            <a:pPr indent="0" lvl="0" marL="0" rtl="0" algn="l">
              <a:spcBef>
                <a:spcPts val="0"/>
              </a:spcBef>
              <a:spcAft>
                <a:spcPts val="0"/>
              </a:spcAft>
              <a:buClr>
                <a:schemeClr val="dk1"/>
              </a:buClr>
              <a:buSzPts val="1100"/>
              <a:buFont typeface="Arial"/>
              <a:buNone/>
            </a:pPr>
            <a:r>
              <a:rPr lang="en-US"/>
              <a:t>Name Chuck </a:t>
            </a:r>
            <a:endParaRPr/>
          </a:p>
          <a:p>
            <a:pPr indent="0" lvl="0" marL="0" rtl="0" algn="l">
              <a:spcBef>
                <a:spcPts val="0"/>
              </a:spcBef>
              <a:spcAft>
                <a:spcPts val="0"/>
              </a:spcAft>
              <a:buClr>
                <a:schemeClr val="dk1"/>
              </a:buClr>
              <a:buSzPts val="1100"/>
              <a:buFont typeface="Arial"/>
              <a:buNone/>
            </a:pPr>
            <a:r>
              <a:rPr lang="en-US"/>
              <a:t>Id 001 </a:t>
            </a:r>
            <a:endParaRPr/>
          </a:p>
          <a:p>
            <a:pPr indent="0" lvl="0" marL="0" rtl="0" algn="l">
              <a:spcBef>
                <a:spcPts val="0"/>
              </a:spcBef>
              <a:spcAft>
                <a:spcPts val="0"/>
              </a:spcAft>
              <a:buClr>
                <a:schemeClr val="dk1"/>
              </a:buClr>
              <a:buSzPts val="1100"/>
              <a:buFont typeface="Arial"/>
              <a:buNone/>
            </a:pPr>
            <a:r>
              <a:rPr lang="en-US"/>
              <a:t>Attribute 2 </a:t>
            </a:r>
            <a:endParaRPr/>
          </a:p>
          <a:p>
            <a:pPr indent="0" lvl="0" marL="0" rtl="0" algn="l">
              <a:spcBef>
                <a:spcPts val="0"/>
              </a:spcBef>
              <a:spcAft>
                <a:spcPts val="0"/>
              </a:spcAft>
              <a:buClr>
                <a:schemeClr val="dk1"/>
              </a:buClr>
              <a:buSzPts val="1100"/>
              <a:buFont typeface="Arial"/>
              <a:buNone/>
            </a:pPr>
            <a:r>
              <a:rPr lang="en-US"/>
              <a:t>Name Brent</a:t>
            </a:r>
            <a:endParaRPr/>
          </a:p>
          <a:p>
            <a:pPr indent="0" lvl="0" marL="0" rtl="0" algn="l">
              <a:spcBef>
                <a:spcPts val="0"/>
              </a:spcBef>
              <a:spcAft>
                <a:spcPts val="0"/>
              </a:spcAft>
              <a:buClr>
                <a:schemeClr val="dk1"/>
              </a:buClr>
              <a:buSzPts val="1100"/>
              <a:buFont typeface="Arial"/>
              <a:buNone/>
            </a:pPr>
            <a:r>
              <a:rPr lang="en-US"/>
              <a:t> Id 009 </a:t>
            </a:r>
            <a:endParaRPr/>
          </a:p>
          <a:p>
            <a:pPr indent="0" lvl="0" marL="0" rtl="0" algn="l">
              <a:spcBef>
                <a:spcPts val="0"/>
              </a:spcBef>
              <a:spcAft>
                <a:spcPts val="0"/>
              </a:spcAft>
              <a:buClr>
                <a:schemeClr val="dk1"/>
              </a:buClr>
              <a:buSzPts val="1100"/>
              <a:buFont typeface="Arial"/>
              <a:buNone/>
            </a:pPr>
            <a:r>
              <a:rPr lang="en-US"/>
              <a:t>Attribute 7</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 get from json.loads() a Python list. We traverse this list with a for loop, and each item within that list is a Python dictionary. Once the JSON has been parsed, we can use the Python index operator to extract the various bits of data for each user. We don’t have to use the JSON library to dig through the parsed JSON, since the returned data is simply native Python structures. This close connection to Python is a tremendous advantage of JSON structure. There is an industry trend away from XML and towards JSON for web services. Since the JSON is simpler and more directly maps to native data structures we already have in programming languages such as Python, the parsing and data extraction code is usually simpler and more direct when using JSON.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
        <p:nvSpPr>
          <p:cNvPr id="97" name="Google Shape;9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
        <p:nvSpPr>
          <p:cNvPr id="104" name="Google Shape;10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Since we have the ability to exchange data between applications using HyperText Transport Protocol (HTTP) and a way to represent complex data that we are sending back and forth between these applications using eXtensible Markup Language (XML) or JavaScript Object Notation (JSON), the next step is to begin to define and document contracts between applications using these techniques. The general name for these application-to-application contracts is called: Application Program Interfaces (APIs). </a:t>
            </a:r>
            <a:endParaRPr/>
          </a:p>
          <a:p>
            <a:pPr indent="0" lvl="0" marL="0" rtl="0" algn="l">
              <a:spcBef>
                <a:spcPts val="0"/>
              </a:spcBef>
              <a:spcAft>
                <a:spcPts val="0"/>
              </a:spcAft>
              <a:buClr>
                <a:schemeClr val="dk1"/>
              </a:buClr>
              <a:buSzPts val="1100"/>
              <a:buFont typeface="Arial"/>
              <a:buNone/>
            </a:pPr>
            <a:r>
              <a:t/>
            </a:r>
            <a:endParaRPr/>
          </a:p>
        </p:txBody>
      </p:sp>
      <p:sp>
        <p:nvSpPr>
          <p:cNvPr id="110" name="Google Shape;110;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lang="en-US"/>
              <a:t>When we use an API, generally one program makes a set of services available for use by other applications and publishes the APIs (i.e., the contract rules) that must be followed to access the services provided by the program. When an application makes a set of services in its API available over the web, we call these web services. We note that It is quite common that you need an API key to make use of a vendor’s API. The general idea is that they want to know who is using their services as well as how much each user is using. Perhaps they have free and pay tiers of their services or have a policy that limits the number of requests that a single individual can make during a particular time period. Sometimes once you get your API key, you simply include the key as part of POST data or perhaps as a parameter on the URL when calling the API.</a:t>
            </a:r>
            <a:endParaRPr/>
          </a:p>
          <a:p>
            <a:pPr indent="0" lvl="0" marL="0" rtl="0" algn="l">
              <a:spcBef>
                <a:spcPts val="0"/>
              </a:spcBef>
              <a:spcAft>
                <a:spcPts val="0"/>
              </a:spcAft>
              <a:buClr>
                <a:schemeClr val="dk1"/>
              </a:buClr>
              <a:buSzPts val="1100"/>
              <a:buFont typeface="Arial"/>
              <a:buNone/>
            </a:pPr>
            <a:r>
              <a:t/>
            </a:r>
            <a:endParaRPr/>
          </a:p>
        </p:txBody>
      </p:sp>
      <p:sp>
        <p:nvSpPr>
          <p:cNvPr id="118" name="Google Shape;11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Let us practice web services with an example from Google. Google has an excellent web service that allows us to make use of their large database of geographic information. We can submit a geographical search string like “Ann Arbor, MI” to their geocoding API and have Google return its best guess as to where on a map we might find our search string and tell us about the landmarks nearby. </a:t>
            </a:r>
            <a:endParaRPr/>
          </a:p>
          <a:p>
            <a:pPr indent="0" lvl="0" marL="0" rtl="0" algn="l">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This geocoding service provided by Google is free, but rate limit is applied. Therefore, you cannot make unlimited use of the API in a commercial application. However, if you have some survey data where an end user has entered a location in a free-format input box, you can use this API to clean up your data quite nicely. When you are using a free API like Google’s geocoding API, you need to be respectful in your use of these resources. If too many people abuse the service, Google might drop or significantly curtail its free service. You can read the online documentation for this service at </a:t>
            </a:r>
            <a:r>
              <a:rPr lang="en-US" u="sng">
                <a:solidFill>
                  <a:schemeClr val="hlink"/>
                </a:solidFill>
                <a:hlinkClick r:id="rId2"/>
              </a:rPr>
              <a:t>https://developers.google.com/maps/documentation/geocoding/start</a:t>
            </a:r>
            <a:endParaRPr/>
          </a:p>
        </p:txBody>
      </p:sp>
      <p:sp>
        <p:nvSpPr>
          <p:cNvPr id="124" name="Google Shape;124;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This web service is quite simple to use. You can even test it using a browser by typing the following URL into your browser:</a:t>
            </a:r>
            <a:endParaRPr/>
          </a:p>
          <a:p>
            <a:pPr indent="0" lvl="0" marL="0" marR="0" rtl="0" algn="l">
              <a:lnSpc>
                <a:spcPct val="100000"/>
              </a:lnSpc>
              <a:spcBef>
                <a:spcPts val="0"/>
              </a:spcBef>
              <a:spcAft>
                <a:spcPts val="0"/>
              </a:spcAft>
              <a:buClr>
                <a:schemeClr val="dk1"/>
              </a:buClr>
              <a:buSzPts val="1100"/>
              <a:buFont typeface="Arial"/>
              <a:buNone/>
            </a:pPr>
            <a:r>
              <a:rPr lang="en-US" u="sng">
                <a:solidFill>
                  <a:schemeClr val="hlink"/>
                </a:solidFill>
                <a:hlinkClick r:id="rId2"/>
              </a:rPr>
              <a:t>https://maps.googleapis.com/maps/api/geocode/json?address=Ann+Arbor%2C+MI</a:t>
            </a:r>
            <a:r>
              <a:rPr lang="en-US"/>
              <a:t>&amp;key = YOUR_API_KEY</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rPr lang="en-US"/>
              <a:t>As you will observe, </a:t>
            </a:r>
            <a:r>
              <a:rPr b="0" i="0" lang="en-US" sz="1100">
                <a:solidFill>
                  <a:schemeClr val="dk1"/>
                </a:solidFill>
                <a:latin typeface="Arial"/>
                <a:ea typeface="Arial"/>
                <a:cs typeface="Arial"/>
                <a:sym typeface="Arial"/>
              </a:rPr>
              <a:t>you must use an API key to authenticate each request to Google Maps Platform APIs before using this service. You can get an API key for yourself at</a:t>
            </a:r>
            <a:endParaRPr/>
          </a:p>
          <a:p>
            <a:pPr indent="0" lvl="0" marL="0" marR="0" rtl="0" algn="l">
              <a:lnSpc>
                <a:spcPct val="100000"/>
              </a:lnSpc>
              <a:spcBef>
                <a:spcPts val="0"/>
              </a:spcBef>
              <a:spcAft>
                <a:spcPts val="0"/>
              </a:spcAft>
              <a:buClr>
                <a:schemeClr val="dk1"/>
              </a:buClr>
              <a:buSzPts val="1100"/>
              <a:buFont typeface="Arial"/>
              <a:buNone/>
            </a:pPr>
            <a:r>
              <a:rPr lang="en-US" u="sng">
                <a:solidFill>
                  <a:schemeClr val="hlink"/>
                </a:solidFill>
                <a:hlinkClick r:id="rId3"/>
              </a:rPr>
              <a:t>https://developers.google.com/maps/documentation/javascript/geocoding</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marR="0" rtl="0" algn="l">
              <a:lnSpc>
                <a:spcPct val="100000"/>
              </a:lnSpc>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
        <p:nvSpPr>
          <p:cNvPr id="130" name="Google Shape;13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t>The following is a simple Python program to prompt the user for a search string, call the Google geocoding API, and extract information from the returned JSON:</a:t>
            </a:r>
            <a:endParaRPr/>
          </a:p>
          <a:p>
            <a:pPr indent="0" lvl="0" marL="0" rtl="0" algn="l">
              <a:spcBef>
                <a:spcPts val="0"/>
              </a:spcBef>
              <a:spcAft>
                <a:spcPts val="0"/>
              </a:spcAft>
              <a:buClr>
                <a:schemeClr val="dk1"/>
              </a:buClr>
              <a:buSzPts val="1100"/>
              <a:buFont typeface="Arial"/>
              <a:buNone/>
            </a:pPr>
            <a:r>
              <a:rPr lang="en-US" u="sng">
                <a:solidFill>
                  <a:schemeClr val="hlink"/>
                </a:solidFill>
                <a:hlinkClick r:id="rId2"/>
              </a:rPr>
              <a:t>https://github.com/harslan/Notebooks/blob/master/google_geocoding_service.ipynb</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Python program takes the search string from the user and constructs a URL with the search string as a properly encoded parameter and then uses urllib library to retrieve the text from the Google geocoding API. Unlike a fixed web page, the data we get depends on the parameters we send in our API call to Google’ servers and the geographical data stored in Google’s servers. Once we retrieve the JSON data, we parse it with the json library and do a few checks to make sure that we received proper data. We then extract the information that we are looking for in the data.</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p:txBody>
      </p:sp>
      <p:sp>
        <p:nvSpPr>
          <p:cNvPr id="137" name="Google Shape;13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t>We can sign up for Google Maps Platform to use provided APIs on Maps, Routes, and Places. The pricing mechanism is based on pay only what you use. Google provides $200 free monthly usage for API calls. This free credit line is enough for our needs to illustrate the use of Google web services. You may find these services valuable in your future projects.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
        <p:nvSpPr>
          <p:cNvPr id="150" name="Google Shape;15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1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pen" type="obj">
  <p:cSld name="OBJECT">
    <p:spTree>
      <p:nvGrpSpPr>
        <p:cNvPr id="10" name="Shape 10"/>
        <p:cNvGrpSpPr/>
        <p:nvPr/>
      </p:nvGrpSpPr>
      <p:grpSpPr>
        <a:xfrm>
          <a:off x="0" y="0"/>
          <a:ext cx="0" cy="0"/>
          <a:chOff x="0" y="0"/>
          <a:chExt cx="0" cy="0"/>
        </a:xfrm>
      </p:grpSpPr>
      <p:sp>
        <p:nvSpPr>
          <p:cNvPr id="11" name="Google Shape;11;p2"/>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 name="Google Shape;12;p2"/>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algn="ctr">
              <a:lnSpc>
                <a:spcPct val="100000"/>
              </a:lnSpc>
              <a:spcBef>
                <a:spcPts val="0"/>
              </a:spcBef>
              <a:spcAft>
                <a:spcPts val="0"/>
              </a:spcAft>
              <a:buClr>
                <a:srgbClr val="000000"/>
              </a:buClr>
              <a:buSzPts val="1400"/>
              <a:buFont typeface="Arial"/>
              <a:buNone/>
              <a:defRPr/>
            </a:lvl1pPr>
            <a:lvl2pPr indent="-228600" lvl="1" marL="914400" algn="ctr">
              <a:lnSpc>
                <a:spcPct val="100000"/>
              </a:lnSpc>
              <a:spcBef>
                <a:spcPts val="0"/>
              </a:spcBef>
              <a:spcAft>
                <a:spcPts val="0"/>
              </a:spcAft>
              <a:buClr>
                <a:srgbClr val="000000"/>
              </a:buClr>
              <a:buSzPts val="1400"/>
              <a:buFont typeface="Arial"/>
              <a:buNone/>
              <a:defRPr/>
            </a:lvl2pPr>
            <a:lvl3pPr indent="-228600" lvl="2" marL="1371600" algn="ctr">
              <a:lnSpc>
                <a:spcPct val="100000"/>
              </a:lnSpc>
              <a:spcBef>
                <a:spcPts val="0"/>
              </a:spcBef>
              <a:spcAft>
                <a:spcPts val="0"/>
              </a:spcAft>
              <a:buClr>
                <a:srgbClr val="000000"/>
              </a:buClr>
              <a:buSzPts val="1400"/>
              <a:buFont typeface="Arial"/>
              <a:buNone/>
              <a:defRPr/>
            </a:lvl3pPr>
            <a:lvl4pPr indent="-228600" lvl="3" marL="1828800" algn="ctr">
              <a:lnSpc>
                <a:spcPct val="100000"/>
              </a:lnSpc>
              <a:spcBef>
                <a:spcPts val="0"/>
              </a:spcBef>
              <a:spcAft>
                <a:spcPts val="0"/>
              </a:spcAft>
              <a:buClr>
                <a:srgbClr val="000000"/>
              </a:buClr>
              <a:buSzPts val="1400"/>
              <a:buFont typeface="Arial"/>
              <a:buNone/>
              <a:defRPr/>
            </a:lvl4pPr>
            <a:lvl5pPr indent="-228600" lvl="4" marL="2286000" algn="ctr">
              <a:lnSpc>
                <a:spcPct val="100000"/>
              </a:lnSpc>
              <a:spcBef>
                <a:spcPts val="0"/>
              </a:spcBef>
              <a:spcAft>
                <a:spcPts val="0"/>
              </a:spcAft>
              <a:buClr>
                <a:srgbClr val="000000"/>
              </a:buClr>
              <a:buSzPts val="1400"/>
              <a:buFont typeface="Arial"/>
              <a:buNone/>
              <a:defRPr/>
            </a:lvl5pPr>
            <a:lvl6pPr indent="-228600" lvl="5" marL="2743200" algn="ctr">
              <a:lnSpc>
                <a:spcPct val="100000"/>
              </a:lnSpc>
              <a:spcBef>
                <a:spcPts val="0"/>
              </a:spcBef>
              <a:spcAft>
                <a:spcPts val="0"/>
              </a:spcAft>
              <a:buClr>
                <a:srgbClr val="000000"/>
              </a:buClr>
              <a:buSzPts val="1400"/>
              <a:buFont typeface="Arial"/>
              <a:buNone/>
              <a:defRPr/>
            </a:lvl6pPr>
            <a:lvl7pPr indent="-228600" lvl="6" marL="3200400" algn="ctr">
              <a:lnSpc>
                <a:spcPct val="100000"/>
              </a:lnSpc>
              <a:spcBef>
                <a:spcPts val="0"/>
              </a:spcBef>
              <a:spcAft>
                <a:spcPts val="0"/>
              </a:spcAft>
              <a:buClr>
                <a:srgbClr val="000000"/>
              </a:buClr>
              <a:buSzPts val="1400"/>
              <a:buFont typeface="Arial"/>
              <a:buNone/>
              <a:defRPr/>
            </a:lvl7pPr>
            <a:lvl8pPr indent="-228600" lvl="7" marL="3657600" algn="ctr">
              <a:lnSpc>
                <a:spcPct val="100000"/>
              </a:lnSpc>
              <a:spcBef>
                <a:spcPts val="0"/>
              </a:spcBef>
              <a:spcAft>
                <a:spcPts val="0"/>
              </a:spcAft>
              <a:buClr>
                <a:srgbClr val="000000"/>
              </a:buClr>
              <a:buSzPts val="1400"/>
              <a:buFont typeface="Arial"/>
              <a:buNone/>
              <a:defRPr/>
            </a:lvl8pPr>
            <a:lvl9pPr indent="-228600" lvl="8" marL="4114800" algn="ctr">
              <a:lnSpc>
                <a:spcPct val="100000"/>
              </a:lnSpc>
              <a:spcBef>
                <a:spcPts val="0"/>
              </a:spcBef>
              <a:spcAft>
                <a:spcPts val="0"/>
              </a:spcAft>
              <a:buClr>
                <a:srgbClr val="000000"/>
              </a:buClr>
              <a:buSzPts val="1400"/>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sp>
        <p:nvSpPr>
          <p:cNvPr id="14" name="Google Shape;14;p3"/>
          <p:cNvSpPr txBox="1"/>
          <p:nvPr>
            <p:ph type="title"/>
          </p:nvPr>
        </p:nvSpPr>
        <p:spPr>
          <a:xfrm>
            <a:off x="1155700" y="762000"/>
            <a:ext cx="13932000" cy="1777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 name="Google Shape;15;p3"/>
          <p:cNvSpPr txBox="1"/>
          <p:nvPr>
            <p:ph idx="1" type="body"/>
          </p:nvPr>
        </p:nvSpPr>
        <p:spPr>
          <a:xfrm>
            <a:off x="1155700" y="2603500"/>
            <a:ext cx="13932000" cy="5702399"/>
          </a:xfrm>
          <a:prstGeom prst="rect">
            <a:avLst/>
          </a:prstGeom>
          <a:noFill/>
          <a:ln>
            <a:noFill/>
          </a:ln>
        </p:spPr>
        <p:txBody>
          <a:bodyPr anchorCtr="0" anchor="t" bIns="91425" lIns="91425" spcFirstLastPara="1" rIns="91425" wrap="square" tIns="91425">
            <a:noAutofit/>
          </a:bodyPr>
          <a:lstStyle>
            <a:lvl1pPr indent="-431800" lvl="0" marL="457200" algn="l">
              <a:lnSpc>
                <a:spcPct val="100000"/>
              </a:lnSpc>
              <a:spcBef>
                <a:spcPts val="3500"/>
              </a:spcBef>
              <a:spcAft>
                <a:spcPts val="0"/>
              </a:spcAft>
              <a:buClr>
                <a:schemeClr val="lt1"/>
              </a:buClr>
              <a:buSzPts val="3200"/>
              <a:buFont typeface="Cabin"/>
              <a:buChar char="•"/>
              <a:defRPr sz="3200"/>
            </a:lvl1pPr>
            <a:lvl2pPr indent="-317500" lvl="1" marL="914400" algn="l">
              <a:lnSpc>
                <a:spcPct val="100000"/>
              </a:lnSpc>
              <a:spcBef>
                <a:spcPts val="3500"/>
              </a:spcBef>
              <a:spcAft>
                <a:spcPts val="0"/>
              </a:spcAft>
              <a:buClr>
                <a:schemeClr val="lt1"/>
              </a:buClr>
              <a:buSzPts val="1400"/>
              <a:buFont typeface="Cabin"/>
              <a:buChar char="•"/>
              <a:defRPr/>
            </a:lvl2pPr>
            <a:lvl3pPr indent="-317500" lvl="2" marL="1371600" algn="l">
              <a:lnSpc>
                <a:spcPct val="100000"/>
              </a:lnSpc>
              <a:spcBef>
                <a:spcPts val="3500"/>
              </a:spcBef>
              <a:spcAft>
                <a:spcPts val="0"/>
              </a:spcAft>
              <a:buClr>
                <a:schemeClr val="lt1"/>
              </a:buClr>
              <a:buSzPts val="1400"/>
              <a:buFont typeface="Cabin"/>
              <a:buChar char="•"/>
              <a:defRPr/>
            </a:lvl3pPr>
            <a:lvl4pPr indent="-317500" lvl="3" marL="1828800" algn="l">
              <a:lnSpc>
                <a:spcPct val="100000"/>
              </a:lnSpc>
              <a:spcBef>
                <a:spcPts val="3500"/>
              </a:spcBef>
              <a:spcAft>
                <a:spcPts val="0"/>
              </a:spcAft>
              <a:buClr>
                <a:schemeClr val="lt1"/>
              </a:buClr>
              <a:buSzPts val="1400"/>
              <a:buFont typeface="Cabin"/>
              <a:buChar char="•"/>
              <a:defRPr/>
            </a:lvl4pPr>
            <a:lvl5pPr indent="-317500" lvl="4" marL="2286000" algn="l">
              <a:lnSpc>
                <a:spcPct val="100000"/>
              </a:lnSpc>
              <a:spcBef>
                <a:spcPts val="3500"/>
              </a:spcBef>
              <a:spcAft>
                <a:spcPts val="0"/>
              </a:spcAft>
              <a:buClr>
                <a:schemeClr val="lt1"/>
              </a:buClr>
              <a:buSzPts val="1400"/>
              <a:buFont typeface="Cabin"/>
              <a:buChar char="•"/>
              <a:defRPr/>
            </a:lvl5pPr>
            <a:lvl6pPr indent="-317500" lvl="5" marL="2743200" algn="l">
              <a:lnSpc>
                <a:spcPct val="100000"/>
              </a:lnSpc>
              <a:spcBef>
                <a:spcPts val="3500"/>
              </a:spcBef>
              <a:spcAft>
                <a:spcPts val="0"/>
              </a:spcAft>
              <a:buClr>
                <a:schemeClr val="lt1"/>
              </a:buClr>
              <a:buSzPts val="1400"/>
              <a:buFont typeface="Cabin"/>
              <a:buChar char="•"/>
              <a:defRPr/>
            </a:lvl6pPr>
            <a:lvl7pPr indent="-317500" lvl="6" marL="3200400" algn="l">
              <a:lnSpc>
                <a:spcPct val="100000"/>
              </a:lnSpc>
              <a:spcBef>
                <a:spcPts val="3500"/>
              </a:spcBef>
              <a:spcAft>
                <a:spcPts val="0"/>
              </a:spcAft>
              <a:buClr>
                <a:schemeClr val="lt1"/>
              </a:buClr>
              <a:buSzPts val="1400"/>
              <a:buFont typeface="Cabin"/>
              <a:buChar char="•"/>
              <a:defRPr/>
            </a:lvl7pPr>
            <a:lvl8pPr indent="-317500" lvl="7" marL="3657600" algn="l">
              <a:lnSpc>
                <a:spcPct val="100000"/>
              </a:lnSpc>
              <a:spcBef>
                <a:spcPts val="3500"/>
              </a:spcBef>
              <a:spcAft>
                <a:spcPts val="0"/>
              </a:spcAft>
              <a:buClr>
                <a:schemeClr val="lt1"/>
              </a:buClr>
              <a:buSzPts val="1400"/>
              <a:buFont typeface="Cabin"/>
              <a:buChar char="•"/>
              <a:defRPr/>
            </a:lvl8pPr>
            <a:lvl9pPr indent="-317500" lvl="8" marL="4114800" algn="l">
              <a:lnSpc>
                <a:spcPct val="100000"/>
              </a:lnSpc>
              <a:spcBef>
                <a:spcPts val="3500"/>
              </a:spcBef>
              <a:spcAft>
                <a:spcPts val="0"/>
              </a:spcAft>
              <a:buClr>
                <a:schemeClr val="lt1"/>
              </a:buClr>
              <a:buSzPts val="1400"/>
              <a:buFont typeface="Cabin"/>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6" name="Shape 16"/>
        <p:cNvGrpSpPr/>
        <p:nvPr/>
      </p:nvGrpSpPr>
      <p:grpSpPr>
        <a:xfrm>
          <a:off x="0" y="0"/>
          <a:ext cx="0" cy="0"/>
          <a:chOff x="0" y="0"/>
          <a:chExt cx="0" cy="0"/>
        </a:xfrm>
      </p:grpSpPr>
      <p:sp>
        <p:nvSpPr>
          <p:cNvPr id="17" name="Google Shape;17;p4"/>
          <p:cNvSpPr txBox="1"/>
          <p:nvPr>
            <p:ph type="title"/>
          </p:nvPr>
        </p:nvSpPr>
        <p:spPr>
          <a:xfrm>
            <a:off x="1155700" y="762000"/>
            <a:ext cx="13932000" cy="17779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rgbClr val="000000"/>
              </a:buClr>
              <a:buSzPts val="1400"/>
              <a:buFont typeface="Arial"/>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155700" y="1536700"/>
            <a:ext cx="13931900" cy="3086099"/>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sz="1800"/>
            </a:lvl2pPr>
            <a:lvl3pPr lvl="2" marR="0" rtl="0" algn="ctr">
              <a:spcBef>
                <a:spcPts val="0"/>
              </a:spcBef>
              <a:spcAft>
                <a:spcPts val="0"/>
              </a:spcAft>
              <a:buSzPts val="1400"/>
              <a:buNone/>
              <a:defRPr sz="1800"/>
            </a:lvl3pPr>
            <a:lvl4pPr lvl="3" marR="0" rtl="0" algn="ctr">
              <a:spcBef>
                <a:spcPts val="0"/>
              </a:spcBef>
              <a:spcAft>
                <a:spcPts val="0"/>
              </a:spcAft>
              <a:buSzPts val="1400"/>
              <a:buNone/>
              <a:defRPr sz="1800"/>
            </a:lvl4pPr>
            <a:lvl5pPr lvl="4" marR="0" rtl="0" algn="ctr">
              <a:spcBef>
                <a:spcPts val="0"/>
              </a:spcBef>
              <a:spcAft>
                <a:spcPts val="0"/>
              </a:spcAft>
              <a:buSzPts val="1400"/>
              <a:buNone/>
              <a:defRPr sz="1800"/>
            </a:lvl5pPr>
            <a:lvl6pPr lvl="5" marR="0" rtl="0" algn="ctr">
              <a:spcBef>
                <a:spcPts val="0"/>
              </a:spcBef>
              <a:spcAft>
                <a:spcPts val="0"/>
              </a:spcAft>
              <a:buSzPts val="1400"/>
              <a:buNone/>
              <a:defRPr sz="1800"/>
            </a:lvl6pPr>
            <a:lvl7pPr lvl="6" marR="0" rtl="0" algn="ctr">
              <a:spcBef>
                <a:spcPts val="0"/>
              </a:spcBef>
              <a:spcAft>
                <a:spcPts val="0"/>
              </a:spcAft>
              <a:buSzPts val="1400"/>
              <a:buNone/>
              <a:defRPr sz="1800"/>
            </a:lvl7pPr>
            <a:lvl8pPr lvl="7" marR="0" rtl="0" algn="ctr">
              <a:spcBef>
                <a:spcPts val="0"/>
              </a:spcBef>
              <a:spcAft>
                <a:spcPts val="0"/>
              </a:spcAft>
              <a:buSzPts val="1400"/>
              <a:buNone/>
              <a:defRPr sz="1800"/>
            </a:lvl8pPr>
            <a:lvl9pPr lvl="8" marR="0" rtl="0" algn="ctr">
              <a:spcBef>
                <a:spcPts val="0"/>
              </a:spcBef>
              <a:spcAft>
                <a:spcPts val="0"/>
              </a:spcAft>
              <a:buSzPts val="1400"/>
              <a:buNone/>
              <a:defRPr sz="1800"/>
            </a:lvl9pPr>
          </a:lstStyle>
          <a:p/>
        </p:txBody>
      </p:sp>
      <p:sp>
        <p:nvSpPr>
          <p:cNvPr id="7" name="Google Shape;7;p1"/>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1"/>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9" name="Google Shape;9;p1"/>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en.wikipedia.org/wiki/X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en.wikipedia.org/wiki/Web_services"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en.wikipedia.org/wiki/API"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developers.google.com/maps/documentation/geocoding/" TargetMode="Externa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hyperlink" Target="https://github.com/harslan/Notebooks/blob/master/google_geocoding_service.ipynb"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developers.google.com/maps/documentation" TargetMode="External"/><Relationship Id="rId4" Type="http://schemas.openxmlformats.org/officeDocument/2006/relationships/hyperlink" Target="https://cloud.google.com/maps-platform/pricin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hyperlink" Target="http://www.dr-chuck.com" TargetMode="External"/><Relationship Id="rId4" Type="http://schemas.openxmlformats.org/officeDocument/2006/relationships/hyperlink" Target="http://open.umich.edu/" TargetMode="External"/><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6"/>
          <p:cNvSpPr txBox="1"/>
          <p:nvPr>
            <p:ph type="title"/>
          </p:nvPr>
        </p:nvSpPr>
        <p:spPr>
          <a:xfrm>
            <a:off x="1155700" y="1257300"/>
            <a:ext cx="13932000" cy="3551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Using Web Services</a:t>
            </a:r>
            <a:endParaRPr/>
          </a:p>
        </p:txBody>
      </p:sp>
      <p:sp>
        <p:nvSpPr>
          <p:cNvPr id="24" name="Google Shape;24;p6"/>
          <p:cNvSpPr txBox="1"/>
          <p:nvPr>
            <p:ph idx="1" type="body"/>
          </p:nvPr>
        </p:nvSpPr>
        <p:spPr>
          <a:xfrm>
            <a:off x="1215825" y="5037000"/>
            <a:ext cx="13932000" cy="1562099"/>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chemeClr val="lt1"/>
                </a:solidFill>
                <a:latin typeface="Arial"/>
                <a:ea typeface="Arial"/>
                <a:cs typeface="Arial"/>
                <a:sym typeface="Arial"/>
              </a:rPr>
              <a:t>Chapter 13</a:t>
            </a:r>
            <a:endParaRPr/>
          </a:p>
        </p:txBody>
      </p:sp>
      <p:sp>
        <p:nvSpPr>
          <p:cNvPr id="25" name="Google Shape;25;p6"/>
          <p:cNvSpPr txBox="1"/>
          <p:nvPr/>
        </p:nvSpPr>
        <p:spPr>
          <a:xfrm>
            <a:off x="2990025" y="6988169"/>
            <a:ext cx="9985799" cy="1016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a:p>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www.py4e.com</a:t>
            </a:r>
            <a:endParaRPr b="0" i="0" sz="3200" u="none" cap="none" strike="noStrike">
              <a:solidFill>
                <a:srgbClr val="FFFF00"/>
              </a:solidFill>
              <a:latin typeface="Arial"/>
              <a:ea typeface="Arial"/>
              <a:cs typeface="Arial"/>
              <a:sym typeface="Arial"/>
            </a:endParaRPr>
          </a:p>
        </p:txBody>
      </p:sp>
      <p:pic>
        <p:nvPicPr>
          <p:cNvPr id="26" name="Google Shape;26;p6"/>
          <p:cNvPicPr preferRelativeResize="0"/>
          <p:nvPr/>
        </p:nvPicPr>
        <p:blipFill rotWithShape="1">
          <a:blip r:embed="rId3">
            <a:alphaModFix/>
          </a:blip>
          <a:srcRect b="0" l="0" r="0" t="0"/>
          <a:stretch/>
        </p:blipFill>
        <p:spPr>
          <a:xfrm>
            <a:off x="13130213" y="7346944"/>
            <a:ext cx="1968500" cy="6683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7"/>
          <p:cNvSpPr txBox="1"/>
          <p:nvPr>
            <p:ph type="title"/>
          </p:nvPr>
        </p:nvSpPr>
        <p:spPr>
          <a:xfrm>
            <a:off x="1155700" y="762000"/>
            <a:ext cx="13046050" cy="17779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Data on the Web</a:t>
            </a:r>
            <a:endParaRPr/>
          </a:p>
        </p:txBody>
      </p:sp>
      <p:sp>
        <p:nvSpPr>
          <p:cNvPr id="32" name="Google Shape;32;p7"/>
          <p:cNvSpPr txBox="1"/>
          <p:nvPr>
            <p:ph idx="1" type="body"/>
          </p:nvPr>
        </p:nvSpPr>
        <p:spPr>
          <a:xfrm>
            <a:off x="1155700" y="2603500"/>
            <a:ext cx="13932000" cy="5702399"/>
          </a:xfrm>
          <a:prstGeom prst="rect">
            <a:avLst/>
          </a:prstGeom>
          <a:noFill/>
          <a:ln>
            <a:noFill/>
          </a:ln>
        </p:spPr>
        <p:txBody>
          <a:bodyPr anchorCtr="0" anchor="ctr" bIns="38100" lIns="38100" spcFirstLastPara="1" rIns="38100" wrap="square" tIns="38100">
            <a:noAutofit/>
          </a:bodyPr>
          <a:lstStyle/>
          <a:p>
            <a:pPr indent="-457200" lvl="0" marL="457200" marR="0" rtl="0" algn="l">
              <a:lnSpc>
                <a:spcPct val="100000"/>
              </a:lnSpc>
              <a:spcBef>
                <a:spcPts val="0"/>
              </a:spcBef>
              <a:spcAft>
                <a:spcPts val="0"/>
              </a:spcAft>
              <a:buSzPts val="3600"/>
              <a:buFont typeface="Cabin"/>
              <a:buChar char="•"/>
            </a:pPr>
            <a:r>
              <a:rPr lang="en-US" sz="3600" u="none" cap="none" strike="noStrike">
                <a:solidFill>
                  <a:schemeClr val="lt1"/>
                </a:solidFill>
                <a:latin typeface="Arial"/>
                <a:ea typeface="Arial"/>
                <a:cs typeface="Arial"/>
                <a:sym typeface="Arial"/>
              </a:rPr>
              <a:t>With the HTTP Request/Response well understood and well supported, there was a natural move toward exchanging data between programs using these protocols</a:t>
            </a:r>
            <a:endParaRPr/>
          </a:p>
          <a:p>
            <a:pPr indent="-457200" lvl="0" marL="457200" marR="0" rtl="0" algn="l">
              <a:lnSpc>
                <a:spcPct val="100000"/>
              </a:lnSpc>
              <a:spcBef>
                <a:spcPts val="4500"/>
              </a:spcBef>
              <a:spcAft>
                <a:spcPts val="0"/>
              </a:spcAft>
              <a:buSzPts val="3600"/>
              <a:buFont typeface="Cabin"/>
              <a:buChar char="•"/>
            </a:pPr>
            <a:r>
              <a:rPr lang="en-US" sz="3600" u="none" cap="none" strike="noStrike">
                <a:solidFill>
                  <a:schemeClr val="lt1"/>
                </a:solidFill>
                <a:latin typeface="Arial"/>
                <a:ea typeface="Arial"/>
                <a:cs typeface="Arial"/>
                <a:sym typeface="Arial"/>
              </a:rPr>
              <a:t>We needed to come up with an agreed way to represent data going between applications and across networks</a:t>
            </a:r>
            <a:endParaRPr/>
          </a:p>
          <a:p>
            <a:pPr indent="-457200" lvl="0" marL="457200" marR="0" rtl="0" algn="l">
              <a:lnSpc>
                <a:spcPct val="100000"/>
              </a:lnSpc>
              <a:spcBef>
                <a:spcPts val="4500"/>
              </a:spcBef>
              <a:spcAft>
                <a:spcPts val="0"/>
              </a:spcAft>
              <a:buSzPts val="3600"/>
              <a:buFont typeface="Cabin"/>
              <a:buChar char="•"/>
            </a:pPr>
            <a:r>
              <a:rPr lang="en-US" sz="3600" u="none" cap="none" strike="noStrike">
                <a:solidFill>
                  <a:schemeClr val="lt1"/>
                </a:solidFill>
                <a:latin typeface="Arial"/>
                <a:ea typeface="Arial"/>
                <a:cs typeface="Arial"/>
                <a:sym typeface="Arial"/>
              </a:rPr>
              <a:t>There are two commonly used formats: XML and JSON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 name="Shape 36"/>
        <p:cNvGrpSpPr/>
        <p:nvPr/>
      </p:nvGrpSpPr>
      <p:grpSpPr>
        <a:xfrm>
          <a:off x="0" y="0"/>
          <a:ext cx="0" cy="0"/>
          <a:chOff x="0" y="0"/>
          <a:chExt cx="0" cy="0"/>
        </a:xfrm>
      </p:grpSpPr>
      <p:sp>
        <p:nvSpPr>
          <p:cNvPr id="37" name="Google Shape;37;p8"/>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XML</a:t>
            </a:r>
            <a:endParaRPr/>
          </a:p>
        </p:txBody>
      </p:sp>
      <p:sp>
        <p:nvSpPr>
          <p:cNvPr id="38" name="Google Shape;38;p8"/>
          <p:cNvSpPr txBox="1"/>
          <p:nvPr>
            <p:ph idx="1" type="body"/>
          </p:nvPr>
        </p:nvSpPr>
        <p:spPr>
          <a:xfrm>
            <a:off x="1155700" y="4711700"/>
            <a:ext cx="13931900" cy="1054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800"/>
              <a:buFont typeface="Cabin"/>
              <a:buNone/>
            </a:pPr>
            <a:r>
              <a:rPr lang="en-US" sz="3200" u="none" cap="none" strike="noStrike">
                <a:solidFill>
                  <a:schemeClr val="lt1"/>
                </a:solidFill>
                <a:latin typeface="Arial"/>
                <a:ea typeface="Arial"/>
                <a:cs typeface="Arial"/>
                <a:sym typeface="Arial"/>
              </a:rPr>
              <a:t>Marking up data to send across the network...</a:t>
            </a:r>
            <a:endParaRPr/>
          </a:p>
        </p:txBody>
      </p:sp>
      <p:sp>
        <p:nvSpPr>
          <p:cNvPr id="39" name="Google Shape;39;p8"/>
          <p:cNvSpPr txBox="1"/>
          <p:nvPr/>
        </p:nvSpPr>
        <p:spPr>
          <a:xfrm>
            <a:off x="4673900" y="7170530"/>
            <a:ext cx="6895500"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sng" cap="none" strike="noStrike">
                <a:solidFill>
                  <a:srgbClr val="FFFF00"/>
                </a:solidFill>
                <a:latin typeface="Arial"/>
                <a:ea typeface="Arial"/>
                <a:cs typeface="Arial"/>
                <a:sym typeface="Arial"/>
                <a:hlinkClick r:id="rId3">
                  <a:extLst>
                    <a:ext uri="{A12FA001-AC4F-418D-AE19-62706E023703}">
                      <ahyp:hlinkClr val="tx"/>
                    </a:ext>
                  </a:extLst>
                </a:hlinkClick>
              </a:rPr>
              <a:t>http://en.wikipedia.org/wiki/XML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9"/>
          <p:cNvSpPr txBox="1"/>
          <p:nvPr>
            <p:ph type="title"/>
          </p:nvPr>
        </p:nvSpPr>
        <p:spPr>
          <a:xfrm>
            <a:off x="1155700" y="762000"/>
            <a:ext cx="13571873" cy="17779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XML Basics</a:t>
            </a:r>
            <a:endParaRPr/>
          </a:p>
        </p:txBody>
      </p:sp>
      <p:sp>
        <p:nvSpPr>
          <p:cNvPr id="45" name="Google Shape;45;p9"/>
          <p:cNvSpPr txBox="1"/>
          <p:nvPr>
            <p:ph idx="1" type="body"/>
          </p:nvPr>
        </p:nvSpPr>
        <p:spPr>
          <a:xfrm>
            <a:off x="1155700" y="2603500"/>
            <a:ext cx="13932000" cy="5702399"/>
          </a:xfrm>
          <a:prstGeom prst="rect">
            <a:avLst/>
          </a:prstGeom>
          <a:noFill/>
          <a:ln>
            <a:noFill/>
          </a:ln>
        </p:spPr>
        <p:txBody>
          <a:bodyPr anchorCtr="0" anchor="ctr" bIns="38100" lIns="38100" spcFirstLastPara="1" rIns="38100" wrap="square" tIns="38100">
            <a:noAutofit/>
          </a:bodyPr>
          <a:lstStyle/>
          <a:p>
            <a:pPr indent="-533400" lvl="0" marL="749300" marR="0" rtl="0" algn="l">
              <a:lnSpc>
                <a:spcPct val="100000"/>
              </a:lnSpc>
              <a:spcBef>
                <a:spcPts val="0"/>
              </a:spcBef>
              <a:spcAft>
                <a:spcPts val="0"/>
              </a:spcAft>
              <a:buClr>
                <a:srgbClr val="00FF00"/>
              </a:buClr>
              <a:buSzPts val="6156"/>
              <a:buFont typeface="Cabin"/>
              <a:buChar char="•"/>
            </a:pPr>
            <a:r>
              <a:rPr lang="en-US" sz="3600" u="none" cap="none" strike="noStrike">
                <a:solidFill>
                  <a:srgbClr val="00FF00"/>
                </a:solidFill>
                <a:latin typeface="Arial"/>
                <a:ea typeface="Arial"/>
                <a:cs typeface="Arial"/>
                <a:sym typeface="Arial"/>
              </a:rPr>
              <a:t>Start Tag</a:t>
            </a:r>
            <a:endParaRPr/>
          </a:p>
          <a:p>
            <a:pPr indent="-533400" lvl="0" marL="749300" marR="0" rtl="0" algn="l">
              <a:lnSpc>
                <a:spcPct val="100000"/>
              </a:lnSpc>
              <a:spcBef>
                <a:spcPts val="3500"/>
              </a:spcBef>
              <a:spcAft>
                <a:spcPts val="0"/>
              </a:spcAft>
              <a:buClr>
                <a:srgbClr val="FFFF00"/>
              </a:buClr>
              <a:buSzPts val="6156"/>
              <a:buFont typeface="Cabin"/>
              <a:buChar char="•"/>
            </a:pPr>
            <a:r>
              <a:rPr lang="en-US" sz="3600" u="none" cap="none" strike="noStrike">
                <a:solidFill>
                  <a:srgbClr val="FFFF00"/>
                </a:solidFill>
                <a:latin typeface="Arial"/>
                <a:ea typeface="Arial"/>
                <a:cs typeface="Arial"/>
                <a:sym typeface="Arial"/>
              </a:rPr>
              <a:t>End Tag</a:t>
            </a:r>
            <a:endParaRPr/>
          </a:p>
          <a:p>
            <a:pPr indent="-533400" lvl="0" marL="749300" marR="0" rtl="0" algn="l">
              <a:lnSpc>
                <a:spcPct val="100000"/>
              </a:lnSpc>
              <a:spcBef>
                <a:spcPts val="3500"/>
              </a:spcBef>
              <a:spcAft>
                <a:spcPts val="0"/>
              </a:spcAft>
              <a:buClr>
                <a:schemeClr val="lt1"/>
              </a:buClr>
              <a:buSzPts val="6156"/>
              <a:buFont typeface="Cabin"/>
              <a:buChar char="•"/>
            </a:pPr>
            <a:r>
              <a:rPr lang="en-US" sz="3600" u="none" cap="none" strike="noStrike">
                <a:solidFill>
                  <a:schemeClr val="lt1"/>
                </a:solidFill>
                <a:latin typeface="Arial"/>
                <a:ea typeface="Arial"/>
                <a:cs typeface="Arial"/>
                <a:sym typeface="Arial"/>
              </a:rPr>
              <a:t>Text Content</a:t>
            </a:r>
            <a:endParaRPr/>
          </a:p>
          <a:p>
            <a:pPr indent="-533400" lvl="0" marL="749300" marR="0" rtl="0" algn="l">
              <a:lnSpc>
                <a:spcPct val="100000"/>
              </a:lnSpc>
              <a:spcBef>
                <a:spcPts val="3500"/>
              </a:spcBef>
              <a:spcAft>
                <a:spcPts val="0"/>
              </a:spcAft>
              <a:buClr>
                <a:srgbClr val="FF7F00"/>
              </a:buClr>
              <a:buSzPts val="6156"/>
              <a:buFont typeface="Cabin"/>
              <a:buChar char="•"/>
            </a:pPr>
            <a:r>
              <a:rPr lang="en-US" sz="3600" u="none" cap="none" strike="noStrike">
                <a:solidFill>
                  <a:srgbClr val="FF7F00"/>
                </a:solidFill>
                <a:latin typeface="Arial"/>
                <a:ea typeface="Arial"/>
                <a:cs typeface="Arial"/>
                <a:sym typeface="Arial"/>
              </a:rPr>
              <a:t>Attribute</a:t>
            </a:r>
            <a:endParaRPr/>
          </a:p>
          <a:p>
            <a:pPr indent="-533400" lvl="0" marL="749300" marR="0" rtl="0" algn="l">
              <a:lnSpc>
                <a:spcPct val="100000"/>
              </a:lnSpc>
              <a:spcBef>
                <a:spcPts val="3500"/>
              </a:spcBef>
              <a:spcAft>
                <a:spcPts val="0"/>
              </a:spcAft>
              <a:buClr>
                <a:srgbClr val="FF00FF"/>
              </a:buClr>
              <a:buSzPts val="6156"/>
              <a:buFont typeface="Cabin"/>
              <a:buChar char="•"/>
            </a:pPr>
            <a:r>
              <a:rPr lang="en-US" sz="3600" u="none" cap="none" strike="noStrike">
                <a:solidFill>
                  <a:srgbClr val="FF00FF"/>
                </a:solidFill>
                <a:latin typeface="Arial"/>
                <a:ea typeface="Arial"/>
                <a:cs typeface="Arial"/>
                <a:sym typeface="Arial"/>
              </a:rPr>
              <a:t>Self Closing Tag</a:t>
            </a:r>
            <a:endParaRPr/>
          </a:p>
        </p:txBody>
      </p:sp>
      <p:sp>
        <p:nvSpPr>
          <p:cNvPr id="46" name="Google Shape;46;p9"/>
          <p:cNvSpPr txBox="1"/>
          <p:nvPr/>
        </p:nvSpPr>
        <p:spPr>
          <a:xfrm>
            <a:off x="8332774" y="3136900"/>
            <a:ext cx="6394799" cy="46355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1100"/>
              <a:buFont typeface="Cabin"/>
              <a:buNone/>
            </a:pPr>
            <a:r>
              <a:rPr b="0" i="0" lang="en-US" sz="4400" u="none" cap="none" strike="noStrike">
                <a:solidFill>
                  <a:srgbClr val="00FF00"/>
                </a:solidFill>
                <a:latin typeface="Arial"/>
                <a:ea typeface="Arial"/>
                <a:cs typeface="Arial"/>
                <a:sym typeface="Arial"/>
              </a:rPr>
              <a:t>&lt;person&gt;</a:t>
            </a:r>
            <a:endParaRPr/>
          </a:p>
          <a:p>
            <a:pPr indent="0" lvl="0" marL="0" marR="0" rtl="0" algn="l">
              <a:lnSpc>
                <a:spcPct val="100000"/>
              </a:lnSpc>
              <a:spcBef>
                <a:spcPts val="0"/>
              </a:spcBef>
              <a:spcAft>
                <a:spcPts val="0"/>
              </a:spcAft>
              <a:buClr>
                <a:schemeClr val="lt1"/>
              </a:buClr>
              <a:buSzPts val="1100"/>
              <a:buFont typeface="Cabin"/>
              <a:buNone/>
            </a:pPr>
            <a:r>
              <a:rPr b="0" i="0" lang="en-US" sz="4400" u="none" cap="none" strike="noStrike">
                <a:solidFill>
                  <a:schemeClr val="lt1"/>
                </a:solidFill>
                <a:latin typeface="Arial"/>
                <a:ea typeface="Arial"/>
                <a:cs typeface="Arial"/>
                <a:sym typeface="Arial"/>
              </a:rPr>
              <a:t>  </a:t>
            </a:r>
            <a:r>
              <a:rPr b="0" i="0" lang="en-US" sz="4400" u="none" cap="none" strike="noStrike">
                <a:solidFill>
                  <a:srgbClr val="00FF00"/>
                </a:solidFill>
                <a:latin typeface="Arial"/>
                <a:ea typeface="Arial"/>
                <a:cs typeface="Arial"/>
                <a:sym typeface="Arial"/>
              </a:rPr>
              <a:t>&lt;name&gt;</a:t>
            </a:r>
            <a:r>
              <a:rPr b="0" i="0" lang="en-US" sz="4400" u="none" cap="none" strike="noStrike">
                <a:solidFill>
                  <a:schemeClr val="lt1"/>
                </a:solidFill>
                <a:latin typeface="Arial"/>
                <a:ea typeface="Arial"/>
                <a:cs typeface="Arial"/>
                <a:sym typeface="Arial"/>
              </a:rPr>
              <a:t>Chuck</a:t>
            </a:r>
            <a:r>
              <a:rPr b="0" i="0" lang="en-US" sz="4400" u="none" cap="none" strike="noStrike">
                <a:solidFill>
                  <a:srgbClr val="FFFF00"/>
                </a:solidFill>
                <a:latin typeface="Arial"/>
                <a:ea typeface="Arial"/>
                <a:cs typeface="Arial"/>
                <a:sym typeface="Arial"/>
              </a:rPr>
              <a:t>&lt;/name&gt;</a:t>
            </a:r>
            <a:endParaRPr/>
          </a:p>
          <a:p>
            <a:pPr indent="0" lvl="0" marL="0" marR="0" rtl="0" algn="l">
              <a:lnSpc>
                <a:spcPct val="100000"/>
              </a:lnSpc>
              <a:spcBef>
                <a:spcPts val="0"/>
              </a:spcBef>
              <a:spcAft>
                <a:spcPts val="0"/>
              </a:spcAft>
              <a:buClr>
                <a:schemeClr val="lt1"/>
              </a:buClr>
              <a:buSzPts val="1100"/>
              <a:buFont typeface="Cabin"/>
              <a:buNone/>
            </a:pPr>
            <a:r>
              <a:rPr b="0" i="0" lang="en-US" sz="4400" u="none" cap="none" strike="noStrike">
                <a:solidFill>
                  <a:schemeClr val="lt1"/>
                </a:solidFill>
                <a:latin typeface="Arial"/>
                <a:ea typeface="Arial"/>
                <a:cs typeface="Arial"/>
                <a:sym typeface="Arial"/>
              </a:rPr>
              <a:t>  </a:t>
            </a:r>
            <a:r>
              <a:rPr b="0" i="0" lang="en-US" sz="4400" u="none" cap="none" strike="noStrike">
                <a:solidFill>
                  <a:srgbClr val="00FF00"/>
                </a:solidFill>
                <a:latin typeface="Arial"/>
                <a:ea typeface="Arial"/>
                <a:cs typeface="Arial"/>
                <a:sym typeface="Arial"/>
              </a:rPr>
              <a:t>&lt;phone </a:t>
            </a:r>
            <a:r>
              <a:rPr b="0" i="0" lang="en-US" sz="4400" u="none" cap="none" strike="noStrike">
                <a:solidFill>
                  <a:srgbClr val="FF7F00"/>
                </a:solidFill>
                <a:latin typeface="Arial"/>
                <a:ea typeface="Arial"/>
                <a:cs typeface="Arial"/>
                <a:sym typeface="Arial"/>
              </a:rPr>
              <a:t>type="intl"</a:t>
            </a:r>
            <a:r>
              <a:rPr b="0" i="0" lang="en-US" sz="4400" u="none" cap="none" strike="noStrike">
                <a:solidFill>
                  <a:srgbClr val="00FF00"/>
                </a:solidFill>
                <a:latin typeface="Arial"/>
                <a:ea typeface="Arial"/>
                <a:cs typeface="Arial"/>
                <a:sym typeface="Arial"/>
              </a:rPr>
              <a:t>&gt;</a:t>
            </a:r>
            <a:endParaRPr/>
          </a:p>
          <a:p>
            <a:pPr indent="0" lvl="0" marL="0" marR="0" rtl="0" algn="l">
              <a:lnSpc>
                <a:spcPct val="100000"/>
              </a:lnSpc>
              <a:spcBef>
                <a:spcPts val="0"/>
              </a:spcBef>
              <a:spcAft>
                <a:spcPts val="0"/>
              </a:spcAft>
              <a:buClr>
                <a:schemeClr val="lt1"/>
              </a:buClr>
              <a:buSzPts val="1100"/>
              <a:buFont typeface="Cabin"/>
              <a:buNone/>
            </a:pPr>
            <a:r>
              <a:rPr b="0" i="0" lang="en-US" sz="4400" u="none" cap="none" strike="noStrike">
                <a:solidFill>
                  <a:schemeClr val="lt1"/>
                </a:solidFill>
                <a:latin typeface="Arial"/>
                <a:ea typeface="Arial"/>
                <a:cs typeface="Arial"/>
                <a:sym typeface="Arial"/>
              </a:rPr>
              <a:t>     +1 734 303 4456</a:t>
            </a:r>
            <a:endParaRPr/>
          </a:p>
          <a:p>
            <a:pPr indent="0" lvl="0" marL="0" marR="0" rtl="0" algn="l">
              <a:lnSpc>
                <a:spcPct val="100000"/>
              </a:lnSpc>
              <a:spcBef>
                <a:spcPts val="0"/>
              </a:spcBef>
              <a:spcAft>
                <a:spcPts val="0"/>
              </a:spcAft>
              <a:buClr>
                <a:schemeClr val="lt1"/>
              </a:buClr>
              <a:buSzPts val="1100"/>
              <a:buFont typeface="Cabin"/>
              <a:buNone/>
            </a:pPr>
            <a:r>
              <a:rPr b="0" i="0" lang="en-US" sz="4400" u="none" cap="none" strike="noStrike">
                <a:solidFill>
                  <a:schemeClr val="lt1"/>
                </a:solidFill>
                <a:latin typeface="Arial"/>
                <a:ea typeface="Arial"/>
                <a:cs typeface="Arial"/>
                <a:sym typeface="Arial"/>
              </a:rPr>
              <a:t>   </a:t>
            </a:r>
            <a:r>
              <a:rPr b="0" i="0" lang="en-US" sz="4400" u="none" cap="none" strike="noStrike">
                <a:solidFill>
                  <a:srgbClr val="FFFF00"/>
                </a:solidFill>
                <a:latin typeface="Arial"/>
                <a:ea typeface="Arial"/>
                <a:cs typeface="Arial"/>
                <a:sym typeface="Arial"/>
              </a:rPr>
              <a:t>&lt;/phone&gt;</a:t>
            </a:r>
            <a:endParaRPr/>
          </a:p>
          <a:p>
            <a:pPr indent="0" lvl="0" marL="0" marR="0" rtl="0" algn="l">
              <a:lnSpc>
                <a:spcPct val="100000"/>
              </a:lnSpc>
              <a:spcBef>
                <a:spcPts val="0"/>
              </a:spcBef>
              <a:spcAft>
                <a:spcPts val="0"/>
              </a:spcAft>
              <a:buClr>
                <a:schemeClr val="lt1"/>
              </a:buClr>
              <a:buSzPts val="1100"/>
              <a:buFont typeface="Cabin"/>
              <a:buNone/>
            </a:pPr>
            <a:r>
              <a:rPr b="0" i="0" lang="en-US" sz="4400" u="none" cap="none" strike="noStrike">
                <a:solidFill>
                  <a:schemeClr val="lt1"/>
                </a:solidFill>
                <a:latin typeface="Arial"/>
                <a:ea typeface="Arial"/>
                <a:cs typeface="Arial"/>
                <a:sym typeface="Arial"/>
              </a:rPr>
              <a:t>   </a:t>
            </a:r>
            <a:r>
              <a:rPr b="0" i="0" lang="en-US" sz="4400" u="none" cap="none" strike="noStrike">
                <a:solidFill>
                  <a:srgbClr val="FF00FF"/>
                </a:solidFill>
                <a:latin typeface="Arial"/>
                <a:ea typeface="Arial"/>
                <a:cs typeface="Arial"/>
                <a:sym typeface="Arial"/>
              </a:rPr>
              <a:t>&lt;email</a:t>
            </a:r>
            <a:r>
              <a:rPr b="0" i="0" lang="en-US" sz="4400" u="none" cap="none" strike="noStrike">
                <a:solidFill>
                  <a:schemeClr val="lt1"/>
                </a:solidFill>
                <a:latin typeface="Arial"/>
                <a:ea typeface="Arial"/>
                <a:cs typeface="Arial"/>
                <a:sym typeface="Arial"/>
              </a:rPr>
              <a:t> </a:t>
            </a:r>
            <a:r>
              <a:rPr b="0" i="0" lang="en-US" sz="4400" u="none" cap="none" strike="noStrike">
                <a:solidFill>
                  <a:srgbClr val="FF7F00"/>
                </a:solidFill>
                <a:latin typeface="Arial"/>
                <a:ea typeface="Arial"/>
                <a:cs typeface="Arial"/>
                <a:sym typeface="Arial"/>
              </a:rPr>
              <a:t>hide="yes"</a:t>
            </a:r>
            <a:r>
              <a:rPr b="0" i="0" lang="en-US" sz="4400" u="none" cap="none" strike="noStrike">
                <a:solidFill>
                  <a:schemeClr val="lt1"/>
                </a:solidFill>
                <a:latin typeface="Arial"/>
                <a:ea typeface="Arial"/>
                <a:cs typeface="Arial"/>
                <a:sym typeface="Arial"/>
              </a:rPr>
              <a:t> </a:t>
            </a:r>
            <a:r>
              <a:rPr b="0" i="0" lang="en-US" sz="4400" u="none" cap="none" strike="noStrike">
                <a:solidFill>
                  <a:srgbClr val="FF00FF"/>
                </a:solidFill>
                <a:latin typeface="Arial"/>
                <a:ea typeface="Arial"/>
                <a:cs typeface="Arial"/>
                <a:sym typeface="Arial"/>
              </a:rPr>
              <a:t>/&gt;</a:t>
            </a:r>
            <a:endParaRPr/>
          </a:p>
          <a:p>
            <a:pPr indent="0" lvl="0" marL="0" marR="0" rtl="0" algn="l">
              <a:lnSpc>
                <a:spcPct val="100000"/>
              </a:lnSpc>
              <a:spcBef>
                <a:spcPts val="0"/>
              </a:spcBef>
              <a:spcAft>
                <a:spcPts val="0"/>
              </a:spcAft>
              <a:buClr>
                <a:srgbClr val="FFFF00"/>
              </a:buClr>
              <a:buSzPts val="1100"/>
              <a:buFont typeface="Cabin"/>
              <a:buNone/>
            </a:pPr>
            <a:r>
              <a:rPr b="0" i="0" lang="en-US" sz="4400" u="none" cap="none" strike="noStrike">
                <a:solidFill>
                  <a:srgbClr val="FFFF00"/>
                </a:solidFill>
                <a:latin typeface="Arial"/>
                <a:ea typeface="Arial"/>
                <a:cs typeface="Arial"/>
                <a:sym typeface="Arial"/>
              </a:rPr>
              <a:t>&lt;/person&gt;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0"/>
          <p:cNvSpPr txBox="1"/>
          <p:nvPr>
            <p:ph type="title"/>
          </p:nvPr>
        </p:nvSpPr>
        <p:spPr>
          <a:xfrm>
            <a:off x="1155700" y="762000"/>
            <a:ext cx="13932000" cy="17779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lang="en-US" sz="7600" u="none" cap="none" strike="noStrike">
                <a:solidFill>
                  <a:srgbClr val="FFD966"/>
                </a:solidFill>
                <a:latin typeface="Arial"/>
                <a:ea typeface="Arial"/>
                <a:cs typeface="Arial"/>
                <a:sym typeface="Arial"/>
              </a:rPr>
              <a:t>XML as a Tree</a:t>
            </a:r>
            <a:endParaRPr/>
          </a:p>
        </p:txBody>
      </p:sp>
      <p:sp>
        <p:nvSpPr>
          <p:cNvPr id="52" name="Google Shape;52;p10"/>
          <p:cNvSpPr txBox="1"/>
          <p:nvPr/>
        </p:nvSpPr>
        <p:spPr>
          <a:xfrm>
            <a:off x="2578100" y="3160711"/>
            <a:ext cx="2727325" cy="3876675"/>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7F00"/>
              </a:buClr>
              <a:buSzPts val="800"/>
              <a:buFont typeface="Cabin"/>
              <a:buNone/>
            </a:pPr>
            <a:r>
              <a:rPr b="0" i="0" lang="en-US" sz="3200" u="none" cap="none" strike="noStrike">
                <a:solidFill>
                  <a:srgbClr val="FF7F00"/>
                </a:solidFill>
                <a:latin typeface="Arial"/>
                <a:ea typeface="Arial"/>
                <a:cs typeface="Arial"/>
                <a:sym typeface="Arial"/>
              </a:rPr>
              <a:t>&lt;a&gt;</a:t>
            </a:r>
            <a:endParaRPr/>
          </a:p>
          <a:p>
            <a:pPr indent="0" lvl="0" marL="0" marR="0" rtl="0" algn="l">
              <a:lnSpc>
                <a:spcPct val="100000"/>
              </a:lnSpc>
              <a:spcBef>
                <a:spcPts val="0"/>
              </a:spcBef>
              <a:spcAft>
                <a:spcPts val="0"/>
              </a:spcAft>
              <a:buClr>
                <a:srgbClr val="FF7F00"/>
              </a:buClr>
              <a:buSzPts val="800"/>
              <a:buFont typeface="Cabin"/>
              <a:buNone/>
            </a:pPr>
            <a:r>
              <a:rPr b="0" i="0" lang="en-US" sz="3200" u="none" cap="none" strike="noStrike">
                <a:solidFill>
                  <a:srgbClr val="FF7F00"/>
                </a:solidFill>
                <a:latin typeface="Arial"/>
                <a:ea typeface="Arial"/>
                <a:cs typeface="Arial"/>
                <a:sym typeface="Arial"/>
              </a:rPr>
              <a:t>   &lt;b&gt;</a:t>
            </a:r>
            <a:r>
              <a:rPr b="0" i="0" lang="en-US" sz="3200" u="none" cap="none" strike="noStrike">
                <a:solidFill>
                  <a:srgbClr val="FF00FF"/>
                </a:solidFill>
                <a:latin typeface="Arial"/>
                <a:ea typeface="Arial"/>
                <a:cs typeface="Arial"/>
                <a:sym typeface="Arial"/>
              </a:rPr>
              <a:t>X</a:t>
            </a:r>
            <a:r>
              <a:rPr b="0" i="0" lang="en-US" sz="3200" u="none" cap="none" strike="noStrike">
                <a:solidFill>
                  <a:srgbClr val="FF7F00"/>
                </a:solidFill>
                <a:latin typeface="Arial"/>
                <a:ea typeface="Arial"/>
                <a:cs typeface="Arial"/>
                <a:sym typeface="Arial"/>
              </a:rPr>
              <a:t>&lt;/b&gt;</a:t>
            </a:r>
            <a:endParaRPr/>
          </a:p>
          <a:p>
            <a:pPr indent="0" lvl="0" marL="0" marR="0" rtl="0" algn="l">
              <a:lnSpc>
                <a:spcPct val="100000"/>
              </a:lnSpc>
              <a:spcBef>
                <a:spcPts val="0"/>
              </a:spcBef>
              <a:spcAft>
                <a:spcPts val="0"/>
              </a:spcAft>
              <a:buClr>
                <a:srgbClr val="FF7F00"/>
              </a:buClr>
              <a:buSzPts val="800"/>
              <a:buFont typeface="Cabin"/>
              <a:buNone/>
            </a:pPr>
            <a:r>
              <a:rPr b="0" i="0" lang="en-US" sz="3200" u="none" cap="none" strike="noStrike">
                <a:solidFill>
                  <a:srgbClr val="FF7F00"/>
                </a:solidFill>
                <a:latin typeface="Arial"/>
                <a:ea typeface="Arial"/>
                <a:cs typeface="Arial"/>
                <a:sym typeface="Arial"/>
              </a:rPr>
              <a:t>   &lt;c&gt;</a:t>
            </a:r>
            <a:endParaRPr/>
          </a:p>
          <a:p>
            <a:pPr indent="0" lvl="0" marL="0" marR="0" rtl="0" algn="l">
              <a:lnSpc>
                <a:spcPct val="100000"/>
              </a:lnSpc>
              <a:spcBef>
                <a:spcPts val="0"/>
              </a:spcBef>
              <a:spcAft>
                <a:spcPts val="0"/>
              </a:spcAft>
              <a:buClr>
                <a:srgbClr val="FF7F00"/>
              </a:buClr>
              <a:buSzPts val="800"/>
              <a:buFont typeface="Cabin"/>
              <a:buNone/>
            </a:pPr>
            <a:r>
              <a:rPr b="0" i="0" lang="en-US" sz="3200" u="none" cap="none" strike="noStrike">
                <a:solidFill>
                  <a:srgbClr val="FF7F00"/>
                </a:solidFill>
                <a:latin typeface="Arial"/>
                <a:ea typeface="Arial"/>
                <a:cs typeface="Arial"/>
                <a:sym typeface="Arial"/>
              </a:rPr>
              <a:t>      &lt;d&gt;</a:t>
            </a:r>
            <a:r>
              <a:rPr b="0" i="0" lang="en-US" sz="3200" u="none" cap="none" strike="noStrike">
                <a:solidFill>
                  <a:srgbClr val="FF00FF"/>
                </a:solidFill>
                <a:latin typeface="Arial"/>
                <a:ea typeface="Arial"/>
                <a:cs typeface="Arial"/>
                <a:sym typeface="Arial"/>
              </a:rPr>
              <a:t>Y</a:t>
            </a:r>
            <a:r>
              <a:rPr b="0" i="0" lang="en-US" sz="3200" u="none" cap="none" strike="noStrike">
                <a:solidFill>
                  <a:srgbClr val="FF7F00"/>
                </a:solidFill>
                <a:latin typeface="Arial"/>
                <a:ea typeface="Arial"/>
                <a:cs typeface="Arial"/>
                <a:sym typeface="Arial"/>
              </a:rPr>
              <a:t>&lt;/d&gt;</a:t>
            </a:r>
            <a:endParaRPr/>
          </a:p>
          <a:p>
            <a:pPr indent="0" lvl="0" marL="0" marR="0" rtl="0" algn="l">
              <a:lnSpc>
                <a:spcPct val="100000"/>
              </a:lnSpc>
              <a:spcBef>
                <a:spcPts val="0"/>
              </a:spcBef>
              <a:spcAft>
                <a:spcPts val="0"/>
              </a:spcAft>
              <a:buClr>
                <a:srgbClr val="FF7F00"/>
              </a:buClr>
              <a:buSzPts val="800"/>
              <a:buFont typeface="Cabin"/>
              <a:buNone/>
            </a:pPr>
            <a:r>
              <a:rPr b="0" i="0" lang="en-US" sz="3200" u="none" cap="none" strike="noStrike">
                <a:solidFill>
                  <a:srgbClr val="FF7F00"/>
                </a:solidFill>
                <a:latin typeface="Arial"/>
                <a:ea typeface="Arial"/>
                <a:cs typeface="Arial"/>
                <a:sym typeface="Arial"/>
              </a:rPr>
              <a:t>      &lt;e&gt;</a:t>
            </a:r>
            <a:r>
              <a:rPr b="0" i="0" lang="en-US" sz="3200" u="none" cap="none" strike="noStrike">
                <a:solidFill>
                  <a:srgbClr val="FF00FF"/>
                </a:solidFill>
                <a:latin typeface="Arial"/>
                <a:ea typeface="Arial"/>
                <a:cs typeface="Arial"/>
                <a:sym typeface="Arial"/>
              </a:rPr>
              <a:t>Z</a:t>
            </a:r>
            <a:r>
              <a:rPr b="0" i="0" lang="en-US" sz="3200" u="none" cap="none" strike="noStrike">
                <a:solidFill>
                  <a:srgbClr val="FF7F00"/>
                </a:solidFill>
                <a:latin typeface="Arial"/>
                <a:ea typeface="Arial"/>
                <a:cs typeface="Arial"/>
                <a:sym typeface="Arial"/>
              </a:rPr>
              <a:t>&lt;/e&gt;</a:t>
            </a:r>
            <a:endParaRPr/>
          </a:p>
          <a:p>
            <a:pPr indent="0" lvl="0" marL="0" marR="0" rtl="0" algn="l">
              <a:lnSpc>
                <a:spcPct val="100000"/>
              </a:lnSpc>
              <a:spcBef>
                <a:spcPts val="0"/>
              </a:spcBef>
              <a:spcAft>
                <a:spcPts val="0"/>
              </a:spcAft>
              <a:buClr>
                <a:srgbClr val="FF7F00"/>
              </a:buClr>
              <a:buSzPts val="800"/>
              <a:buFont typeface="Cabin"/>
              <a:buNone/>
            </a:pPr>
            <a:r>
              <a:rPr b="0" i="0" lang="en-US" sz="3200" u="none" cap="none" strike="noStrike">
                <a:solidFill>
                  <a:srgbClr val="FF7F00"/>
                </a:solidFill>
                <a:latin typeface="Arial"/>
                <a:ea typeface="Arial"/>
                <a:cs typeface="Arial"/>
                <a:sym typeface="Arial"/>
              </a:rPr>
              <a:t>   &lt;/c&gt;</a:t>
            </a:r>
            <a:endParaRPr/>
          </a:p>
          <a:p>
            <a:pPr indent="0" lvl="0" marL="0" marR="0" rtl="0" algn="l">
              <a:lnSpc>
                <a:spcPct val="100000"/>
              </a:lnSpc>
              <a:spcBef>
                <a:spcPts val="0"/>
              </a:spcBef>
              <a:spcAft>
                <a:spcPts val="0"/>
              </a:spcAft>
              <a:buClr>
                <a:srgbClr val="FF7F00"/>
              </a:buClr>
              <a:buSzPts val="800"/>
              <a:buFont typeface="Cabin"/>
              <a:buNone/>
            </a:pPr>
            <a:r>
              <a:rPr b="0" i="0" lang="en-US" sz="3200" u="none" cap="none" strike="noStrike">
                <a:solidFill>
                  <a:srgbClr val="FF7F00"/>
                </a:solidFill>
                <a:latin typeface="Arial"/>
                <a:ea typeface="Arial"/>
                <a:cs typeface="Arial"/>
                <a:sym typeface="Arial"/>
              </a:rPr>
              <a:t>&lt;/a&gt;</a:t>
            </a:r>
            <a:endParaRPr/>
          </a:p>
        </p:txBody>
      </p:sp>
      <p:grpSp>
        <p:nvGrpSpPr>
          <p:cNvPr id="53" name="Google Shape;53;p10"/>
          <p:cNvGrpSpPr/>
          <p:nvPr/>
        </p:nvGrpSpPr>
        <p:grpSpPr>
          <a:xfrm>
            <a:off x="10185400" y="2527300"/>
            <a:ext cx="5143499" cy="5524499"/>
            <a:chOff x="0" y="0"/>
            <a:chExt cx="5143499" cy="5524499"/>
          </a:xfrm>
        </p:grpSpPr>
        <p:cxnSp>
          <p:nvCxnSpPr>
            <p:cNvPr id="54" name="Google Shape;54;p10"/>
            <p:cNvCxnSpPr/>
            <p:nvPr/>
          </p:nvCxnSpPr>
          <p:spPr>
            <a:xfrm>
              <a:off x="430212" y="2054225"/>
              <a:ext cx="0" cy="1031875"/>
            </a:xfrm>
            <a:prstGeom prst="straightConnector1">
              <a:avLst/>
            </a:prstGeom>
            <a:noFill/>
            <a:ln cap="rnd" cmpd="sng" w="76200">
              <a:solidFill>
                <a:srgbClr val="FF00FF"/>
              </a:solidFill>
              <a:prstDash val="solid"/>
              <a:miter lim="8000"/>
              <a:headEnd len="sm" w="sm" type="none"/>
              <a:tailEnd len="sm" w="sm" type="none"/>
            </a:ln>
          </p:spPr>
        </p:cxnSp>
        <p:cxnSp>
          <p:nvCxnSpPr>
            <p:cNvPr id="55" name="Google Shape;55;p10"/>
            <p:cNvCxnSpPr/>
            <p:nvPr/>
          </p:nvCxnSpPr>
          <p:spPr>
            <a:xfrm>
              <a:off x="2868611" y="3667125"/>
              <a:ext cx="0" cy="1031875"/>
            </a:xfrm>
            <a:prstGeom prst="straightConnector1">
              <a:avLst/>
            </a:prstGeom>
            <a:noFill/>
            <a:ln cap="rnd" cmpd="sng" w="76200">
              <a:solidFill>
                <a:srgbClr val="FF00FF"/>
              </a:solidFill>
              <a:prstDash val="solid"/>
              <a:miter lim="8000"/>
              <a:headEnd len="sm" w="sm" type="none"/>
              <a:tailEnd len="sm" w="sm" type="none"/>
            </a:ln>
          </p:spPr>
        </p:cxnSp>
        <p:cxnSp>
          <p:nvCxnSpPr>
            <p:cNvPr id="56" name="Google Shape;56;p10"/>
            <p:cNvCxnSpPr/>
            <p:nvPr/>
          </p:nvCxnSpPr>
          <p:spPr>
            <a:xfrm>
              <a:off x="4710112" y="3667125"/>
              <a:ext cx="0" cy="1031875"/>
            </a:xfrm>
            <a:prstGeom prst="straightConnector1">
              <a:avLst/>
            </a:prstGeom>
            <a:noFill/>
            <a:ln cap="rnd" cmpd="sng" w="76200">
              <a:solidFill>
                <a:srgbClr val="FF00FF"/>
              </a:solidFill>
              <a:prstDash val="solid"/>
              <a:miter lim="8000"/>
              <a:headEnd len="sm" w="sm" type="none"/>
              <a:tailEnd len="sm" w="sm" type="none"/>
            </a:ln>
          </p:spPr>
        </p:cxnSp>
        <p:sp>
          <p:nvSpPr>
            <p:cNvPr id="57" name="Google Shape;57;p10"/>
            <p:cNvSpPr/>
            <p:nvPr/>
          </p:nvSpPr>
          <p:spPr>
            <a:xfrm>
              <a:off x="0" y="1346200"/>
              <a:ext cx="863599" cy="863599"/>
            </a:xfrm>
            <a:prstGeom prst="ellipse">
              <a:avLst/>
            </a:prstGeom>
            <a:solidFill>
              <a:srgbClr val="FF7F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50"/>
                <a:buFont typeface="Cabin"/>
                <a:buNone/>
              </a:pPr>
              <a:r>
                <a:rPr b="0" i="0" lang="en-US" sz="4600" u="none" cap="none" strike="noStrike">
                  <a:solidFill>
                    <a:schemeClr val="lt1"/>
                  </a:solidFill>
                  <a:latin typeface="Arial"/>
                  <a:ea typeface="Arial"/>
                  <a:cs typeface="Arial"/>
                  <a:sym typeface="Arial"/>
                </a:rPr>
                <a:t>b</a:t>
              </a:r>
              <a:endParaRPr/>
            </a:p>
          </p:txBody>
        </p:sp>
        <p:sp>
          <p:nvSpPr>
            <p:cNvPr id="58" name="Google Shape;58;p10"/>
            <p:cNvSpPr/>
            <p:nvPr/>
          </p:nvSpPr>
          <p:spPr>
            <a:xfrm>
              <a:off x="3276600" y="1346200"/>
              <a:ext cx="863599" cy="863599"/>
            </a:xfrm>
            <a:prstGeom prst="ellipse">
              <a:avLst/>
            </a:prstGeom>
            <a:solidFill>
              <a:srgbClr val="FF7F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50"/>
                <a:buFont typeface="Cabin"/>
                <a:buNone/>
              </a:pPr>
              <a:r>
                <a:rPr b="0" i="0" lang="en-US" sz="4600" u="none" cap="none" strike="noStrike">
                  <a:solidFill>
                    <a:schemeClr val="lt1"/>
                  </a:solidFill>
                  <a:latin typeface="Arial"/>
                  <a:ea typeface="Arial"/>
                  <a:cs typeface="Arial"/>
                  <a:sym typeface="Arial"/>
                </a:rPr>
                <a:t>c</a:t>
              </a:r>
              <a:endParaRPr/>
            </a:p>
          </p:txBody>
        </p:sp>
        <p:sp>
          <p:nvSpPr>
            <p:cNvPr id="59" name="Google Shape;59;p10"/>
            <p:cNvSpPr/>
            <p:nvPr/>
          </p:nvSpPr>
          <p:spPr>
            <a:xfrm>
              <a:off x="0" y="2882900"/>
              <a:ext cx="863599" cy="863599"/>
            </a:xfrm>
            <a:prstGeom prst="ellipse">
              <a:avLst/>
            </a:prstGeom>
            <a:solidFill>
              <a:srgbClr val="FF00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bin"/>
                <a:buNone/>
              </a:pPr>
              <a:r>
                <a:rPr b="0" i="0" lang="en-US" sz="4400" u="none" cap="none" strike="noStrike">
                  <a:solidFill>
                    <a:schemeClr val="lt1"/>
                  </a:solidFill>
                  <a:latin typeface="Arial"/>
                  <a:ea typeface="Arial"/>
                  <a:cs typeface="Arial"/>
                  <a:sym typeface="Arial"/>
                </a:rPr>
                <a:t>X</a:t>
              </a:r>
              <a:endParaRPr/>
            </a:p>
          </p:txBody>
        </p:sp>
        <p:sp>
          <p:nvSpPr>
            <p:cNvPr id="60" name="Google Shape;60;p10"/>
            <p:cNvSpPr/>
            <p:nvPr/>
          </p:nvSpPr>
          <p:spPr>
            <a:xfrm>
              <a:off x="2438400" y="2882900"/>
              <a:ext cx="863599" cy="863599"/>
            </a:xfrm>
            <a:prstGeom prst="ellipse">
              <a:avLst/>
            </a:prstGeom>
            <a:solidFill>
              <a:srgbClr val="FF7F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50"/>
                <a:buFont typeface="Cabin"/>
                <a:buNone/>
              </a:pPr>
              <a:r>
                <a:rPr b="0" i="0" lang="en-US" sz="4600" u="none" cap="none" strike="noStrike">
                  <a:solidFill>
                    <a:schemeClr val="lt1"/>
                  </a:solidFill>
                  <a:latin typeface="Arial"/>
                  <a:ea typeface="Arial"/>
                  <a:cs typeface="Arial"/>
                  <a:sym typeface="Arial"/>
                </a:rPr>
                <a:t>d</a:t>
              </a:r>
              <a:endParaRPr/>
            </a:p>
          </p:txBody>
        </p:sp>
        <p:sp>
          <p:nvSpPr>
            <p:cNvPr id="61" name="Google Shape;61;p10"/>
            <p:cNvSpPr/>
            <p:nvPr/>
          </p:nvSpPr>
          <p:spPr>
            <a:xfrm>
              <a:off x="4279900" y="2882900"/>
              <a:ext cx="863599" cy="863599"/>
            </a:xfrm>
            <a:prstGeom prst="ellipse">
              <a:avLst/>
            </a:prstGeom>
            <a:solidFill>
              <a:srgbClr val="FF7F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50"/>
                <a:buFont typeface="Cabin"/>
                <a:buNone/>
              </a:pPr>
              <a:r>
                <a:rPr b="0" i="0" lang="en-US" sz="4600" u="none" cap="none" strike="noStrike">
                  <a:solidFill>
                    <a:schemeClr val="lt1"/>
                  </a:solidFill>
                  <a:latin typeface="Arial"/>
                  <a:ea typeface="Arial"/>
                  <a:cs typeface="Arial"/>
                  <a:sym typeface="Arial"/>
                </a:rPr>
                <a:t>e</a:t>
              </a:r>
              <a:endParaRPr/>
            </a:p>
          </p:txBody>
        </p:sp>
        <p:sp>
          <p:nvSpPr>
            <p:cNvPr id="62" name="Google Shape;62;p10"/>
            <p:cNvSpPr/>
            <p:nvPr/>
          </p:nvSpPr>
          <p:spPr>
            <a:xfrm>
              <a:off x="2438400" y="4660900"/>
              <a:ext cx="863599" cy="863599"/>
            </a:xfrm>
            <a:prstGeom prst="ellipse">
              <a:avLst/>
            </a:prstGeom>
            <a:solidFill>
              <a:srgbClr val="FF00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bin"/>
                <a:buNone/>
              </a:pPr>
              <a:r>
                <a:rPr b="0" i="0" lang="en-US" sz="4400" u="none" cap="none" strike="noStrike">
                  <a:solidFill>
                    <a:schemeClr val="lt1"/>
                  </a:solidFill>
                  <a:latin typeface="Arial"/>
                  <a:ea typeface="Arial"/>
                  <a:cs typeface="Arial"/>
                  <a:sym typeface="Arial"/>
                </a:rPr>
                <a:t>Y</a:t>
              </a:r>
              <a:endParaRPr/>
            </a:p>
          </p:txBody>
        </p:sp>
        <p:sp>
          <p:nvSpPr>
            <p:cNvPr id="63" name="Google Shape;63;p10"/>
            <p:cNvSpPr/>
            <p:nvPr/>
          </p:nvSpPr>
          <p:spPr>
            <a:xfrm>
              <a:off x="4279900" y="4660900"/>
              <a:ext cx="863599" cy="863599"/>
            </a:xfrm>
            <a:prstGeom prst="ellipse">
              <a:avLst/>
            </a:prstGeom>
            <a:solidFill>
              <a:srgbClr val="FF00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100"/>
                <a:buFont typeface="Cabin"/>
                <a:buNone/>
              </a:pPr>
              <a:r>
                <a:rPr b="0" i="0" lang="en-US" sz="4400" u="none" cap="none" strike="noStrike">
                  <a:solidFill>
                    <a:schemeClr val="lt1"/>
                  </a:solidFill>
                  <a:latin typeface="Arial"/>
                  <a:ea typeface="Arial"/>
                  <a:cs typeface="Arial"/>
                  <a:sym typeface="Arial"/>
                </a:rPr>
                <a:t>Z</a:t>
              </a:r>
              <a:endParaRPr/>
            </a:p>
          </p:txBody>
        </p:sp>
        <p:cxnSp>
          <p:nvCxnSpPr>
            <p:cNvPr id="64" name="Google Shape;64;p10"/>
            <p:cNvCxnSpPr/>
            <p:nvPr/>
          </p:nvCxnSpPr>
          <p:spPr>
            <a:xfrm flipH="1">
              <a:off x="622299" y="612775"/>
              <a:ext cx="1449386" cy="989012"/>
            </a:xfrm>
            <a:prstGeom prst="straightConnector1">
              <a:avLst/>
            </a:prstGeom>
            <a:noFill/>
            <a:ln cap="rnd" cmpd="sng" w="76200">
              <a:solidFill>
                <a:srgbClr val="FF7F00"/>
              </a:solidFill>
              <a:prstDash val="solid"/>
              <a:miter lim="8000"/>
              <a:headEnd len="sm" w="sm" type="none"/>
              <a:tailEnd len="sm" w="sm" type="none"/>
            </a:ln>
          </p:spPr>
        </p:cxnSp>
        <p:cxnSp>
          <p:nvCxnSpPr>
            <p:cNvPr id="65" name="Google Shape;65;p10"/>
            <p:cNvCxnSpPr/>
            <p:nvPr/>
          </p:nvCxnSpPr>
          <p:spPr>
            <a:xfrm>
              <a:off x="2444750" y="657225"/>
              <a:ext cx="1054100" cy="879474"/>
            </a:xfrm>
            <a:prstGeom prst="straightConnector1">
              <a:avLst/>
            </a:prstGeom>
            <a:noFill/>
            <a:ln cap="rnd" cmpd="sng" w="76200">
              <a:solidFill>
                <a:srgbClr val="FF7F00"/>
              </a:solidFill>
              <a:prstDash val="solid"/>
              <a:miter lim="8000"/>
              <a:headEnd len="sm" w="sm" type="none"/>
              <a:tailEnd len="sm" w="sm" type="none"/>
            </a:ln>
          </p:spPr>
        </p:cxnSp>
        <p:cxnSp>
          <p:nvCxnSpPr>
            <p:cNvPr id="66" name="Google Shape;66;p10"/>
            <p:cNvCxnSpPr/>
            <p:nvPr/>
          </p:nvCxnSpPr>
          <p:spPr>
            <a:xfrm flipH="1">
              <a:off x="2994024" y="2084386"/>
              <a:ext cx="549275" cy="966787"/>
            </a:xfrm>
            <a:prstGeom prst="straightConnector1">
              <a:avLst/>
            </a:prstGeom>
            <a:noFill/>
            <a:ln cap="rnd" cmpd="sng" w="76200">
              <a:solidFill>
                <a:srgbClr val="FF7F00"/>
              </a:solidFill>
              <a:prstDash val="solid"/>
              <a:miter lim="8000"/>
              <a:headEnd len="sm" w="sm" type="none"/>
              <a:tailEnd len="sm" w="sm" type="none"/>
            </a:ln>
          </p:spPr>
        </p:cxnSp>
        <p:cxnSp>
          <p:nvCxnSpPr>
            <p:cNvPr id="67" name="Google Shape;67;p10"/>
            <p:cNvCxnSpPr/>
            <p:nvPr/>
          </p:nvCxnSpPr>
          <p:spPr>
            <a:xfrm>
              <a:off x="3873500" y="2063750"/>
              <a:ext cx="768349" cy="855661"/>
            </a:xfrm>
            <a:prstGeom prst="straightConnector1">
              <a:avLst/>
            </a:prstGeom>
            <a:noFill/>
            <a:ln cap="rnd" cmpd="sng" w="76200">
              <a:solidFill>
                <a:srgbClr val="FF7F00"/>
              </a:solidFill>
              <a:prstDash val="solid"/>
              <a:miter lim="8000"/>
              <a:headEnd len="sm" w="sm" type="none"/>
              <a:tailEnd len="sm" w="sm" type="none"/>
            </a:ln>
          </p:spPr>
        </p:cxnSp>
        <p:sp>
          <p:nvSpPr>
            <p:cNvPr id="68" name="Google Shape;68;p10"/>
            <p:cNvSpPr/>
            <p:nvPr/>
          </p:nvSpPr>
          <p:spPr>
            <a:xfrm>
              <a:off x="1790700" y="0"/>
              <a:ext cx="863599" cy="863599"/>
            </a:xfrm>
            <a:prstGeom prst="ellipse">
              <a:avLst/>
            </a:prstGeom>
            <a:solidFill>
              <a:srgbClr val="FF7F0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1225"/>
                <a:buFont typeface="Cabin"/>
                <a:buNone/>
              </a:pPr>
              <a:r>
                <a:rPr b="0" i="0" lang="en-US" sz="4900" u="none" cap="none" strike="noStrike">
                  <a:solidFill>
                    <a:schemeClr val="lt1"/>
                  </a:solidFill>
                  <a:latin typeface="Arial"/>
                  <a:ea typeface="Arial"/>
                  <a:cs typeface="Arial"/>
                  <a:sym typeface="Arial"/>
                </a:rPr>
                <a:t>a</a:t>
              </a:r>
              <a:endParaRPr/>
            </a:p>
          </p:txBody>
        </p:sp>
      </p:grpSp>
      <p:sp>
        <p:nvSpPr>
          <p:cNvPr id="69" name="Google Shape;69;p10"/>
          <p:cNvSpPr txBox="1"/>
          <p:nvPr/>
        </p:nvSpPr>
        <p:spPr>
          <a:xfrm>
            <a:off x="1941237" y="7226300"/>
            <a:ext cx="2125799"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7F00"/>
              </a:buClr>
              <a:buSzPts val="900"/>
              <a:buFont typeface="Cabin"/>
              <a:buNone/>
            </a:pPr>
            <a:r>
              <a:rPr b="0" i="0" lang="en-US" sz="3600" u="none" cap="none" strike="noStrike">
                <a:solidFill>
                  <a:srgbClr val="FF7F00"/>
                </a:solidFill>
                <a:latin typeface="Arial"/>
                <a:ea typeface="Arial"/>
                <a:cs typeface="Arial"/>
                <a:sym typeface="Arial"/>
              </a:rPr>
              <a:t>Elements</a:t>
            </a:r>
            <a:endParaRPr/>
          </a:p>
        </p:txBody>
      </p:sp>
      <p:sp>
        <p:nvSpPr>
          <p:cNvPr id="70" name="Google Shape;70;p10"/>
          <p:cNvSpPr txBox="1"/>
          <p:nvPr/>
        </p:nvSpPr>
        <p:spPr>
          <a:xfrm>
            <a:off x="4554450" y="7226300"/>
            <a:ext cx="920699"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Text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1"/>
          <p:cNvSpPr txBox="1"/>
          <p:nvPr/>
        </p:nvSpPr>
        <p:spPr>
          <a:xfrm>
            <a:off x="1549400" y="2106466"/>
            <a:ext cx="10589591" cy="65023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import xml.etree.ElementTree as ET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data = '''&lt;person&gt;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&lt;name&gt;Chuck&lt;/name&gt;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&lt;phone type="intl"&gt;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+1 734 303 4456</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&lt;/phone&gt;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&lt;email hide="yes"/&gt;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&lt;/person&gt;'''</a:t>
            </a: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tree = ET.fromstring(data)</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print('Name:',tree.find('name').text)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print('Attr:',tree.find('email').get('hide'))</a:t>
            </a:r>
            <a:endParaRPr b="0" i="0" sz="3000" u="none" cap="none" strike="noStrike">
              <a:solidFill>
                <a:schemeClr val="lt1"/>
              </a:solidFill>
              <a:latin typeface="Courier"/>
              <a:ea typeface="Courier"/>
              <a:cs typeface="Courier"/>
              <a:sym typeface="Courier"/>
            </a:endParaRPr>
          </a:p>
        </p:txBody>
      </p:sp>
      <p:sp>
        <p:nvSpPr>
          <p:cNvPr id="76" name="Google Shape;76;p11"/>
          <p:cNvSpPr txBox="1"/>
          <p:nvPr/>
        </p:nvSpPr>
        <p:spPr>
          <a:xfrm>
            <a:off x="1155700" y="374074"/>
            <a:ext cx="13932000" cy="17779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b="0" i="0" lang="en-US" sz="7600" u="none" cap="none" strike="noStrike">
                <a:solidFill>
                  <a:srgbClr val="FFD966"/>
                </a:solidFill>
                <a:latin typeface="Arial"/>
                <a:ea typeface="Arial"/>
                <a:cs typeface="Arial"/>
                <a:sym typeface="Arial"/>
              </a:rPr>
              <a:t>Parsing XML in Python</a:t>
            </a:r>
            <a:endParaRPr b="0" i="0" sz="7600" u="none" cap="none" strike="noStrike">
              <a:solidFill>
                <a:srgbClr val="FFD96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2"/>
          <p:cNvSpPr txBox="1"/>
          <p:nvPr/>
        </p:nvSpPr>
        <p:spPr>
          <a:xfrm>
            <a:off x="1270000" y="1252931"/>
            <a:ext cx="10035309" cy="78079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import xml.etree.ElementTree as ET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input = '''&lt;stuff&gt;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&lt;users&gt;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&lt;user x="2"&gt;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&lt;id&gt;001&lt;/id&gt;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&lt;name&gt;Chuck&lt;/name&gt;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&lt;/user&gt;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&lt;user x="7"&gt;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&lt;id&gt;009&lt;/id&gt;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&lt;name&gt;Brent&lt;/name&gt;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&lt;/user&gt;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&lt;/users&gt;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&lt;/stuff&gt;'''</a:t>
            </a:r>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stuff = ET.fromstring(input)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lst = stuff.findall('users/user')</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print('User count:', len(lst))</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for item in lst:</a:t>
            </a: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print('Name', item.find('name').text)</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print('Id', item.find('id').text)</a:t>
            </a:r>
            <a:endParaRPr b="0" i="0" sz="24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00"/>
              <a:buFont typeface="Courier New"/>
              <a:buNone/>
            </a:pPr>
            <a:r>
              <a:rPr b="0" i="0" lang="en-US" sz="2400" u="none" cap="none" strike="noStrike">
                <a:solidFill>
                  <a:schemeClr val="lt1"/>
                </a:solidFill>
                <a:latin typeface="Courier"/>
                <a:ea typeface="Courier"/>
                <a:cs typeface="Courier"/>
                <a:sym typeface="Courier"/>
              </a:rPr>
              <a:t>    print('Attribute', item.get("x"))</a:t>
            </a:r>
            <a:endParaRPr b="0" i="0" sz="2400" u="none" cap="none" strike="noStrike">
              <a:solidFill>
                <a:schemeClr val="lt1"/>
              </a:solidFill>
              <a:latin typeface="Courier"/>
              <a:ea typeface="Courier"/>
              <a:cs typeface="Courier"/>
              <a:sym typeface="Courier"/>
            </a:endParaRPr>
          </a:p>
        </p:txBody>
      </p:sp>
      <p:sp>
        <p:nvSpPr>
          <p:cNvPr id="82" name="Google Shape;82;p12"/>
          <p:cNvSpPr txBox="1"/>
          <p:nvPr/>
        </p:nvSpPr>
        <p:spPr>
          <a:xfrm>
            <a:off x="1848426" y="-235524"/>
            <a:ext cx="13932000" cy="17779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b="0" i="0" lang="en-US" sz="7600" u="none" cap="none" strike="noStrike">
                <a:solidFill>
                  <a:srgbClr val="FFD966"/>
                </a:solidFill>
                <a:latin typeface="Arial"/>
                <a:ea typeface="Arial"/>
                <a:cs typeface="Arial"/>
                <a:sym typeface="Arial"/>
              </a:rPr>
              <a:t>Parsing XML in Python</a:t>
            </a:r>
            <a:endParaRPr b="0" i="0" sz="7600" u="none" cap="none" strike="noStrike">
              <a:solidFill>
                <a:srgbClr val="FFD96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JSON</a:t>
            </a:r>
            <a:br>
              <a:rPr lang="en-US" sz="7600" u="none" cap="none" strike="noStrike">
                <a:solidFill>
                  <a:srgbClr val="FFD966"/>
                </a:solidFill>
                <a:latin typeface="Arial"/>
                <a:ea typeface="Arial"/>
                <a:cs typeface="Arial"/>
                <a:sym typeface="Arial"/>
              </a:rPr>
            </a:br>
            <a:r>
              <a:rPr lang="en-US" sz="7600" u="none" cap="none" strike="noStrike">
                <a:solidFill>
                  <a:srgbClr val="FFD966"/>
                </a:solidFill>
                <a:latin typeface="Arial"/>
                <a:ea typeface="Arial"/>
                <a:cs typeface="Arial"/>
                <a:sym typeface="Arial"/>
              </a:rPr>
              <a:t>(JavaScript Object Notation)</a:t>
            </a:r>
            <a:endParaRPr sz="7600" u="none" cap="none" strike="noStrike">
              <a:solidFill>
                <a:srgbClr val="FFD96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1155700" y="762000"/>
            <a:ext cx="13932000" cy="1777900"/>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FF00"/>
              </a:buClr>
              <a:buSzPts val="1950"/>
              <a:buFont typeface="Cabin"/>
              <a:buNone/>
            </a:pPr>
            <a:r>
              <a:rPr lang="en-US" sz="7800" u="sng" cap="none" strike="noStrike">
                <a:solidFill>
                  <a:srgbClr val="FFD966"/>
                </a:solidFill>
                <a:latin typeface="Arial"/>
                <a:ea typeface="Arial"/>
                <a:cs typeface="Arial"/>
                <a:sym typeface="Arial"/>
              </a:rPr>
              <a:t>J</a:t>
            </a:r>
            <a:r>
              <a:rPr lang="en-US" sz="7800" u="none" cap="none" strike="noStrike">
                <a:solidFill>
                  <a:srgbClr val="FFD966"/>
                </a:solidFill>
                <a:latin typeface="Arial"/>
                <a:ea typeface="Arial"/>
                <a:cs typeface="Arial"/>
                <a:sym typeface="Arial"/>
              </a:rPr>
              <a:t>ava</a:t>
            </a:r>
            <a:r>
              <a:rPr lang="en-US" sz="7800" u="sng" cap="none" strike="noStrike">
                <a:solidFill>
                  <a:srgbClr val="FFD966"/>
                </a:solidFill>
                <a:latin typeface="Arial"/>
                <a:ea typeface="Arial"/>
                <a:cs typeface="Arial"/>
                <a:sym typeface="Arial"/>
              </a:rPr>
              <a:t>S</a:t>
            </a:r>
            <a:r>
              <a:rPr lang="en-US" sz="7800" u="none" cap="none" strike="noStrike">
                <a:solidFill>
                  <a:srgbClr val="FFD966"/>
                </a:solidFill>
                <a:latin typeface="Arial"/>
                <a:ea typeface="Arial"/>
                <a:cs typeface="Arial"/>
                <a:sym typeface="Arial"/>
              </a:rPr>
              <a:t>cript </a:t>
            </a:r>
            <a:r>
              <a:rPr lang="en-US" sz="7800" u="sng" cap="none" strike="noStrike">
                <a:solidFill>
                  <a:srgbClr val="FFD966"/>
                </a:solidFill>
                <a:latin typeface="Arial"/>
                <a:ea typeface="Arial"/>
                <a:cs typeface="Arial"/>
                <a:sym typeface="Arial"/>
              </a:rPr>
              <a:t>O</a:t>
            </a:r>
            <a:r>
              <a:rPr lang="en-US" sz="7800" u="none" cap="none" strike="noStrike">
                <a:solidFill>
                  <a:srgbClr val="FFD966"/>
                </a:solidFill>
                <a:latin typeface="Arial"/>
                <a:ea typeface="Arial"/>
                <a:cs typeface="Arial"/>
                <a:sym typeface="Arial"/>
              </a:rPr>
              <a:t>bject </a:t>
            </a:r>
            <a:r>
              <a:rPr lang="en-US" sz="7800" u="sng" cap="none" strike="noStrike">
                <a:solidFill>
                  <a:srgbClr val="FFD966"/>
                </a:solidFill>
                <a:latin typeface="Arial"/>
                <a:ea typeface="Arial"/>
                <a:cs typeface="Arial"/>
                <a:sym typeface="Arial"/>
              </a:rPr>
              <a:t>N</a:t>
            </a:r>
            <a:r>
              <a:rPr lang="en-US" sz="7800" u="none" cap="none" strike="noStrike">
                <a:solidFill>
                  <a:srgbClr val="FFD966"/>
                </a:solidFill>
                <a:latin typeface="Arial"/>
                <a:ea typeface="Arial"/>
                <a:cs typeface="Arial"/>
                <a:sym typeface="Arial"/>
              </a:rPr>
              <a:t>otation</a:t>
            </a:r>
            <a:endParaRPr/>
          </a:p>
        </p:txBody>
      </p:sp>
      <p:sp>
        <p:nvSpPr>
          <p:cNvPr id="93" name="Google Shape;93;p14"/>
          <p:cNvSpPr txBox="1"/>
          <p:nvPr>
            <p:ph idx="1" type="body"/>
          </p:nvPr>
        </p:nvSpPr>
        <p:spPr>
          <a:xfrm>
            <a:off x="1155700" y="2603501"/>
            <a:ext cx="14361391" cy="1248064"/>
          </a:xfrm>
          <a:prstGeom prst="rect">
            <a:avLst/>
          </a:prstGeom>
          <a:noFill/>
          <a:ln>
            <a:noFill/>
          </a:ln>
        </p:spPr>
        <p:txBody>
          <a:bodyPr anchorCtr="0" anchor="ctr" bIns="50800" lIns="50800" spcFirstLastPara="1" rIns="50800" wrap="square" tIns="50800">
            <a:noAutofit/>
          </a:bodyPr>
          <a:lstStyle/>
          <a:p>
            <a:pPr indent="-787400" lvl="0" marL="1104900" marR="0" rtl="0" algn="l">
              <a:lnSpc>
                <a:spcPct val="100000"/>
              </a:lnSpc>
              <a:spcBef>
                <a:spcPts val="0"/>
              </a:spcBef>
              <a:spcAft>
                <a:spcPts val="0"/>
              </a:spcAft>
              <a:buClr>
                <a:schemeClr val="lt1"/>
              </a:buClr>
              <a:buSzPts val="6498"/>
              <a:buFont typeface="Cabin"/>
              <a:buChar char="•"/>
            </a:pPr>
            <a:r>
              <a:rPr lang="en-US" sz="3800" u="none" cap="none" strike="noStrike">
                <a:solidFill>
                  <a:schemeClr val="lt1"/>
                </a:solidFill>
                <a:latin typeface="Arial"/>
                <a:ea typeface="Arial"/>
                <a:cs typeface="Arial"/>
                <a:sym typeface="Arial"/>
              </a:rPr>
              <a:t>Object literal notation in JavaScript</a:t>
            </a:r>
            <a:endParaRPr/>
          </a:p>
        </p:txBody>
      </p:sp>
      <p:sp>
        <p:nvSpPr>
          <p:cNvPr id="94" name="Google Shape;94;p14"/>
          <p:cNvSpPr txBox="1"/>
          <p:nvPr/>
        </p:nvSpPr>
        <p:spPr>
          <a:xfrm>
            <a:off x="1828800" y="3915166"/>
            <a:ext cx="13466618" cy="4646943"/>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1100"/>
              <a:buFont typeface="Arial"/>
              <a:buNone/>
            </a:pPr>
            <a:r>
              <a:rPr b="0" i="0" lang="en-US" sz="4400" u="none" cap="none" strike="noStrike">
                <a:solidFill>
                  <a:srgbClr val="00FF00"/>
                </a:solidFill>
                <a:latin typeface="Arial"/>
                <a:ea typeface="Arial"/>
                <a:cs typeface="Arial"/>
                <a:sym typeface="Arial"/>
              </a:rPr>
              <a:t>{  "name" : "Chuck", </a:t>
            </a:r>
            <a:endParaRPr b="0" i="0" sz="44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1100"/>
              <a:buFont typeface="Arial"/>
              <a:buNone/>
            </a:pPr>
            <a:r>
              <a:t/>
            </a:r>
            <a:endParaRPr b="0" i="0" sz="44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1100"/>
              <a:buFont typeface="Arial"/>
              <a:buNone/>
            </a:pPr>
            <a:r>
              <a:rPr b="0" i="0" lang="en-US" sz="4400" u="none" cap="none" strike="noStrike">
                <a:solidFill>
                  <a:srgbClr val="00FF00"/>
                </a:solidFill>
                <a:latin typeface="Arial"/>
                <a:ea typeface="Arial"/>
                <a:cs typeface="Arial"/>
                <a:sym typeface="Arial"/>
              </a:rPr>
              <a:t>   "phone" : { "type" : "intl", </a:t>
            </a:r>
            <a:endParaRPr b="0" i="0" sz="44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1100"/>
              <a:buFont typeface="Arial"/>
              <a:buNone/>
            </a:pPr>
            <a:r>
              <a:rPr b="0" i="0" lang="en-US" sz="4400" u="none" cap="none" strike="noStrike">
                <a:solidFill>
                  <a:srgbClr val="00FF00"/>
                </a:solidFill>
                <a:latin typeface="Arial"/>
                <a:ea typeface="Arial"/>
                <a:cs typeface="Arial"/>
                <a:sym typeface="Arial"/>
              </a:rPr>
              <a:t>                   "number" : "+1 734 303 4456”</a:t>
            </a:r>
            <a:endParaRPr b="0" i="0" sz="44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1100"/>
              <a:buFont typeface="Arial"/>
              <a:buNone/>
            </a:pPr>
            <a:r>
              <a:rPr b="0" i="0" lang="en-US" sz="4400" u="none" cap="none" strike="noStrike">
                <a:solidFill>
                  <a:srgbClr val="00FF00"/>
                </a:solidFill>
                <a:latin typeface="Arial"/>
                <a:ea typeface="Arial"/>
                <a:cs typeface="Arial"/>
                <a:sym typeface="Arial"/>
              </a:rPr>
              <a:t>                   },    </a:t>
            </a:r>
            <a:endParaRPr/>
          </a:p>
          <a:p>
            <a:pPr indent="0" lvl="0" marL="0" marR="0" rtl="0" algn="l">
              <a:lnSpc>
                <a:spcPct val="100000"/>
              </a:lnSpc>
              <a:spcBef>
                <a:spcPts val="0"/>
              </a:spcBef>
              <a:spcAft>
                <a:spcPts val="0"/>
              </a:spcAft>
              <a:buClr>
                <a:srgbClr val="00FF00"/>
              </a:buClr>
              <a:buSzPts val="1100"/>
              <a:buFont typeface="Arial"/>
              <a:buNone/>
            </a:pPr>
            <a:r>
              <a:rPr b="0" i="0" lang="en-US" sz="4400" u="none" cap="none" strike="noStrike">
                <a:solidFill>
                  <a:srgbClr val="00FF00"/>
                </a:solidFill>
                <a:latin typeface="Arial"/>
                <a:ea typeface="Arial"/>
                <a:cs typeface="Arial"/>
                <a:sym typeface="Arial"/>
              </a:rPr>
              <a:t>  "email" : { "hide" : "yes" } </a:t>
            </a:r>
            <a:endParaRPr b="0" i="0" sz="4400" u="none" cap="none" strike="noStrike">
              <a:solidFill>
                <a:srgbClr val="00FF00"/>
              </a:solidFill>
              <a:latin typeface="Arial"/>
              <a:ea typeface="Arial"/>
              <a:cs typeface="Arial"/>
              <a:sym typeface="Arial"/>
            </a:endParaRPr>
          </a:p>
          <a:p>
            <a:pPr indent="0" lvl="0" marL="0" marR="0" rtl="0" algn="l">
              <a:lnSpc>
                <a:spcPct val="100000"/>
              </a:lnSpc>
              <a:spcBef>
                <a:spcPts val="0"/>
              </a:spcBef>
              <a:spcAft>
                <a:spcPts val="0"/>
              </a:spcAft>
              <a:buClr>
                <a:srgbClr val="00FF00"/>
              </a:buClr>
              <a:buSzPts val="1100"/>
              <a:buFont typeface="Arial"/>
              <a:buNone/>
            </a:pPr>
            <a:r>
              <a:rPr b="0" i="0" lang="en-US" sz="4400" u="none" cap="none" strike="noStrike">
                <a:solidFill>
                  <a:srgbClr val="00FF00"/>
                </a:solidFill>
                <a:latin typeface="Arial"/>
                <a:ea typeface="Arial"/>
                <a:cs typeface="Arial"/>
                <a:sym typeface="Arial"/>
              </a:rPr>
              <a:t>}</a:t>
            </a:r>
            <a:endParaRPr b="0" i="0" sz="4400" u="none" cap="none" strike="noStrike">
              <a:solidFill>
                <a:srgbClr val="FFFF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nvSpPr>
        <p:spPr>
          <a:xfrm>
            <a:off x="962025" y="1706336"/>
            <a:ext cx="8682307" cy="730333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import json</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input = '''[</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 "id" : "001",</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"x" : "2",</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"name" : "Chuck"</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 ,</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 "id" : "009",</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"x" : "7",</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"name" : ”Brent"</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a:t>
            </a:r>
            <a:endParaRPr/>
          </a:p>
          <a:p>
            <a:pPr indent="0" lvl="0" marL="0" marR="0" rtl="0" algn="ctr">
              <a:lnSpc>
                <a:spcPct val="100000"/>
              </a:lnSpc>
              <a:spcBef>
                <a:spcPts val="0"/>
              </a:spcBef>
              <a:spcAft>
                <a:spcPts val="0"/>
              </a:spcAft>
              <a:buClr>
                <a:srgbClr val="000000"/>
              </a:buClr>
              <a:buSzPts val="2600"/>
              <a:buFont typeface="Arial"/>
              <a:buNone/>
            </a:pPr>
            <a:r>
              <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info = json.loads(input)</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print('User count:', len(info))</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for item in info:</a:t>
            </a: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print('Name', item['name'])</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print('Id', item['id'])</a:t>
            </a:r>
            <a:endParaRPr b="0" i="0" sz="2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650"/>
              <a:buFont typeface="Courier New"/>
              <a:buNone/>
            </a:pPr>
            <a:r>
              <a:rPr b="0" i="0" lang="en-US" sz="2600" u="none" cap="none" strike="noStrike">
                <a:solidFill>
                  <a:schemeClr val="lt1"/>
                </a:solidFill>
                <a:latin typeface="Courier"/>
                <a:ea typeface="Courier"/>
                <a:cs typeface="Courier"/>
                <a:sym typeface="Courier"/>
              </a:rPr>
              <a:t>    print('Attribute', item['x'])</a:t>
            </a:r>
            <a:endParaRPr b="0" i="0" sz="2600" u="none" cap="none" strike="noStrike">
              <a:solidFill>
                <a:schemeClr val="lt1"/>
              </a:solidFill>
              <a:latin typeface="Courier"/>
              <a:ea typeface="Courier"/>
              <a:cs typeface="Courier"/>
              <a:sym typeface="Courier"/>
            </a:endParaRPr>
          </a:p>
        </p:txBody>
      </p:sp>
      <p:sp>
        <p:nvSpPr>
          <p:cNvPr id="100" name="Google Shape;100;p15"/>
          <p:cNvSpPr txBox="1"/>
          <p:nvPr/>
        </p:nvSpPr>
        <p:spPr>
          <a:xfrm>
            <a:off x="10682286" y="3276600"/>
            <a:ext cx="5016500" cy="166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00FF"/>
              </a:buClr>
              <a:buSzPts val="900"/>
              <a:buFont typeface="Cabin"/>
              <a:buNone/>
            </a:pPr>
            <a:r>
              <a:rPr b="0" i="0" lang="en-US" sz="3600" u="none" cap="none" strike="noStrike">
                <a:solidFill>
                  <a:srgbClr val="FF00FF"/>
                </a:solidFill>
                <a:latin typeface="Arial"/>
                <a:ea typeface="Arial"/>
                <a:cs typeface="Arial"/>
                <a:sym typeface="Arial"/>
              </a:rPr>
              <a:t>JSON represents data as nested “lists” and “dictionaries”</a:t>
            </a:r>
            <a:endParaRPr/>
          </a:p>
        </p:txBody>
      </p:sp>
      <p:sp>
        <p:nvSpPr>
          <p:cNvPr id="101" name="Google Shape;101;p15"/>
          <p:cNvSpPr txBox="1"/>
          <p:nvPr/>
        </p:nvSpPr>
        <p:spPr>
          <a:xfrm>
            <a:off x="1155700" y="210789"/>
            <a:ext cx="13932000" cy="17779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900"/>
              <a:buFont typeface="Cabin"/>
              <a:buNone/>
            </a:pPr>
            <a:r>
              <a:rPr b="0" i="0" lang="en-US" sz="7600" u="none" cap="none" strike="noStrike">
                <a:solidFill>
                  <a:srgbClr val="FFD966"/>
                </a:solidFill>
                <a:latin typeface="Arial"/>
                <a:ea typeface="Arial"/>
                <a:cs typeface="Arial"/>
                <a:sym typeface="Arial"/>
              </a:rPr>
              <a:t>Parsing JSON in Python</a:t>
            </a:r>
            <a:endParaRPr b="0" i="0" sz="7600" u="none" cap="none" strike="noStrike">
              <a:solidFill>
                <a:srgbClr val="FFD96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1155700" y="1536700"/>
            <a:ext cx="13931900" cy="3086099"/>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br>
              <a:rPr lang="en-US" sz="7600" u="none" cap="none" strike="noStrike">
                <a:solidFill>
                  <a:srgbClr val="00FF00"/>
                </a:solidFill>
                <a:latin typeface="Arial"/>
                <a:ea typeface="Arial"/>
                <a:cs typeface="Arial"/>
                <a:sym typeface="Arial"/>
              </a:rPr>
            </a:br>
            <a:r>
              <a:rPr lang="en-US" sz="7600" u="none" cap="none" strike="noStrike">
                <a:solidFill>
                  <a:srgbClr val="FFD966"/>
                </a:solidFill>
                <a:latin typeface="Arial"/>
                <a:ea typeface="Arial"/>
                <a:cs typeface="Arial"/>
                <a:sym typeface="Arial"/>
              </a:rPr>
              <a:t>Web Services</a:t>
            </a:r>
            <a:endParaRPr/>
          </a:p>
        </p:txBody>
      </p:sp>
      <p:sp>
        <p:nvSpPr>
          <p:cNvPr id="107" name="Google Shape;107;p16"/>
          <p:cNvSpPr txBox="1"/>
          <p:nvPr/>
        </p:nvSpPr>
        <p:spPr>
          <a:xfrm>
            <a:off x="3421475" y="7145285"/>
            <a:ext cx="9418499"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sng" cap="none" strike="noStrike">
                <a:solidFill>
                  <a:srgbClr val="FFFF00"/>
                </a:solidFill>
                <a:latin typeface="Arial"/>
                <a:ea typeface="Arial"/>
                <a:cs typeface="Arial"/>
                <a:sym typeface="Arial"/>
                <a:hlinkClick r:id="rId3">
                  <a:extLst>
                    <a:ext uri="{A12FA001-AC4F-418D-AE19-62706E023703}">
                      <ahyp:hlinkClr val="tx"/>
                    </a:ext>
                  </a:extLst>
                </a:hlinkClick>
              </a:rPr>
              <a:t>http://en.wikipedia.org/wiki/Web_services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1155700" y="762000"/>
            <a:ext cx="13932000" cy="17779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Application Program Interface</a:t>
            </a:r>
            <a:endParaRPr/>
          </a:p>
        </p:txBody>
      </p:sp>
      <p:sp>
        <p:nvSpPr>
          <p:cNvPr id="113" name="Google Shape;113;p17"/>
          <p:cNvSpPr txBox="1"/>
          <p:nvPr/>
        </p:nvSpPr>
        <p:spPr>
          <a:xfrm>
            <a:off x="5015275" y="7501387"/>
            <a:ext cx="6841499"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750"/>
              <a:buFont typeface="Cabin"/>
              <a:buNone/>
            </a:pPr>
            <a:r>
              <a:rPr b="0" i="0" lang="en-US" sz="3000" u="sng" cap="none" strike="noStrike">
                <a:solidFill>
                  <a:srgbClr val="FFFF00"/>
                </a:solidFill>
                <a:latin typeface="Arial"/>
                <a:ea typeface="Arial"/>
                <a:cs typeface="Arial"/>
                <a:sym typeface="Arial"/>
                <a:hlinkClick r:id="rId3">
                  <a:extLst>
                    <a:ext uri="{A12FA001-AC4F-418D-AE19-62706E023703}">
                      <ahyp:hlinkClr val="tx"/>
                    </a:ext>
                  </a:extLst>
                </a:hlinkClick>
              </a:rPr>
              <a:t>http://en.wikipedia.org/wiki/API</a:t>
            </a:r>
            <a:endParaRPr/>
          </a:p>
        </p:txBody>
      </p:sp>
      <p:sp>
        <p:nvSpPr>
          <p:cNvPr id="114" name="Google Shape;114;p17"/>
          <p:cNvSpPr txBox="1"/>
          <p:nvPr/>
        </p:nvSpPr>
        <p:spPr>
          <a:xfrm>
            <a:off x="32423100" y="4254500"/>
            <a:ext cx="922337" cy="6222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chemeClr val="lt1"/>
              </a:buClr>
              <a:buSzPts val="900"/>
              <a:buFont typeface="Cabin"/>
              <a:buNone/>
            </a:pPr>
            <a:r>
              <a:rPr b="0" i="0" lang="en-US" sz="3600" u="none" cap="none" strike="noStrike">
                <a:solidFill>
                  <a:schemeClr val="lt1"/>
                </a:solidFill>
                <a:latin typeface="Arial"/>
                <a:ea typeface="Arial"/>
                <a:cs typeface="Arial"/>
                <a:sym typeface="Arial"/>
              </a:rPr>
              <a:t>Text</a:t>
            </a:r>
            <a:endParaRPr/>
          </a:p>
        </p:txBody>
      </p:sp>
      <p:sp>
        <p:nvSpPr>
          <p:cNvPr id="115" name="Google Shape;115;p17"/>
          <p:cNvSpPr txBox="1"/>
          <p:nvPr/>
        </p:nvSpPr>
        <p:spPr>
          <a:xfrm>
            <a:off x="1819783" y="2539900"/>
            <a:ext cx="13232481" cy="4257715"/>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975"/>
              <a:buFont typeface="Cabin"/>
              <a:buNone/>
            </a:pPr>
            <a:r>
              <a:rPr b="0" i="0" lang="en-US" sz="3900" u="none" cap="none" strike="noStrike">
                <a:solidFill>
                  <a:srgbClr val="FFFFFF"/>
                </a:solidFill>
                <a:latin typeface="Arial"/>
                <a:ea typeface="Arial"/>
                <a:cs typeface="Arial"/>
                <a:sym typeface="Arial"/>
              </a:rPr>
              <a:t>The API itself is largely abstract in that it specifies an interface and controls the behavior of the objects specified in that interface. The software that provides the functionality described by an API is said to be an </a:t>
            </a:r>
            <a:r>
              <a:rPr b="0" i="1" lang="en-US" sz="3900" u="none" cap="none" strike="noStrike">
                <a:solidFill>
                  <a:srgbClr val="FFFFFF"/>
                </a:solidFill>
                <a:latin typeface="Arial"/>
                <a:ea typeface="Arial"/>
                <a:cs typeface="Arial"/>
                <a:sym typeface="Arial"/>
              </a:rPr>
              <a:t>“</a:t>
            </a:r>
            <a:r>
              <a:rPr b="0" i="0" lang="en-US" sz="3900" u="none" cap="none" strike="noStrike">
                <a:solidFill>
                  <a:srgbClr val="FFFFFF"/>
                </a:solidFill>
                <a:latin typeface="Arial"/>
                <a:ea typeface="Arial"/>
                <a:cs typeface="Arial"/>
                <a:sym typeface="Arial"/>
              </a:rPr>
              <a:t>implementation</a:t>
            </a:r>
            <a:r>
              <a:rPr b="0" i="1" lang="en-US" sz="3900" u="none" cap="none" strike="noStrike">
                <a:solidFill>
                  <a:srgbClr val="FFFFFF"/>
                </a:solidFill>
                <a:latin typeface="Arial"/>
                <a:ea typeface="Arial"/>
                <a:cs typeface="Arial"/>
                <a:sym typeface="Arial"/>
              </a:rPr>
              <a:t>”</a:t>
            </a:r>
            <a:r>
              <a:rPr b="0" i="0" lang="en-US" sz="3900" u="none" cap="none" strike="noStrike">
                <a:solidFill>
                  <a:srgbClr val="FFFFFF"/>
                </a:solidFill>
                <a:latin typeface="Arial"/>
                <a:ea typeface="Arial"/>
                <a:cs typeface="Arial"/>
                <a:sym typeface="Arial"/>
              </a:rPr>
              <a:t> of the API.  An API is typically defined in terms of the programming language used to build an application.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1155700" y="762000"/>
            <a:ext cx="13932000" cy="17779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API Security and Rate Limiting</a:t>
            </a:r>
            <a:endParaRPr/>
          </a:p>
        </p:txBody>
      </p:sp>
      <p:sp>
        <p:nvSpPr>
          <p:cNvPr id="121" name="Google Shape;121;p18"/>
          <p:cNvSpPr txBox="1"/>
          <p:nvPr>
            <p:ph idx="1" type="body"/>
          </p:nvPr>
        </p:nvSpPr>
        <p:spPr>
          <a:xfrm>
            <a:off x="1155700" y="2603500"/>
            <a:ext cx="13932000" cy="5702399"/>
          </a:xfrm>
          <a:prstGeom prst="rect">
            <a:avLst/>
          </a:prstGeom>
          <a:noFill/>
          <a:ln>
            <a:noFill/>
          </a:ln>
        </p:spPr>
        <p:txBody>
          <a:bodyPr anchorCtr="0" anchor="ctr" bIns="38100" lIns="38100" spcFirstLastPara="1" rIns="38100" wrap="square" tIns="38100">
            <a:noAutofit/>
          </a:bodyPr>
          <a:lstStyle/>
          <a:p>
            <a:pPr indent="-457200" lvl="0" marL="457200" marR="0" rtl="0" algn="l">
              <a:lnSpc>
                <a:spcPct val="100000"/>
              </a:lnSpc>
              <a:spcBef>
                <a:spcPts val="0"/>
              </a:spcBef>
              <a:spcAft>
                <a:spcPts val="0"/>
              </a:spcAft>
              <a:buSzPts val="3600"/>
              <a:buFont typeface="Cabin"/>
              <a:buChar char="•"/>
            </a:pPr>
            <a:r>
              <a:rPr lang="en-US" sz="3600" u="none" cap="none" strike="noStrike">
                <a:solidFill>
                  <a:schemeClr val="lt1"/>
                </a:solidFill>
                <a:latin typeface="Arial"/>
                <a:ea typeface="Arial"/>
                <a:cs typeface="Arial"/>
                <a:sym typeface="Arial"/>
              </a:rPr>
              <a:t>The compute resources to run these APIs are not </a:t>
            </a:r>
            <a:r>
              <a:rPr lang="en-US" sz="3600">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free</a:t>
            </a:r>
            <a:r>
              <a:rPr lang="en-US" sz="3600">
                <a:solidFill>
                  <a:schemeClr val="lt1"/>
                </a:solidFill>
                <a:latin typeface="Arial"/>
                <a:ea typeface="Arial"/>
                <a:cs typeface="Arial"/>
                <a:sym typeface="Arial"/>
              </a:rPr>
              <a:t>”</a:t>
            </a:r>
            <a:endParaRPr/>
          </a:p>
          <a:p>
            <a:pPr indent="-457200" lvl="0" marL="457200" marR="0" rtl="0" algn="l">
              <a:lnSpc>
                <a:spcPct val="100000"/>
              </a:lnSpc>
              <a:spcBef>
                <a:spcPts val="4500"/>
              </a:spcBef>
              <a:spcAft>
                <a:spcPts val="0"/>
              </a:spcAft>
              <a:buSzPts val="3600"/>
              <a:buFont typeface="Cabin"/>
              <a:buChar char="•"/>
            </a:pPr>
            <a:r>
              <a:rPr lang="en-US" sz="3600" u="none" cap="none" strike="noStrike">
                <a:solidFill>
                  <a:schemeClr val="lt1"/>
                </a:solidFill>
                <a:latin typeface="Arial"/>
                <a:ea typeface="Arial"/>
                <a:cs typeface="Arial"/>
                <a:sym typeface="Arial"/>
              </a:rPr>
              <a:t>The data provided by these APIs is usually valuable</a:t>
            </a:r>
            <a:endParaRPr/>
          </a:p>
          <a:p>
            <a:pPr indent="-457200" lvl="0" marL="457200" marR="0" rtl="0" algn="l">
              <a:lnSpc>
                <a:spcPct val="100000"/>
              </a:lnSpc>
              <a:spcBef>
                <a:spcPts val="4500"/>
              </a:spcBef>
              <a:spcAft>
                <a:spcPts val="0"/>
              </a:spcAft>
              <a:buSzPts val="3600"/>
              <a:buFont typeface="Cabin"/>
              <a:buChar char="•"/>
            </a:pPr>
            <a:r>
              <a:rPr lang="en-US" sz="3600" u="none" cap="none" strike="noStrike">
                <a:solidFill>
                  <a:schemeClr val="lt1"/>
                </a:solidFill>
                <a:latin typeface="Arial"/>
                <a:ea typeface="Arial"/>
                <a:cs typeface="Arial"/>
                <a:sym typeface="Arial"/>
              </a:rPr>
              <a:t>The data providers might limit the number of requests per day, demand an API </a:t>
            </a:r>
            <a:r>
              <a:rPr lang="en-US" sz="3600">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key</a:t>
            </a:r>
            <a:r>
              <a:rPr lang="en-US" sz="3600">
                <a:solidFill>
                  <a:schemeClr val="lt1"/>
                </a:solidFill>
                <a:latin typeface="Arial"/>
                <a:ea typeface="Arial"/>
                <a:cs typeface="Arial"/>
                <a:sym typeface="Arial"/>
              </a:rPr>
              <a:t>”,</a:t>
            </a:r>
            <a:r>
              <a:rPr lang="en-US" sz="3600" u="none" cap="none" strike="noStrike">
                <a:solidFill>
                  <a:schemeClr val="lt1"/>
                </a:solidFill>
                <a:latin typeface="Arial"/>
                <a:ea typeface="Arial"/>
                <a:cs typeface="Arial"/>
                <a:sym typeface="Arial"/>
              </a:rPr>
              <a:t> or even charge for usage</a:t>
            </a:r>
            <a:endParaRPr/>
          </a:p>
          <a:p>
            <a:pPr indent="-457200" lvl="0" marL="457200" marR="0" rtl="0" algn="l">
              <a:lnSpc>
                <a:spcPct val="100000"/>
              </a:lnSpc>
              <a:spcBef>
                <a:spcPts val="4500"/>
              </a:spcBef>
              <a:spcAft>
                <a:spcPts val="0"/>
              </a:spcAft>
              <a:buSzPts val="3600"/>
              <a:buFont typeface="Cabin"/>
              <a:buChar char="•"/>
            </a:pPr>
            <a:r>
              <a:rPr lang="en-US" sz="3600" u="none" cap="none" strike="noStrike">
                <a:solidFill>
                  <a:schemeClr val="lt1"/>
                </a:solidFill>
                <a:latin typeface="Arial"/>
                <a:ea typeface="Arial"/>
                <a:cs typeface="Arial"/>
                <a:sym typeface="Arial"/>
              </a:rPr>
              <a:t>They might change the rules as things progress...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9"/>
          <p:cNvSpPr txBox="1"/>
          <p:nvPr/>
        </p:nvSpPr>
        <p:spPr>
          <a:xfrm>
            <a:off x="1962274" y="8287123"/>
            <a:ext cx="13226099" cy="622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750"/>
              <a:buFont typeface="Cabin"/>
              <a:buNone/>
            </a:pPr>
            <a:r>
              <a:rPr b="0" i="0" lang="en-US" sz="3000" u="sng" cap="none" strike="noStrike">
                <a:solidFill>
                  <a:srgbClr val="FFFF00"/>
                </a:solidFill>
                <a:latin typeface="Arial"/>
                <a:ea typeface="Arial"/>
                <a:cs typeface="Arial"/>
                <a:sym typeface="Arial"/>
                <a:hlinkClick r:id="rId3">
                  <a:extLst>
                    <a:ext uri="{A12FA001-AC4F-418D-AE19-62706E023703}">
                      <ahyp:hlinkClr val="tx"/>
                    </a:ext>
                  </a:extLst>
                </a:hlinkClick>
              </a:rPr>
              <a:t>https://developers.google.com/maps/documentation/geocoding/</a:t>
            </a:r>
            <a:endParaRPr/>
          </a:p>
        </p:txBody>
      </p:sp>
      <p:pic>
        <p:nvPicPr>
          <p:cNvPr id="127" name="Google Shape;127;p19"/>
          <p:cNvPicPr preferRelativeResize="0"/>
          <p:nvPr/>
        </p:nvPicPr>
        <p:blipFill rotWithShape="1">
          <a:blip r:embed="rId4">
            <a:alphaModFix/>
          </a:blip>
          <a:srcRect b="0" l="0" r="0" t="0"/>
          <a:stretch/>
        </p:blipFill>
        <p:spPr>
          <a:xfrm>
            <a:off x="1962274" y="522156"/>
            <a:ext cx="12278659" cy="80760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0"/>
          <p:cNvSpPr txBox="1"/>
          <p:nvPr/>
        </p:nvSpPr>
        <p:spPr>
          <a:xfrm>
            <a:off x="498929" y="956916"/>
            <a:ext cx="9202708" cy="747047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425"/>
              <a:buFont typeface="Courier New"/>
              <a:buNone/>
            </a:pPr>
            <a:r>
              <a:rPr b="1" i="0" lang="en-US" sz="1700" u="none" cap="none" strike="noStrike">
                <a:solidFill>
                  <a:schemeClr val="lt1"/>
                </a:solidFill>
                <a:latin typeface="Courier New"/>
                <a:ea typeface="Courier New"/>
                <a:cs typeface="Courier New"/>
                <a:sym typeface="Courier New"/>
              </a:rPr>
              <a:t>{</a:t>
            </a:r>
            <a:endParaRPr b="0" i="0" sz="2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"status": "OK",</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"results":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"geometry":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"location_type": "APPROXIMATE",</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"location":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"lat": 42.2808256,</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"lng": -83.7430378</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"address_components":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"long_name": "Ann Arbor",</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"types":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"locality",</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"political"</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"short_name": "Ann Arbor"</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"formatted_address": "Ann Arbor, MI, USA",</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"types":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"locality",</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"political"</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500"/>
              <a:buFont typeface="Courier New"/>
              <a:buNone/>
            </a:pPr>
            <a:r>
              <a:rPr b="0" i="0" lang="en-US" sz="2000" u="none" cap="none" strike="noStrike">
                <a:solidFill>
                  <a:schemeClr val="lt1"/>
                </a:solidFill>
                <a:latin typeface="Courier"/>
                <a:ea typeface="Courier"/>
                <a:cs typeface="Courier"/>
                <a:sym typeface="Courier"/>
              </a:rPr>
              <a:t>    ]</a:t>
            </a:r>
            <a:endParaRPr/>
          </a:p>
          <a:p>
            <a:pPr indent="0" lvl="0" marL="0" marR="0" rtl="0" algn="l">
              <a:lnSpc>
                <a:spcPct val="100000"/>
              </a:lnSpc>
              <a:spcBef>
                <a:spcPts val="0"/>
              </a:spcBef>
              <a:spcAft>
                <a:spcPts val="0"/>
              </a:spcAft>
              <a:buClr>
                <a:schemeClr val="lt1"/>
              </a:buClr>
              <a:buSzPts val="425"/>
              <a:buFont typeface="Courier New"/>
              <a:buNone/>
            </a:pPr>
            <a:r>
              <a:rPr b="1" i="0" lang="en-US" sz="1700" u="none" cap="none" strike="noStrike">
                <a:solidFill>
                  <a:schemeClr val="lt1"/>
                </a:solidFill>
                <a:latin typeface="Courier New"/>
                <a:ea typeface="Courier New"/>
                <a:cs typeface="Courier New"/>
                <a:sym typeface="Courier New"/>
              </a:rPr>
              <a:t>}</a:t>
            </a:r>
            <a:endParaRPr/>
          </a:p>
        </p:txBody>
      </p:sp>
      <p:sp>
        <p:nvSpPr>
          <p:cNvPr id="133" name="Google Shape;133;p20"/>
          <p:cNvSpPr txBox="1"/>
          <p:nvPr/>
        </p:nvSpPr>
        <p:spPr>
          <a:xfrm>
            <a:off x="7889505" y="4166362"/>
            <a:ext cx="7947300" cy="863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Arial"/>
                <a:ea typeface="Arial"/>
                <a:cs typeface="Arial"/>
                <a:sym typeface="Arial"/>
              </a:rPr>
              <a:t>http://maps.googleapis.com/maps/api/geocode/json?address=Ann+Arbor%2C+MI</a:t>
            </a:r>
            <a:endParaRPr b="0" i="0" sz="2600" u="none" cap="none" strike="noStrike">
              <a:solidFill>
                <a:srgbClr val="FF00FF"/>
              </a:solidFill>
              <a:latin typeface="Arial"/>
              <a:ea typeface="Arial"/>
              <a:cs typeface="Arial"/>
              <a:sym typeface="Arial"/>
            </a:endParaRPr>
          </a:p>
        </p:txBody>
      </p:sp>
      <p:sp>
        <p:nvSpPr>
          <p:cNvPr id="134" name="Google Shape;134;p20"/>
          <p:cNvSpPr txBox="1"/>
          <p:nvPr/>
        </p:nvSpPr>
        <p:spPr>
          <a:xfrm>
            <a:off x="8340269" y="1030489"/>
            <a:ext cx="7759701" cy="17779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b="0" i="0" lang="en-US" sz="7600" u="none" cap="none" strike="noStrike">
                <a:solidFill>
                  <a:srgbClr val="FFD966"/>
                </a:solidFill>
                <a:latin typeface="Arial"/>
                <a:ea typeface="Arial"/>
                <a:cs typeface="Arial"/>
                <a:sym typeface="Arial"/>
              </a:rPr>
              <a:t>Google geocoding Web Service</a:t>
            </a:r>
            <a:endParaRPr b="0" i="0" sz="7600" u="none" cap="none" strike="noStrike">
              <a:solidFill>
                <a:srgbClr val="FFD966"/>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1"/>
          <p:cNvSpPr txBox="1"/>
          <p:nvPr/>
        </p:nvSpPr>
        <p:spPr>
          <a:xfrm>
            <a:off x="9664738" y="2720450"/>
            <a:ext cx="6161999" cy="23876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Arial"/>
                <a:ea typeface="Arial"/>
                <a:cs typeface="Arial"/>
                <a:sym typeface="Arial"/>
              </a:rPr>
              <a:t>Enter location: Ann Arbor, MI</a:t>
            </a:r>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Arial"/>
                <a:ea typeface="Arial"/>
                <a:cs typeface="Arial"/>
                <a:sym typeface="Arial"/>
              </a:rPr>
              <a:t>Retrieving http://maps.googleapis.com/...</a:t>
            </a:r>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Arial"/>
                <a:ea typeface="Arial"/>
                <a:cs typeface="Arial"/>
                <a:sym typeface="Arial"/>
              </a:rPr>
              <a:t>Retrieved 1669 characters</a:t>
            </a:r>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Arial"/>
                <a:ea typeface="Arial"/>
                <a:cs typeface="Arial"/>
                <a:sym typeface="Arial"/>
              </a:rPr>
              <a:t>lat 42.2808256 lng -83.7430378</a:t>
            </a:r>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Arial"/>
                <a:ea typeface="Arial"/>
                <a:cs typeface="Arial"/>
                <a:sym typeface="Arial"/>
              </a:rPr>
              <a:t>Ann Arbor, MI, USA</a:t>
            </a:r>
            <a:endParaRPr/>
          </a:p>
          <a:p>
            <a:pPr indent="0" lvl="0" marL="0" marR="0" rtl="0" algn="l">
              <a:lnSpc>
                <a:spcPct val="100000"/>
              </a:lnSpc>
              <a:spcBef>
                <a:spcPts val="0"/>
              </a:spcBef>
              <a:spcAft>
                <a:spcPts val="0"/>
              </a:spcAft>
              <a:buClr>
                <a:srgbClr val="FF00FF"/>
              </a:buClr>
              <a:buSzPts val="650"/>
              <a:buFont typeface="Cabin"/>
              <a:buNone/>
            </a:pPr>
            <a:r>
              <a:rPr b="0" i="0" lang="en-US" sz="2600" u="none" cap="none" strike="noStrike">
                <a:solidFill>
                  <a:srgbClr val="FF00FF"/>
                </a:solidFill>
                <a:latin typeface="Arial"/>
                <a:ea typeface="Arial"/>
                <a:cs typeface="Arial"/>
                <a:sym typeface="Arial"/>
              </a:rPr>
              <a:t>Enter location:</a:t>
            </a:r>
            <a:endParaRPr/>
          </a:p>
        </p:txBody>
      </p:sp>
      <p:sp>
        <p:nvSpPr>
          <p:cNvPr id="140" name="Google Shape;140;p21"/>
          <p:cNvSpPr txBox="1"/>
          <p:nvPr/>
        </p:nvSpPr>
        <p:spPr>
          <a:xfrm>
            <a:off x="404038" y="371274"/>
            <a:ext cx="15677705" cy="1521325"/>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b="0" i="0" lang="en-US" sz="7600" u="none" cap="none" strike="noStrike">
                <a:solidFill>
                  <a:srgbClr val="FFD966"/>
                </a:solidFill>
                <a:latin typeface="Arial"/>
                <a:ea typeface="Arial"/>
                <a:cs typeface="Arial"/>
                <a:sym typeface="Arial"/>
              </a:rPr>
              <a:t>Google geocoding Web Service</a:t>
            </a:r>
            <a:endParaRPr b="0" i="0" sz="7600" u="none" cap="none" strike="noStrike">
              <a:solidFill>
                <a:srgbClr val="FFD966"/>
              </a:solidFill>
              <a:latin typeface="Arial"/>
              <a:ea typeface="Arial"/>
              <a:cs typeface="Arial"/>
              <a:sym typeface="Arial"/>
            </a:endParaRPr>
          </a:p>
        </p:txBody>
      </p:sp>
      <p:sp>
        <p:nvSpPr>
          <p:cNvPr id="141" name="Google Shape;141;p21"/>
          <p:cNvSpPr txBox="1"/>
          <p:nvPr/>
        </p:nvSpPr>
        <p:spPr>
          <a:xfrm>
            <a:off x="1063255" y="2700671"/>
            <a:ext cx="8165805" cy="83099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sng" cap="none" strike="noStrike">
                <a:solidFill>
                  <a:srgbClr val="000000"/>
                </a:solidFill>
                <a:latin typeface="Arial"/>
                <a:ea typeface="Arial"/>
                <a:cs typeface="Arial"/>
                <a:sym typeface="Arial"/>
                <a:hlinkClick r:id="rId3">
                  <a:extLst>
                    <a:ext uri="{A12FA001-AC4F-418D-AE19-62706E023703}">
                      <ahyp:hlinkClr val="tx"/>
                    </a:ext>
                  </a:extLst>
                </a:hlinkClick>
              </a:rPr>
              <a:t>https://github.com/harslan/Notebooks/blob/master/google_geocoding_service.ipynb</a:t>
            </a:r>
            <a:endParaRPr b="0" i="0" sz="2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nvSpPr>
        <p:spPr>
          <a:xfrm>
            <a:off x="1155700" y="1930400"/>
            <a:ext cx="13932000" cy="6375499"/>
          </a:xfrm>
          <a:prstGeom prst="rect">
            <a:avLst/>
          </a:prstGeom>
          <a:noFill/>
          <a:ln>
            <a:noFill/>
          </a:ln>
        </p:spPr>
        <p:txBody>
          <a:bodyPr anchorCtr="0" anchor="ctr" bIns="38100" lIns="38100" spcFirstLastPara="1" rIns="38100" wrap="square" tIns="38100">
            <a:noAutofit/>
          </a:bodyPr>
          <a:lstStyle/>
          <a:p>
            <a:pPr indent="-571500" lvl="0" marL="571500" marR="0" rtl="0" algn="l">
              <a:lnSpc>
                <a:spcPct val="100000"/>
              </a:lnSpc>
              <a:spcBef>
                <a:spcPts val="0"/>
              </a:spcBef>
              <a:spcAft>
                <a:spcPts val="0"/>
              </a:spcAft>
              <a:buClr>
                <a:schemeClr val="lt1"/>
              </a:buClr>
              <a:buSzPts val="3600"/>
              <a:buFont typeface="Arial"/>
              <a:buChar char="•"/>
            </a:pPr>
            <a:r>
              <a:rPr b="0" i="0" lang="en-US" sz="3600" u="none" cap="none" strike="noStrike">
                <a:solidFill>
                  <a:schemeClr val="lt1"/>
                </a:solidFill>
                <a:latin typeface="Arial"/>
                <a:ea typeface="Arial"/>
                <a:cs typeface="Arial"/>
                <a:sym typeface="Arial"/>
              </a:rPr>
              <a:t>Geocoding API is part of Google Maps Platform. (</a:t>
            </a:r>
            <a:r>
              <a:rPr b="0" i="0" lang="en-US" sz="3600" u="sng" cap="none" strike="noStrike">
                <a:solidFill>
                  <a:srgbClr val="000000"/>
                </a:solidFill>
                <a:latin typeface="Arial"/>
                <a:ea typeface="Arial"/>
                <a:cs typeface="Arial"/>
                <a:sym typeface="Arial"/>
                <a:hlinkClick r:id="rId3">
                  <a:extLst>
                    <a:ext uri="{A12FA001-AC4F-418D-AE19-62706E023703}">
                      <ahyp:hlinkClr val="tx"/>
                    </a:ext>
                  </a:extLst>
                </a:hlinkClick>
              </a:rPr>
              <a:t>https://developers.google.com/maps/documentation</a:t>
            </a:r>
            <a:r>
              <a:rPr b="0" i="0" lang="en-US" sz="3600" u="none" cap="none" strike="noStrike">
                <a:solidFill>
                  <a:srgbClr val="000000"/>
                </a:solidFill>
                <a:latin typeface="Arial"/>
                <a:ea typeface="Arial"/>
                <a:cs typeface="Arial"/>
                <a:sym typeface="Arial"/>
              </a:rPr>
              <a:t>)</a:t>
            </a:r>
            <a:endParaRPr b="0" i="0" sz="3600" u="none" cap="none" strike="noStrike">
              <a:solidFill>
                <a:schemeClr val="lt1"/>
              </a:solidFill>
              <a:latin typeface="Arial"/>
              <a:ea typeface="Arial"/>
              <a:cs typeface="Arial"/>
              <a:sym typeface="Arial"/>
            </a:endParaRPr>
          </a:p>
          <a:p>
            <a:pPr indent="-571500" lvl="0" marL="571500" marR="0" rtl="0" algn="l">
              <a:lnSpc>
                <a:spcPct val="100000"/>
              </a:lnSpc>
              <a:spcBef>
                <a:spcPts val="4500"/>
              </a:spcBef>
              <a:spcAft>
                <a:spcPts val="0"/>
              </a:spcAft>
              <a:buClr>
                <a:schemeClr val="lt1"/>
              </a:buClr>
              <a:buSzPts val="3600"/>
              <a:buFont typeface="Arial"/>
              <a:buChar char="•"/>
            </a:pPr>
            <a:r>
              <a:rPr b="0" i="0" lang="en-US" sz="3600" u="none" cap="none" strike="noStrike">
                <a:solidFill>
                  <a:schemeClr val="lt1"/>
                </a:solidFill>
                <a:latin typeface="Arial"/>
                <a:ea typeface="Arial"/>
                <a:cs typeface="Arial"/>
                <a:sym typeface="Arial"/>
              </a:rPr>
              <a:t>It converts addresses to geographic coordinates or the reverse.</a:t>
            </a:r>
            <a:endParaRPr/>
          </a:p>
          <a:p>
            <a:pPr indent="-571500" lvl="0" marL="571500" marR="0" rtl="0" algn="l">
              <a:lnSpc>
                <a:spcPct val="100000"/>
              </a:lnSpc>
              <a:spcBef>
                <a:spcPts val="1000"/>
              </a:spcBef>
              <a:spcAft>
                <a:spcPts val="0"/>
              </a:spcAft>
              <a:buClr>
                <a:schemeClr val="lt1"/>
              </a:buClr>
              <a:buSzPts val="3600"/>
              <a:buFont typeface="Arial"/>
              <a:buChar char="•"/>
            </a:pPr>
            <a:r>
              <a:rPr b="0" i="0" lang="en-US" sz="3600" u="none" cap="none" strike="noStrike">
                <a:solidFill>
                  <a:schemeClr val="lt1"/>
                </a:solidFill>
                <a:latin typeface="Arial"/>
                <a:ea typeface="Arial"/>
                <a:cs typeface="Arial"/>
                <a:sym typeface="Arial"/>
              </a:rPr>
              <a:t>$</a:t>
            </a:r>
            <a:r>
              <a:rPr b="1" i="0" lang="en-US" sz="3600" u="none" cap="none" strike="noStrike">
                <a:solidFill>
                  <a:schemeClr val="lt1"/>
                </a:solidFill>
                <a:latin typeface="Arial"/>
                <a:ea typeface="Arial"/>
                <a:cs typeface="Arial"/>
                <a:sym typeface="Arial"/>
              </a:rPr>
              <a:t>200 free monthly usage: </a:t>
            </a:r>
            <a:r>
              <a:rPr b="0" i="0" lang="en-US" sz="3600" u="none" cap="none" strike="noStrike">
                <a:solidFill>
                  <a:schemeClr val="lt1"/>
                </a:solidFill>
                <a:latin typeface="Arial"/>
                <a:ea typeface="Arial"/>
                <a:cs typeface="Arial"/>
                <a:sym typeface="Arial"/>
              </a:rPr>
              <a:t>the $200 monthly credit is enough to support our needs. You can also set daily quotas to protect against unexpected increases.</a:t>
            </a:r>
            <a:endParaRPr b="0" i="0" sz="3600" u="sng" cap="none" strike="noStrike">
              <a:solidFill>
                <a:srgbClr val="000000"/>
              </a:solidFill>
              <a:latin typeface="Arial"/>
              <a:ea typeface="Arial"/>
              <a:cs typeface="Arial"/>
              <a:sym typeface="Arial"/>
              <a:hlinkClick r:id="rId4">
                <a:extLst>
                  <a:ext uri="{A12FA001-AC4F-418D-AE19-62706E023703}">
                    <ahyp:hlinkClr val="tx"/>
                  </a:ext>
                </a:extLst>
              </a:hlinkClick>
            </a:endParaRPr>
          </a:p>
        </p:txBody>
      </p:sp>
      <p:sp>
        <p:nvSpPr>
          <p:cNvPr id="147" name="Google Shape;147;p22"/>
          <p:cNvSpPr txBox="1"/>
          <p:nvPr/>
        </p:nvSpPr>
        <p:spPr>
          <a:xfrm>
            <a:off x="1155700" y="762000"/>
            <a:ext cx="13932000" cy="9906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b="0" i="0" lang="en-US" sz="7600" u="none" cap="none" strike="noStrike">
                <a:solidFill>
                  <a:srgbClr val="FFD966"/>
                </a:solidFill>
                <a:latin typeface="Arial"/>
                <a:ea typeface="Arial"/>
                <a:cs typeface="Arial"/>
                <a:sym typeface="Arial"/>
              </a:rPr>
              <a:t>Google Maps Platform</a:t>
            </a:r>
            <a:endParaRPr b="0" i="0" sz="7600" u="none" cap="none" strike="noStrike">
              <a:solidFill>
                <a:srgbClr val="FFD966"/>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1155700" y="762000"/>
            <a:ext cx="13932000" cy="1777900"/>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FFFF00"/>
              </a:buClr>
              <a:buSzPts val="1900"/>
              <a:buFont typeface="Cabin"/>
              <a:buNone/>
            </a:pPr>
            <a:r>
              <a:rPr lang="en-US" sz="7600" u="none" cap="none" strike="noStrike">
                <a:solidFill>
                  <a:srgbClr val="FFD966"/>
                </a:solidFill>
                <a:latin typeface="Arial"/>
                <a:ea typeface="Arial"/>
                <a:cs typeface="Arial"/>
                <a:sym typeface="Arial"/>
              </a:rPr>
              <a:t>Summary</a:t>
            </a:r>
            <a:endParaRPr/>
          </a:p>
        </p:txBody>
      </p:sp>
      <p:sp>
        <p:nvSpPr>
          <p:cNvPr id="153" name="Google Shape;153;p23"/>
          <p:cNvSpPr txBox="1"/>
          <p:nvPr>
            <p:ph idx="1" type="body"/>
          </p:nvPr>
        </p:nvSpPr>
        <p:spPr>
          <a:xfrm>
            <a:off x="1155700" y="2603500"/>
            <a:ext cx="13932000" cy="5702399"/>
          </a:xfrm>
          <a:prstGeom prst="rect">
            <a:avLst/>
          </a:prstGeom>
          <a:noFill/>
          <a:ln>
            <a:noFill/>
          </a:ln>
        </p:spPr>
        <p:txBody>
          <a:bodyPr anchorCtr="0" anchor="ctr" bIns="38100" lIns="38100" spcFirstLastPara="1" rIns="38100" wrap="square" tIns="38100">
            <a:noAutofit/>
          </a:bodyPr>
          <a:lstStyle/>
          <a:p>
            <a:pPr indent="-457200" lvl="0" marL="457200" marR="0" rtl="0" algn="l">
              <a:lnSpc>
                <a:spcPct val="100000"/>
              </a:lnSpc>
              <a:spcBef>
                <a:spcPts val="0"/>
              </a:spcBef>
              <a:spcAft>
                <a:spcPts val="0"/>
              </a:spcAft>
              <a:buSzPts val="3600"/>
              <a:buFont typeface="Cabin"/>
              <a:buChar char="•"/>
            </a:pPr>
            <a:r>
              <a:rPr lang="en-US" sz="3600" u="none" cap="none" strike="noStrike">
                <a:solidFill>
                  <a:schemeClr val="lt1"/>
                </a:solidFill>
                <a:latin typeface="Arial"/>
                <a:ea typeface="Arial"/>
                <a:cs typeface="Arial"/>
                <a:sym typeface="Arial"/>
              </a:rPr>
              <a:t>An Application Program Interface (API) is a contract for interaction between applications</a:t>
            </a:r>
            <a:endParaRPr sz="3600" u="none" cap="none" strike="noStrike">
              <a:solidFill>
                <a:schemeClr val="lt1"/>
              </a:solidFill>
              <a:latin typeface="Arial"/>
              <a:ea typeface="Arial"/>
              <a:cs typeface="Arial"/>
              <a:sym typeface="Arial"/>
            </a:endParaRPr>
          </a:p>
          <a:p>
            <a:pPr indent="-457200" lvl="0" marL="457200" marR="0" rtl="0" algn="l">
              <a:lnSpc>
                <a:spcPct val="100000"/>
              </a:lnSpc>
              <a:spcBef>
                <a:spcPts val="4500"/>
              </a:spcBef>
              <a:spcAft>
                <a:spcPts val="0"/>
              </a:spcAft>
              <a:buSzPts val="3600"/>
              <a:buFont typeface="Cabin"/>
              <a:buChar char="•"/>
            </a:pPr>
            <a:r>
              <a:rPr lang="en-US" sz="3600" u="none" cap="none" strike="noStrike">
                <a:solidFill>
                  <a:schemeClr val="lt1"/>
                </a:solidFill>
                <a:latin typeface="Arial"/>
                <a:ea typeface="Arial"/>
                <a:cs typeface="Arial"/>
                <a:sym typeface="Arial"/>
              </a:rPr>
              <a:t>Web Services provide infrastructure for applications cooperating (an API) over a network</a:t>
            </a:r>
            <a:endParaRPr sz="3600" u="none" cap="none" strike="noStrike">
              <a:solidFill>
                <a:schemeClr val="lt1"/>
              </a:solidFill>
              <a:latin typeface="Arial"/>
              <a:ea typeface="Arial"/>
              <a:cs typeface="Arial"/>
              <a:sym typeface="Arial"/>
            </a:endParaRPr>
          </a:p>
          <a:p>
            <a:pPr indent="-457200" lvl="0" marL="457200" marR="0" rtl="0" algn="l">
              <a:lnSpc>
                <a:spcPct val="100000"/>
              </a:lnSpc>
              <a:spcBef>
                <a:spcPts val="4500"/>
              </a:spcBef>
              <a:spcAft>
                <a:spcPts val="0"/>
              </a:spcAft>
              <a:buSzPts val="3600"/>
              <a:buFont typeface="Cabin"/>
              <a:buChar char="•"/>
            </a:pPr>
            <a:r>
              <a:rPr lang="en-US" sz="3600" u="none" cap="none" strike="noStrike">
                <a:solidFill>
                  <a:schemeClr val="lt1"/>
                </a:solidFill>
                <a:latin typeface="Arial"/>
                <a:ea typeface="Arial"/>
                <a:cs typeface="Arial"/>
                <a:sym typeface="Arial"/>
              </a:rPr>
              <a:t>XML and JSON are </a:t>
            </a:r>
            <a:r>
              <a:rPr lang="en-US" sz="3600">
                <a:solidFill>
                  <a:schemeClr val="lt1"/>
                </a:solidFill>
                <a:latin typeface="Arial"/>
                <a:ea typeface="Arial"/>
                <a:cs typeface="Arial"/>
                <a:sym typeface="Arial"/>
              </a:rPr>
              <a:t>two commonly used</a:t>
            </a:r>
            <a:r>
              <a:rPr lang="en-US" sz="3600" u="none" cap="none" strike="noStrike">
                <a:solidFill>
                  <a:schemeClr val="lt1"/>
                </a:solidFill>
                <a:latin typeface="Arial"/>
                <a:ea typeface="Arial"/>
                <a:cs typeface="Arial"/>
                <a:sym typeface="Arial"/>
              </a:rPr>
              <a:t> </a:t>
            </a:r>
            <a:r>
              <a:rPr lang="en-US" sz="3600">
                <a:solidFill>
                  <a:schemeClr val="lt1"/>
                </a:solidFill>
                <a:latin typeface="Arial"/>
                <a:ea typeface="Arial"/>
                <a:cs typeface="Arial"/>
                <a:sym typeface="Arial"/>
              </a:rPr>
              <a:t>information exchange </a:t>
            </a:r>
            <a:r>
              <a:rPr lang="en-US" sz="3600" u="none" cap="none" strike="noStrike">
                <a:solidFill>
                  <a:schemeClr val="lt1"/>
                </a:solidFill>
                <a:latin typeface="Arial"/>
                <a:ea typeface="Arial"/>
                <a:cs typeface="Arial"/>
                <a:sym typeface="Arial"/>
              </a:rPr>
              <a:t>formats between applications</a:t>
            </a:r>
            <a:endParaRPr sz="3600" u="none" cap="none" strike="noStrik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idx="4294967295" type="title"/>
          </p:nvPr>
        </p:nvSpPr>
        <p:spPr>
          <a:xfrm>
            <a:off x="1725282" y="1121193"/>
            <a:ext cx="12206617" cy="811213"/>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Clr>
                <a:srgbClr val="FFFF00"/>
              </a:buClr>
              <a:buSzPts val="3600"/>
              <a:buFont typeface="Arial"/>
              <a:buNone/>
            </a:pPr>
            <a:r>
              <a:rPr lang="en-US" sz="3600">
                <a:solidFill>
                  <a:srgbClr val="FFFF00"/>
                </a:solidFill>
              </a:rPr>
              <a:t>Acknowledgements / Contributions</a:t>
            </a:r>
            <a:endParaRPr/>
          </a:p>
        </p:txBody>
      </p:sp>
      <p:sp>
        <p:nvSpPr>
          <p:cNvPr id="159" name="Google Shape;159;p24"/>
          <p:cNvSpPr txBox="1"/>
          <p:nvPr/>
        </p:nvSpPr>
        <p:spPr>
          <a:xfrm>
            <a:off x="1206100" y="2261619"/>
            <a:ext cx="6797699" cy="577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Thes slide are Copyright 2010-  Charles R. Severance (</a:t>
            </a:r>
            <a:r>
              <a:rPr b="0" i="0" lang="en-US" sz="1800" u="sng" cap="none" strike="noStrike">
                <a:solidFill>
                  <a:srgbClr val="FFFF00"/>
                </a:solidFill>
                <a:latin typeface="Arial"/>
                <a:ea typeface="Arial"/>
                <a:cs typeface="Arial"/>
                <a:sym typeface="Arial"/>
                <a:hlinkClick r:id="rId3">
                  <a:extLst>
                    <a:ext uri="{A12FA001-AC4F-418D-AE19-62706E023703}">
                      <ahyp:hlinkClr val="tx"/>
                    </a:ext>
                  </a:extLst>
                </a:hlinkClick>
              </a:rPr>
              <a:t>www.dr-chuck.com</a:t>
            </a:r>
            <a:r>
              <a:rPr b="0" i="0" lang="en-US" sz="1800" u="none" cap="none" strike="noStrike">
                <a:solidFill>
                  <a:srgbClr val="FFFFFF"/>
                </a:solidFill>
                <a:latin typeface="Arial"/>
                <a:ea typeface="Arial"/>
                <a:cs typeface="Arial"/>
                <a:sym typeface="Arial"/>
              </a:rPr>
              <a:t>) of the University of Michigan School of Information and </a:t>
            </a:r>
            <a:r>
              <a:rPr b="0" i="0" lang="en-US" sz="1800" u="sng" cap="none" strike="noStrike">
                <a:solidFill>
                  <a:srgbClr val="FFFF00"/>
                </a:solidFill>
                <a:latin typeface="Arial"/>
                <a:ea typeface="Arial"/>
                <a:cs typeface="Arial"/>
                <a:sym typeface="Arial"/>
                <a:hlinkClick r:id="rId4">
                  <a:extLst>
                    <a:ext uri="{A12FA001-AC4F-418D-AE19-62706E023703}">
                      <ahyp:hlinkClr val="tx"/>
                    </a:ext>
                  </a:extLst>
                </a:hlinkClick>
              </a:rPr>
              <a:t>open.umich.edu</a:t>
            </a:r>
            <a:r>
              <a:rPr b="0" i="0" lang="en-US" sz="1800" u="none" cap="none" strike="noStrike">
                <a:solidFill>
                  <a:srgbClr val="FFFF00"/>
                </a:solidFill>
                <a:latin typeface="Arial"/>
                <a:ea typeface="Arial"/>
                <a:cs typeface="Arial"/>
                <a:sym typeface="Arial"/>
              </a:rPr>
              <a:t> </a:t>
            </a:r>
            <a:r>
              <a:rPr b="0" i="0" lang="en-US" sz="1800" u="none" cap="none" strike="noStrike">
                <a:solidFill>
                  <a:srgbClr val="FFFFFF"/>
                </a:solidFill>
                <a:latin typeface="Arial"/>
                <a:ea typeface="Arial"/>
                <a:cs typeface="Arial"/>
                <a:sym typeface="Arial"/>
              </a:rPr>
              <a:t>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 Insert new Contributors here</a:t>
            </a:r>
            <a:endParaRPr/>
          </a:p>
        </p:txBody>
      </p:sp>
      <p:pic>
        <p:nvPicPr>
          <p:cNvPr id="160" name="Google Shape;160;p24"/>
          <p:cNvPicPr preferRelativeResize="0"/>
          <p:nvPr/>
        </p:nvPicPr>
        <p:blipFill rotWithShape="1">
          <a:blip r:embed="rId5">
            <a:alphaModFix/>
          </a:blip>
          <a:srcRect b="0" l="0" r="0" t="0"/>
          <a:stretch/>
        </p:blipFill>
        <p:spPr>
          <a:xfrm>
            <a:off x="13897688" y="1192743"/>
            <a:ext cx="1968599" cy="668400"/>
          </a:xfrm>
          <a:prstGeom prst="rect">
            <a:avLst/>
          </a:prstGeom>
          <a:noFill/>
          <a:ln>
            <a:noFill/>
          </a:ln>
        </p:spPr>
      </p:pic>
      <p:sp>
        <p:nvSpPr>
          <p:cNvPr id="161" name="Google Shape;161;p24"/>
          <p:cNvSpPr txBox="1"/>
          <p:nvPr/>
        </p:nvSpPr>
        <p:spPr>
          <a:xfrm>
            <a:off x="8704400" y="2392094"/>
            <a:ext cx="6797699" cy="5647726"/>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1800"/>
              <a:buFont typeface="Arial"/>
              <a:buNone/>
            </a:pPr>
            <a:r>
              <a:rPr b="0" i="0" lang="en-US" sz="1800" u="none" cap="none" strike="noStrike">
                <a:solidFill>
                  <a:srgbClr val="FFFFFF"/>
                </a:solidFill>
                <a:latin typeface="Arial"/>
                <a:ea typeface="Arial"/>
                <a:cs typeface="Arial"/>
                <a:sym typeface="Arial"/>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