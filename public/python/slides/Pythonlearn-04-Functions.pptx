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9144000" cx="16256000"/>
  <p:notesSz cx="6858000" cy="9144000"/>
  <p:embeddedFontLst>
    <p:embeddedFont>
      <p:font typeface="Gill Sans"/>
      <p:regular r:id="rId22"/>
      <p:bold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5120">
          <p15:clr>
            <a:srgbClr val="A4A3A4"/>
          </p15:clr>
        </p15:guide>
      </p15:sldGuideLst>
    </p:ext>
    <p:ext uri="http://customooxmlschemas.google.com/">
      <go:slidesCustomData xmlns:go="http://customooxmlschemas.google.com/" r:id="rId24" roundtripDataSignature="AMtx7mhpKpCS2i0LRm5DDKL9PgxLMOkhf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512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font" Target="fonts/GillSans-regular.fntdata"/><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customschemas.google.com/relationships/presentationmetadata" Target="metadata"/><Relationship Id="rId12" Type="http://schemas.openxmlformats.org/officeDocument/2006/relationships/slide" Target="slides/slide7.xml"/><Relationship Id="rId23" Type="http://schemas.openxmlformats.org/officeDocument/2006/relationships/font" Target="fonts/GillSans-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python.org/3/library/functions.html#built-in-funcs"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1: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solidFill>
                <a:schemeClr val="dk2"/>
              </a:solidFill>
            </a:endParaRPr>
          </a:p>
        </p:txBody>
      </p:sp>
      <p:sp>
        <p:nvSpPr>
          <p:cNvPr id="21" name="Google Shape;2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US" sz="1100">
                <a:solidFill>
                  <a:schemeClr val="dk1"/>
                </a:solidFill>
                <a:latin typeface="Arial"/>
                <a:ea typeface="Arial"/>
                <a:cs typeface="Arial"/>
                <a:sym typeface="Arial"/>
              </a:rPr>
              <a:t>In the context of programming, a function is a named sequence of statements that performs a computation. When you define a function, you specify the name and the sequence of statements. Later, you can “call” the function by name. We have already seen a few examples of a function call:</a:t>
            </a:r>
            <a:endParaRPr/>
          </a:p>
          <a:p>
            <a:pPr indent="0" lvl="0" marL="0" rtl="0" algn="l">
              <a:lnSpc>
                <a:spcPct val="100000"/>
              </a:lnSpc>
              <a:spcBef>
                <a:spcPts val="0"/>
              </a:spcBef>
              <a:spcAft>
                <a:spcPts val="0"/>
              </a:spcAft>
              <a:buClr>
                <a:schemeClr val="dk1"/>
              </a:buClr>
              <a:buSzPts val="1100"/>
              <a:buFont typeface="Arial"/>
              <a:buNone/>
            </a:pPr>
            <a:r>
              <a:rPr lang="en-US"/>
              <a:t> - print(‘Hello’)</a:t>
            </a:r>
            <a:endParaRPr/>
          </a:p>
          <a:p>
            <a:pPr indent="0" lvl="0" marL="0" rtl="0" algn="l">
              <a:lnSpc>
                <a:spcPct val="100000"/>
              </a:lnSpc>
              <a:spcBef>
                <a:spcPts val="0"/>
              </a:spcBef>
              <a:spcAft>
                <a:spcPts val="0"/>
              </a:spcAft>
              <a:buClr>
                <a:schemeClr val="dk1"/>
              </a:buClr>
              <a:buSzPts val="1100"/>
              <a:buFont typeface="Arial"/>
              <a:buNone/>
            </a:pPr>
            <a:r>
              <a:rPr lang="en-US"/>
              <a:t> - type(64)</a:t>
            </a:r>
            <a:endParaRPr/>
          </a:p>
          <a:p>
            <a:pPr indent="0" lvl="0" marL="0" rtl="0" algn="l">
              <a:lnSpc>
                <a:spcPct val="100000"/>
              </a:lnSpc>
              <a:spcBef>
                <a:spcPts val="0"/>
              </a:spcBef>
              <a:spcAft>
                <a:spcPts val="0"/>
              </a:spcAft>
              <a:buSzPts val="1400"/>
              <a:buNone/>
            </a:pPr>
            <a:r>
              <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The name of the function is print. The expression in parentheses is called the argument of the function. The argument is a value or variable that we are passing into the function as input to the function. The result, for the print function, is the display of the value of the argument. It is common to say that a function “takes” an argument and “returns” a result. The result is called the return value. The name of the second function is type. The result, for the type function, is the type of the argument.</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 </a:t>
            </a:r>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So far, we have only been using the functions that come with Python, but it is also possible to add new functions. A function definition specifies the name of a new function and the sequence of statements that execute when the function is called. Once we define a function, we can reuse the function over and over throughout our program. For example, we can define a function called thing:</a:t>
            </a:r>
            <a:endParaRPr/>
          </a:p>
          <a:p>
            <a:pPr indent="0" lvl="0" marL="0" marR="0" rtl="0" algn="l">
              <a:lnSpc>
                <a:spcPct val="100000"/>
              </a:lnSpc>
              <a:spcBef>
                <a:spcPts val="0"/>
              </a:spcBef>
              <a:spcAft>
                <a:spcPts val="0"/>
              </a:spcAft>
              <a:buClr>
                <a:srgbClr val="FFFF00"/>
              </a:buClr>
              <a:buSzPts val="275"/>
              <a:buFont typeface="Courier New"/>
              <a:buNone/>
            </a:pPr>
            <a:r>
              <a:rPr i="0" lang="en-US" sz="1100" u="none" cap="none" strike="noStrike">
                <a:solidFill>
                  <a:srgbClr val="FFFF00"/>
                </a:solidFill>
                <a:latin typeface="Courier"/>
                <a:ea typeface="Courier"/>
                <a:cs typeface="Courier"/>
                <a:sym typeface="Courier"/>
              </a:rPr>
              <a:t>def</a:t>
            </a:r>
            <a:r>
              <a:rPr i="0" lang="en-US" sz="1100" u="none" cap="none" strike="noStrike">
                <a:solidFill>
                  <a:srgbClr val="FF7F00"/>
                </a:solidFill>
                <a:latin typeface="Courier"/>
                <a:ea typeface="Courier"/>
                <a:cs typeface="Courier"/>
                <a:sym typeface="Courier"/>
              </a:rPr>
              <a:t> thing():</a:t>
            </a:r>
            <a:endParaRPr/>
          </a:p>
          <a:p>
            <a:pPr indent="0" lvl="0" marL="0" marR="0" rtl="0" algn="l">
              <a:lnSpc>
                <a:spcPct val="100000"/>
              </a:lnSpc>
              <a:spcBef>
                <a:spcPts val="0"/>
              </a:spcBef>
              <a:spcAft>
                <a:spcPts val="0"/>
              </a:spcAft>
              <a:buClr>
                <a:srgbClr val="FF7F00"/>
              </a:buClr>
              <a:buSzPts val="275"/>
              <a:buFont typeface="Courier New"/>
              <a:buNone/>
            </a:pPr>
            <a:r>
              <a:rPr i="0" lang="en-US" sz="1100" u="none" cap="none" strike="noStrike">
                <a:solidFill>
                  <a:srgbClr val="FF7F00"/>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print</a:t>
            </a:r>
            <a:r>
              <a:rPr lang="en-US" sz="1100">
                <a:solidFill>
                  <a:srgbClr val="FF7F00"/>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'Hello</a:t>
            </a:r>
            <a:r>
              <a:rPr lang="en-US" sz="1100">
                <a:solidFill>
                  <a:srgbClr val="FF7F00"/>
                </a:solidFill>
                <a:latin typeface="Courier"/>
                <a:ea typeface="Courier"/>
                <a:cs typeface="Courier"/>
                <a:sym typeface="Courier"/>
              </a:rPr>
              <a:t>')</a:t>
            </a:r>
            <a:endParaRPr/>
          </a:p>
          <a:p>
            <a:pPr indent="0" lvl="0" marL="0" marR="0" rtl="0" algn="l">
              <a:lnSpc>
                <a:spcPct val="100000"/>
              </a:lnSpc>
              <a:spcBef>
                <a:spcPts val="0"/>
              </a:spcBef>
              <a:spcAft>
                <a:spcPts val="0"/>
              </a:spcAft>
              <a:buClr>
                <a:srgbClr val="FF7F00"/>
              </a:buClr>
              <a:buSzPts val="275"/>
              <a:buFont typeface="Courier New"/>
              <a:buNone/>
            </a:pPr>
            <a:r>
              <a:rPr i="0" lang="en-US" sz="1100" u="none" cap="none" strike="noStrike">
                <a:solidFill>
                  <a:srgbClr val="FF7F00"/>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print</a:t>
            </a:r>
            <a:r>
              <a:rPr lang="en-US" sz="1100">
                <a:solidFill>
                  <a:srgbClr val="FF7F00"/>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'Fun</a:t>
            </a:r>
            <a:r>
              <a:rPr lang="en-US" sz="1100">
                <a:solidFill>
                  <a:srgbClr val="FF7F00"/>
                </a:solidFill>
                <a:latin typeface="Courier"/>
                <a:ea typeface="Courier"/>
                <a:cs typeface="Courier"/>
                <a:sym typeface="Courier"/>
              </a:rPr>
              <a:t>')</a:t>
            </a:r>
            <a:endParaRPr/>
          </a:p>
          <a:p>
            <a:pPr indent="0" lvl="0" marL="0" rtl="0" algn="l">
              <a:lnSpc>
                <a:spcPct val="100000"/>
              </a:lnSpc>
              <a:spcBef>
                <a:spcPts val="0"/>
              </a:spcBef>
              <a:spcAft>
                <a:spcPts val="0"/>
              </a:spcAft>
              <a:buSzPts val="1400"/>
              <a:buNone/>
            </a:pPr>
            <a:r>
              <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This function implements the following sequence of statements: print(‘Hello’) and print(‘Fun’). Upon call of thing function, these two statements are executed. We can write the function once and reuse it as many times as we like in our programs! Creating a reusable code is the essence of creating functions!</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29" name="Google Shape;2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3: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Python provides a number of important built-in functions that we can use without needing to provide the function definition. To learn more about built-in functions that Python offers, we should make a good habit to use Python documentation:</a:t>
            </a:r>
            <a:endParaRPr/>
          </a:p>
          <a:p>
            <a:pPr indent="0" lvl="0" marL="0" rtl="0" algn="l">
              <a:lnSpc>
                <a:spcPct val="100000"/>
              </a:lnSpc>
              <a:spcBef>
                <a:spcPts val="0"/>
              </a:spcBef>
              <a:spcAft>
                <a:spcPts val="0"/>
              </a:spcAft>
              <a:buSzPts val="1400"/>
              <a:buNone/>
            </a:pPr>
            <a:r>
              <a:rPr lang="en-US" u="sng">
                <a:solidFill>
                  <a:schemeClr val="hlink"/>
                </a:solidFill>
                <a:hlinkClick r:id="rId2"/>
              </a:rPr>
              <a:t>https://docs.python.org/3/library/functions.html#built-in-funcs</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The creators of Python wrote a set of functions to solve common problems and included them in Python for us to use. The float function r</a:t>
            </a:r>
            <a:r>
              <a:rPr b="0" i="0" lang="en-US" sz="1100">
                <a:solidFill>
                  <a:schemeClr val="dk1"/>
                </a:solidFill>
                <a:latin typeface="Arial"/>
                <a:ea typeface="Arial"/>
                <a:cs typeface="Arial"/>
                <a:sym typeface="Arial"/>
              </a:rPr>
              <a:t>eturns a floating point number constructed from a number or string. The int function returns an integer object constructed from a number or string, or return </a:t>
            </a:r>
            <a:r>
              <a:rPr lang="en-US"/>
              <a:t>0</a:t>
            </a:r>
            <a:r>
              <a:rPr b="0" i="0" lang="en-US" sz="1100">
                <a:solidFill>
                  <a:schemeClr val="dk1"/>
                </a:solidFill>
                <a:latin typeface="Arial"/>
                <a:ea typeface="Arial"/>
                <a:cs typeface="Arial"/>
                <a:sym typeface="Arial"/>
              </a:rPr>
              <a:t> if no arguments are given. The print function prints objects to the text stream file. The function type returns the data type of an object. The function input reads a line from the user input, converts it to a string (stripping a trailing newline), and returns that. </a:t>
            </a:r>
            <a:r>
              <a:rPr lang="en-US" sz="1100">
                <a:solidFill>
                  <a:schemeClr val="dk1"/>
                </a:solidFill>
                <a:latin typeface="Arial"/>
                <a:ea typeface="Arial"/>
                <a:cs typeface="Arial"/>
                <a:sym typeface="Arial"/>
              </a:rPr>
              <a:t>The max and min functions give us the largest and smallest values in a list, respectively. The function len </a:t>
            </a:r>
            <a:r>
              <a:rPr b="0" i="0" lang="en-US" sz="1100">
                <a:solidFill>
                  <a:schemeClr val="dk1"/>
                </a:solidFill>
                <a:latin typeface="Arial"/>
                <a:ea typeface="Arial"/>
                <a:cs typeface="Arial"/>
                <a:sym typeface="Arial"/>
              </a:rPr>
              <a:t>returns the length (the number of items) of an object. </a:t>
            </a:r>
            <a:endParaRPr/>
          </a:p>
          <a:p>
            <a:pPr indent="0" lvl="0" marL="0" rtl="0" algn="l">
              <a:lnSpc>
                <a:spcPct val="100000"/>
              </a:lnSpc>
              <a:spcBef>
                <a:spcPts val="0"/>
              </a:spcBef>
              <a:spcAft>
                <a:spcPts val="0"/>
              </a:spcAft>
              <a:buClr>
                <a:schemeClr val="dk1"/>
              </a:buClr>
              <a:buSzPts val="1100"/>
              <a:buFont typeface="Arial"/>
              <a:buNone/>
            </a:pPr>
            <a:r>
              <a:t/>
            </a:r>
            <a:endParaRPr b="0" i="0" sz="1100">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b="0" i="0" lang="en-US" sz="1100">
                <a:solidFill>
                  <a:schemeClr val="dk1"/>
                </a:solidFill>
                <a:latin typeface="Arial"/>
                <a:ea typeface="Arial"/>
                <a:cs typeface="Arial"/>
                <a:sym typeface="Arial"/>
              </a:rPr>
              <a:t>The core of extensible programming is defining functions. Python allows mandatory and optional arguments, keyword arguments, and even arbitrary argument lists.</a:t>
            </a:r>
            <a:endParaRPr/>
          </a:p>
          <a:p>
            <a:pPr indent="0" lvl="0" marL="0" marR="0" rtl="0" algn="l">
              <a:lnSpc>
                <a:spcPct val="100000"/>
              </a:lnSpc>
              <a:spcBef>
                <a:spcPts val="0"/>
              </a:spcBef>
              <a:spcAft>
                <a:spcPts val="0"/>
              </a:spcAft>
              <a:buClr>
                <a:schemeClr val="dk1"/>
              </a:buClr>
              <a:buSzPts val="1100"/>
              <a:buFont typeface="Arial"/>
              <a:buNone/>
            </a:pPr>
            <a:r>
              <a:rPr lang="en-US" sz="1100">
                <a:solidFill>
                  <a:schemeClr val="dk1"/>
                </a:solidFill>
                <a:latin typeface="Arial"/>
                <a:ea typeface="Arial"/>
                <a:cs typeface="Arial"/>
                <a:sym typeface="Arial"/>
              </a:rPr>
              <a:t>In addition to using the built-in functions that come with Python, you can also add new functions of yours. You can specify the name of your function and the sequence of statements that it executes when you call your function. Once you define a function, you can reuse the function over and over throughout our program.</a:t>
            </a:r>
            <a:endParaRPr/>
          </a:p>
          <a:p>
            <a:pPr indent="0" lvl="0" marL="0" rtl="0" algn="l">
              <a:lnSpc>
                <a:spcPct val="100000"/>
              </a:lnSpc>
              <a:spcBef>
                <a:spcPts val="0"/>
              </a:spcBef>
              <a:spcAft>
                <a:spcPts val="0"/>
              </a:spcAft>
              <a:buSzPts val="1400"/>
              <a:buNone/>
            </a:pPr>
            <a:r>
              <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You should treat the names of built-in functions as reserved words. For example, we should avoid using “max” or “len” as variable names.</a:t>
            </a:r>
            <a:endParaRPr/>
          </a:p>
          <a:p>
            <a:pPr indent="0" lvl="0" marL="0" marR="0" rtl="0" algn="l">
              <a:lnSpc>
                <a:spcPct val="100000"/>
              </a:lnSpc>
              <a:spcBef>
                <a:spcPts val="0"/>
              </a:spcBef>
              <a:spcAft>
                <a:spcPts val="0"/>
              </a:spcAft>
              <a:buClr>
                <a:schemeClr val="dk1"/>
              </a:buClr>
              <a:buSzPts val="1100"/>
              <a:buFont typeface="Arial"/>
              <a:buNone/>
            </a:pPr>
            <a:r>
              <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b="0" i="0" sz="1100">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51" name="Google Shape;51;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4: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 </a:t>
            </a:r>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A function definition specifies the name of a new function and the sequence of statements that execute when the function is called (or invoked). We define a function using def as a keyword that indicates that this is a function definition. The name of the function is indicated after def. The rules for function names are the same as for variable names: letters, numbers and some punctuation marks are legal, but the first character can’t be a number. You can’t use a Python reserved keyword as the name of a function, and you should avoid having a variable and a function with the same name. The arguments of function are included between </a:t>
            </a:r>
            <a:r>
              <a:rPr lang="en-US" sz="1100" u="none" cap="none" strike="noStrike">
                <a:solidFill>
                  <a:schemeClr val="lt1"/>
                </a:solidFill>
                <a:latin typeface="Arial"/>
                <a:ea typeface="Arial"/>
                <a:cs typeface="Arial"/>
                <a:sym typeface="Arial"/>
              </a:rPr>
              <a:t>parenthes</a:t>
            </a:r>
            <a:r>
              <a:rPr lang="en-US" sz="1100">
                <a:solidFill>
                  <a:schemeClr val="lt1"/>
                </a:solidFill>
                <a:latin typeface="Arial"/>
                <a:ea typeface="Arial"/>
                <a:cs typeface="Arial"/>
                <a:sym typeface="Arial"/>
              </a:rPr>
              <a:t>e</a:t>
            </a:r>
            <a:r>
              <a:rPr lang="en-US" sz="1100" u="none" cap="none" strike="noStrike">
                <a:solidFill>
                  <a:schemeClr val="lt1"/>
                </a:solidFill>
                <a:latin typeface="Arial"/>
                <a:ea typeface="Arial"/>
                <a:cs typeface="Arial"/>
                <a:sym typeface="Arial"/>
              </a:rPr>
              <a:t>s </a:t>
            </a:r>
            <a:r>
              <a:rPr lang="en-US" sz="1100">
                <a:solidFill>
                  <a:schemeClr val="dk1"/>
                </a:solidFill>
                <a:latin typeface="Arial"/>
                <a:ea typeface="Arial"/>
                <a:cs typeface="Arial"/>
                <a:sym typeface="Arial"/>
              </a:rPr>
              <a:t>after the function name. Once we define the function, we can invoke the function in our program by simply using the function name and its arguments between </a:t>
            </a:r>
            <a:r>
              <a:rPr lang="en-US" sz="1100" u="none" cap="none" strike="noStrike">
                <a:solidFill>
                  <a:schemeClr val="lt1"/>
                </a:solidFill>
                <a:latin typeface="Arial"/>
                <a:ea typeface="Arial"/>
                <a:cs typeface="Arial"/>
                <a:sym typeface="Arial"/>
              </a:rPr>
              <a:t>parenthes</a:t>
            </a:r>
            <a:r>
              <a:rPr lang="en-US" sz="1100">
                <a:solidFill>
                  <a:schemeClr val="lt1"/>
                </a:solidFill>
                <a:latin typeface="Arial"/>
                <a:ea typeface="Arial"/>
                <a:cs typeface="Arial"/>
                <a:sym typeface="Arial"/>
              </a:rPr>
              <a:t>e</a:t>
            </a:r>
            <a:r>
              <a:rPr lang="en-US" sz="1100" u="none" cap="none" strike="noStrike">
                <a:solidFill>
                  <a:schemeClr val="lt1"/>
                </a:solidFill>
                <a:latin typeface="Arial"/>
                <a:ea typeface="Arial"/>
                <a:cs typeface="Arial"/>
                <a:sym typeface="Arial"/>
              </a:rPr>
              <a:t>s</a:t>
            </a:r>
            <a:r>
              <a:rPr lang="en-US" sz="1100">
                <a:solidFill>
                  <a:schemeClr val="dk1"/>
                </a:solidFill>
                <a:latin typeface="Arial"/>
                <a:ea typeface="Arial"/>
                <a:cs typeface="Arial"/>
                <a:sym typeface="Arial"/>
              </a:rPr>
              <a:t>. </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57" name="Google Shape;57;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5: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63" name="Google Shape;6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6: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400"/>
              <a:buNone/>
            </a:pPr>
            <a:r>
              <a:rPr b="0" i="0" lang="en-US" sz="1100">
                <a:solidFill>
                  <a:schemeClr val="dk1"/>
                </a:solidFill>
                <a:latin typeface="Arial"/>
                <a:ea typeface="Arial"/>
                <a:cs typeface="Arial"/>
                <a:sym typeface="Arial"/>
              </a:rPr>
              <a:t>The keyword def introduces a function definition. It must be followed by the function name and the parenthesized list of parameters. The statements that form the body of the function start at the next line, and must be indented. The value of the function name has a type that is recognized by the interpreter as a user-defined function. For example, the following is a function definition for the function print_lyrics. </a:t>
            </a:r>
            <a:r>
              <a:rPr lang="en-US" sz="1100">
                <a:solidFill>
                  <a:schemeClr val="dk1"/>
                </a:solidFill>
                <a:latin typeface="Arial"/>
                <a:ea typeface="Arial"/>
                <a:cs typeface="Arial"/>
                <a:sym typeface="Arial"/>
              </a:rPr>
              <a:t>The empty parentheses after the name print_lyrics indicate that this function doesn’t take any arguments. Later we will build functions that take arguments as their inputs.</a:t>
            </a:r>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The first line of the function definition is called the header; the rest is called the body. The header has to end with a colon and the body has to be indented. By convention, the indentation is always four spaces. The body can contain any number of statements. The priny_lyrics function has two print statements in its body. It is also important to note that defining a function creates a variable with the same name in our program!</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Clr>
                <a:schemeClr val="dk1"/>
              </a:buClr>
              <a:buSzPts val="1200"/>
              <a:buFont typeface="Arial"/>
              <a:buNone/>
            </a:pPr>
            <a:r>
              <a:t/>
            </a:r>
            <a:endParaRPr sz="12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FFFF00"/>
              </a:buClr>
              <a:buSzPts val="300"/>
              <a:buFont typeface="Cabin"/>
              <a:buNone/>
            </a:pPr>
            <a:r>
              <a:rPr i="0" lang="en-US" sz="1200" u="none" cap="none" strike="noStrike">
                <a:solidFill>
                  <a:srgbClr val="FFFF00"/>
                </a:solidFill>
                <a:latin typeface="Times New Roman"/>
                <a:ea typeface="Times New Roman"/>
                <a:cs typeface="Times New Roman"/>
                <a:sym typeface="Times New Roman"/>
              </a:rPr>
              <a:t>def</a:t>
            </a:r>
            <a:r>
              <a:rPr i="0" lang="en-US" sz="1200" u="none" cap="none" strike="noStrike">
                <a:solidFill>
                  <a:schemeClr val="lt1"/>
                </a:solidFill>
                <a:latin typeface="Times New Roman"/>
                <a:ea typeface="Times New Roman"/>
                <a:cs typeface="Times New Roman"/>
                <a:sym typeface="Times New Roman"/>
              </a:rPr>
              <a:t> </a:t>
            </a:r>
            <a:r>
              <a:rPr i="0" lang="en-US" sz="1200" u="none" cap="none" strike="noStrike">
                <a:solidFill>
                  <a:srgbClr val="00FF00"/>
                </a:solidFill>
                <a:latin typeface="Times New Roman"/>
                <a:ea typeface="Times New Roman"/>
                <a:cs typeface="Times New Roman"/>
                <a:sym typeface="Times New Roman"/>
              </a:rPr>
              <a:t>print_lyrics</a:t>
            </a:r>
            <a:r>
              <a:rPr i="0" lang="en-US" sz="1200" u="none" cap="none" strike="noStrike">
                <a:solidFill>
                  <a:schemeClr val="lt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lt1"/>
              </a:buClr>
              <a:buSzPts val="300"/>
              <a:buFont typeface="Cabin"/>
              <a:buNone/>
            </a:pPr>
            <a:r>
              <a:rPr i="0" lang="en-US" sz="1200" u="none" cap="none" strike="noStrike">
                <a:solidFill>
                  <a:schemeClr val="lt1"/>
                </a:solidFill>
                <a:latin typeface="Times New Roman"/>
                <a:ea typeface="Times New Roman"/>
                <a:cs typeface="Times New Roman"/>
                <a:sym typeface="Times New Roman"/>
              </a:rPr>
              <a:t>    </a:t>
            </a:r>
            <a:r>
              <a:rPr i="0" lang="en-US" sz="1200" u="none" cap="none" strike="noStrike">
                <a:solidFill>
                  <a:srgbClr val="FFFF00"/>
                </a:solidFill>
                <a:latin typeface="Times New Roman"/>
                <a:ea typeface="Times New Roman"/>
                <a:cs typeface="Times New Roman"/>
                <a:sym typeface="Times New Roman"/>
              </a:rPr>
              <a:t>print</a:t>
            </a:r>
            <a:r>
              <a:rPr lang="en-US" sz="1200">
                <a:solidFill>
                  <a:schemeClr val="lt1"/>
                </a:solidFill>
                <a:latin typeface="Times New Roman"/>
                <a:ea typeface="Times New Roman"/>
                <a:cs typeface="Times New Roman"/>
                <a:sym typeface="Times New Roman"/>
              </a:rPr>
              <a:t>(</a:t>
            </a:r>
            <a:r>
              <a:rPr i="0" lang="en-US" sz="1200" u="none" cap="none" strike="noStrike">
                <a:solidFill>
                  <a:schemeClr val="lt1"/>
                </a:solidFill>
                <a:latin typeface="Times New Roman"/>
                <a:ea typeface="Times New Roman"/>
                <a:cs typeface="Times New Roman"/>
                <a:sym typeface="Times New Roman"/>
              </a:rPr>
              <a:t>"I'm a lumberjack, and I'm okay.</a:t>
            </a:r>
            <a:r>
              <a:rPr lang="en-US" sz="1200">
                <a:solidFill>
                  <a:schemeClr val="lt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lt1"/>
              </a:buClr>
              <a:buSzPts val="300"/>
              <a:buFont typeface="Cabin"/>
              <a:buNone/>
            </a:pPr>
            <a:r>
              <a:rPr i="0" lang="en-US" sz="1200" u="none" cap="none" strike="noStrike">
                <a:solidFill>
                  <a:schemeClr val="lt1"/>
                </a:solidFill>
                <a:latin typeface="Times New Roman"/>
                <a:ea typeface="Times New Roman"/>
                <a:cs typeface="Times New Roman"/>
                <a:sym typeface="Times New Roman"/>
              </a:rPr>
              <a:t>    </a:t>
            </a:r>
            <a:r>
              <a:rPr i="0" lang="en-US" sz="1200" u="none" cap="none" strike="noStrike">
                <a:solidFill>
                  <a:srgbClr val="FFFF00"/>
                </a:solidFill>
                <a:latin typeface="Times New Roman"/>
                <a:ea typeface="Times New Roman"/>
                <a:cs typeface="Times New Roman"/>
                <a:sym typeface="Times New Roman"/>
              </a:rPr>
              <a:t>print</a:t>
            </a:r>
            <a:r>
              <a:rPr lang="en-US" sz="1200">
                <a:solidFill>
                  <a:schemeClr val="lt1"/>
                </a:solidFill>
                <a:latin typeface="Times New Roman"/>
                <a:ea typeface="Times New Roman"/>
                <a:cs typeface="Times New Roman"/>
                <a:sym typeface="Times New Roman"/>
              </a:rPr>
              <a:t>(</a:t>
            </a:r>
            <a:r>
              <a:rPr i="0" lang="en-US" sz="1200" u="none" cap="none" strike="noStrike">
                <a:solidFill>
                  <a:schemeClr val="lt1"/>
                </a:solidFill>
                <a:latin typeface="Times New Roman"/>
                <a:ea typeface="Times New Roman"/>
                <a:cs typeface="Times New Roman"/>
                <a:sym typeface="Times New Roman"/>
              </a:rPr>
              <a:t>'I sleep all night and I work all day.')</a:t>
            </a:r>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68" name="Google Shape;68;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7: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US" sz="1100">
                <a:solidFill>
                  <a:schemeClr val="dk1"/>
                </a:solidFill>
                <a:latin typeface="Arial"/>
                <a:ea typeface="Arial"/>
                <a:cs typeface="Arial"/>
                <a:sym typeface="Arial"/>
              </a:rPr>
              <a:t>Function definitions get executed just like other statements, however its impact is to create function objects. The statements inside the function do not get executed until the function is called, and the function definition generates no output. You have to create a function before you can execute it. In other words, the function definition has to be executed before the first time it is called. The value of print_lyrics is a function object, which has type “function”. </a:t>
            </a:r>
            <a:r>
              <a:rPr lang="en-US"/>
              <a:t>Once you have defined a function, you can use it in your program by calling it. </a:t>
            </a:r>
            <a:r>
              <a:rPr lang="en-US" sz="1100">
                <a:solidFill>
                  <a:schemeClr val="dk1"/>
                </a:solidFill>
                <a:latin typeface="Arial"/>
                <a:ea typeface="Arial"/>
                <a:cs typeface="Arial"/>
                <a:sym typeface="Arial"/>
              </a:rPr>
              <a:t>The syntax for calling the new function is the same as for built-in functions: print_lyrics(). Furthermore, we can also call our function inside another function in our program. For example, </a:t>
            </a:r>
            <a:r>
              <a:rPr lang="en-US"/>
              <a:t>we could write a function called repeat_lyrics: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def repeat_lyrics():</a:t>
            </a:r>
            <a:endParaRPr/>
          </a:p>
          <a:p>
            <a:pPr indent="0" lvl="0" marL="0" rtl="0" algn="l">
              <a:lnSpc>
                <a:spcPct val="100000"/>
              </a:lnSpc>
              <a:spcBef>
                <a:spcPts val="0"/>
              </a:spcBef>
              <a:spcAft>
                <a:spcPts val="0"/>
              </a:spcAft>
              <a:buSzPts val="1400"/>
              <a:buNone/>
            </a:pPr>
            <a:r>
              <a:rPr lang="en-US"/>
              <a:t>    print_lyrics()</a:t>
            </a:r>
            <a:endParaRPr/>
          </a:p>
          <a:p>
            <a:pPr indent="0" lvl="0" marL="0" rtl="0" algn="l">
              <a:lnSpc>
                <a:spcPct val="100000"/>
              </a:lnSpc>
              <a:spcBef>
                <a:spcPts val="0"/>
              </a:spcBef>
              <a:spcAft>
                <a:spcPts val="0"/>
              </a:spcAft>
              <a:buSzPts val="1400"/>
              <a:buNone/>
            </a:pPr>
            <a:r>
              <a:rPr lang="en-US"/>
              <a:t>    print_lyrics()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And, calling repeat_lyrics() in our program will call print_lyrics() function twice! </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dk1"/>
              </a:buClr>
              <a:buSzPts val="1100"/>
              <a:buFont typeface="Arial"/>
              <a:buNone/>
            </a:pPr>
            <a:r>
              <a:rPr lang="en-US" sz="1100">
                <a:solidFill>
                  <a:schemeClr val="dk1"/>
                </a:solidFill>
                <a:latin typeface="Arial"/>
                <a:ea typeface="Arial"/>
                <a:cs typeface="Arial"/>
                <a:sym typeface="Arial"/>
              </a:rPr>
              <a:t>In order to ensure that a function is defined before its first use, you have to know the order in which statements are executed, which is called the flow of execution. It is very important concept in Python! Execution always begins at the first statement of the program. Statements are executed one at a time, in order from top to bottom. A function call is like a detour in the flow of execution. Instead of going to the next statement, the flow jumps to the body of the function, executes all the statements there, and then comes back to pick up where it left off. Python is good at keeping track of where it is, so each time a function completes, the program picks up where it left off. When it gets to the end of the program, it terminates. When you read a Python program, you should follow the flow of execution!</a:t>
            </a:r>
            <a:endParaRPr/>
          </a:p>
          <a:p>
            <a:pPr indent="0" lvl="0" marL="0" marR="0" rtl="0" algn="l">
              <a:lnSpc>
                <a:spcPct val="100000"/>
              </a:lnSpc>
              <a:spcBef>
                <a:spcPts val="0"/>
              </a:spcBef>
              <a:spcAft>
                <a:spcPts val="0"/>
              </a:spcAft>
              <a:buClr>
                <a:schemeClr val="dk1"/>
              </a:buClr>
              <a:buSzPts val="1100"/>
              <a:buFont typeface="Arial"/>
              <a:buNone/>
            </a:pPr>
            <a:r>
              <a:t/>
            </a:r>
            <a:endParaRPr sz="11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75" name="Google Shape;75;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8: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lt1"/>
              </a:buClr>
              <a:buSzPts val="1100"/>
              <a:buFont typeface="Arial"/>
              <a:buNone/>
            </a:pPr>
            <a:r>
              <a:rPr lang="en-US" sz="1100" u="none" cap="none" strike="noStrike">
                <a:solidFill>
                  <a:schemeClr val="lt1"/>
                </a:solidFill>
                <a:latin typeface="Arial"/>
                <a:ea typeface="Arial"/>
                <a:cs typeface="Arial"/>
                <a:sym typeface="Arial"/>
              </a:rPr>
              <a:t>An </a:t>
            </a:r>
            <a:r>
              <a:rPr lang="en-US" sz="1100" u="none" cap="none" strike="noStrike">
                <a:solidFill>
                  <a:srgbClr val="FF7F00"/>
                </a:solidFill>
                <a:latin typeface="Arial"/>
                <a:ea typeface="Arial"/>
                <a:cs typeface="Arial"/>
                <a:sym typeface="Arial"/>
              </a:rPr>
              <a:t>argument</a:t>
            </a:r>
            <a:r>
              <a:rPr lang="en-US" sz="1100" u="none" cap="none" strike="noStrike">
                <a:solidFill>
                  <a:schemeClr val="lt1"/>
                </a:solidFill>
                <a:latin typeface="Arial"/>
                <a:ea typeface="Arial"/>
                <a:cs typeface="Arial"/>
                <a:sym typeface="Arial"/>
              </a:rPr>
              <a:t> is a value we pass into the </a:t>
            </a:r>
            <a:r>
              <a:rPr lang="en-US" sz="1100" u="none" cap="none" strike="noStrike">
                <a:solidFill>
                  <a:srgbClr val="FF00FF"/>
                </a:solidFill>
                <a:latin typeface="Arial"/>
                <a:ea typeface="Arial"/>
                <a:cs typeface="Arial"/>
                <a:sym typeface="Arial"/>
              </a:rPr>
              <a:t>function</a:t>
            </a:r>
            <a:r>
              <a:rPr lang="en-US" sz="1100" u="none" cap="none" strike="noStrike">
                <a:solidFill>
                  <a:schemeClr val="lt1"/>
                </a:solidFill>
                <a:latin typeface="Arial"/>
                <a:ea typeface="Arial"/>
                <a:cs typeface="Arial"/>
                <a:sym typeface="Arial"/>
              </a:rPr>
              <a:t> as its </a:t>
            </a:r>
            <a:r>
              <a:rPr lang="en-US" sz="1100" u="none" cap="none" strike="noStrike">
                <a:solidFill>
                  <a:srgbClr val="FF7F00"/>
                </a:solidFill>
                <a:latin typeface="Arial"/>
                <a:ea typeface="Arial"/>
                <a:cs typeface="Arial"/>
                <a:sym typeface="Arial"/>
              </a:rPr>
              <a:t>input</a:t>
            </a:r>
            <a:r>
              <a:rPr lang="en-US" sz="1100" u="none" cap="none" strike="noStrike">
                <a:solidFill>
                  <a:schemeClr val="lt1"/>
                </a:solidFill>
                <a:latin typeface="Arial"/>
                <a:ea typeface="Arial"/>
                <a:cs typeface="Arial"/>
                <a:sym typeface="Arial"/>
              </a:rPr>
              <a:t> when we call the function. </a:t>
            </a:r>
            <a:r>
              <a:rPr lang="en-US" sz="1100">
                <a:solidFill>
                  <a:schemeClr val="dk1"/>
                </a:solidFill>
                <a:latin typeface="Arial"/>
                <a:ea typeface="Arial"/>
                <a:cs typeface="Arial"/>
                <a:sym typeface="Arial"/>
              </a:rPr>
              <a:t>Some of the built-in functions we have seen require arguments. For example, when you call the max function you pass an </a:t>
            </a:r>
            <a:r>
              <a:rPr b="0" i="0" lang="en-US" sz="1100">
                <a:solidFill>
                  <a:schemeClr val="dk1"/>
                </a:solidFill>
                <a:latin typeface="Arial"/>
                <a:ea typeface="Arial"/>
                <a:cs typeface="Arial"/>
                <a:sym typeface="Arial"/>
              </a:rPr>
              <a:t>iterable </a:t>
            </a:r>
            <a:r>
              <a:rPr lang="en-US" sz="1100">
                <a:solidFill>
                  <a:schemeClr val="dk1"/>
                </a:solidFill>
                <a:latin typeface="Arial"/>
                <a:ea typeface="Arial"/>
                <a:cs typeface="Arial"/>
                <a:sym typeface="Arial"/>
              </a:rPr>
              <a:t>such as String as an argument:</a:t>
            </a:r>
            <a:endParaRPr/>
          </a:p>
          <a:p>
            <a:pPr indent="0" lvl="0" marL="0" marR="0" rtl="0" algn="l">
              <a:lnSpc>
                <a:spcPct val="100000"/>
              </a:lnSpc>
              <a:spcBef>
                <a:spcPts val="0"/>
              </a:spcBef>
              <a:spcAft>
                <a:spcPts val="0"/>
              </a:spcAft>
              <a:buClr>
                <a:schemeClr val="dk1"/>
              </a:buClr>
              <a:buSzPts val="1100"/>
              <a:buFont typeface="Arial"/>
              <a:buNone/>
            </a:pPr>
            <a:r>
              <a:rPr lang="en-US" sz="1100">
                <a:solidFill>
                  <a:schemeClr val="dk1"/>
                </a:solidFill>
                <a:latin typeface="Arial"/>
                <a:ea typeface="Arial"/>
                <a:cs typeface="Arial"/>
                <a:sym typeface="Arial"/>
              </a:rPr>
              <a:t>big = max(‘Hello world’)  🡪 ‘Hello world’ is the argument. </a:t>
            </a:r>
            <a:endParaRPr/>
          </a:p>
          <a:p>
            <a:pPr indent="0" lvl="0" marL="0" marR="0" rtl="0" algn="l">
              <a:lnSpc>
                <a:spcPct val="100000"/>
              </a:lnSpc>
              <a:spcBef>
                <a:spcPts val="0"/>
              </a:spcBef>
              <a:spcAft>
                <a:spcPts val="0"/>
              </a:spcAft>
              <a:buClr>
                <a:schemeClr val="dk1"/>
              </a:buClr>
              <a:buSzPts val="1100"/>
              <a:buFont typeface="Arial"/>
              <a:buNone/>
            </a:pPr>
            <a:r>
              <a:t/>
            </a:r>
            <a:endParaRPr sz="11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lang="en-US" sz="1100">
                <a:solidFill>
                  <a:schemeClr val="dk1"/>
                </a:solidFill>
                <a:latin typeface="Arial"/>
                <a:ea typeface="Arial"/>
                <a:cs typeface="Arial"/>
                <a:sym typeface="Arial"/>
              </a:rPr>
              <a:t>Some built-in functions take more than one argument. For example, the random function, handling random numbers, randint takes the arguments low and high, and returns an integer between low and high (including both):</a:t>
            </a:r>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my_random_number =  random.randint(5, 10) 🡪 5 and 10 are the two arguments. </a:t>
            </a:r>
            <a:endParaRPr/>
          </a:p>
          <a:p>
            <a:pPr indent="0" lvl="0" marL="0" rtl="0" algn="l">
              <a:lnSpc>
                <a:spcPct val="100000"/>
              </a:lnSpc>
              <a:spcBef>
                <a:spcPts val="0"/>
              </a:spcBef>
              <a:spcAft>
                <a:spcPts val="0"/>
              </a:spcAft>
              <a:buSzPts val="1400"/>
              <a:buNone/>
            </a:pPr>
            <a:r>
              <a:t/>
            </a:r>
            <a:endParaRPr sz="1100" u="none" cap="none" strike="noStrike">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rPr lang="en-US" sz="1100" u="none" cap="none" strike="noStrike">
                <a:solidFill>
                  <a:schemeClr val="lt1"/>
                </a:solidFill>
                <a:latin typeface="Arial"/>
                <a:ea typeface="Arial"/>
                <a:cs typeface="Arial"/>
                <a:sym typeface="Arial"/>
              </a:rPr>
              <a:t>We use </a:t>
            </a:r>
            <a:r>
              <a:rPr lang="en-US" sz="1100" u="none" cap="none" strike="noStrike">
                <a:solidFill>
                  <a:srgbClr val="FF7F00"/>
                </a:solidFill>
                <a:latin typeface="Arial"/>
                <a:ea typeface="Arial"/>
                <a:cs typeface="Arial"/>
                <a:sym typeface="Arial"/>
              </a:rPr>
              <a:t>arguments</a:t>
            </a:r>
            <a:r>
              <a:rPr lang="en-US" sz="1100" u="none" cap="none" strike="noStrike">
                <a:solidFill>
                  <a:schemeClr val="lt1"/>
                </a:solidFill>
                <a:latin typeface="Arial"/>
                <a:ea typeface="Arial"/>
                <a:cs typeface="Arial"/>
                <a:sym typeface="Arial"/>
              </a:rPr>
              <a:t> so we can direct the </a:t>
            </a:r>
            <a:r>
              <a:rPr lang="en-US" sz="1100" u="none" cap="none" strike="noStrike">
                <a:solidFill>
                  <a:srgbClr val="FF00FF"/>
                </a:solidFill>
                <a:latin typeface="Arial"/>
                <a:ea typeface="Arial"/>
                <a:cs typeface="Arial"/>
                <a:sym typeface="Arial"/>
              </a:rPr>
              <a:t>function</a:t>
            </a:r>
            <a:r>
              <a:rPr lang="en-US" sz="1100" u="none" cap="none" strike="noStrike">
                <a:solidFill>
                  <a:schemeClr val="lt1"/>
                </a:solidFill>
                <a:latin typeface="Arial"/>
                <a:ea typeface="Arial"/>
                <a:cs typeface="Arial"/>
                <a:sym typeface="Arial"/>
              </a:rPr>
              <a:t> to do different kinds of work when we call it at </a:t>
            </a:r>
            <a:r>
              <a:rPr lang="en-US" sz="1100" u="none" cap="none" strike="noStrike">
                <a:solidFill>
                  <a:srgbClr val="FF7F00"/>
                </a:solidFill>
                <a:latin typeface="Arial"/>
                <a:ea typeface="Arial"/>
                <a:cs typeface="Arial"/>
                <a:sym typeface="Arial"/>
              </a:rPr>
              <a:t>different</a:t>
            </a:r>
            <a:r>
              <a:rPr lang="en-US" sz="1100" u="none" cap="none" strike="noStrike">
                <a:solidFill>
                  <a:schemeClr val="lt1"/>
                </a:solidFill>
                <a:latin typeface="Arial"/>
                <a:ea typeface="Arial"/>
                <a:cs typeface="Arial"/>
                <a:sym typeface="Arial"/>
              </a:rPr>
              <a:t> times. We put the </a:t>
            </a:r>
            <a:r>
              <a:rPr lang="en-US" sz="1100" u="none" cap="none" strike="noStrike">
                <a:solidFill>
                  <a:srgbClr val="FF7F00"/>
                </a:solidFill>
                <a:latin typeface="Arial"/>
                <a:ea typeface="Arial"/>
                <a:cs typeface="Arial"/>
                <a:sym typeface="Arial"/>
              </a:rPr>
              <a:t>arguments</a:t>
            </a:r>
            <a:r>
              <a:rPr lang="en-US" sz="1100" u="none" cap="none" strike="noStrike">
                <a:solidFill>
                  <a:schemeClr val="lt1"/>
                </a:solidFill>
                <a:latin typeface="Arial"/>
                <a:ea typeface="Arial"/>
                <a:cs typeface="Arial"/>
                <a:sym typeface="Arial"/>
              </a:rPr>
              <a:t> in parenthes</a:t>
            </a:r>
            <a:r>
              <a:rPr lang="en-US" sz="1100">
                <a:solidFill>
                  <a:schemeClr val="lt1"/>
                </a:solidFill>
                <a:latin typeface="Arial"/>
                <a:ea typeface="Arial"/>
                <a:cs typeface="Arial"/>
                <a:sym typeface="Arial"/>
              </a:rPr>
              <a:t>e</a:t>
            </a:r>
            <a:r>
              <a:rPr lang="en-US" sz="1100" u="none" cap="none" strike="noStrike">
                <a:solidFill>
                  <a:schemeClr val="lt1"/>
                </a:solidFill>
                <a:latin typeface="Arial"/>
                <a:ea typeface="Arial"/>
                <a:cs typeface="Arial"/>
                <a:sym typeface="Arial"/>
              </a:rPr>
              <a:t>s after the </a:t>
            </a:r>
            <a:r>
              <a:rPr lang="en-US" sz="1100" u="none" cap="none" strike="noStrike">
                <a:solidFill>
                  <a:srgbClr val="FF00FF"/>
                </a:solidFill>
                <a:latin typeface="Arial"/>
                <a:ea typeface="Arial"/>
                <a:cs typeface="Arial"/>
                <a:sym typeface="Arial"/>
              </a:rPr>
              <a:t>name</a:t>
            </a:r>
            <a:r>
              <a:rPr lang="en-US" sz="1100" u="none" cap="none" strike="noStrike">
                <a:solidFill>
                  <a:schemeClr val="lt1"/>
                </a:solidFill>
                <a:latin typeface="Arial"/>
                <a:ea typeface="Arial"/>
                <a:cs typeface="Arial"/>
                <a:sym typeface="Arial"/>
              </a:rPr>
              <a:t> of the function when we call the function in our program.</a:t>
            </a:r>
            <a:endParaRPr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sz="11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sz="11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82" name="Google Shape;82;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9: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Inside the function definition, the arguments are assigned to variables called parameters. Namely, a parameter is a variable which we use in the function definition. It is a handling mechanism that allows the code in the function definition to access the arguments for a particular function call.</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sz="11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lang="en-US" sz="1100">
                <a:solidFill>
                  <a:schemeClr val="dk1"/>
                </a:solidFill>
                <a:latin typeface="Arial"/>
                <a:ea typeface="Arial"/>
                <a:cs typeface="Arial"/>
                <a:sym typeface="Arial"/>
              </a:rPr>
              <a:t>Here is an example of a user-defined function greet that takes a single argument:</a:t>
            </a:r>
            <a:endParaRPr/>
          </a:p>
          <a:p>
            <a:pPr indent="0" lvl="0" marL="0" marR="0" rtl="0" algn="l">
              <a:lnSpc>
                <a:spcPct val="100000"/>
              </a:lnSpc>
              <a:spcBef>
                <a:spcPts val="0"/>
              </a:spcBef>
              <a:spcAft>
                <a:spcPts val="0"/>
              </a:spcAft>
              <a:buClr>
                <a:schemeClr val="dk1"/>
              </a:buClr>
              <a:buSzPts val="1100"/>
              <a:buFont typeface="Arial"/>
              <a:buNone/>
            </a:pPr>
            <a:r>
              <a:t/>
            </a:r>
            <a:endParaRPr sz="11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FF00"/>
                </a:solidFill>
                <a:latin typeface="Courier"/>
                <a:ea typeface="Courier"/>
                <a:cs typeface="Courier"/>
                <a:sym typeface="Courier"/>
              </a:rPr>
              <a:t>def</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greet</a:t>
            </a:r>
            <a:r>
              <a:rPr i="0" lang="en-US" sz="1100" u="none" cap="none" strike="noStrike">
                <a:solidFill>
                  <a:schemeClr val="lt1"/>
                </a:solidFill>
                <a:latin typeface="Courier"/>
                <a:ea typeface="Courier"/>
                <a:cs typeface="Courier"/>
                <a:sym typeface="Courier"/>
              </a:rPr>
              <a:t>(</a:t>
            </a:r>
            <a:r>
              <a:rPr i="0" lang="en-US" sz="1100" u="none" cap="none" strike="noStrike">
                <a:solidFill>
                  <a:srgbClr val="00FFFF"/>
                </a:solidFill>
                <a:latin typeface="Courier"/>
                <a:ea typeface="Courier"/>
                <a:cs typeface="Courier"/>
                <a:sym typeface="Courier"/>
              </a:rPr>
              <a:t>lang</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if</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FF"/>
                </a:solidFill>
                <a:latin typeface="Courier"/>
                <a:ea typeface="Courier"/>
                <a:cs typeface="Courier"/>
                <a:sym typeface="Courier"/>
              </a:rPr>
              <a:t>lang</a:t>
            </a:r>
            <a:r>
              <a:rPr i="0" lang="en-US" sz="1100" u="none" cap="none" strike="noStrike">
                <a:solidFill>
                  <a:schemeClr val="lt1"/>
                </a:solidFill>
                <a:latin typeface="Courier"/>
                <a:ea typeface="Courier"/>
                <a:cs typeface="Courier"/>
                <a:sym typeface="Courier"/>
              </a:rPr>
              <a:t> == 'es':</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'Hola</a:t>
            </a:r>
            <a:r>
              <a:rPr lang="en-US" sz="1100">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elif</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FF"/>
                </a:solidFill>
                <a:latin typeface="Courier"/>
                <a:ea typeface="Courier"/>
                <a:cs typeface="Courier"/>
                <a:sym typeface="Courier"/>
              </a:rPr>
              <a:t>lang</a:t>
            </a:r>
            <a:r>
              <a:rPr i="0" lang="en-US" sz="1100" u="none" cap="none" strike="noStrike">
                <a:solidFill>
                  <a:schemeClr val="lt1"/>
                </a:solidFill>
                <a:latin typeface="Courier"/>
                <a:ea typeface="Courier"/>
                <a:cs typeface="Courier"/>
                <a:sym typeface="Courier"/>
              </a:rPr>
              <a:t> == 'fr':</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'Bonjour</a:t>
            </a:r>
            <a:r>
              <a:rPr lang="en-US" sz="1100">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else:</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FF00"/>
                </a:solidFill>
                <a:latin typeface="Courier"/>
                <a:ea typeface="Courier"/>
                <a:cs typeface="Courier"/>
                <a:sym typeface="Courier"/>
              </a:rPr>
              <a:t>        print</a:t>
            </a:r>
            <a:r>
              <a:rPr lang="en-US" sz="1100">
                <a:solidFill>
                  <a:schemeClr val="lt1"/>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'Hello</a:t>
            </a:r>
            <a:r>
              <a:rPr lang="en-US" sz="1100">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t/>
            </a:r>
            <a:endParaRPr sz="1100">
              <a:solidFill>
                <a:schemeClr val="lt1"/>
              </a:solidFill>
              <a:latin typeface="Courier"/>
              <a:ea typeface="Courier"/>
              <a:cs typeface="Courier"/>
              <a:sym typeface="Courier"/>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The greet function assigns the argument to a parameter named lang. When the function is called, it first checks if the value of the parameter equals to the string ‘es’. If so, it prints ‘Hola’. If not, then it checks if the value of the parameter equals to the string ‘fr’. If so, it prints ‘Bonjour’. If not, it simply prints ’Hello’. You can use any kind of expression as an argument for greet.  For example, when we call greet(‘en’), it yields ’Hello’. When we call greet (‘es’), it yields ‘Hola’. When we call greet(‘fr’), it yields ’Bonjour’.</a:t>
            </a:r>
            <a:endParaRPr sz="1100">
              <a:solidFill>
                <a:schemeClr val="lt1"/>
              </a:solidFill>
              <a:latin typeface="Courier"/>
              <a:ea typeface="Courier"/>
              <a:cs typeface="Courier"/>
              <a:sym typeface="Courie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91" name="Google Shape;91;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0: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Some of the functions we are using, such as the len function that r</a:t>
            </a:r>
            <a:r>
              <a:rPr b="0" i="0" lang="en-US" sz="1100">
                <a:solidFill>
                  <a:schemeClr val="dk1"/>
                </a:solidFill>
                <a:latin typeface="Arial"/>
                <a:ea typeface="Arial"/>
                <a:cs typeface="Arial"/>
                <a:sym typeface="Arial"/>
              </a:rPr>
              <a:t>eturns the length (the number of items) of an object: </a:t>
            </a:r>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 &gt;&gt;&gt; x = len(‘ISOM 730’)</a:t>
            </a:r>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 &gt;&gt;&gt; print(x) </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8</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Other functions, like print, perform an action but don’t return a value. They are called void functions. Void functions might display something on the screen or have some other effect, but they don’t have a return value. If you try to assign the result to a variable, you get a special reserved value called None in Python:</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&gt;&gt;&gt; result = print('Bing')</a:t>
            </a:r>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Bing</a:t>
            </a:r>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&gt;&gt;&gt; print(result)</a:t>
            </a:r>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None</a:t>
            </a:r>
            <a:endParaRPr/>
          </a:p>
          <a:p>
            <a:pPr indent="0" lvl="0" marL="0" rtl="0" algn="l">
              <a:lnSpc>
                <a:spcPct val="100000"/>
              </a:lnSpc>
              <a:spcBef>
                <a:spcPts val="0"/>
              </a:spcBef>
              <a:spcAft>
                <a:spcPts val="0"/>
              </a:spcAft>
              <a:buSzPts val="1400"/>
              <a:buNone/>
            </a:pPr>
            <a:r>
              <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When you call a function that returns a value, you almost always want to do something with the result; for example, you might assign it to a variable or use it as part of an expression:</a:t>
            </a:r>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 &gt;&gt;&gt; x = len(‘ISOM 730’)</a:t>
            </a:r>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&gt;&gt;&gt;  print(x + 2)</a:t>
            </a:r>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10</a:t>
            </a:r>
            <a:endParaRPr/>
          </a:p>
          <a:p>
            <a:pPr indent="0" lvl="0" marL="0" rtl="0" algn="l">
              <a:lnSpc>
                <a:spcPct val="100000"/>
              </a:lnSpc>
              <a:spcBef>
                <a:spcPts val="0"/>
              </a:spcBef>
              <a:spcAft>
                <a:spcPts val="0"/>
              </a:spcAft>
              <a:buSzPts val="1400"/>
              <a:buNone/>
            </a:pPr>
            <a:r>
              <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To return a result from a user-defined function, we use the return statement in our function definition. For example, we could make a very simple function called greet that returns a string “Hello” as a result as follows:</a:t>
            </a:r>
            <a:endParaRPr/>
          </a:p>
          <a:p>
            <a:pPr indent="0" lvl="0" marL="0" marR="0" rtl="0" algn="l">
              <a:lnSpc>
                <a:spcPct val="100000"/>
              </a:lnSpc>
              <a:spcBef>
                <a:spcPts val="0"/>
              </a:spcBef>
              <a:spcAft>
                <a:spcPts val="0"/>
              </a:spcAft>
              <a:buClr>
                <a:srgbClr val="FFFF00"/>
              </a:buClr>
              <a:buSzPts val="275"/>
              <a:buFont typeface="Courier New"/>
              <a:buNone/>
            </a:pPr>
            <a:r>
              <a:rPr i="0" lang="en-US" sz="1100" u="none" cap="none" strike="noStrike">
                <a:solidFill>
                  <a:srgbClr val="FFFF00"/>
                </a:solidFill>
                <a:latin typeface="Courier"/>
                <a:ea typeface="Courier"/>
                <a:cs typeface="Courier"/>
                <a:sym typeface="Courier"/>
              </a:rPr>
              <a:t>def </a:t>
            </a:r>
            <a:r>
              <a:rPr i="0" lang="en-US" sz="1100" u="none" cap="none" strike="noStrike">
                <a:solidFill>
                  <a:srgbClr val="00FF00"/>
                </a:solidFill>
                <a:latin typeface="Courier"/>
                <a:ea typeface="Courier"/>
                <a:cs typeface="Courier"/>
                <a:sym typeface="Courier"/>
              </a:rPr>
              <a:t>greet</a:t>
            </a:r>
            <a:r>
              <a:rPr i="0" lang="en-US" sz="1100" u="none" cap="none" strike="noStrike">
                <a:solidFill>
                  <a:srgbClr val="FFFF00"/>
                </a:solidFill>
                <a:latin typeface="Courier"/>
                <a:ea typeface="Courier"/>
                <a:cs typeface="Courier"/>
                <a:sym typeface="Courier"/>
              </a:rPr>
              <a:t>():</a:t>
            </a:r>
            <a:endParaRPr/>
          </a:p>
          <a:p>
            <a:pPr indent="0" lvl="0" marL="0" marR="0" rtl="0" algn="l">
              <a:lnSpc>
                <a:spcPct val="100000"/>
              </a:lnSpc>
              <a:spcBef>
                <a:spcPts val="0"/>
              </a:spcBef>
              <a:spcAft>
                <a:spcPts val="0"/>
              </a:spcAft>
              <a:buClr>
                <a:srgbClr val="FFFF00"/>
              </a:buClr>
              <a:buSzPts val="275"/>
              <a:buFont typeface="Courier New"/>
              <a:buNone/>
            </a:pPr>
            <a:r>
              <a:rPr i="0" lang="en-US" sz="1100" u="none" cap="none" strike="noStrike">
                <a:solidFill>
                  <a:srgbClr val="FFFF00"/>
                </a:solidFill>
                <a:latin typeface="Courier"/>
                <a:ea typeface="Courier"/>
                <a:cs typeface="Courier"/>
                <a:sym typeface="Courier"/>
              </a:rPr>
              <a:t>    </a:t>
            </a:r>
            <a:r>
              <a:rPr i="0" lang="en-US" sz="1100" u="none" cap="none" strike="noStrike">
                <a:solidFill>
                  <a:srgbClr val="FF7F00"/>
                </a:solidFill>
                <a:latin typeface="Courier"/>
                <a:ea typeface="Courier"/>
                <a:cs typeface="Courier"/>
                <a:sym typeface="Courier"/>
              </a:rPr>
              <a:t>return</a:t>
            </a:r>
            <a:r>
              <a:rPr i="0" lang="en-US" sz="1100" u="none" cap="none" strike="noStrike">
                <a:solidFill>
                  <a:srgbClr val="FFFF00"/>
                </a:solidFill>
                <a:latin typeface="Courier"/>
                <a:ea typeface="Courier"/>
                <a:cs typeface="Courier"/>
                <a:sym typeface="Courier"/>
              </a:rPr>
              <a:t> "Hello</a:t>
            </a:r>
            <a:r>
              <a:rPr lang="en-US" sz="1100">
                <a:solidFill>
                  <a:srgbClr val="FFFF00"/>
                </a:solidFill>
                <a:latin typeface="Courier"/>
                <a:ea typeface="Courier"/>
                <a:cs typeface="Courier"/>
                <a:sym typeface="Courier"/>
              </a:rPr>
              <a:t>"</a:t>
            </a:r>
            <a:endParaRPr/>
          </a:p>
          <a:p>
            <a:pPr indent="0" lvl="0" marL="0" rtl="0" algn="l">
              <a:lnSpc>
                <a:spcPct val="100000"/>
              </a:lnSpc>
              <a:spcBef>
                <a:spcPts val="0"/>
              </a:spcBef>
              <a:spcAft>
                <a:spcPts val="0"/>
              </a:spcAft>
              <a:buSzPts val="1400"/>
              <a:buNone/>
            </a:pPr>
            <a:r>
              <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When we call the greet function:</a:t>
            </a:r>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print(greet(), ‘Glenn’), it yields Hello Glenn.</a:t>
            </a:r>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print(greet(), ‘Sally’), it yields Hello Sally.</a:t>
            </a:r>
            <a:endParaRPr/>
          </a:p>
          <a:p>
            <a:pPr indent="0" lvl="0" marL="0" rtl="0" algn="l">
              <a:lnSpc>
                <a:spcPct val="100000"/>
              </a:lnSpc>
              <a:spcBef>
                <a:spcPts val="0"/>
              </a:spcBef>
              <a:spcAft>
                <a:spcPts val="0"/>
              </a:spcAft>
              <a:buSzPts val="1400"/>
              <a:buNone/>
            </a:pPr>
            <a:r>
              <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Since greet function returns a value, we can assign the returned value into a variable. For example, </a:t>
            </a:r>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my_greet = greet()</a:t>
            </a:r>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print(my_greet) 🡪 yields ’Hello’</a:t>
            </a:r>
            <a:endParaRPr/>
          </a:p>
          <a:p>
            <a:pPr indent="0" lvl="0" marL="0" rtl="0" algn="l">
              <a:lnSpc>
                <a:spcPct val="100000"/>
              </a:lnSpc>
              <a:spcBef>
                <a:spcPts val="0"/>
              </a:spcBef>
              <a:spcAft>
                <a:spcPts val="0"/>
              </a:spcAft>
              <a:buSzPts val="1400"/>
              <a:buNone/>
            </a:pPr>
            <a:r>
              <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 </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98" name="Google Shape;98;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11: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t>The return statement in the body of a function definition ends the function execution and sends back the result of the function. This result can be assigned to a variable in our code and can be printed out in our code.</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FF00"/>
                </a:solidFill>
                <a:latin typeface="Courier"/>
                <a:ea typeface="Courier"/>
                <a:cs typeface="Courier"/>
                <a:sym typeface="Courier"/>
              </a:rPr>
              <a:t>def</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greet</a:t>
            </a:r>
            <a:r>
              <a:rPr i="0" lang="en-US" sz="1100" u="none" cap="none" strike="noStrike">
                <a:solidFill>
                  <a:schemeClr val="lt1"/>
                </a:solidFill>
                <a:latin typeface="Courier"/>
                <a:ea typeface="Courier"/>
                <a:cs typeface="Courier"/>
                <a:sym typeface="Courier"/>
              </a:rPr>
              <a:t>(</a:t>
            </a:r>
            <a:r>
              <a:rPr i="0" lang="en-US" sz="1100" u="none" cap="none" strike="noStrike">
                <a:solidFill>
                  <a:srgbClr val="00FFFF"/>
                </a:solidFill>
                <a:latin typeface="Courier"/>
                <a:ea typeface="Courier"/>
                <a:cs typeface="Courier"/>
                <a:sym typeface="Courier"/>
              </a:rPr>
              <a:t>lang</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if</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FF"/>
                </a:solidFill>
                <a:latin typeface="Courier"/>
                <a:ea typeface="Courier"/>
                <a:cs typeface="Courier"/>
                <a:sym typeface="Courier"/>
              </a:rPr>
              <a:t>lang</a:t>
            </a:r>
            <a:r>
              <a:rPr i="0" lang="en-US" sz="1100" u="none" cap="none" strike="noStrike">
                <a:solidFill>
                  <a:schemeClr val="lt1"/>
                </a:solidFill>
                <a:latin typeface="Courier"/>
                <a:ea typeface="Courier"/>
                <a:cs typeface="Courier"/>
                <a:sym typeface="Courier"/>
              </a:rPr>
              <a:t> == 'es':</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return</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00FF"/>
                </a:solidFill>
                <a:latin typeface="Courier"/>
                <a:ea typeface="Courier"/>
                <a:cs typeface="Courier"/>
                <a:sym typeface="Courier"/>
              </a:rPr>
              <a:t>'Hola</a:t>
            </a:r>
            <a:r>
              <a:rPr lang="en-US" sz="1100">
                <a:solidFill>
                  <a:srgbClr val="FF00FF"/>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00FF"/>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elif</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FF"/>
                </a:solidFill>
                <a:latin typeface="Courier"/>
                <a:ea typeface="Courier"/>
                <a:cs typeface="Courier"/>
                <a:sym typeface="Courier"/>
              </a:rPr>
              <a:t>lang</a:t>
            </a:r>
            <a:r>
              <a:rPr i="0" lang="en-US" sz="1100" u="none" cap="none" strike="noStrike">
                <a:solidFill>
                  <a:schemeClr val="lt1"/>
                </a:solidFill>
                <a:latin typeface="Courier"/>
                <a:ea typeface="Courier"/>
                <a:cs typeface="Courier"/>
                <a:sym typeface="Courier"/>
              </a:rPr>
              <a:t> == 'fr':</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return</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00FF"/>
                </a:solidFill>
                <a:latin typeface="Courier"/>
                <a:ea typeface="Courier"/>
                <a:cs typeface="Courier"/>
                <a:sym typeface="Courier"/>
              </a:rPr>
              <a:t>'Bonjour</a:t>
            </a:r>
            <a:r>
              <a:rPr lang="en-US" sz="1100">
                <a:solidFill>
                  <a:srgbClr val="FF00FF"/>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00FF"/>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else:</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FF00"/>
                </a:solidFill>
                <a:latin typeface="Courier"/>
                <a:ea typeface="Courier"/>
                <a:cs typeface="Courier"/>
                <a:sym typeface="Courier"/>
              </a:rPr>
              <a:t>        return</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00FF"/>
                </a:solidFill>
                <a:latin typeface="Courier"/>
                <a:ea typeface="Courier"/>
                <a:cs typeface="Courier"/>
                <a:sym typeface="Courier"/>
              </a:rPr>
              <a:t>'Hello</a:t>
            </a:r>
            <a:r>
              <a:rPr lang="en-US" sz="1100">
                <a:solidFill>
                  <a:srgbClr val="FF00FF"/>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greet</a:t>
            </a:r>
            <a:r>
              <a:rPr i="0" lang="en-US" sz="1100" u="none" cap="none" strike="noStrike">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'en'</a:t>
            </a:r>
            <a:r>
              <a:rPr i="0" lang="en-US" sz="1100" u="none" cap="none" strike="noStrike">
                <a:solidFill>
                  <a:schemeClr val="lt1"/>
                </a:solidFill>
                <a:latin typeface="Courier"/>
                <a:ea typeface="Courier"/>
                <a:cs typeface="Courier"/>
                <a:sym typeface="Courier"/>
              </a:rPr>
              <a:t>),'Glenn</a:t>
            </a:r>
            <a:r>
              <a:rPr lang="en-US" sz="1100">
                <a:solidFill>
                  <a:schemeClr val="lt1"/>
                </a:solidFill>
                <a:latin typeface="Courier"/>
                <a:ea typeface="Courier"/>
                <a:cs typeface="Courier"/>
                <a:sym typeface="Courier"/>
              </a:rPr>
              <a:t>') 🡪 </a:t>
            </a:r>
            <a:r>
              <a:rPr i="0" lang="en-US" sz="1100" u="none" cap="none" strike="noStrike">
                <a:solidFill>
                  <a:schemeClr val="lt1"/>
                </a:solidFill>
                <a:latin typeface="Courier"/>
                <a:ea typeface="Courier"/>
                <a:cs typeface="Courier"/>
                <a:sym typeface="Courier"/>
              </a:rPr>
              <a:t>Hello Glenn</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greet</a:t>
            </a:r>
            <a:r>
              <a:rPr i="0" lang="en-US" sz="1100" u="none" cap="none" strike="noStrike">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'es'</a:t>
            </a:r>
            <a:r>
              <a:rPr i="0" lang="en-US" sz="1100" u="none" cap="none" strike="noStrike">
                <a:solidFill>
                  <a:schemeClr val="lt1"/>
                </a:solidFill>
                <a:latin typeface="Courier"/>
                <a:ea typeface="Courier"/>
                <a:cs typeface="Courier"/>
                <a:sym typeface="Courier"/>
              </a:rPr>
              <a:t>),'Sally</a:t>
            </a:r>
            <a:r>
              <a:rPr lang="en-US" sz="1100">
                <a:solidFill>
                  <a:schemeClr val="lt1"/>
                </a:solidFill>
                <a:latin typeface="Courier"/>
                <a:ea typeface="Courier"/>
                <a:cs typeface="Courier"/>
                <a:sym typeface="Courier"/>
              </a:rPr>
              <a:t>') 🡪 </a:t>
            </a:r>
            <a:r>
              <a:rPr i="0" lang="en-US" sz="1100" u="none" cap="none" strike="noStrike">
                <a:solidFill>
                  <a:schemeClr val="lt1"/>
                </a:solidFill>
                <a:latin typeface="Courier"/>
                <a:ea typeface="Courier"/>
                <a:cs typeface="Courier"/>
                <a:sym typeface="Courier"/>
              </a:rPr>
              <a:t>Hola Sally</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greet</a:t>
            </a:r>
            <a:r>
              <a:rPr i="0" lang="en-US" sz="1100" u="none" cap="none" strike="noStrike">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'fr'</a:t>
            </a:r>
            <a:r>
              <a:rPr i="0" lang="en-US" sz="1100" u="none" cap="none" strike="noStrike">
                <a:solidFill>
                  <a:schemeClr val="lt1"/>
                </a:solidFill>
                <a:latin typeface="Courier"/>
                <a:ea typeface="Courier"/>
                <a:cs typeface="Courier"/>
                <a:sym typeface="Courier"/>
              </a:rPr>
              <a:t>),'Michael</a:t>
            </a:r>
            <a:r>
              <a:rPr lang="en-US" sz="1100">
                <a:solidFill>
                  <a:schemeClr val="lt1"/>
                </a:solidFill>
                <a:latin typeface="Courier"/>
                <a:ea typeface="Courier"/>
                <a:cs typeface="Courier"/>
                <a:sym typeface="Courier"/>
              </a:rPr>
              <a:t>') 🡪 </a:t>
            </a:r>
            <a:r>
              <a:rPr i="0" lang="en-US" sz="1100" u="none" cap="none" strike="noStrike">
                <a:solidFill>
                  <a:schemeClr val="lt1"/>
                </a:solidFill>
                <a:latin typeface="Courier"/>
                <a:ea typeface="Courier"/>
                <a:cs typeface="Courier"/>
                <a:sym typeface="Courier"/>
              </a:rPr>
              <a:t>Bonjour Michael</a:t>
            </a:r>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106" name="Google Shape;106;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12: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t>In summary, we can use the following example to illustrate function definition, function call, arguments, and parameters:</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US"/>
              <a:t>#Function definition</a:t>
            </a:r>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def</a:t>
            </a:r>
            <a:r>
              <a:rPr i="0" lang="en-US" sz="1100" u="none" cap="none" strike="noStrike">
                <a:solidFill>
                  <a:schemeClr val="lt1"/>
                </a:solidFill>
                <a:latin typeface="Courier"/>
                <a:ea typeface="Courier"/>
                <a:cs typeface="Courier"/>
                <a:sym typeface="Courier"/>
              </a:rPr>
              <a:t> max(</a:t>
            </a:r>
            <a:r>
              <a:rPr i="0" lang="en-US" sz="1100" u="none" cap="none" strike="noStrike">
                <a:solidFill>
                  <a:srgbClr val="00FFFF"/>
                </a:solidFill>
                <a:latin typeface="Courier"/>
                <a:ea typeface="Courier"/>
                <a:cs typeface="Courier"/>
                <a:sym typeface="Courier"/>
              </a:rPr>
              <a:t>inp</a:t>
            </a:r>
            <a:r>
              <a:rPr i="0" lang="en-US" sz="1100" u="none" cap="none" strike="noStrike">
                <a:solidFill>
                  <a:schemeClr val="lt1"/>
                </a:solidFill>
                <a:latin typeface="Courier"/>
                <a:ea typeface="Courier"/>
                <a:cs typeface="Courier"/>
                <a:sym typeface="Courier"/>
              </a:rPr>
              <a:t>):  🡪 inp is parameter</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blah</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blah</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for</a:t>
            </a:r>
            <a:r>
              <a:rPr i="0" lang="en-US" sz="1100" u="none" cap="none" strike="noStrike">
                <a:solidFill>
                  <a:schemeClr val="lt1"/>
                </a:solidFill>
                <a:latin typeface="Courier"/>
                <a:ea typeface="Courier"/>
                <a:cs typeface="Courier"/>
                <a:sym typeface="Courier"/>
              </a:rPr>
              <a:t> x </a:t>
            </a:r>
            <a:r>
              <a:rPr i="0" lang="en-US" sz="1100" u="none" cap="none" strike="noStrike">
                <a:solidFill>
                  <a:srgbClr val="FFFF00"/>
                </a:solidFill>
                <a:latin typeface="Courier"/>
                <a:ea typeface="Courier"/>
                <a:cs typeface="Courier"/>
                <a:sym typeface="Courier"/>
              </a:rPr>
              <a:t>in</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DFF"/>
                </a:solidFill>
                <a:latin typeface="Courier"/>
                <a:ea typeface="Courier"/>
                <a:cs typeface="Courier"/>
                <a:sym typeface="Courier"/>
              </a:rPr>
              <a:t>inp</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blah</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blah</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return </a:t>
            </a:r>
            <a:r>
              <a:rPr lang="en-US" sz="1100">
                <a:solidFill>
                  <a:srgbClr val="00FF00"/>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w’ 🡪 is the returned result</a:t>
            </a:r>
            <a:endParaRPr/>
          </a:p>
          <a:p>
            <a:pPr indent="0" lvl="0" marL="0" marR="0" rtl="0" algn="l">
              <a:lnSpc>
                <a:spcPct val="100000"/>
              </a:lnSpc>
              <a:spcBef>
                <a:spcPts val="0"/>
              </a:spcBef>
              <a:spcAft>
                <a:spcPts val="0"/>
              </a:spcAft>
              <a:buClr>
                <a:schemeClr val="lt1"/>
              </a:buClr>
              <a:buSzPts val="275"/>
              <a:buFont typeface="Cabin"/>
              <a:buNone/>
            </a:pPr>
            <a:r>
              <a:t/>
            </a:r>
            <a:endParaRPr i="0" sz="11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#Function call with an argument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big = max(‘Hello world’) 🡪 function call with an argument ‘Hello world’ and assigning the returned value to a variable called big</a:t>
            </a:r>
            <a:endParaRPr/>
          </a:p>
          <a:p>
            <a:pPr indent="0" lvl="0" marL="0" marR="0" rtl="0" algn="l">
              <a:lnSpc>
                <a:spcPct val="100000"/>
              </a:lnSpc>
              <a:spcBef>
                <a:spcPts val="0"/>
              </a:spcBef>
              <a:spcAft>
                <a:spcPts val="0"/>
              </a:spcAft>
              <a:buClr>
                <a:schemeClr val="lt1"/>
              </a:buClr>
              <a:buSzPts val="275"/>
              <a:buFont typeface="Cabin"/>
              <a:buNone/>
            </a:pPr>
            <a:r>
              <a:t/>
            </a:r>
            <a:endParaRPr i="0" sz="11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#printing the value of big</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print(big)</a:t>
            </a:r>
            <a:endParaRPr i="0" sz="11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t/>
            </a:r>
            <a:endParaRPr i="0" sz="11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t/>
            </a:r>
            <a:endParaRPr i="0" sz="11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t/>
            </a:r>
            <a:endParaRPr i="0" sz="11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t/>
            </a:r>
            <a:endParaRPr/>
          </a:p>
        </p:txBody>
      </p:sp>
      <p:sp>
        <p:nvSpPr>
          <p:cNvPr id="113" name="Google Shape;113;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3: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400"/>
              <a:buNone/>
            </a:pPr>
            <a:r>
              <a:rPr lang="en-US"/>
              <a:t>We have so far defined user functions with a single parameter. </a:t>
            </a:r>
            <a:r>
              <a:rPr lang="en-US" sz="1100" u="none" cap="none" strike="noStrike">
                <a:solidFill>
                  <a:schemeClr val="lt1"/>
                </a:solidFill>
                <a:latin typeface="Arial"/>
                <a:ea typeface="Arial"/>
                <a:cs typeface="Arial"/>
                <a:sym typeface="Arial"/>
              </a:rPr>
              <a:t>We can define more than one </a:t>
            </a:r>
            <a:r>
              <a:rPr lang="en-US" sz="1100" u="none" cap="none" strike="noStrike">
                <a:solidFill>
                  <a:srgbClr val="00FFFF"/>
                </a:solidFill>
                <a:latin typeface="Arial"/>
                <a:ea typeface="Arial"/>
                <a:cs typeface="Arial"/>
                <a:sym typeface="Arial"/>
              </a:rPr>
              <a:t>parameter</a:t>
            </a:r>
            <a:r>
              <a:rPr lang="en-US" sz="1100" u="none" cap="none" strike="noStrike">
                <a:solidFill>
                  <a:schemeClr val="lt1"/>
                </a:solidFill>
                <a:latin typeface="Arial"/>
                <a:ea typeface="Arial"/>
                <a:cs typeface="Arial"/>
                <a:sym typeface="Arial"/>
              </a:rPr>
              <a:t> in the </a:t>
            </a:r>
            <a:r>
              <a:rPr lang="en-US" sz="1100" u="none" cap="none" strike="noStrike">
                <a:solidFill>
                  <a:srgbClr val="00FF00"/>
                </a:solidFill>
                <a:latin typeface="Arial"/>
                <a:ea typeface="Arial"/>
                <a:cs typeface="Arial"/>
                <a:sym typeface="Arial"/>
              </a:rPr>
              <a:t>function</a:t>
            </a:r>
            <a:r>
              <a:rPr lang="en-US" sz="1100" u="none" cap="none" strike="noStrike">
                <a:solidFill>
                  <a:srgbClr val="FFFF00"/>
                </a:solidFill>
                <a:latin typeface="Arial"/>
                <a:ea typeface="Arial"/>
                <a:cs typeface="Arial"/>
                <a:sym typeface="Arial"/>
              </a:rPr>
              <a:t> definition</a:t>
            </a:r>
            <a:r>
              <a:rPr lang="en-US" sz="1100" u="none" cap="none" strike="noStrike">
                <a:solidFill>
                  <a:schemeClr val="dk1"/>
                </a:solidFill>
                <a:latin typeface="Arial"/>
                <a:ea typeface="Arial"/>
                <a:cs typeface="Arial"/>
                <a:sym typeface="Arial"/>
              </a:rPr>
              <a:t> as well. </a:t>
            </a:r>
            <a:r>
              <a:rPr lang="en-US" sz="1100">
                <a:solidFill>
                  <a:schemeClr val="dk1"/>
                </a:solidFill>
                <a:latin typeface="Arial"/>
                <a:ea typeface="Arial"/>
                <a:cs typeface="Arial"/>
                <a:sym typeface="Arial"/>
              </a:rPr>
              <a:t> For example, we could make a very simple function called addtwo that adds two numbers together and returns a result. This function will take two parameters (a,b) that are separated by commas in parentheses after function name in function definition.</a:t>
            </a:r>
            <a:r>
              <a:rPr lang="en-US" sz="1100" u="none" cap="none" strike="noStrike">
                <a:solidFill>
                  <a:srgbClr val="FFFF00"/>
                </a:solidFill>
                <a:latin typeface="Arial"/>
                <a:ea typeface="Arial"/>
                <a:cs typeface="Arial"/>
                <a:sym typeface="Arial"/>
              </a:rPr>
              <a:t> After function definition, we can call this function with two arguments (3 and 5) and pass the returned value to a variable called x, and print the value of x:</a:t>
            </a:r>
            <a:endParaRPr/>
          </a:p>
          <a:p>
            <a:pPr indent="0" lvl="0" marL="0" rtl="0" algn="l">
              <a:lnSpc>
                <a:spcPct val="100000"/>
              </a:lnSpc>
              <a:spcBef>
                <a:spcPts val="0"/>
              </a:spcBef>
              <a:spcAft>
                <a:spcPts val="0"/>
              </a:spcAft>
              <a:buSzPts val="1400"/>
              <a:buNone/>
            </a:pPr>
            <a:r>
              <a:rPr lang="en-US" sz="1100" u="none" cap="none" strike="noStrike">
                <a:solidFill>
                  <a:srgbClr val="FFFF00"/>
                </a:solidFill>
                <a:latin typeface="Arial"/>
                <a:ea typeface="Arial"/>
                <a:cs typeface="Arial"/>
                <a:sym typeface="Arial"/>
              </a:rPr>
              <a:t>x = addtwo(3,5)</a:t>
            </a:r>
            <a:endParaRPr/>
          </a:p>
          <a:p>
            <a:pPr indent="0" lvl="0" marL="0" rtl="0" algn="l">
              <a:lnSpc>
                <a:spcPct val="100000"/>
              </a:lnSpc>
              <a:spcBef>
                <a:spcPts val="0"/>
              </a:spcBef>
              <a:spcAft>
                <a:spcPts val="0"/>
              </a:spcAft>
              <a:buSzPts val="1400"/>
              <a:buNone/>
            </a:pPr>
            <a:r>
              <a:rPr lang="en-US" sz="1100" u="none" cap="none" strike="noStrike">
                <a:solidFill>
                  <a:srgbClr val="FFFF00"/>
                </a:solidFill>
                <a:latin typeface="Arial"/>
                <a:ea typeface="Arial"/>
                <a:cs typeface="Arial"/>
                <a:sym typeface="Arial"/>
              </a:rPr>
              <a:t>print(x)</a:t>
            </a:r>
            <a:endParaRPr/>
          </a:p>
          <a:p>
            <a:pPr indent="0" lvl="0" marL="0" rtl="0" algn="l">
              <a:lnSpc>
                <a:spcPct val="100000"/>
              </a:lnSpc>
              <a:spcBef>
                <a:spcPts val="0"/>
              </a:spcBef>
              <a:spcAft>
                <a:spcPts val="0"/>
              </a:spcAft>
              <a:buSzPts val="1400"/>
              <a:buNone/>
            </a:pPr>
            <a:r>
              <a:rPr lang="en-US" sz="1100" u="none" cap="none" strike="noStrike">
                <a:solidFill>
                  <a:srgbClr val="FFFF00"/>
                </a:solidFill>
                <a:latin typeface="Arial"/>
                <a:ea typeface="Arial"/>
                <a:cs typeface="Arial"/>
                <a:sym typeface="Arial"/>
              </a:rPr>
              <a:t>8</a:t>
            </a:r>
            <a:endParaRPr/>
          </a:p>
          <a:p>
            <a:pPr indent="0" lvl="0" marL="0" rtl="0" algn="l">
              <a:lnSpc>
                <a:spcPct val="100000"/>
              </a:lnSpc>
              <a:spcBef>
                <a:spcPts val="0"/>
              </a:spcBef>
              <a:spcAft>
                <a:spcPts val="0"/>
              </a:spcAft>
              <a:buSzPts val="1400"/>
              <a:buNone/>
            </a:pPr>
            <a:r>
              <a:t/>
            </a:r>
            <a:endParaRPr sz="1100" u="none" cap="none" strike="noStrike">
              <a:solidFill>
                <a:srgbClr val="FFFF00"/>
              </a:solidFill>
              <a:latin typeface="Arial"/>
              <a:ea typeface="Arial"/>
              <a:cs typeface="Arial"/>
              <a:sym typeface="Arial"/>
            </a:endParaRPr>
          </a:p>
          <a:p>
            <a:pPr indent="0" lvl="0" marL="0" rtl="0" algn="l">
              <a:lnSpc>
                <a:spcPct val="100000"/>
              </a:lnSpc>
              <a:spcBef>
                <a:spcPts val="0"/>
              </a:spcBef>
              <a:spcAft>
                <a:spcPts val="0"/>
              </a:spcAft>
              <a:buSzPts val="1400"/>
              <a:buNone/>
            </a:pPr>
            <a:r>
              <a:rPr lang="en-US" sz="1100" u="none" cap="none" strike="noStrike">
                <a:solidFill>
                  <a:srgbClr val="FFFF00"/>
                </a:solidFill>
                <a:latin typeface="Arial"/>
                <a:ea typeface="Arial"/>
                <a:cs typeface="Arial"/>
                <a:sym typeface="Arial"/>
              </a:rPr>
              <a:t>We have to note that we should match the number of the order of arguments with those of parameters when we call the function in our program! </a:t>
            </a:r>
            <a:r>
              <a:rPr lang="en-US" sz="1100">
                <a:solidFill>
                  <a:schemeClr val="dk1"/>
                </a:solidFill>
                <a:latin typeface="Arial"/>
                <a:ea typeface="Arial"/>
                <a:cs typeface="Arial"/>
                <a:sym typeface="Arial"/>
              </a:rPr>
              <a:t>When the above script is run, the print statement will print out “8” because the addtwo function was called with 3 and 5 as arguments. Within the function definition, the parameters a and b were 3 and 5 respectively. The function computed the sum of the two numbers and placed it in the local function variable named added. Then it used the return statement to send the computed value back to the calling code as the function result, which was assigned to the variable x and printed out.</a:t>
            </a:r>
            <a:endParaRPr/>
          </a:p>
          <a:p>
            <a:pPr indent="0" lvl="0" marL="0" rtl="0" algn="l">
              <a:lnSpc>
                <a:spcPct val="100000"/>
              </a:lnSpc>
              <a:spcBef>
                <a:spcPts val="0"/>
              </a:spcBef>
              <a:spcAft>
                <a:spcPts val="0"/>
              </a:spcAft>
              <a:buSzPts val="1400"/>
              <a:buNone/>
            </a:pPr>
            <a:r>
              <a:t/>
            </a:r>
            <a:endParaRPr sz="1100" u="none" cap="none" strike="noStrike">
              <a:solidFill>
                <a:srgbClr val="FFFF00"/>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sz="1100" u="none" cap="none" strike="noStrike">
              <a:solidFill>
                <a:srgbClr val="FFFF00"/>
              </a:solidFill>
              <a:latin typeface="Arial"/>
              <a:ea typeface="Arial"/>
              <a:cs typeface="Arial"/>
              <a:sym typeface="Arial"/>
            </a:endParaRPr>
          </a:p>
        </p:txBody>
      </p:sp>
      <p:sp>
        <p:nvSpPr>
          <p:cNvPr id="130" name="Google Shape;130;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4: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We have covered how to define and call functions in our program. There are several reasons why it would be worth to divide our program into functions.</a:t>
            </a:r>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First, creating a new function gives you an opportunity to name a group of statements, which makes your program easier to read, understand, share and debug.</a:t>
            </a:r>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Second, functions can make a program smaller by eliminating repetitive code. if you make a change later, you only have to worry about making the update in one place, which saves time and is less prone to errors. Third, dividing a long program into functions allows you to debug the parts one at a time and then assemble them into a whole working code. Fourth, well-designed and documented(i.e., commented) functions are often useful for many programs, especially for your teammates. Once you write and debug one, you can reuse it and others can benefit from it as well when you share it.</a:t>
            </a:r>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137" name="Google Shape;137;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5: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143" name="Google Shape;143;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p16: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 name="Shape 10"/>
        <p:cNvGrpSpPr/>
        <p:nvPr/>
      </p:nvGrpSpPr>
      <p:grpSpPr>
        <a:xfrm>
          <a:off x="0" y="0"/>
          <a:ext cx="0" cy="0"/>
          <a:chOff x="0" y="0"/>
          <a:chExt cx="0" cy="0"/>
        </a:xfrm>
      </p:grpSpPr>
      <p:sp>
        <p:nvSpPr>
          <p:cNvPr id="11" name="Google Shape;11;p18"/>
          <p:cNvSpPr txBox="1"/>
          <p:nvPr>
            <p:ph type="title"/>
          </p:nvPr>
        </p:nvSpPr>
        <p:spPr>
          <a:xfrm>
            <a:off x="1155700" y="1536700"/>
            <a:ext cx="13931900" cy="3086099"/>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7200"/>
              <a:buFont typeface="Arial"/>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 name="Google Shape;12;p18"/>
          <p:cNvSpPr txBox="1"/>
          <p:nvPr>
            <p:ph idx="1" type="body"/>
          </p:nvPr>
        </p:nvSpPr>
        <p:spPr>
          <a:xfrm>
            <a:off x="1155700" y="4711700"/>
            <a:ext cx="13931900" cy="1054100"/>
          </a:xfrm>
          <a:prstGeom prst="rect">
            <a:avLst/>
          </a:prstGeom>
          <a:noFill/>
          <a:ln>
            <a:noFill/>
          </a:ln>
        </p:spPr>
        <p:txBody>
          <a:bodyPr anchorCtr="0" anchor="t" bIns="91425" lIns="91425" spcFirstLastPara="1" rIns="91425" wrap="square" tIns="91425">
            <a:noAutofit/>
          </a:bodyPr>
          <a:lstStyle>
            <a:lvl1pPr indent="-228600" lvl="0" marL="457200" algn="ctr">
              <a:lnSpc>
                <a:spcPct val="100000"/>
              </a:lnSpc>
              <a:spcBef>
                <a:spcPts val="0"/>
              </a:spcBef>
              <a:spcAft>
                <a:spcPts val="0"/>
              </a:spcAft>
              <a:buClr>
                <a:srgbClr val="000000"/>
              </a:buClr>
              <a:buSzPts val="4000"/>
              <a:buFont typeface="Arial"/>
              <a:buNone/>
              <a:defRPr sz="4000"/>
            </a:lvl1pPr>
            <a:lvl2pPr indent="-228600" lvl="1" marL="914400" algn="ctr">
              <a:lnSpc>
                <a:spcPct val="100000"/>
              </a:lnSpc>
              <a:spcBef>
                <a:spcPts val="0"/>
              </a:spcBef>
              <a:spcAft>
                <a:spcPts val="0"/>
              </a:spcAft>
              <a:buClr>
                <a:srgbClr val="000000"/>
              </a:buClr>
              <a:buSzPts val="1400"/>
              <a:buFont typeface="Arial"/>
              <a:buNone/>
              <a:defRPr/>
            </a:lvl2pPr>
            <a:lvl3pPr indent="-228600" lvl="2" marL="1371600" algn="ctr">
              <a:lnSpc>
                <a:spcPct val="100000"/>
              </a:lnSpc>
              <a:spcBef>
                <a:spcPts val="0"/>
              </a:spcBef>
              <a:spcAft>
                <a:spcPts val="0"/>
              </a:spcAft>
              <a:buClr>
                <a:srgbClr val="000000"/>
              </a:buClr>
              <a:buSzPts val="1400"/>
              <a:buFont typeface="Arial"/>
              <a:buNone/>
              <a:defRPr/>
            </a:lvl3pPr>
            <a:lvl4pPr indent="-228600" lvl="3" marL="1828800" algn="ctr">
              <a:lnSpc>
                <a:spcPct val="100000"/>
              </a:lnSpc>
              <a:spcBef>
                <a:spcPts val="0"/>
              </a:spcBef>
              <a:spcAft>
                <a:spcPts val="0"/>
              </a:spcAft>
              <a:buClr>
                <a:srgbClr val="000000"/>
              </a:buClr>
              <a:buSzPts val="1400"/>
              <a:buFont typeface="Arial"/>
              <a:buNone/>
              <a:defRPr/>
            </a:lvl4pPr>
            <a:lvl5pPr indent="-228600" lvl="4" marL="2286000" algn="ctr">
              <a:lnSpc>
                <a:spcPct val="100000"/>
              </a:lnSpc>
              <a:spcBef>
                <a:spcPts val="0"/>
              </a:spcBef>
              <a:spcAft>
                <a:spcPts val="0"/>
              </a:spcAft>
              <a:buClr>
                <a:srgbClr val="000000"/>
              </a:buClr>
              <a:buSzPts val="1400"/>
              <a:buFont typeface="Arial"/>
              <a:buNone/>
              <a:defRPr/>
            </a:lvl5pPr>
            <a:lvl6pPr indent="-228600" lvl="5" marL="2743200" algn="ctr">
              <a:lnSpc>
                <a:spcPct val="100000"/>
              </a:lnSpc>
              <a:spcBef>
                <a:spcPts val="0"/>
              </a:spcBef>
              <a:spcAft>
                <a:spcPts val="0"/>
              </a:spcAft>
              <a:buClr>
                <a:srgbClr val="000000"/>
              </a:buClr>
              <a:buSzPts val="1400"/>
              <a:buFont typeface="Arial"/>
              <a:buNone/>
              <a:defRPr/>
            </a:lvl6pPr>
            <a:lvl7pPr indent="-228600" lvl="6" marL="3200400" algn="ctr">
              <a:lnSpc>
                <a:spcPct val="100000"/>
              </a:lnSpc>
              <a:spcBef>
                <a:spcPts val="0"/>
              </a:spcBef>
              <a:spcAft>
                <a:spcPts val="0"/>
              </a:spcAft>
              <a:buClr>
                <a:srgbClr val="000000"/>
              </a:buClr>
              <a:buSzPts val="1400"/>
              <a:buFont typeface="Arial"/>
              <a:buNone/>
              <a:defRPr/>
            </a:lvl7pPr>
            <a:lvl8pPr indent="-228600" lvl="7" marL="3657600" algn="ctr">
              <a:lnSpc>
                <a:spcPct val="100000"/>
              </a:lnSpc>
              <a:spcBef>
                <a:spcPts val="0"/>
              </a:spcBef>
              <a:spcAft>
                <a:spcPts val="0"/>
              </a:spcAft>
              <a:buClr>
                <a:srgbClr val="000000"/>
              </a:buClr>
              <a:buSzPts val="1400"/>
              <a:buFont typeface="Arial"/>
              <a:buNone/>
              <a:defRPr/>
            </a:lvl8pPr>
            <a:lvl9pPr indent="-228600" lvl="8" marL="4114800" algn="ctr">
              <a:lnSpc>
                <a:spcPct val="100000"/>
              </a:lnSpc>
              <a:spcBef>
                <a:spcPts val="0"/>
              </a:spcBef>
              <a:spcAft>
                <a:spcPts val="0"/>
              </a:spcAft>
              <a:buClr>
                <a:srgbClr val="000000"/>
              </a:buClr>
              <a:buSzPts val="1400"/>
              <a:buFont typeface="Arial"/>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
    <p:spTree>
      <p:nvGrpSpPr>
        <p:cNvPr id="13" name="Shape 13"/>
        <p:cNvGrpSpPr/>
        <p:nvPr/>
      </p:nvGrpSpPr>
      <p:grpSpPr>
        <a:xfrm>
          <a:off x="0" y="0"/>
          <a:ext cx="0" cy="0"/>
          <a:chOff x="0" y="0"/>
          <a:chExt cx="0" cy="0"/>
        </a:xfrm>
      </p:grpSpPr>
      <p:sp>
        <p:nvSpPr>
          <p:cNvPr id="14" name="Google Shape;14;p19"/>
          <p:cNvSpPr txBox="1"/>
          <p:nvPr>
            <p:ph type="title"/>
          </p:nvPr>
        </p:nvSpPr>
        <p:spPr>
          <a:xfrm>
            <a:off x="1155700" y="803564"/>
            <a:ext cx="13932000" cy="1736336"/>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000000"/>
              </a:buClr>
              <a:buSzPts val="7200"/>
              <a:buFont typeface="Arial"/>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15" name="Shape 15"/>
        <p:cNvGrpSpPr/>
        <p:nvPr/>
      </p:nvGrpSpPr>
      <p:grpSpPr>
        <a:xfrm>
          <a:off x="0" y="0"/>
          <a:ext cx="0" cy="0"/>
          <a:chOff x="0" y="0"/>
          <a:chExt cx="0" cy="0"/>
        </a:xfrm>
      </p:grpSpPr>
      <p:sp>
        <p:nvSpPr>
          <p:cNvPr id="16" name="Google Shape;16;p20"/>
          <p:cNvSpPr txBox="1"/>
          <p:nvPr>
            <p:ph type="title"/>
          </p:nvPr>
        </p:nvSpPr>
        <p:spPr>
          <a:xfrm>
            <a:off x="1155700" y="803564"/>
            <a:ext cx="13932000" cy="1736336"/>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000000"/>
              </a:buClr>
              <a:buSzPts val="7200"/>
              <a:buFont typeface="Arial"/>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 name="Google Shape;17;p20"/>
          <p:cNvSpPr txBox="1"/>
          <p:nvPr>
            <p:ph idx="1" type="body"/>
          </p:nvPr>
        </p:nvSpPr>
        <p:spPr>
          <a:xfrm>
            <a:off x="1155700" y="2603500"/>
            <a:ext cx="13932000" cy="5702399"/>
          </a:xfrm>
          <a:prstGeom prst="rect">
            <a:avLst/>
          </a:prstGeom>
          <a:noFill/>
          <a:ln>
            <a:noFill/>
          </a:ln>
        </p:spPr>
        <p:txBody>
          <a:bodyPr anchorCtr="0" anchor="ctr" bIns="91425" lIns="91425" spcFirstLastPara="1" rIns="91425" wrap="square" tIns="91425">
            <a:noAutofit/>
          </a:bodyPr>
          <a:lstStyle>
            <a:lvl1pPr indent="-482600" lvl="0" marL="457200" algn="l">
              <a:lnSpc>
                <a:spcPct val="100000"/>
              </a:lnSpc>
              <a:spcBef>
                <a:spcPts val="3500"/>
              </a:spcBef>
              <a:spcAft>
                <a:spcPts val="0"/>
              </a:spcAft>
              <a:buClr>
                <a:schemeClr val="lt1"/>
              </a:buClr>
              <a:buSzPts val="4000"/>
              <a:buFont typeface="Cabin"/>
              <a:buChar char="•"/>
              <a:defRPr sz="4000"/>
            </a:lvl1pPr>
            <a:lvl2pPr indent="-317500" lvl="1" marL="914400" algn="l">
              <a:lnSpc>
                <a:spcPct val="100000"/>
              </a:lnSpc>
              <a:spcBef>
                <a:spcPts val="3500"/>
              </a:spcBef>
              <a:spcAft>
                <a:spcPts val="0"/>
              </a:spcAft>
              <a:buClr>
                <a:schemeClr val="lt1"/>
              </a:buClr>
              <a:buSzPts val="1400"/>
              <a:buFont typeface="Cabin"/>
              <a:buChar char="•"/>
              <a:defRPr/>
            </a:lvl2pPr>
            <a:lvl3pPr indent="-317500" lvl="2" marL="1371600" algn="l">
              <a:lnSpc>
                <a:spcPct val="100000"/>
              </a:lnSpc>
              <a:spcBef>
                <a:spcPts val="3500"/>
              </a:spcBef>
              <a:spcAft>
                <a:spcPts val="0"/>
              </a:spcAft>
              <a:buClr>
                <a:schemeClr val="lt1"/>
              </a:buClr>
              <a:buSzPts val="1400"/>
              <a:buFont typeface="Cabin"/>
              <a:buChar char="•"/>
              <a:defRPr/>
            </a:lvl3pPr>
            <a:lvl4pPr indent="-317500" lvl="3" marL="1828800" algn="l">
              <a:lnSpc>
                <a:spcPct val="100000"/>
              </a:lnSpc>
              <a:spcBef>
                <a:spcPts val="3500"/>
              </a:spcBef>
              <a:spcAft>
                <a:spcPts val="0"/>
              </a:spcAft>
              <a:buClr>
                <a:schemeClr val="lt1"/>
              </a:buClr>
              <a:buSzPts val="1400"/>
              <a:buFont typeface="Cabin"/>
              <a:buChar char="•"/>
              <a:defRPr/>
            </a:lvl4pPr>
            <a:lvl5pPr indent="-317500" lvl="4" marL="2286000" algn="l">
              <a:lnSpc>
                <a:spcPct val="100000"/>
              </a:lnSpc>
              <a:spcBef>
                <a:spcPts val="3500"/>
              </a:spcBef>
              <a:spcAft>
                <a:spcPts val="0"/>
              </a:spcAft>
              <a:buClr>
                <a:schemeClr val="lt1"/>
              </a:buClr>
              <a:buSzPts val="1400"/>
              <a:buFont typeface="Cabin"/>
              <a:buChar char="•"/>
              <a:defRPr/>
            </a:lvl5pPr>
            <a:lvl6pPr indent="-317500" lvl="5" marL="2743200" algn="l">
              <a:lnSpc>
                <a:spcPct val="100000"/>
              </a:lnSpc>
              <a:spcBef>
                <a:spcPts val="3500"/>
              </a:spcBef>
              <a:spcAft>
                <a:spcPts val="0"/>
              </a:spcAft>
              <a:buClr>
                <a:schemeClr val="lt1"/>
              </a:buClr>
              <a:buSzPts val="1400"/>
              <a:buFont typeface="Cabin"/>
              <a:buChar char="•"/>
              <a:defRPr/>
            </a:lvl6pPr>
            <a:lvl7pPr indent="-317500" lvl="6" marL="3200400" algn="l">
              <a:lnSpc>
                <a:spcPct val="100000"/>
              </a:lnSpc>
              <a:spcBef>
                <a:spcPts val="3500"/>
              </a:spcBef>
              <a:spcAft>
                <a:spcPts val="0"/>
              </a:spcAft>
              <a:buClr>
                <a:schemeClr val="lt1"/>
              </a:buClr>
              <a:buSzPts val="1400"/>
              <a:buFont typeface="Cabin"/>
              <a:buChar char="•"/>
              <a:defRPr/>
            </a:lvl7pPr>
            <a:lvl8pPr indent="-317500" lvl="7" marL="3657600" algn="l">
              <a:lnSpc>
                <a:spcPct val="100000"/>
              </a:lnSpc>
              <a:spcBef>
                <a:spcPts val="3500"/>
              </a:spcBef>
              <a:spcAft>
                <a:spcPts val="0"/>
              </a:spcAft>
              <a:buClr>
                <a:schemeClr val="lt1"/>
              </a:buClr>
              <a:buSzPts val="1400"/>
              <a:buFont typeface="Cabin"/>
              <a:buChar char="•"/>
              <a:defRPr/>
            </a:lvl8pPr>
            <a:lvl9pPr indent="-317500" lvl="8" marL="4114800" algn="l">
              <a:lnSpc>
                <a:spcPct val="100000"/>
              </a:lnSpc>
              <a:spcBef>
                <a:spcPts val="3500"/>
              </a:spcBef>
              <a:spcAft>
                <a:spcPts val="0"/>
              </a:spcAft>
              <a:buClr>
                <a:schemeClr val="lt1"/>
              </a:buClr>
              <a:buSzPts val="1400"/>
              <a:buFont typeface="Cabin"/>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8" name="Shape 1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 name="Shape 5"/>
        <p:cNvGrpSpPr/>
        <p:nvPr/>
      </p:nvGrpSpPr>
      <p:grpSpPr>
        <a:xfrm>
          <a:off x="0" y="0"/>
          <a:ext cx="0" cy="0"/>
          <a:chOff x="0" y="0"/>
          <a:chExt cx="0" cy="0"/>
        </a:xfrm>
      </p:grpSpPr>
      <p:sp>
        <p:nvSpPr>
          <p:cNvPr id="6" name="Google Shape;6;p17"/>
          <p:cNvSpPr txBox="1"/>
          <p:nvPr>
            <p:ph type="title"/>
          </p:nvPr>
        </p:nvSpPr>
        <p:spPr>
          <a:xfrm>
            <a:off x="1155700" y="1536700"/>
            <a:ext cx="13931900" cy="3086099"/>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000000"/>
              </a:buClr>
              <a:buSzPts val="7200"/>
              <a:buFont typeface="Arial"/>
              <a:buNone/>
              <a:defRPr b="0" i="0" sz="72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7"/>
          <p:cNvSpPr txBox="1"/>
          <p:nvPr>
            <p:ph idx="1" type="body"/>
          </p:nvPr>
        </p:nvSpPr>
        <p:spPr>
          <a:xfrm>
            <a:off x="1155700" y="4711700"/>
            <a:ext cx="13931900" cy="1054100"/>
          </a:xfrm>
          <a:prstGeom prst="rect">
            <a:avLst/>
          </a:prstGeom>
          <a:noFill/>
          <a:ln>
            <a:noFill/>
          </a:ln>
        </p:spPr>
        <p:txBody>
          <a:bodyPr anchorCtr="0" anchor="t" bIns="91425" lIns="91425" spcFirstLastPara="1" rIns="91425" wrap="square" tIns="91425">
            <a:noAutofit/>
          </a:bodyPr>
          <a:lstStyle>
            <a:lvl1pPr indent="-228600" lvl="0" marL="457200" marR="0" rtl="0" algn="ctr">
              <a:lnSpc>
                <a:spcPct val="100000"/>
              </a:lnSpc>
              <a:spcBef>
                <a:spcPts val="0"/>
              </a:spcBef>
              <a:spcAft>
                <a:spcPts val="0"/>
              </a:spcAft>
              <a:buClr>
                <a:srgbClr val="000000"/>
              </a:buClr>
              <a:buSzPts val="4000"/>
              <a:buFont typeface="Arial"/>
              <a:buNone/>
              <a:defRPr b="0" i="0" sz="4000" u="none" cap="none" strike="noStrike">
                <a:solidFill>
                  <a:srgbClr val="000000"/>
                </a:solidFill>
                <a:latin typeface="Arial"/>
                <a:ea typeface="Arial"/>
                <a:cs typeface="Arial"/>
                <a:sym typeface="Arial"/>
              </a:defRPr>
            </a:lvl1pPr>
            <a:lvl2pPr indent="-228600" lvl="1" marL="9144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 name="Google Shape;8;p17"/>
          <p:cNvSpPr/>
          <p:nvPr/>
        </p:nvSpPr>
        <p:spPr>
          <a:xfrm>
            <a:off x="0" y="0"/>
            <a:ext cx="16256001" cy="768096"/>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600"/>
              <a:buFont typeface="Gill Sans"/>
              <a:buNone/>
            </a:pPr>
            <a:r>
              <a:t/>
            </a:r>
            <a:endParaRPr b="0" i="0" sz="3600" u="none" cap="none" strike="noStrike">
              <a:solidFill>
                <a:srgbClr val="FFFFFF"/>
              </a:solidFill>
              <a:latin typeface="Gill Sans"/>
              <a:ea typeface="Gill Sans"/>
              <a:cs typeface="Gill Sans"/>
              <a:sym typeface="Gill Sans"/>
            </a:endParaRPr>
          </a:p>
        </p:txBody>
      </p:sp>
      <p:sp>
        <p:nvSpPr>
          <p:cNvPr id="9" name="Google Shape;9;p17"/>
          <p:cNvSpPr/>
          <p:nvPr/>
        </p:nvSpPr>
        <p:spPr>
          <a:xfrm>
            <a:off x="0" y="8357616"/>
            <a:ext cx="16256001" cy="786384"/>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600"/>
              <a:buFont typeface="Gill Sans"/>
              <a:buNone/>
            </a:pPr>
            <a:r>
              <a:t/>
            </a:r>
            <a:endParaRPr b="0" i="0" sz="3600" u="none" cap="none" strike="noStrike">
              <a:solidFill>
                <a:srgbClr val="FFFFFF"/>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www.pythonlearn.com" TargetMode="External"/><Relationship Id="rId4" Type="http://schemas.openxmlformats.org/officeDocument/2006/relationships/hyperlink" Target="http://www.pythonlearn.com" TargetMode="External"/><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www.dr-chuck.com" TargetMode="External"/><Relationship Id="rId4" Type="http://schemas.openxmlformats.org/officeDocument/2006/relationships/hyperlink" Target="http://open.umich.edu/" TargetMode="External"/><Relationship Id="rId5"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 name="Shape 22"/>
        <p:cNvGrpSpPr/>
        <p:nvPr/>
      </p:nvGrpSpPr>
      <p:grpSpPr>
        <a:xfrm>
          <a:off x="0" y="0"/>
          <a:ext cx="0" cy="0"/>
          <a:chOff x="0" y="0"/>
          <a:chExt cx="0" cy="0"/>
        </a:xfrm>
      </p:grpSpPr>
      <p:sp>
        <p:nvSpPr>
          <p:cNvPr id="23" name="Google Shape;23;p1"/>
          <p:cNvSpPr txBox="1"/>
          <p:nvPr>
            <p:ph type="title"/>
          </p:nvPr>
        </p:nvSpPr>
        <p:spPr>
          <a:xfrm>
            <a:off x="1155700" y="1536700"/>
            <a:ext cx="13931900" cy="3086099"/>
          </a:xfrm>
          <a:prstGeom prst="rect">
            <a:avLst/>
          </a:prstGeom>
          <a:noFill/>
          <a:ln>
            <a:noFill/>
          </a:ln>
        </p:spPr>
        <p:txBody>
          <a:bodyPr anchorCtr="0" anchor="b"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lang="en-US" sz="7600" u="none" cap="none" strike="noStrike">
                <a:solidFill>
                  <a:srgbClr val="FFD966"/>
                </a:solidFill>
                <a:latin typeface="Arial"/>
                <a:ea typeface="Arial"/>
                <a:cs typeface="Arial"/>
                <a:sym typeface="Arial"/>
              </a:rPr>
              <a:t>Functions</a:t>
            </a:r>
            <a:endParaRPr/>
          </a:p>
        </p:txBody>
      </p:sp>
      <p:sp>
        <p:nvSpPr>
          <p:cNvPr id="24" name="Google Shape;24;p1"/>
          <p:cNvSpPr txBox="1"/>
          <p:nvPr>
            <p:ph idx="1" type="body"/>
          </p:nvPr>
        </p:nvSpPr>
        <p:spPr>
          <a:xfrm>
            <a:off x="1155700" y="4711700"/>
            <a:ext cx="13931900" cy="10541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chemeClr val="lt1"/>
              </a:buClr>
              <a:buSzPts val="1200"/>
              <a:buFont typeface="Cabin"/>
              <a:buNone/>
            </a:pPr>
            <a:r>
              <a:rPr lang="en-US" sz="4800" u="none" cap="none" strike="noStrike">
                <a:solidFill>
                  <a:schemeClr val="lt1"/>
                </a:solidFill>
                <a:latin typeface="Arial"/>
                <a:ea typeface="Arial"/>
                <a:cs typeface="Arial"/>
                <a:sym typeface="Arial"/>
              </a:rPr>
              <a:t>Chapter 4</a:t>
            </a:r>
            <a:endParaRPr/>
          </a:p>
        </p:txBody>
      </p:sp>
      <p:sp>
        <p:nvSpPr>
          <p:cNvPr id="25" name="Google Shape;25;p1"/>
          <p:cNvSpPr txBox="1"/>
          <p:nvPr/>
        </p:nvSpPr>
        <p:spPr>
          <a:xfrm>
            <a:off x="3930675" y="7016745"/>
            <a:ext cx="8236799" cy="10160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00"/>
              </a:buClr>
              <a:buSzPts val="800"/>
              <a:buFont typeface="Cabin"/>
              <a:buNone/>
            </a:pPr>
            <a:r>
              <a:rPr b="0" i="0" lang="en-US" sz="3200" u="none" cap="none" strike="noStrike">
                <a:solidFill>
                  <a:srgbClr val="FFFF00"/>
                </a:solidFill>
                <a:latin typeface="Arial"/>
                <a:ea typeface="Arial"/>
                <a:cs typeface="Arial"/>
                <a:sym typeface="Arial"/>
              </a:rPr>
              <a:t>Python for Everybody</a:t>
            </a:r>
            <a:endParaRPr b="0" i="0" sz="3200" u="none" cap="none" strike="noStrike">
              <a:solidFill>
                <a:srgbClr val="FFFF00"/>
              </a:solidFill>
              <a:latin typeface="Arial"/>
              <a:ea typeface="Arial"/>
              <a:cs typeface="Arial"/>
              <a:sym typeface="Arial"/>
            </a:endParaRPr>
          </a:p>
          <a:p>
            <a:pPr indent="0" lvl="0" marL="0" marR="0" rtl="0" algn="ctr">
              <a:lnSpc>
                <a:spcPct val="100000"/>
              </a:lnSpc>
              <a:spcBef>
                <a:spcPts val="0"/>
              </a:spcBef>
              <a:spcAft>
                <a:spcPts val="0"/>
              </a:spcAft>
              <a:buClr>
                <a:srgbClr val="FFFF00"/>
              </a:buClr>
              <a:buSzPts val="800"/>
              <a:buFont typeface="Cabin"/>
              <a:buNone/>
            </a:pPr>
            <a:r>
              <a:rPr b="0" i="0" lang="en-US" sz="3200" u="sng" cap="none" strike="noStrike">
                <a:solidFill>
                  <a:srgbClr val="FFFF00"/>
                </a:solidFill>
                <a:latin typeface="Arial"/>
                <a:ea typeface="Arial"/>
                <a:cs typeface="Arial"/>
                <a:sym typeface="Arial"/>
                <a:hlinkClick r:id="rId3">
                  <a:extLst>
                    <a:ext uri="{A12FA001-AC4F-418D-AE19-62706E023703}">
                      <ahyp:hlinkClr val="tx"/>
                    </a:ext>
                  </a:extLst>
                </a:hlinkClick>
              </a:rPr>
              <a:t>www.py4e.com</a:t>
            </a:r>
            <a:endParaRPr b="0" i="0" sz="3200" u="sng" cap="none" strike="noStrike">
              <a:solidFill>
                <a:srgbClr val="FFFF00"/>
              </a:solidFill>
              <a:latin typeface="Arial"/>
              <a:ea typeface="Arial"/>
              <a:cs typeface="Arial"/>
              <a:sym typeface="Arial"/>
              <a:hlinkClick r:id="rId4">
                <a:extLst>
                  <a:ext uri="{A12FA001-AC4F-418D-AE19-62706E023703}">
                    <ahyp:hlinkClr val="tx"/>
                  </a:ext>
                </a:extLst>
              </a:hlinkClick>
            </a:endParaRPr>
          </a:p>
        </p:txBody>
      </p:sp>
      <p:pic>
        <p:nvPicPr>
          <p:cNvPr id="26" name="Google Shape;26;p1"/>
          <p:cNvPicPr preferRelativeResize="0"/>
          <p:nvPr/>
        </p:nvPicPr>
        <p:blipFill rotWithShape="1">
          <a:blip r:embed="rId5">
            <a:alphaModFix/>
          </a:blip>
          <a:srcRect b="0" l="0" r="0" t="0"/>
          <a:stretch/>
        </p:blipFill>
        <p:spPr>
          <a:xfrm>
            <a:off x="13957823" y="7425500"/>
            <a:ext cx="1968599" cy="668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 name="Shape 30"/>
        <p:cNvGrpSpPr/>
        <p:nvPr/>
      </p:nvGrpSpPr>
      <p:grpSpPr>
        <a:xfrm>
          <a:off x="0" y="0"/>
          <a:ext cx="0" cy="0"/>
          <a:chOff x="0" y="0"/>
          <a:chExt cx="0" cy="0"/>
        </a:xfrm>
      </p:grpSpPr>
      <p:sp>
        <p:nvSpPr>
          <p:cNvPr id="31" name="Google Shape;31;p2"/>
          <p:cNvSpPr txBox="1"/>
          <p:nvPr>
            <p:ph type="title"/>
          </p:nvPr>
        </p:nvSpPr>
        <p:spPr>
          <a:xfrm>
            <a:off x="1155700" y="803564"/>
            <a:ext cx="13932000" cy="1736336"/>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chemeClr val="lt1"/>
              </a:buClr>
              <a:buSzPts val="1900"/>
              <a:buFont typeface="Cabin"/>
              <a:buNone/>
            </a:pPr>
            <a:r>
              <a:rPr lang="en-US" sz="7600" u="none" cap="none" strike="noStrike">
                <a:solidFill>
                  <a:srgbClr val="FFD966"/>
                </a:solidFill>
                <a:latin typeface="Arial"/>
                <a:ea typeface="Arial"/>
                <a:cs typeface="Arial"/>
                <a:sym typeface="Arial"/>
              </a:rPr>
              <a:t>Stored (and reused) Steps</a:t>
            </a:r>
            <a:endParaRPr/>
          </a:p>
        </p:txBody>
      </p:sp>
      <p:sp>
        <p:nvSpPr>
          <p:cNvPr id="32" name="Google Shape;32;p2"/>
          <p:cNvSpPr txBox="1"/>
          <p:nvPr/>
        </p:nvSpPr>
        <p:spPr>
          <a:xfrm>
            <a:off x="12869861" y="3721100"/>
            <a:ext cx="3162300" cy="37464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Arial"/>
                <a:ea typeface="Arial"/>
                <a:cs typeface="Arial"/>
                <a:sym typeface="Arial"/>
              </a:rPr>
              <a:t>Output: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rgbClr val="FF00FF"/>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900"/>
              <a:buFont typeface="Cabin"/>
              <a:buNone/>
            </a:pPr>
            <a:r>
              <a:rPr b="0" i="0" lang="en-US" sz="3600" u="none" cap="none" strike="noStrike">
                <a:solidFill>
                  <a:srgbClr val="00FF00"/>
                </a:solidFill>
                <a:latin typeface="Arial"/>
                <a:ea typeface="Arial"/>
                <a:cs typeface="Arial"/>
                <a:sym typeface="Arial"/>
              </a:rPr>
              <a:t>Hello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900"/>
              <a:buFont typeface="Cabin"/>
              <a:buNone/>
            </a:pPr>
            <a:r>
              <a:rPr b="0" i="0" lang="en-US" sz="3600" u="none" cap="none" strike="noStrike">
                <a:solidFill>
                  <a:srgbClr val="00FF00"/>
                </a:solidFill>
                <a:latin typeface="Arial"/>
                <a:ea typeface="Arial"/>
                <a:cs typeface="Arial"/>
                <a:sym typeface="Arial"/>
              </a:rPr>
              <a:t>Fun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7F00"/>
              </a:buClr>
              <a:buSzPts val="900"/>
              <a:buFont typeface="Cabin"/>
              <a:buNone/>
            </a:pPr>
            <a:r>
              <a:rPr b="0" i="0" lang="en-US" sz="3600" u="none" cap="none" strike="noStrike">
                <a:solidFill>
                  <a:srgbClr val="FF7F00"/>
                </a:solidFill>
                <a:latin typeface="Arial"/>
                <a:ea typeface="Arial"/>
                <a:cs typeface="Arial"/>
                <a:sym typeface="Arial"/>
              </a:rPr>
              <a:t>Zip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900"/>
              <a:buFont typeface="Cabin"/>
              <a:buNone/>
            </a:pPr>
            <a:r>
              <a:rPr b="0" i="0" lang="en-US" sz="3600" u="none" cap="none" strike="noStrike">
                <a:solidFill>
                  <a:srgbClr val="00FF00"/>
                </a:solidFill>
                <a:latin typeface="Arial"/>
                <a:ea typeface="Arial"/>
                <a:cs typeface="Arial"/>
                <a:sym typeface="Arial"/>
              </a:rPr>
              <a:t>Hello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900"/>
              <a:buFont typeface="Cabin"/>
              <a:buNone/>
            </a:pPr>
            <a:r>
              <a:rPr b="0" i="0" lang="en-US" sz="3600" u="none" cap="none" strike="noStrike">
                <a:solidFill>
                  <a:srgbClr val="00FF00"/>
                </a:solidFill>
                <a:latin typeface="Arial"/>
                <a:ea typeface="Arial"/>
                <a:cs typeface="Arial"/>
                <a:sym typeface="Arial"/>
              </a:rPr>
              <a:t>Fun</a:t>
            </a:r>
            <a:endParaRPr b="0" i="0" sz="1400" u="none" cap="none" strike="noStrike">
              <a:solidFill>
                <a:srgbClr val="000000"/>
              </a:solidFill>
              <a:latin typeface="Arial"/>
              <a:ea typeface="Arial"/>
              <a:cs typeface="Arial"/>
              <a:sym typeface="Arial"/>
            </a:endParaRPr>
          </a:p>
        </p:txBody>
      </p:sp>
      <p:sp>
        <p:nvSpPr>
          <p:cNvPr id="33" name="Google Shape;33;p2"/>
          <p:cNvSpPr txBox="1"/>
          <p:nvPr/>
        </p:nvSpPr>
        <p:spPr>
          <a:xfrm>
            <a:off x="7899399" y="2971800"/>
            <a:ext cx="3586161" cy="380047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Arial"/>
                <a:ea typeface="Arial"/>
                <a:cs typeface="Arial"/>
                <a:sym typeface="Arial"/>
              </a:rPr>
              <a:t>Program:</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rgbClr val="FF7F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625"/>
              <a:buFont typeface="Courier New"/>
              <a:buNone/>
            </a:pPr>
            <a:r>
              <a:rPr b="0" i="0" lang="en-US" sz="2500" u="none" cap="none" strike="noStrike">
                <a:solidFill>
                  <a:srgbClr val="FFFF00"/>
                </a:solidFill>
                <a:latin typeface="Courier"/>
                <a:ea typeface="Courier"/>
                <a:cs typeface="Courier"/>
                <a:sym typeface="Courier"/>
              </a:rPr>
              <a:t>def</a:t>
            </a:r>
            <a:r>
              <a:rPr b="0" i="0" lang="en-US" sz="2500" u="none" cap="none" strike="noStrike">
                <a:solidFill>
                  <a:srgbClr val="FF7F00"/>
                </a:solidFill>
                <a:latin typeface="Courier"/>
                <a:ea typeface="Courier"/>
                <a:cs typeface="Courier"/>
                <a:sym typeface="Courier"/>
              </a:rPr>
              <a:t> thing():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7F00"/>
              </a:buClr>
              <a:buSzPts val="625"/>
              <a:buFont typeface="Courier New"/>
              <a:buNone/>
            </a:pPr>
            <a:r>
              <a:rPr b="0" i="0" lang="en-US" sz="2500" u="none" cap="none" strike="noStrike">
                <a:solidFill>
                  <a:srgbClr val="FF7F00"/>
                </a:solidFill>
                <a:latin typeface="Courier"/>
                <a:ea typeface="Courier"/>
                <a:cs typeface="Courier"/>
                <a:sym typeface="Courier"/>
              </a:rPr>
              <a:t>    </a:t>
            </a:r>
            <a:r>
              <a:rPr b="0" i="0" lang="en-US" sz="2500" u="none" cap="none" strike="noStrike">
                <a:solidFill>
                  <a:srgbClr val="FFFF00"/>
                </a:solidFill>
                <a:latin typeface="Courier"/>
                <a:ea typeface="Courier"/>
                <a:cs typeface="Courier"/>
                <a:sym typeface="Courier"/>
              </a:rPr>
              <a:t>print</a:t>
            </a:r>
            <a:r>
              <a:rPr b="0" i="0" lang="en-US" sz="2500" u="none" cap="none" strike="noStrike">
                <a:solidFill>
                  <a:srgbClr val="FF7F00"/>
                </a:solidFill>
                <a:latin typeface="Courier"/>
                <a:ea typeface="Courier"/>
                <a:cs typeface="Courier"/>
                <a:sym typeface="Courier"/>
              </a:rPr>
              <a:t>('Hello')</a:t>
            </a:r>
            <a:endParaRPr b="0" i="0" sz="2500" u="none" cap="none" strike="noStrike">
              <a:solidFill>
                <a:srgbClr val="FF7F00"/>
              </a:solidFill>
              <a:latin typeface="Courier"/>
              <a:ea typeface="Courier"/>
              <a:cs typeface="Courier"/>
              <a:sym typeface="Courier"/>
            </a:endParaRPr>
          </a:p>
          <a:p>
            <a:pPr indent="0" lvl="0" marL="0" marR="0" rtl="0" algn="l">
              <a:lnSpc>
                <a:spcPct val="100000"/>
              </a:lnSpc>
              <a:spcBef>
                <a:spcPts val="0"/>
              </a:spcBef>
              <a:spcAft>
                <a:spcPts val="0"/>
              </a:spcAft>
              <a:buClr>
                <a:srgbClr val="FF7F00"/>
              </a:buClr>
              <a:buSzPts val="625"/>
              <a:buFont typeface="Courier New"/>
              <a:buNone/>
            </a:pPr>
            <a:r>
              <a:rPr b="0" i="0" lang="en-US" sz="2500" u="none" cap="none" strike="noStrike">
                <a:solidFill>
                  <a:srgbClr val="FF7F00"/>
                </a:solidFill>
                <a:latin typeface="Courier"/>
                <a:ea typeface="Courier"/>
                <a:cs typeface="Courier"/>
                <a:sym typeface="Courier"/>
              </a:rPr>
              <a:t>    </a:t>
            </a:r>
            <a:r>
              <a:rPr b="0" i="0" lang="en-US" sz="2500" u="none" cap="none" strike="noStrike">
                <a:solidFill>
                  <a:srgbClr val="FFFF00"/>
                </a:solidFill>
                <a:latin typeface="Courier"/>
                <a:ea typeface="Courier"/>
                <a:cs typeface="Courier"/>
                <a:sym typeface="Courier"/>
              </a:rPr>
              <a:t>print</a:t>
            </a:r>
            <a:r>
              <a:rPr b="0" i="0" lang="en-US" sz="2500" u="none" cap="none" strike="noStrike">
                <a:solidFill>
                  <a:srgbClr val="FF7F00"/>
                </a:solidFill>
                <a:latin typeface="Courier"/>
                <a:ea typeface="Courier"/>
                <a:cs typeface="Courier"/>
                <a:sym typeface="Courier"/>
              </a:rPr>
              <a:t>('Fun')</a:t>
            </a:r>
            <a:endParaRPr b="0" i="0" sz="2500" u="none" cap="none" strike="noStrike">
              <a:solidFill>
                <a:srgbClr val="FF7F00"/>
              </a:solidFill>
              <a:latin typeface="Courier"/>
              <a:ea typeface="Courier"/>
              <a:cs typeface="Courier"/>
              <a:sym typeface="Courier"/>
            </a:endParaRPr>
          </a:p>
          <a:p>
            <a:pPr indent="0" lvl="0" marL="0" marR="0" rtl="0" algn="l">
              <a:lnSpc>
                <a:spcPct val="100000"/>
              </a:lnSpc>
              <a:spcBef>
                <a:spcPts val="0"/>
              </a:spcBef>
              <a:spcAft>
                <a:spcPts val="0"/>
              </a:spcAft>
              <a:buClr>
                <a:srgbClr val="FF7F00"/>
              </a:buClr>
              <a:buSzPts val="625"/>
              <a:buFont typeface="Courier New"/>
              <a:buNone/>
            </a:pPr>
            <a:r>
              <a:rPr b="1" i="0" lang="en-US" sz="2500" u="none" cap="none" strike="noStrike">
                <a:solidFill>
                  <a:srgbClr val="FF7F00"/>
                </a:solidFill>
                <a:latin typeface="Courier"/>
                <a:ea typeface="Courier"/>
                <a:cs typeface="Courier"/>
                <a:sym typeface="Courier"/>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7F00"/>
              </a:buClr>
              <a:buSzPts val="625"/>
              <a:buFont typeface="Courier New"/>
              <a:buNone/>
            </a:pPr>
            <a:r>
              <a:rPr b="0" i="0" lang="en-US" sz="2500" u="none" cap="none" strike="noStrike">
                <a:solidFill>
                  <a:srgbClr val="FF7F00"/>
                </a:solidFill>
                <a:latin typeface="Courier"/>
                <a:ea typeface="Courier"/>
                <a:cs typeface="Courier"/>
                <a:sym typeface="Courier"/>
              </a:rPr>
              <a:t>thing()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625"/>
              <a:buFont typeface="Courier New"/>
              <a:buNone/>
            </a:pPr>
            <a:r>
              <a:rPr b="0" i="0" lang="en-US" sz="2500" u="none" cap="none" strike="noStrike">
                <a:solidFill>
                  <a:srgbClr val="FFFF00"/>
                </a:solidFill>
                <a:latin typeface="Courier"/>
                <a:ea typeface="Courier"/>
                <a:cs typeface="Courier"/>
                <a:sym typeface="Courier"/>
              </a:rPr>
              <a:t>print</a:t>
            </a:r>
            <a:r>
              <a:rPr b="0" i="0" lang="en-US" sz="2500" u="none" cap="none" strike="noStrike">
                <a:solidFill>
                  <a:srgbClr val="FF7F00"/>
                </a:solidFill>
                <a:latin typeface="Courier"/>
                <a:ea typeface="Courier"/>
                <a:cs typeface="Courier"/>
                <a:sym typeface="Courier"/>
              </a:rPr>
              <a:t>('Zip')</a:t>
            </a:r>
            <a:endParaRPr b="0" i="0" sz="2500" u="none" cap="none" strike="noStrike">
              <a:solidFill>
                <a:srgbClr val="FF7F00"/>
              </a:solidFill>
              <a:latin typeface="Courier"/>
              <a:ea typeface="Courier"/>
              <a:cs typeface="Courier"/>
              <a:sym typeface="Courier"/>
            </a:endParaRPr>
          </a:p>
          <a:p>
            <a:pPr indent="0" lvl="0" marL="0" marR="0" rtl="0" algn="l">
              <a:lnSpc>
                <a:spcPct val="100000"/>
              </a:lnSpc>
              <a:spcBef>
                <a:spcPts val="0"/>
              </a:spcBef>
              <a:spcAft>
                <a:spcPts val="0"/>
              </a:spcAft>
              <a:buClr>
                <a:srgbClr val="FF7F00"/>
              </a:buClr>
              <a:buSzPts val="625"/>
              <a:buFont typeface="Courier New"/>
              <a:buNone/>
            </a:pPr>
            <a:r>
              <a:rPr b="0" i="0" lang="en-US" sz="2500" u="none" cap="none" strike="noStrike">
                <a:solidFill>
                  <a:srgbClr val="FF7F00"/>
                </a:solidFill>
                <a:latin typeface="Courier"/>
                <a:ea typeface="Courier"/>
                <a:cs typeface="Courier"/>
                <a:sym typeface="Courier"/>
              </a:rPr>
              <a:t>thing()</a:t>
            </a:r>
            <a:endParaRPr b="0" i="0" sz="1400" u="none" cap="none" strike="noStrike">
              <a:solidFill>
                <a:srgbClr val="000000"/>
              </a:solidFill>
              <a:latin typeface="Arial"/>
              <a:ea typeface="Arial"/>
              <a:cs typeface="Arial"/>
              <a:sym typeface="Arial"/>
            </a:endParaRPr>
          </a:p>
        </p:txBody>
      </p:sp>
      <p:sp>
        <p:nvSpPr>
          <p:cNvPr id="34" name="Google Shape;34;p2"/>
          <p:cNvSpPr txBox="1"/>
          <p:nvPr/>
        </p:nvSpPr>
        <p:spPr>
          <a:xfrm>
            <a:off x="762000" y="2730500"/>
            <a:ext cx="2743199" cy="596900"/>
          </a:xfrm>
          <a:prstGeom prst="rect">
            <a:avLst/>
          </a:prstGeom>
          <a:noFill/>
          <a:ln cap="flat" cmpd="sng" w="76200">
            <a:solidFill>
              <a:srgbClr val="00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00"/>
              </a:buClr>
              <a:buSzPts val="875"/>
              <a:buFont typeface="Cabin"/>
              <a:buNone/>
            </a:pPr>
            <a:r>
              <a:rPr b="0" i="0" lang="en-US" sz="3500" u="none" cap="none" strike="noStrike">
                <a:solidFill>
                  <a:srgbClr val="FFFF00"/>
                </a:solidFill>
                <a:latin typeface="Arial"/>
                <a:ea typeface="Arial"/>
                <a:cs typeface="Arial"/>
                <a:sym typeface="Arial"/>
              </a:rPr>
              <a:t>def</a:t>
            </a:r>
            <a:endParaRPr b="0" i="0" sz="1400" u="none" cap="none" strike="noStrike">
              <a:solidFill>
                <a:srgbClr val="000000"/>
              </a:solidFill>
              <a:latin typeface="Arial"/>
              <a:ea typeface="Arial"/>
              <a:cs typeface="Arial"/>
              <a:sym typeface="Arial"/>
            </a:endParaRPr>
          </a:p>
        </p:txBody>
      </p:sp>
      <p:cxnSp>
        <p:nvCxnSpPr>
          <p:cNvPr id="35" name="Google Shape;35;p2"/>
          <p:cNvCxnSpPr/>
          <p:nvPr/>
        </p:nvCxnSpPr>
        <p:spPr>
          <a:xfrm rot="10800000">
            <a:off x="2114550" y="3313111"/>
            <a:ext cx="6349" cy="1849436"/>
          </a:xfrm>
          <a:prstGeom prst="straightConnector1">
            <a:avLst/>
          </a:prstGeom>
          <a:noFill/>
          <a:ln cap="rnd" cmpd="sng" w="76200">
            <a:solidFill>
              <a:srgbClr val="00FFFF"/>
            </a:solidFill>
            <a:prstDash val="solid"/>
            <a:miter lim="8000"/>
            <a:headEnd len="med" w="med" type="stealth"/>
            <a:tailEnd len="sm" w="sm" type="none"/>
          </a:ln>
        </p:spPr>
      </p:cxnSp>
      <p:cxnSp>
        <p:nvCxnSpPr>
          <p:cNvPr id="36" name="Google Shape;36;p2"/>
          <p:cNvCxnSpPr/>
          <p:nvPr/>
        </p:nvCxnSpPr>
        <p:spPr>
          <a:xfrm flipH="1">
            <a:off x="9366249" y="5416550"/>
            <a:ext cx="3421062" cy="342899"/>
          </a:xfrm>
          <a:prstGeom prst="straightConnector1">
            <a:avLst/>
          </a:prstGeom>
          <a:noFill/>
          <a:ln cap="rnd" cmpd="sng" w="50800">
            <a:solidFill>
              <a:srgbClr val="00FF00"/>
            </a:solidFill>
            <a:prstDash val="solid"/>
            <a:miter lim="8000"/>
            <a:headEnd len="med" w="med" type="stealth"/>
            <a:tailEnd len="sm" w="sm" type="none"/>
          </a:ln>
        </p:spPr>
      </p:cxnSp>
      <p:cxnSp>
        <p:nvCxnSpPr>
          <p:cNvPr id="37" name="Google Shape;37;p2"/>
          <p:cNvCxnSpPr/>
          <p:nvPr/>
        </p:nvCxnSpPr>
        <p:spPr>
          <a:xfrm rot="10800000">
            <a:off x="9423474" y="6615025"/>
            <a:ext cx="3334500" cy="270299"/>
          </a:xfrm>
          <a:prstGeom prst="straightConnector1">
            <a:avLst/>
          </a:prstGeom>
          <a:noFill/>
          <a:ln cap="rnd" cmpd="sng" w="50800">
            <a:solidFill>
              <a:srgbClr val="00FF00"/>
            </a:solidFill>
            <a:prstDash val="solid"/>
            <a:miter lim="8000"/>
            <a:headEnd len="med" w="med" type="stealth"/>
            <a:tailEnd len="sm" w="sm" type="none"/>
          </a:ln>
        </p:spPr>
      </p:cxnSp>
      <p:sp>
        <p:nvSpPr>
          <p:cNvPr id="38" name="Google Shape;38;p2"/>
          <p:cNvSpPr txBox="1"/>
          <p:nvPr/>
        </p:nvSpPr>
        <p:spPr>
          <a:xfrm>
            <a:off x="4429850" y="3608375"/>
            <a:ext cx="2743199" cy="1115400"/>
          </a:xfrm>
          <a:prstGeom prst="rect">
            <a:avLst/>
          </a:prstGeom>
          <a:noFill/>
          <a:ln cap="flat" cmpd="sng" w="76200">
            <a:solidFill>
              <a:srgbClr val="00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75"/>
              <a:buFont typeface="Cabin"/>
              <a:buNone/>
            </a:pPr>
            <a:r>
              <a:rPr b="0" i="0" lang="en-US" sz="3500" u="none" cap="none" strike="noStrike">
                <a:solidFill>
                  <a:schemeClr val="lt1"/>
                </a:solidFill>
                <a:latin typeface="Arial"/>
                <a:ea typeface="Arial"/>
                <a:cs typeface="Arial"/>
                <a:sym typeface="Arial"/>
              </a:rPr>
              <a:t>  </a:t>
            </a:r>
            <a:r>
              <a:rPr b="0" i="0" lang="en-US" sz="3500" u="none" cap="none" strike="noStrike">
                <a:solidFill>
                  <a:srgbClr val="FFFF00"/>
                </a:solidFill>
                <a:latin typeface="Arial"/>
                <a:ea typeface="Arial"/>
                <a:cs typeface="Arial"/>
                <a:sym typeface="Arial"/>
              </a:rPr>
              <a:t>print</a:t>
            </a:r>
            <a:r>
              <a:rPr b="0" i="0" lang="en-US" sz="3500" u="none" cap="none" strike="noStrike">
                <a:solidFill>
                  <a:schemeClr val="lt1"/>
                </a:solidFill>
                <a:latin typeface="Arial"/>
                <a:ea typeface="Arial"/>
                <a:cs typeface="Arial"/>
                <a:sym typeface="Arial"/>
              </a:rPr>
              <a:t>('Hello')</a:t>
            </a:r>
            <a:endParaRPr b="0" i="0" sz="35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875"/>
              <a:buFont typeface="Arial"/>
              <a:buNone/>
            </a:pPr>
            <a:r>
              <a:rPr b="0" i="0" lang="en-US" sz="3500" u="none" cap="none" strike="noStrike">
                <a:solidFill>
                  <a:srgbClr val="FFFF00"/>
                </a:solidFill>
                <a:latin typeface="Arial"/>
                <a:ea typeface="Arial"/>
                <a:cs typeface="Arial"/>
                <a:sym typeface="Arial"/>
              </a:rPr>
              <a:t>print</a:t>
            </a:r>
            <a:r>
              <a:rPr b="0" i="0" lang="en-US" sz="3500" u="none" cap="none" strike="noStrike">
                <a:solidFill>
                  <a:schemeClr val="lt1"/>
                </a:solidFill>
                <a:latin typeface="Arial"/>
                <a:ea typeface="Arial"/>
                <a:cs typeface="Arial"/>
                <a:sym typeface="Arial"/>
              </a:rPr>
              <a:t>('Fun')</a:t>
            </a:r>
            <a:endParaRPr b="0" i="0" sz="3500" u="none" cap="none" strike="noStrike">
              <a:solidFill>
                <a:schemeClr val="lt1"/>
              </a:solidFill>
              <a:latin typeface="Arial"/>
              <a:ea typeface="Arial"/>
              <a:cs typeface="Arial"/>
              <a:sym typeface="Arial"/>
            </a:endParaRPr>
          </a:p>
        </p:txBody>
      </p:sp>
      <p:sp>
        <p:nvSpPr>
          <p:cNvPr id="39" name="Google Shape;39;p2"/>
          <p:cNvSpPr txBox="1"/>
          <p:nvPr/>
        </p:nvSpPr>
        <p:spPr>
          <a:xfrm>
            <a:off x="762000" y="5092700"/>
            <a:ext cx="2743199" cy="596900"/>
          </a:xfrm>
          <a:prstGeom prst="rect">
            <a:avLst/>
          </a:prstGeom>
          <a:noFill/>
          <a:ln cap="flat" cmpd="sng" w="76200">
            <a:solidFill>
              <a:srgbClr val="00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75"/>
              <a:buFont typeface="Cabin"/>
              <a:buNone/>
            </a:pPr>
            <a:r>
              <a:rPr b="0" i="0" lang="en-US" sz="3500" u="none" cap="none" strike="noStrike">
                <a:solidFill>
                  <a:schemeClr val="lt1"/>
                </a:solidFill>
                <a:latin typeface="Arial"/>
                <a:ea typeface="Arial"/>
                <a:cs typeface="Arial"/>
                <a:sym typeface="Arial"/>
              </a:rPr>
              <a:t>thing()</a:t>
            </a:r>
            <a:endParaRPr b="0" i="0" sz="1400" u="none" cap="none" strike="noStrike">
              <a:solidFill>
                <a:srgbClr val="000000"/>
              </a:solidFill>
              <a:latin typeface="Arial"/>
              <a:ea typeface="Arial"/>
              <a:cs typeface="Arial"/>
              <a:sym typeface="Arial"/>
            </a:endParaRPr>
          </a:p>
        </p:txBody>
      </p:sp>
      <p:cxnSp>
        <p:nvCxnSpPr>
          <p:cNvPr id="40" name="Google Shape;40;p2"/>
          <p:cNvCxnSpPr/>
          <p:nvPr/>
        </p:nvCxnSpPr>
        <p:spPr>
          <a:xfrm rot="10800000">
            <a:off x="2114549" y="5713411"/>
            <a:ext cx="14287" cy="566736"/>
          </a:xfrm>
          <a:prstGeom prst="straightConnector1">
            <a:avLst/>
          </a:prstGeom>
          <a:noFill/>
          <a:ln cap="rnd" cmpd="sng" w="76200">
            <a:solidFill>
              <a:srgbClr val="00FFFF"/>
            </a:solidFill>
            <a:prstDash val="solid"/>
            <a:miter lim="8000"/>
            <a:headEnd len="med" w="med" type="stealth"/>
            <a:tailEnd len="sm" w="sm" type="none"/>
          </a:ln>
        </p:spPr>
      </p:cxnSp>
      <p:cxnSp>
        <p:nvCxnSpPr>
          <p:cNvPr id="41" name="Google Shape;41;p2"/>
          <p:cNvCxnSpPr/>
          <p:nvPr/>
        </p:nvCxnSpPr>
        <p:spPr>
          <a:xfrm flipH="1">
            <a:off x="3491700" y="4099050"/>
            <a:ext cx="856500" cy="1024500"/>
          </a:xfrm>
          <a:prstGeom prst="straightConnector1">
            <a:avLst/>
          </a:prstGeom>
          <a:noFill/>
          <a:ln cap="rnd" cmpd="sng" w="76200">
            <a:solidFill>
              <a:srgbClr val="00FFFF"/>
            </a:solidFill>
            <a:prstDash val="solid"/>
            <a:miter lim="8000"/>
            <a:headEnd len="med" w="med" type="stealth"/>
            <a:tailEnd len="sm" w="sm" type="none"/>
          </a:ln>
        </p:spPr>
      </p:cxnSp>
      <p:cxnSp>
        <p:nvCxnSpPr>
          <p:cNvPr id="42" name="Google Shape;42;p2"/>
          <p:cNvCxnSpPr/>
          <p:nvPr/>
        </p:nvCxnSpPr>
        <p:spPr>
          <a:xfrm flipH="1" rot="10800000">
            <a:off x="3527425" y="4723637"/>
            <a:ext cx="2100300" cy="893699"/>
          </a:xfrm>
          <a:prstGeom prst="straightConnector1">
            <a:avLst/>
          </a:prstGeom>
          <a:noFill/>
          <a:ln cap="rnd" cmpd="sng" w="76200">
            <a:solidFill>
              <a:srgbClr val="00FFFF"/>
            </a:solidFill>
            <a:prstDash val="solid"/>
            <a:miter lim="8000"/>
            <a:headEnd len="med" w="med" type="stealth"/>
            <a:tailEnd len="sm" w="sm" type="none"/>
          </a:ln>
        </p:spPr>
      </p:cxnSp>
      <p:cxnSp>
        <p:nvCxnSpPr>
          <p:cNvPr id="43" name="Google Shape;43;p2"/>
          <p:cNvCxnSpPr>
            <a:endCxn id="34" idx="3"/>
          </p:cNvCxnSpPr>
          <p:nvPr/>
        </p:nvCxnSpPr>
        <p:spPr>
          <a:xfrm rot="10800000">
            <a:off x="3505199" y="3028950"/>
            <a:ext cx="951900" cy="579600"/>
          </a:xfrm>
          <a:prstGeom prst="straightConnector1">
            <a:avLst/>
          </a:prstGeom>
          <a:noFill/>
          <a:ln cap="rnd" cmpd="sng" w="76200">
            <a:solidFill>
              <a:srgbClr val="00FFFF"/>
            </a:solidFill>
            <a:prstDash val="solid"/>
            <a:miter lim="8000"/>
            <a:headEnd len="med" w="med" type="stealth"/>
            <a:tailEnd len="sm" w="sm" type="none"/>
          </a:ln>
        </p:spPr>
      </p:cxnSp>
      <p:sp>
        <p:nvSpPr>
          <p:cNvPr id="44" name="Google Shape;44;p2"/>
          <p:cNvSpPr txBox="1"/>
          <p:nvPr/>
        </p:nvSpPr>
        <p:spPr>
          <a:xfrm>
            <a:off x="3850696" y="7773866"/>
            <a:ext cx="8802689" cy="6221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700"/>
              <a:buFont typeface="Cabin"/>
              <a:buNone/>
            </a:pPr>
            <a:r>
              <a:rPr b="0" i="0" lang="en-US" sz="2800" u="none" cap="none" strike="noStrike">
                <a:solidFill>
                  <a:schemeClr val="lt1"/>
                </a:solidFill>
                <a:latin typeface="Arial"/>
                <a:ea typeface="Arial"/>
                <a:cs typeface="Arial"/>
                <a:sym typeface="Arial"/>
              </a:rPr>
              <a:t>We call these reusable pieces of code “functions”</a:t>
            </a:r>
            <a:endParaRPr b="0" i="0" sz="1400" u="none" cap="none" strike="noStrike">
              <a:solidFill>
                <a:srgbClr val="000000"/>
              </a:solidFill>
              <a:latin typeface="Arial"/>
              <a:ea typeface="Arial"/>
              <a:cs typeface="Arial"/>
              <a:sym typeface="Arial"/>
            </a:endParaRPr>
          </a:p>
        </p:txBody>
      </p:sp>
      <p:sp>
        <p:nvSpPr>
          <p:cNvPr id="45" name="Google Shape;45;p2"/>
          <p:cNvSpPr txBox="1"/>
          <p:nvPr/>
        </p:nvSpPr>
        <p:spPr>
          <a:xfrm>
            <a:off x="5038724" y="2997200"/>
            <a:ext cx="1767873" cy="6222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Arial"/>
                <a:ea typeface="Arial"/>
                <a:cs typeface="Arial"/>
                <a:sym typeface="Arial"/>
              </a:rPr>
              <a:t>thing():</a:t>
            </a:r>
            <a:endParaRPr b="0" i="0" sz="1400" u="none" cap="none" strike="noStrike">
              <a:solidFill>
                <a:srgbClr val="000000"/>
              </a:solidFill>
              <a:latin typeface="Arial"/>
              <a:ea typeface="Arial"/>
              <a:cs typeface="Arial"/>
              <a:sym typeface="Arial"/>
            </a:endParaRPr>
          </a:p>
        </p:txBody>
      </p:sp>
      <p:sp>
        <p:nvSpPr>
          <p:cNvPr id="46" name="Google Shape;46;p2"/>
          <p:cNvSpPr txBox="1"/>
          <p:nvPr/>
        </p:nvSpPr>
        <p:spPr>
          <a:xfrm>
            <a:off x="762000" y="7302500"/>
            <a:ext cx="2743199" cy="596900"/>
          </a:xfrm>
          <a:prstGeom prst="rect">
            <a:avLst/>
          </a:prstGeom>
          <a:noFill/>
          <a:ln cap="flat" cmpd="sng" w="76200">
            <a:solidFill>
              <a:srgbClr val="00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75"/>
              <a:buFont typeface="Cabin"/>
              <a:buNone/>
            </a:pPr>
            <a:r>
              <a:rPr b="0" i="0" lang="en-US" sz="3500" u="none" cap="none" strike="noStrike">
                <a:solidFill>
                  <a:schemeClr val="lt1"/>
                </a:solidFill>
                <a:latin typeface="Arial"/>
                <a:ea typeface="Arial"/>
                <a:cs typeface="Arial"/>
                <a:sym typeface="Arial"/>
              </a:rPr>
              <a:t>thing()</a:t>
            </a:r>
            <a:endParaRPr b="0" i="0" sz="1400" u="none" cap="none" strike="noStrike">
              <a:solidFill>
                <a:srgbClr val="000000"/>
              </a:solidFill>
              <a:latin typeface="Arial"/>
              <a:ea typeface="Arial"/>
              <a:cs typeface="Arial"/>
              <a:sym typeface="Arial"/>
            </a:endParaRPr>
          </a:p>
        </p:txBody>
      </p:sp>
      <p:cxnSp>
        <p:nvCxnSpPr>
          <p:cNvPr id="47" name="Google Shape;47;p2"/>
          <p:cNvCxnSpPr/>
          <p:nvPr/>
        </p:nvCxnSpPr>
        <p:spPr>
          <a:xfrm rot="10800000">
            <a:off x="2114549" y="6729412"/>
            <a:ext cx="14287" cy="566736"/>
          </a:xfrm>
          <a:prstGeom prst="straightConnector1">
            <a:avLst/>
          </a:prstGeom>
          <a:noFill/>
          <a:ln cap="rnd" cmpd="sng" w="76200">
            <a:solidFill>
              <a:srgbClr val="00FFFF"/>
            </a:solidFill>
            <a:prstDash val="solid"/>
            <a:miter lim="8000"/>
            <a:headEnd len="med" w="med" type="stealth"/>
            <a:tailEnd len="sm" w="sm" type="none"/>
          </a:ln>
        </p:spPr>
      </p:cxnSp>
      <p:sp>
        <p:nvSpPr>
          <p:cNvPr id="48" name="Google Shape;48;p2"/>
          <p:cNvSpPr txBox="1"/>
          <p:nvPr/>
        </p:nvSpPr>
        <p:spPr>
          <a:xfrm>
            <a:off x="762000" y="6223000"/>
            <a:ext cx="2743199" cy="596900"/>
          </a:xfrm>
          <a:prstGeom prst="rect">
            <a:avLst/>
          </a:prstGeom>
          <a:noFill/>
          <a:ln cap="flat" cmpd="sng" w="76200">
            <a:solidFill>
              <a:srgbClr val="00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00"/>
              </a:buClr>
              <a:buSzPts val="875"/>
              <a:buFont typeface="Cabin"/>
              <a:buNone/>
            </a:pPr>
            <a:r>
              <a:rPr b="0" i="0" lang="en-US" sz="3500" u="none" cap="none" strike="noStrike">
                <a:solidFill>
                  <a:srgbClr val="FFFF00"/>
                </a:solidFill>
                <a:latin typeface="Arial"/>
                <a:ea typeface="Arial"/>
                <a:cs typeface="Arial"/>
                <a:sym typeface="Arial"/>
              </a:rPr>
              <a:t>print(</a:t>
            </a:r>
            <a:r>
              <a:rPr b="0" i="0" lang="en-US" sz="3500" u="none" cap="none" strike="noStrike">
                <a:solidFill>
                  <a:schemeClr val="lt1"/>
                </a:solidFill>
                <a:latin typeface="Arial"/>
                <a:ea typeface="Arial"/>
                <a:cs typeface="Arial"/>
                <a:sym typeface="Arial"/>
              </a:rPr>
              <a:t>'Zip'</a:t>
            </a:r>
            <a:r>
              <a:rPr b="0" i="0" lang="en-US" sz="3500" u="none" cap="none" strike="noStrike">
                <a:solidFill>
                  <a:srgbClr val="FFFF00"/>
                </a:solidFill>
                <a:latin typeface="Arial"/>
                <a:ea typeface="Arial"/>
                <a:cs typeface="Arial"/>
                <a:sym typeface="Arial"/>
              </a:rPr>
              <a:t>)</a:t>
            </a:r>
            <a:endParaRPr b="0" i="0" sz="3500" u="none" cap="none" strike="noStrike">
              <a:solidFill>
                <a:srgbClr val="FFFF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3"/>
          <p:cNvSpPr txBox="1"/>
          <p:nvPr>
            <p:ph type="title"/>
          </p:nvPr>
        </p:nvSpPr>
        <p:spPr>
          <a:xfrm>
            <a:off x="1155700" y="803564"/>
            <a:ext cx="13932000" cy="1736336"/>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chemeClr val="lt1"/>
              </a:buClr>
              <a:buSzPts val="1900"/>
              <a:buFont typeface="Cabin"/>
              <a:buNone/>
            </a:pPr>
            <a:r>
              <a:rPr lang="en-US" sz="7600" u="none" cap="none" strike="noStrike">
                <a:solidFill>
                  <a:srgbClr val="FFD966"/>
                </a:solidFill>
                <a:latin typeface="Arial"/>
                <a:ea typeface="Arial"/>
                <a:cs typeface="Arial"/>
                <a:sym typeface="Arial"/>
              </a:rPr>
              <a:t>Python Functions</a:t>
            </a:r>
            <a:endParaRPr/>
          </a:p>
        </p:txBody>
      </p:sp>
      <p:sp>
        <p:nvSpPr>
          <p:cNvPr id="54" name="Google Shape;54;p3"/>
          <p:cNvSpPr txBox="1"/>
          <p:nvPr>
            <p:ph idx="1" type="body"/>
          </p:nvPr>
        </p:nvSpPr>
        <p:spPr>
          <a:xfrm>
            <a:off x="1155700" y="2603500"/>
            <a:ext cx="13932000" cy="5702399"/>
          </a:xfrm>
          <a:prstGeom prst="rect">
            <a:avLst/>
          </a:prstGeom>
          <a:noFill/>
          <a:ln>
            <a:noFill/>
          </a:ln>
        </p:spPr>
        <p:txBody>
          <a:bodyPr anchorCtr="0" anchor="ctr" bIns="38100" lIns="38100" spcFirstLastPara="1" rIns="38100" wrap="square" tIns="38100">
            <a:noAutofit/>
          </a:bodyPr>
          <a:lstStyle/>
          <a:p>
            <a:pPr indent="-371094" lvl="0" marL="749300" marR="0" rtl="0" algn="l">
              <a:lnSpc>
                <a:spcPct val="100000"/>
              </a:lnSpc>
              <a:spcBef>
                <a:spcPts val="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There are two kinds of </a:t>
            </a:r>
            <a:r>
              <a:rPr lang="en-US" sz="3600" u="none" cap="none" strike="noStrike">
                <a:solidFill>
                  <a:srgbClr val="FFFFFF"/>
                </a:solidFill>
                <a:latin typeface="Arial"/>
                <a:ea typeface="Arial"/>
                <a:cs typeface="Arial"/>
                <a:sym typeface="Arial"/>
              </a:rPr>
              <a:t>functions</a:t>
            </a:r>
            <a:r>
              <a:rPr lang="en-US" sz="3600" u="none" cap="none" strike="noStrike">
                <a:solidFill>
                  <a:schemeClr val="lt1"/>
                </a:solidFill>
                <a:latin typeface="Arial"/>
                <a:ea typeface="Arial"/>
                <a:cs typeface="Arial"/>
                <a:sym typeface="Arial"/>
              </a:rPr>
              <a:t> in Python.</a:t>
            </a:r>
            <a:endParaRPr/>
          </a:p>
          <a:p>
            <a:pPr indent="0" lvl="1" marL="670306" marR="0" rtl="0" algn="l">
              <a:lnSpc>
                <a:spcPct val="100000"/>
              </a:lnSpc>
              <a:spcBef>
                <a:spcPts val="3500"/>
              </a:spcBef>
              <a:spcAft>
                <a:spcPts val="0"/>
              </a:spcAft>
              <a:buClr>
                <a:srgbClr val="00FF00"/>
              </a:buClr>
              <a:buSzPts val="3600"/>
              <a:buNone/>
            </a:pPr>
            <a:r>
              <a:rPr lang="en-US" sz="3600" u="none" cap="none" strike="noStrike">
                <a:solidFill>
                  <a:srgbClr val="FFFFFF"/>
                </a:solidFill>
                <a:latin typeface="Arial"/>
                <a:ea typeface="Arial"/>
                <a:cs typeface="Arial"/>
                <a:sym typeface="Arial"/>
              </a:rPr>
              <a:t>- </a:t>
            </a:r>
            <a:r>
              <a:rPr lang="en-US" sz="3600" u="none" cap="none" strike="noStrike">
                <a:solidFill>
                  <a:srgbClr val="00FF00"/>
                </a:solidFill>
                <a:latin typeface="Arial"/>
                <a:ea typeface="Arial"/>
                <a:cs typeface="Arial"/>
                <a:sym typeface="Arial"/>
              </a:rPr>
              <a:t> Built-in functions</a:t>
            </a:r>
            <a:r>
              <a:rPr lang="en-US" sz="3600" u="none" cap="none" strike="noStrike">
                <a:solidFill>
                  <a:srgbClr val="FFFFFF"/>
                </a:solidFill>
                <a:latin typeface="Arial"/>
                <a:ea typeface="Arial"/>
                <a:cs typeface="Arial"/>
                <a:sym typeface="Arial"/>
              </a:rPr>
              <a:t> that are provided as part of Python - </a:t>
            </a:r>
            <a:r>
              <a:rPr lang="en-US" sz="3600">
                <a:solidFill>
                  <a:srgbClr val="FFFFFF"/>
                </a:solidFill>
                <a:latin typeface="Arial"/>
                <a:ea typeface="Arial"/>
                <a:cs typeface="Arial"/>
                <a:sym typeface="Arial"/>
              </a:rPr>
              <a:t>print(), </a:t>
            </a:r>
            <a:r>
              <a:rPr lang="en-US" sz="3600" u="none" cap="none" strike="noStrike">
                <a:solidFill>
                  <a:srgbClr val="FFFFFF"/>
                </a:solidFill>
                <a:latin typeface="Arial"/>
                <a:ea typeface="Arial"/>
                <a:cs typeface="Arial"/>
                <a:sym typeface="Arial"/>
              </a:rPr>
              <a:t>input(), type(), float(), int() ...</a:t>
            </a:r>
            <a:endParaRPr/>
          </a:p>
          <a:p>
            <a:pPr indent="0" lvl="1" marL="670306" marR="0" rtl="0" algn="l">
              <a:lnSpc>
                <a:spcPct val="100000"/>
              </a:lnSpc>
              <a:spcBef>
                <a:spcPts val="3500"/>
              </a:spcBef>
              <a:spcAft>
                <a:spcPts val="0"/>
              </a:spcAft>
              <a:buClr>
                <a:srgbClr val="00FF00"/>
              </a:buClr>
              <a:buSzPts val="3600"/>
              <a:buNone/>
            </a:pPr>
            <a:r>
              <a:rPr lang="en-US" sz="3600" u="none" cap="none" strike="noStrike">
                <a:solidFill>
                  <a:srgbClr val="FFFFFF"/>
                </a:solidFill>
                <a:latin typeface="Arial"/>
                <a:ea typeface="Arial"/>
                <a:cs typeface="Arial"/>
                <a:sym typeface="Arial"/>
              </a:rPr>
              <a:t>- </a:t>
            </a:r>
            <a:r>
              <a:rPr lang="en-US" sz="3600" u="none" cap="none" strike="noStrike">
                <a:solidFill>
                  <a:srgbClr val="00FF00"/>
                </a:solidFill>
                <a:latin typeface="Arial"/>
                <a:ea typeface="Arial"/>
                <a:cs typeface="Arial"/>
                <a:sym typeface="Arial"/>
              </a:rPr>
              <a:t> Functions that we define ourselves</a:t>
            </a:r>
            <a:r>
              <a:rPr lang="en-US" sz="3600" u="none" cap="none" strike="noStrike">
                <a:solidFill>
                  <a:schemeClr val="lt1"/>
                </a:solidFill>
                <a:latin typeface="Arial"/>
                <a:ea typeface="Arial"/>
                <a:cs typeface="Arial"/>
                <a:sym typeface="Arial"/>
              </a:rPr>
              <a:t> and then use</a:t>
            </a:r>
            <a:endParaRPr/>
          </a:p>
          <a:p>
            <a:pPr indent="-371094" lvl="0" marL="7493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We treat the built-in</a:t>
            </a:r>
            <a:r>
              <a:rPr lang="en-US" sz="3600" u="none" cap="none" strike="noStrike">
                <a:solidFill>
                  <a:srgbClr val="FFFFFF"/>
                </a:solidFill>
                <a:latin typeface="Arial"/>
                <a:ea typeface="Arial"/>
                <a:cs typeface="Arial"/>
                <a:sym typeface="Arial"/>
              </a:rPr>
              <a:t> function </a:t>
            </a:r>
            <a:r>
              <a:rPr lang="en-US" sz="3600" u="none" cap="none" strike="noStrike">
                <a:solidFill>
                  <a:schemeClr val="lt1"/>
                </a:solidFill>
                <a:latin typeface="Arial"/>
                <a:ea typeface="Arial"/>
                <a:cs typeface="Arial"/>
                <a:sym typeface="Arial"/>
              </a:rPr>
              <a:t>names as </a:t>
            </a:r>
            <a:r>
              <a:rPr lang="en-US" sz="3600">
                <a:solidFill>
                  <a:schemeClr val="lt1"/>
                </a:solidFill>
                <a:latin typeface="Arial"/>
                <a:ea typeface="Arial"/>
                <a:cs typeface="Arial"/>
                <a:sym typeface="Arial"/>
              </a:rPr>
              <a:t>“</a:t>
            </a:r>
            <a:r>
              <a:rPr lang="en-US" sz="3600" u="none" cap="none" strike="noStrike">
                <a:solidFill>
                  <a:schemeClr val="lt1"/>
                </a:solidFill>
                <a:latin typeface="Arial"/>
                <a:ea typeface="Arial"/>
                <a:cs typeface="Arial"/>
                <a:sym typeface="Arial"/>
              </a:rPr>
              <a:t>new</a:t>
            </a:r>
            <a:r>
              <a:rPr lang="en-US" sz="3600">
                <a:solidFill>
                  <a:schemeClr val="lt1"/>
                </a:solidFill>
                <a:latin typeface="Arial"/>
                <a:ea typeface="Arial"/>
                <a:cs typeface="Arial"/>
                <a:sym typeface="Arial"/>
              </a:rPr>
              <a:t>”</a:t>
            </a:r>
            <a:r>
              <a:rPr lang="en-US" sz="3600" u="none" cap="none" strike="noStrike">
                <a:solidFill>
                  <a:schemeClr val="lt1"/>
                </a:solidFill>
                <a:latin typeface="Arial"/>
                <a:ea typeface="Arial"/>
                <a:cs typeface="Arial"/>
                <a:sym typeface="Arial"/>
              </a:rPr>
              <a:t> </a:t>
            </a:r>
            <a:r>
              <a:rPr lang="en-US" sz="3600" u="none" cap="none" strike="noStrike">
                <a:solidFill>
                  <a:srgbClr val="FFFF00"/>
                </a:solidFill>
                <a:latin typeface="Arial"/>
                <a:ea typeface="Arial"/>
                <a:cs typeface="Arial"/>
                <a:sym typeface="Arial"/>
              </a:rPr>
              <a:t>reserved words</a:t>
            </a:r>
            <a:r>
              <a:rPr lang="en-US" sz="3600" u="none" cap="none" strike="noStrike">
                <a:solidFill>
                  <a:schemeClr val="lt1"/>
                </a:solidFill>
                <a:latin typeface="Arial"/>
                <a:ea typeface="Arial"/>
                <a:cs typeface="Arial"/>
                <a:sym typeface="Arial"/>
              </a:rPr>
              <a:t> </a:t>
            </a:r>
            <a:br>
              <a:rPr lang="en-US" sz="3600" u="none" cap="none" strike="noStrike">
                <a:solidFill>
                  <a:schemeClr val="lt1"/>
                </a:solidFill>
                <a:latin typeface="Arial"/>
                <a:ea typeface="Arial"/>
                <a:cs typeface="Arial"/>
                <a:sym typeface="Arial"/>
              </a:rPr>
            </a:br>
            <a:r>
              <a:rPr lang="en-US" sz="3600" u="none" cap="none" strike="noStrike">
                <a:solidFill>
                  <a:schemeClr val="lt1"/>
                </a:solidFill>
                <a:latin typeface="Arial"/>
                <a:ea typeface="Arial"/>
                <a:cs typeface="Arial"/>
                <a:sym typeface="Arial"/>
              </a:rPr>
              <a:t>(i.e., we avoid them as variable names)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4"/>
          <p:cNvSpPr txBox="1"/>
          <p:nvPr>
            <p:ph type="title"/>
          </p:nvPr>
        </p:nvSpPr>
        <p:spPr>
          <a:xfrm>
            <a:off x="1155700" y="803564"/>
            <a:ext cx="13932000" cy="1736336"/>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lang="en-US" sz="7600" u="none" cap="none" strike="noStrike">
                <a:solidFill>
                  <a:srgbClr val="FFD966"/>
                </a:solidFill>
                <a:latin typeface="Arial"/>
                <a:ea typeface="Arial"/>
                <a:cs typeface="Arial"/>
                <a:sym typeface="Arial"/>
              </a:rPr>
              <a:t>Function Definition</a:t>
            </a:r>
            <a:endParaRPr/>
          </a:p>
        </p:txBody>
      </p:sp>
      <p:sp>
        <p:nvSpPr>
          <p:cNvPr id="60" name="Google Shape;60;p4"/>
          <p:cNvSpPr txBox="1"/>
          <p:nvPr>
            <p:ph idx="1" type="body"/>
          </p:nvPr>
        </p:nvSpPr>
        <p:spPr>
          <a:xfrm>
            <a:off x="1155700" y="2603500"/>
            <a:ext cx="13932000" cy="5702399"/>
          </a:xfrm>
          <a:prstGeom prst="rect">
            <a:avLst/>
          </a:prstGeom>
          <a:noFill/>
          <a:ln>
            <a:noFill/>
          </a:ln>
        </p:spPr>
        <p:txBody>
          <a:bodyPr anchorCtr="0" anchor="ctr" bIns="38100" lIns="38100" spcFirstLastPara="1" rIns="38100" wrap="square" tIns="38100">
            <a:noAutofit/>
          </a:bodyPr>
          <a:lstStyle/>
          <a:p>
            <a:pPr indent="-371094" lvl="0" marL="749300" marR="0" rtl="0" algn="l">
              <a:lnSpc>
                <a:spcPct val="115000"/>
              </a:lnSpc>
              <a:spcBef>
                <a:spcPts val="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In Python a </a:t>
            </a:r>
            <a:r>
              <a:rPr lang="en-US" sz="3600" u="none" cap="none" strike="noStrike">
                <a:solidFill>
                  <a:srgbClr val="00FF00"/>
                </a:solidFill>
                <a:latin typeface="Arial"/>
                <a:ea typeface="Arial"/>
                <a:cs typeface="Arial"/>
                <a:sym typeface="Arial"/>
              </a:rPr>
              <a:t>function</a:t>
            </a:r>
            <a:r>
              <a:rPr lang="en-US" sz="3600" u="none" cap="none" strike="noStrike">
                <a:solidFill>
                  <a:schemeClr val="lt1"/>
                </a:solidFill>
                <a:latin typeface="Arial"/>
                <a:ea typeface="Arial"/>
                <a:cs typeface="Arial"/>
                <a:sym typeface="Arial"/>
              </a:rPr>
              <a:t> is some reusable code that takes </a:t>
            </a:r>
            <a:r>
              <a:rPr lang="en-US" sz="3600" u="none" cap="none" strike="noStrike">
                <a:solidFill>
                  <a:srgbClr val="FF7F00"/>
                </a:solidFill>
                <a:latin typeface="Arial"/>
                <a:ea typeface="Arial"/>
                <a:cs typeface="Arial"/>
                <a:sym typeface="Arial"/>
              </a:rPr>
              <a:t>arguments</a:t>
            </a:r>
            <a:r>
              <a:rPr lang="en-US" sz="3600" u="none" cap="none" strike="noStrike">
                <a:solidFill>
                  <a:schemeClr val="lt1"/>
                </a:solidFill>
                <a:latin typeface="Arial"/>
                <a:ea typeface="Arial"/>
                <a:cs typeface="Arial"/>
                <a:sym typeface="Arial"/>
              </a:rPr>
              <a:t>(s) as input, does some computation, and then returns a result or results</a:t>
            </a:r>
            <a:endParaRPr/>
          </a:p>
          <a:p>
            <a:pPr indent="-371094" lvl="0" marL="749300" marR="0" rtl="0" algn="l">
              <a:lnSpc>
                <a:spcPct val="115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We define a </a:t>
            </a:r>
            <a:r>
              <a:rPr lang="en-US" sz="3600" u="none" cap="none" strike="noStrike">
                <a:solidFill>
                  <a:srgbClr val="00FF00"/>
                </a:solidFill>
                <a:latin typeface="Arial"/>
                <a:ea typeface="Arial"/>
                <a:cs typeface="Arial"/>
                <a:sym typeface="Arial"/>
              </a:rPr>
              <a:t>function</a:t>
            </a:r>
            <a:r>
              <a:rPr lang="en-US" sz="3600" u="none" cap="none" strike="noStrike">
                <a:solidFill>
                  <a:schemeClr val="lt1"/>
                </a:solidFill>
                <a:latin typeface="Arial"/>
                <a:ea typeface="Arial"/>
                <a:cs typeface="Arial"/>
                <a:sym typeface="Arial"/>
              </a:rPr>
              <a:t> using the </a:t>
            </a:r>
            <a:r>
              <a:rPr lang="en-US" sz="3600" u="none" cap="none" strike="noStrike">
                <a:solidFill>
                  <a:srgbClr val="FFFF00"/>
                </a:solidFill>
                <a:latin typeface="Arial"/>
                <a:ea typeface="Arial"/>
                <a:cs typeface="Arial"/>
                <a:sym typeface="Arial"/>
              </a:rPr>
              <a:t>def</a:t>
            </a:r>
            <a:r>
              <a:rPr lang="en-US" sz="3600" u="none" cap="none" strike="noStrike">
                <a:solidFill>
                  <a:schemeClr val="lt1"/>
                </a:solidFill>
                <a:latin typeface="Arial"/>
                <a:ea typeface="Arial"/>
                <a:cs typeface="Arial"/>
                <a:sym typeface="Arial"/>
              </a:rPr>
              <a:t> reserved word</a:t>
            </a:r>
            <a:endParaRPr/>
          </a:p>
          <a:p>
            <a:pPr indent="-371094" lvl="0" marL="749300" marR="0" rtl="0" algn="l">
              <a:lnSpc>
                <a:spcPct val="115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We call/invoke the </a:t>
            </a:r>
            <a:r>
              <a:rPr lang="en-US" sz="3600" u="none" cap="none" strike="noStrike">
                <a:solidFill>
                  <a:srgbClr val="00FF00"/>
                </a:solidFill>
                <a:latin typeface="Arial"/>
                <a:ea typeface="Arial"/>
                <a:cs typeface="Arial"/>
                <a:sym typeface="Arial"/>
              </a:rPr>
              <a:t>function</a:t>
            </a:r>
            <a:r>
              <a:rPr lang="en-US" sz="3600" u="none" cap="none" strike="noStrike">
                <a:solidFill>
                  <a:schemeClr val="lt1"/>
                </a:solidFill>
                <a:latin typeface="Arial"/>
                <a:ea typeface="Arial"/>
                <a:cs typeface="Arial"/>
                <a:sym typeface="Arial"/>
              </a:rPr>
              <a:t> by using the function name, parenthes</a:t>
            </a:r>
            <a:r>
              <a:rPr lang="en-US" sz="3600">
                <a:solidFill>
                  <a:schemeClr val="lt1"/>
                </a:solidFill>
                <a:latin typeface="Arial"/>
                <a:ea typeface="Arial"/>
                <a:cs typeface="Arial"/>
                <a:sym typeface="Arial"/>
              </a:rPr>
              <a:t>e</a:t>
            </a:r>
            <a:r>
              <a:rPr lang="en-US" sz="3600" u="none" cap="none" strike="noStrike">
                <a:solidFill>
                  <a:schemeClr val="lt1"/>
                </a:solidFill>
                <a:latin typeface="Arial"/>
                <a:ea typeface="Arial"/>
                <a:cs typeface="Arial"/>
                <a:sym typeface="Arial"/>
              </a:rPr>
              <a:t>s, and </a:t>
            </a:r>
            <a:r>
              <a:rPr lang="en-US" sz="3600" u="none" cap="none" strike="noStrike">
                <a:solidFill>
                  <a:srgbClr val="FF7F00"/>
                </a:solidFill>
                <a:latin typeface="Arial"/>
                <a:ea typeface="Arial"/>
                <a:cs typeface="Arial"/>
                <a:sym typeface="Arial"/>
              </a:rPr>
              <a:t>arguments</a:t>
            </a:r>
            <a:r>
              <a:rPr lang="en-US" sz="3600" u="none" cap="none" strike="noStrike">
                <a:solidFill>
                  <a:schemeClr val="lt1"/>
                </a:solidFill>
                <a:latin typeface="Arial"/>
                <a:ea typeface="Arial"/>
                <a:cs typeface="Arial"/>
                <a:sym typeface="Arial"/>
              </a:rPr>
              <a:t> in an expression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5"/>
          <p:cNvSpPr txBox="1"/>
          <p:nvPr>
            <p:ph type="title"/>
          </p:nvPr>
        </p:nvSpPr>
        <p:spPr>
          <a:xfrm>
            <a:off x="1155700" y="1536700"/>
            <a:ext cx="13931900" cy="3086099"/>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rgbClr val="FFD966"/>
              </a:buClr>
              <a:buSzPts val="7200"/>
              <a:buFont typeface="Arial"/>
              <a:buNone/>
            </a:pPr>
            <a:r>
              <a:rPr lang="en-US" sz="7200">
                <a:solidFill>
                  <a:srgbClr val="FFD966"/>
                </a:solidFill>
                <a:latin typeface="Arial"/>
                <a:ea typeface="Arial"/>
                <a:cs typeface="Arial"/>
                <a:sym typeface="Arial"/>
              </a:rPr>
              <a:t>Functions of Our Own…</a:t>
            </a:r>
            <a:endParaRPr sz="7200">
              <a:solidFill>
                <a:srgbClr val="FFD966"/>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6"/>
          <p:cNvSpPr txBox="1"/>
          <p:nvPr>
            <p:ph type="title"/>
          </p:nvPr>
        </p:nvSpPr>
        <p:spPr>
          <a:xfrm>
            <a:off x="1155700" y="803564"/>
            <a:ext cx="13932000" cy="1736336"/>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lang="en-US" sz="7600" u="none" cap="none" strike="noStrike">
                <a:solidFill>
                  <a:srgbClr val="FFD966"/>
                </a:solidFill>
                <a:latin typeface="Arial"/>
                <a:ea typeface="Arial"/>
                <a:cs typeface="Arial"/>
                <a:sym typeface="Arial"/>
              </a:rPr>
              <a:t>Building our Own Functions</a:t>
            </a:r>
            <a:endParaRPr/>
          </a:p>
        </p:txBody>
      </p:sp>
      <p:sp>
        <p:nvSpPr>
          <p:cNvPr id="71" name="Google Shape;71;p6"/>
          <p:cNvSpPr txBox="1"/>
          <p:nvPr>
            <p:ph idx="1" type="body"/>
          </p:nvPr>
        </p:nvSpPr>
        <p:spPr>
          <a:xfrm>
            <a:off x="1155700" y="2603500"/>
            <a:ext cx="13932000" cy="3725863"/>
          </a:xfrm>
          <a:prstGeom prst="rect">
            <a:avLst/>
          </a:prstGeom>
          <a:noFill/>
          <a:ln>
            <a:noFill/>
          </a:ln>
        </p:spPr>
        <p:txBody>
          <a:bodyPr anchorCtr="0" anchor="ctr" bIns="38100" lIns="38100" spcFirstLastPara="1" rIns="38100" wrap="square" tIns="38100">
            <a:noAutofit/>
          </a:bodyPr>
          <a:lstStyle/>
          <a:p>
            <a:pPr indent="-371094" lvl="0" marL="749300" marR="0" rtl="0" algn="l">
              <a:lnSpc>
                <a:spcPct val="100000"/>
              </a:lnSpc>
              <a:spcBef>
                <a:spcPts val="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We create a new</a:t>
            </a:r>
            <a:r>
              <a:rPr lang="en-US" sz="3600" u="none" cap="none" strike="noStrike">
                <a:solidFill>
                  <a:srgbClr val="FFFFFF"/>
                </a:solidFill>
                <a:latin typeface="Arial"/>
                <a:ea typeface="Arial"/>
                <a:cs typeface="Arial"/>
                <a:sym typeface="Arial"/>
              </a:rPr>
              <a:t> function </a:t>
            </a:r>
            <a:r>
              <a:rPr lang="en-US" sz="3600" u="none" cap="none" strike="noStrike">
                <a:solidFill>
                  <a:schemeClr val="lt1"/>
                </a:solidFill>
                <a:latin typeface="Arial"/>
                <a:ea typeface="Arial"/>
                <a:cs typeface="Arial"/>
                <a:sym typeface="Arial"/>
              </a:rPr>
              <a:t>using the </a:t>
            </a:r>
            <a:r>
              <a:rPr lang="en-US" sz="3600" u="none" cap="none" strike="noStrike">
                <a:solidFill>
                  <a:srgbClr val="FFFF00"/>
                </a:solidFill>
                <a:latin typeface="Arial"/>
                <a:ea typeface="Arial"/>
                <a:cs typeface="Arial"/>
                <a:sym typeface="Arial"/>
              </a:rPr>
              <a:t>def</a:t>
            </a:r>
            <a:r>
              <a:rPr lang="en-US" sz="3600" u="none" cap="none" strike="noStrike">
                <a:solidFill>
                  <a:schemeClr val="lt1"/>
                </a:solidFill>
                <a:latin typeface="Arial"/>
                <a:ea typeface="Arial"/>
                <a:cs typeface="Arial"/>
                <a:sym typeface="Arial"/>
              </a:rPr>
              <a:t> keyword followed by optional parameters in parenthes</a:t>
            </a:r>
            <a:r>
              <a:rPr lang="en-US" sz="3600">
                <a:solidFill>
                  <a:schemeClr val="lt1"/>
                </a:solidFill>
                <a:latin typeface="Arial"/>
                <a:ea typeface="Arial"/>
                <a:cs typeface="Arial"/>
                <a:sym typeface="Arial"/>
              </a:rPr>
              <a:t>e</a:t>
            </a:r>
            <a:r>
              <a:rPr lang="en-US" sz="3600" u="none" cap="none" strike="noStrike">
                <a:solidFill>
                  <a:schemeClr val="lt1"/>
                </a:solidFill>
                <a:latin typeface="Arial"/>
                <a:ea typeface="Arial"/>
                <a:cs typeface="Arial"/>
                <a:sym typeface="Arial"/>
              </a:rPr>
              <a:t>s</a:t>
            </a:r>
            <a:endParaRPr/>
          </a:p>
          <a:p>
            <a:pPr indent="-371094" lvl="0" marL="7493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We indent the body of the function</a:t>
            </a:r>
            <a:endParaRPr/>
          </a:p>
          <a:p>
            <a:pPr indent="-371094" lvl="0" marL="7493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This </a:t>
            </a:r>
            <a:r>
              <a:rPr lang="en-US" sz="3600" u="none" cap="none" strike="noStrike">
                <a:solidFill>
                  <a:srgbClr val="FFFF00"/>
                </a:solidFill>
                <a:latin typeface="Arial"/>
                <a:ea typeface="Arial"/>
                <a:cs typeface="Arial"/>
                <a:sym typeface="Arial"/>
              </a:rPr>
              <a:t>defines</a:t>
            </a:r>
            <a:r>
              <a:rPr lang="en-US" sz="3600" u="none" cap="none" strike="noStrike">
                <a:solidFill>
                  <a:schemeClr val="lt1"/>
                </a:solidFill>
                <a:latin typeface="Arial"/>
                <a:ea typeface="Arial"/>
                <a:cs typeface="Arial"/>
                <a:sym typeface="Arial"/>
              </a:rPr>
              <a:t> the function but </a:t>
            </a:r>
            <a:r>
              <a:rPr lang="en-US" sz="3600" u="none" cap="none" strike="noStrike">
                <a:solidFill>
                  <a:srgbClr val="FF7F00"/>
                </a:solidFill>
                <a:latin typeface="Arial"/>
                <a:ea typeface="Arial"/>
                <a:cs typeface="Arial"/>
                <a:sym typeface="Arial"/>
              </a:rPr>
              <a:t>does not</a:t>
            </a:r>
            <a:r>
              <a:rPr lang="en-US" sz="3600" u="none" cap="none" strike="noStrike">
                <a:solidFill>
                  <a:schemeClr val="lt1"/>
                </a:solidFill>
                <a:latin typeface="Arial"/>
                <a:ea typeface="Arial"/>
                <a:cs typeface="Arial"/>
                <a:sym typeface="Arial"/>
              </a:rPr>
              <a:t> execute the body of the function</a:t>
            </a:r>
            <a:endParaRPr/>
          </a:p>
        </p:txBody>
      </p:sp>
      <p:sp>
        <p:nvSpPr>
          <p:cNvPr id="72" name="Google Shape;72;p6"/>
          <p:cNvSpPr txBox="1"/>
          <p:nvPr/>
        </p:nvSpPr>
        <p:spPr>
          <a:xfrm>
            <a:off x="3761925" y="6689000"/>
            <a:ext cx="9938400" cy="166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00"/>
              </a:buClr>
              <a:buSzPts val="650"/>
              <a:buFont typeface="Cabin"/>
              <a:buNone/>
            </a:pPr>
            <a:r>
              <a:rPr b="0" i="0" lang="en-US" sz="2600" u="none" cap="none" strike="noStrike">
                <a:solidFill>
                  <a:srgbClr val="FFFF00"/>
                </a:solidFill>
                <a:latin typeface="Courier"/>
                <a:ea typeface="Courier"/>
                <a:cs typeface="Courier"/>
                <a:sym typeface="Courier"/>
              </a:rPr>
              <a:t>def</a:t>
            </a:r>
            <a:r>
              <a:rPr b="0" i="0" lang="en-US" sz="2600" u="none" cap="none" strike="noStrike">
                <a:solidFill>
                  <a:schemeClr val="lt1"/>
                </a:solidFill>
                <a:latin typeface="Courier"/>
                <a:ea typeface="Courier"/>
                <a:cs typeface="Courier"/>
                <a:sym typeface="Courier"/>
              </a:rPr>
              <a:t> </a:t>
            </a:r>
            <a:r>
              <a:rPr b="0" i="0" lang="en-US" sz="2600" u="none" cap="none" strike="noStrike">
                <a:solidFill>
                  <a:srgbClr val="00FF00"/>
                </a:solidFill>
                <a:latin typeface="Courier"/>
                <a:ea typeface="Courier"/>
                <a:cs typeface="Courier"/>
                <a:sym typeface="Courier"/>
              </a:rPr>
              <a:t>print_lyrics</a:t>
            </a:r>
            <a:r>
              <a:rPr b="0" i="0" lang="en-US" sz="26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50"/>
              <a:buFont typeface="Cabin"/>
              <a:buNone/>
            </a:pPr>
            <a:r>
              <a:rPr b="0" i="0" lang="en-US" sz="2600" u="none" cap="none" strike="noStrike">
                <a:solidFill>
                  <a:schemeClr val="lt1"/>
                </a:solidFill>
                <a:latin typeface="Courier"/>
                <a:ea typeface="Courier"/>
                <a:cs typeface="Courier"/>
                <a:sym typeface="Courier"/>
              </a:rPr>
              <a:t>    </a:t>
            </a:r>
            <a:r>
              <a:rPr b="0" i="0" lang="en-US" sz="2600" u="none" cap="none" strike="noStrike">
                <a:solidFill>
                  <a:srgbClr val="FFFF00"/>
                </a:solidFill>
                <a:latin typeface="Courier"/>
                <a:ea typeface="Courier"/>
                <a:cs typeface="Courier"/>
                <a:sym typeface="Courier"/>
              </a:rPr>
              <a:t>print</a:t>
            </a:r>
            <a:r>
              <a:rPr b="0" i="0" lang="en-US" sz="2600" u="none" cap="none" strike="noStrike">
                <a:solidFill>
                  <a:schemeClr val="lt1"/>
                </a:solidFill>
                <a:latin typeface="Courier"/>
                <a:ea typeface="Courier"/>
                <a:cs typeface="Courier"/>
                <a:sym typeface="Courier"/>
              </a:rPr>
              <a:t>("I'm a lumberjack, and I'm okay.")</a:t>
            </a:r>
            <a:endParaRPr b="0" i="0" sz="2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50"/>
              <a:buFont typeface="Cabin"/>
              <a:buNone/>
            </a:pPr>
            <a:r>
              <a:rPr b="0" i="0" lang="en-US" sz="2600" u="none" cap="none" strike="noStrike">
                <a:solidFill>
                  <a:schemeClr val="lt1"/>
                </a:solidFill>
                <a:latin typeface="Courier"/>
                <a:ea typeface="Courier"/>
                <a:cs typeface="Courier"/>
                <a:sym typeface="Courier"/>
              </a:rPr>
              <a:t>    </a:t>
            </a:r>
            <a:r>
              <a:rPr b="0" i="0" lang="en-US" sz="2600" u="none" cap="none" strike="noStrike">
                <a:solidFill>
                  <a:srgbClr val="FFFF00"/>
                </a:solidFill>
                <a:latin typeface="Courier"/>
                <a:ea typeface="Courier"/>
                <a:cs typeface="Courier"/>
                <a:sym typeface="Courier"/>
              </a:rPr>
              <a:t>print</a:t>
            </a:r>
            <a:r>
              <a:rPr b="0" i="0" lang="en-US" sz="2600" u="none" cap="none" strike="noStrike">
                <a:solidFill>
                  <a:schemeClr val="lt1"/>
                </a:solidFill>
                <a:latin typeface="Courier"/>
                <a:ea typeface="Courier"/>
                <a:cs typeface="Courier"/>
                <a:sym typeface="Courier"/>
              </a:rPr>
              <a:t>('I sleep all night and I work all day.')</a:t>
            </a:r>
            <a:endParaRPr b="0" i="0" sz="2600" u="none" cap="none" strike="noStrike">
              <a:solidFill>
                <a:schemeClr val="lt1"/>
              </a:solidFill>
              <a:latin typeface="Courier"/>
              <a:ea typeface="Courier"/>
              <a:cs typeface="Courier"/>
              <a:sym typeface="Couri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7"/>
          <p:cNvSpPr txBox="1"/>
          <p:nvPr/>
        </p:nvSpPr>
        <p:spPr>
          <a:xfrm>
            <a:off x="1078375" y="985825"/>
            <a:ext cx="11715899" cy="6092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Courier"/>
                <a:ea typeface="Courier"/>
                <a:cs typeface="Courier"/>
                <a:sym typeface="Courier"/>
              </a:rPr>
              <a:t>x</a:t>
            </a:r>
            <a:r>
              <a:rPr b="0" i="0" lang="en-US" sz="3000" u="none" cap="none" strike="noStrike">
                <a:solidFill>
                  <a:schemeClr val="lt1"/>
                </a:solidFill>
                <a:latin typeface="Courier"/>
                <a:ea typeface="Courier"/>
                <a:cs typeface="Courier"/>
                <a:sym typeface="Courier"/>
              </a:rPr>
              <a:t> =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('Hello')</a:t>
            </a:r>
            <a:endParaRPr b="0" i="0" sz="3000" u="none" cap="none" strike="noStrike">
              <a:solidFill>
                <a:schemeClr val="lt1"/>
              </a:solidFill>
              <a:latin typeface="Courier"/>
              <a:ea typeface="Courier"/>
              <a:cs typeface="Courier"/>
              <a:sym typeface="Courier"/>
            </a:endParaRPr>
          </a:p>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def</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print_lyrics</a:t>
            </a:r>
            <a:r>
              <a:rPr b="0" i="0" lang="en-US" sz="3000" u="none" cap="none" strike="noStrike">
                <a:solidFill>
                  <a:schemeClr val="lt1"/>
                </a:solidFill>
                <a:latin typeface="Courier"/>
                <a:ea typeface="Courier"/>
                <a:cs typeface="Courier"/>
                <a:sym typeface="Courier"/>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("I'm a lumberjack, and I'm okay.")</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('I sleep all night and I work all day.')</a:t>
            </a:r>
            <a:endParaRPr b="0" i="0" sz="3000" u="none" cap="none" strike="noStrike">
              <a:solidFill>
                <a:schemeClr val="lt1"/>
              </a:solidFill>
              <a:latin typeface="Courier"/>
              <a:ea typeface="Courier"/>
              <a:cs typeface="Courier"/>
              <a:sym typeface="Courier"/>
            </a:endParaRPr>
          </a:p>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('Yo')</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Courier"/>
                <a:ea typeface="Courier"/>
                <a:cs typeface="Courier"/>
                <a:sym typeface="Courier"/>
              </a:rPr>
              <a:t>print_lyrics</a:t>
            </a:r>
            <a:r>
              <a:rPr b="0" i="0" lang="en-US" sz="30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Courier"/>
                <a:ea typeface="Courier"/>
                <a:cs typeface="Courier"/>
                <a:sym typeface="Courier"/>
              </a:rPr>
              <a:t>x</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00FF00"/>
                </a:solidFill>
                <a:latin typeface="Courier"/>
                <a:ea typeface="Courier"/>
                <a:cs typeface="Courier"/>
                <a:sym typeface="Courier"/>
              </a:rPr>
              <a:t>x</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FF"/>
                </a:solidFill>
                <a:latin typeface="Courier"/>
                <a:ea typeface="Courier"/>
                <a:cs typeface="Courier"/>
                <a:sym typeface="Courier"/>
              </a:rPr>
              <a:t>+</a:t>
            </a:r>
            <a:r>
              <a:rPr b="0" i="0" lang="en-US" sz="3000" u="none" cap="none" strike="noStrike">
                <a:solidFill>
                  <a:schemeClr val="lt1"/>
                </a:solidFill>
                <a:latin typeface="Courier"/>
                <a:ea typeface="Courier"/>
                <a:cs typeface="Courier"/>
                <a:sym typeface="Courier"/>
              </a:rPr>
              <a:t>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x</a:t>
            </a:r>
            <a:r>
              <a:rPr b="0" i="0" lang="en-US" sz="3000" u="none" cap="none" strike="noStrike">
                <a:solidFill>
                  <a:schemeClr val="lt1"/>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p:txBody>
      </p:sp>
      <p:sp>
        <p:nvSpPr>
          <p:cNvPr id="78" name="Google Shape;78;p7"/>
          <p:cNvSpPr txBox="1"/>
          <p:nvPr/>
        </p:nvSpPr>
        <p:spPr>
          <a:xfrm>
            <a:off x="8877300" y="5327650"/>
            <a:ext cx="6913685" cy="2705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00"/>
              </a:buClr>
              <a:buSzPts val="900"/>
              <a:buFont typeface="Cabin"/>
              <a:buNone/>
            </a:pPr>
            <a:r>
              <a:rPr b="0" i="0" lang="en-US" sz="3600" u="none" cap="none" strike="noStrike">
                <a:solidFill>
                  <a:srgbClr val="FFFF00"/>
                </a:solidFill>
                <a:latin typeface="Arial"/>
                <a:ea typeface="Arial"/>
                <a:cs typeface="Arial"/>
                <a:sym typeface="Arial"/>
              </a:rPr>
              <a:t>Hello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900"/>
              <a:buFont typeface="Cabin"/>
              <a:buNone/>
            </a:pPr>
            <a:r>
              <a:rPr b="0" i="0" lang="en-US" sz="3600" u="none" cap="none" strike="noStrike">
                <a:solidFill>
                  <a:srgbClr val="FFFF00"/>
                </a:solidFill>
                <a:latin typeface="Arial"/>
                <a:ea typeface="Arial"/>
                <a:cs typeface="Arial"/>
                <a:sym typeface="Arial"/>
              </a:rPr>
              <a:t>Yo</a:t>
            </a:r>
            <a:endParaRPr b="0" i="0" sz="3600" u="none" cap="none" strike="noStrike">
              <a:solidFill>
                <a:srgbClr val="FFFF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900"/>
              <a:buFont typeface="Cabin"/>
              <a:buNone/>
            </a:pPr>
            <a:r>
              <a:rPr b="0" i="0" lang="en-US" sz="3600" u="none" cap="none" strike="noStrike">
                <a:solidFill>
                  <a:srgbClr val="00FF00"/>
                </a:solidFill>
                <a:latin typeface="Arial"/>
                <a:ea typeface="Arial"/>
                <a:cs typeface="Arial"/>
                <a:sym typeface="Arial"/>
              </a:rPr>
              <a:t>I'm a lumberjack, and I'm okay.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900"/>
              <a:buFont typeface="Cabin"/>
              <a:buNone/>
            </a:pPr>
            <a:r>
              <a:rPr b="0" i="0" lang="en-US" sz="3600" u="none" cap="none" strike="noStrike">
                <a:solidFill>
                  <a:srgbClr val="00FF00"/>
                </a:solidFill>
                <a:latin typeface="Arial"/>
                <a:ea typeface="Arial"/>
                <a:cs typeface="Arial"/>
                <a:sym typeface="Arial"/>
              </a:rPr>
              <a:t>I sleep all night and I work all day.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900"/>
              <a:buFont typeface="Cabin"/>
              <a:buNone/>
            </a:pPr>
            <a:r>
              <a:rPr b="0" i="0" lang="en-US" sz="3600" u="none" cap="none" strike="noStrike">
                <a:solidFill>
                  <a:srgbClr val="FFFF00"/>
                </a:solidFill>
                <a:latin typeface="Arial"/>
                <a:ea typeface="Arial"/>
                <a:cs typeface="Arial"/>
                <a:sym typeface="Arial"/>
              </a:rPr>
              <a:t>7</a:t>
            </a:r>
            <a:endParaRPr b="0" i="0" sz="1400" u="none" cap="none" strike="noStrike">
              <a:solidFill>
                <a:srgbClr val="000000"/>
              </a:solidFill>
              <a:latin typeface="Arial"/>
              <a:ea typeface="Arial"/>
              <a:cs typeface="Arial"/>
              <a:sym typeface="Arial"/>
            </a:endParaRPr>
          </a:p>
        </p:txBody>
      </p:sp>
      <p:cxnSp>
        <p:nvCxnSpPr>
          <p:cNvPr id="79" name="Google Shape;79;p7"/>
          <p:cNvCxnSpPr/>
          <p:nvPr/>
        </p:nvCxnSpPr>
        <p:spPr>
          <a:xfrm rot="10800000">
            <a:off x="4334486" y="5532361"/>
            <a:ext cx="4353900" cy="1343099"/>
          </a:xfrm>
          <a:prstGeom prst="straightConnector1">
            <a:avLst/>
          </a:prstGeom>
          <a:noFill/>
          <a:ln cap="rnd" cmpd="sng" w="88900">
            <a:solidFill>
              <a:srgbClr val="00FF00"/>
            </a:solidFill>
            <a:prstDash val="solid"/>
            <a:miter lim="8000"/>
            <a:headEnd len="med" w="med" type="stealth"/>
            <a:tailEnd len="sm" w="sm"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8"/>
          <p:cNvSpPr txBox="1"/>
          <p:nvPr>
            <p:ph type="title"/>
          </p:nvPr>
        </p:nvSpPr>
        <p:spPr>
          <a:xfrm>
            <a:off x="1155700" y="803564"/>
            <a:ext cx="13627100" cy="1736336"/>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7F00"/>
              </a:buClr>
              <a:buSzPts val="1900"/>
              <a:buFont typeface="Cabin"/>
              <a:buNone/>
            </a:pPr>
            <a:r>
              <a:rPr lang="en-US" sz="7600" u="none" cap="none" strike="noStrike">
                <a:solidFill>
                  <a:srgbClr val="FFD966"/>
                </a:solidFill>
                <a:latin typeface="Arial"/>
                <a:ea typeface="Arial"/>
                <a:cs typeface="Arial"/>
                <a:sym typeface="Arial"/>
              </a:rPr>
              <a:t>Arguments</a:t>
            </a:r>
            <a:endParaRPr/>
          </a:p>
        </p:txBody>
      </p:sp>
      <p:sp>
        <p:nvSpPr>
          <p:cNvPr id="85" name="Google Shape;85;p8"/>
          <p:cNvSpPr txBox="1"/>
          <p:nvPr>
            <p:ph idx="1" type="body"/>
          </p:nvPr>
        </p:nvSpPr>
        <p:spPr>
          <a:xfrm>
            <a:off x="1155700" y="2603501"/>
            <a:ext cx="13932000" cy="3911600"/>
          </a:xfrm>
          <a:prstGeom prst="rect">
            <a:avLst/>
          </a:prstGeom>
          <a:noFill/>
          <a:ln>
            <a:noFill/>
          </a:ln>
        </p:spPr>
        <p:txBody>
          <a:bodyPr anchorCtr="0" anchor="ctr" bIns="38100" lIns="38100" spcFirstLastPara="1" rIns="38100" wrap="square" tIns="38100">
            <a:noAutofit/>
          </a:bodyPr>
          <a:lstStyle/>
          <a:p>
            <a:pPr indent="-371094" lvl="0" marL="749300" marR="0" rtl="0" algn="l">
              <a:lnSpc>
                <a:spcPct val="100000"/>
              </a:lnSpc>
              <a:spcBef>
                <a:spcPts val="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An </a:t>
            </a:r>
            <a:r>
              <a:rPr lang="en-US" sz="3600" u="none" cap="none" strike="noStrike">
                <a:solidFill>
                  <a:srgbClr val="FF7F00"/>
                </a:solidFill>
                <a:latin typeface="Arial"/>
                <a:ea typeface="Arial"/>
                <a:cs typeface="Arial"/>
                <a:sym typeface="Arial"/>
              </a:rPr>
              <a:t>argument</a:t>
            </a:r>
            <a:r>
              <a:rPr lang="en-US" sz="3600" u="none" cap="none" strike="noStrike">
                <a:solidFill>
                  <a:schemeClr val="lt1"/>
                </a:solidFill>
                <a:latin typeface="Arial"/>
                <a:ea typeface="Arial"/>
                <a:cs typeface="Arial"/>
                <a:sym typeface="Arial"/>
              </a:rPr>
              <a:t> is a value we pass into the </a:t>
            </a:r>
            <a:r>
              <a:rPr lang="en-US" sz="3600" u="none" cap="none" strike="noStrike">
                <a:solidFill>
                  <a:srgbClr val="FF00FF"/>
                </a:solidFill>
                <a:latin typeface="Arial"/>
                <a:ea typeface="Arial"/>
                <a:cs typeface="Arial"/>
                <a:sym typeface="Arial"/>
              </a:rPr>
              <a:t>function</a:t>
            </a:r>
            <a:r>
              <a:rPr lang="en-US" sz="3600" u="none" cap="none" strike="noStrike">
                <a:solidFill>
                  <a:schemeClr val="lt1"/>
                </a:solidFill>
                <a:latin typeface="Arial"/>
                <a:ea typeface="Arial"/>
                <a:cs typeface="Arial"/>
                <a:sym typeface="Arial"/>
              </a:rPr>
              <a:t> as its </a:t>
            </a:r>
            <a:r>
              <a:rPr lang="en-US" sz="3600" u="none" cap="none" strike="noStrike">
                <a:solidFill>
                  <a:srgbClr val="FF7F00"/>
                </a:solidFill>
                <a:latin typeface="Arial"/>
                <a:ea typeface="Arial"/>
                <a:cs typeface="Arial"/>
                <a:sym typeface="Arial"/>
              </a:rPr>
              <a:t>input</a:t>
            </a:r>
            <a:r>
              <a:rPr lang="en-US" sz="3600" u="none" cap="none" strike="noStrike">
                <a:solidFill>
                  <a:schemeClr val="lt1"/>
                </a:solidFill>
                <a:latin typeface="Arial"/>
                <a:ea typeface="Arial"/>
                <a:cs typeface="Arial"/>
                <a:sym typeface="Arial"/>
              </a:rPr>
              <a:t> when we call the function</a:t>
            </a:r>
            <a:endParaRPr/>
          </a:p>
          <a:p>
            <a:pPr indent="-371094" lvl="0" marL="7493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We use </a:t>
            </a:r>
            <a:r>
              <a:rPr lang="en-US" sz="3600" u="none" cap="none" strike="noStrike">
                <a:solidFill>
                  <a:srgbClr val="FF7F00"/>
                </a:solidFill>
                <a:latin typeface="Arial"/>
                <a:ea typeface="Arial"/>
                <a:cs typeface="Arial"/>
                <a:sym typeface="Arial"/>
              </a:rPr>
              <a:t>arguments</a:t>
            </a:r>
            <a:r>
              <a:rPr lang="en-US" sz="3600" u="none" cap="none" strike="noStrike">
                <a:solidFill>
                  <a:schemeClr val="lt1"/>
                </a:solidFill>
                <a:latin typeface="Arial"/>
                <a:ea typeface="Arial"/>
                <a:cs typeface="Arial"/>
                <a:sym typeface="Arial"/>
              </a:rPr>
              <a:t> so we can direct the </a:t>
            </a:r>
            <a:r>
              <a:rPr lang="en-US" sz="3600" u="none" cap="none" strike="noStrike">
                <a:solidFill>
                  <a:srgbClr val="FF00FF"/>
                </a:solidFill>
                <a:latin typeface="Arial"/>
                <a:ea typeface="Arial"/>
                <a:cs typeface="Arial"/>
                <a:sym typeface="Arial"/>
              </a:rPr>
              <a:t>function</a:t>
            </a:r>
            <a:r>
              <a:rPr lang="en-US" sz="3600" u="none" cap="none" strike="noStrike">
                <a:solidFill>
                  <a:schemeClr val="lt1"/>
                </a:solidFill>
                <a:latin typeface="Arial"/>
                <a:ea typeface="Arial"/>
                <a:cs typeface="Arial"/>
                <a:sym typeface="Arial"/>
              </a:rPr>
              <a:t> to do different kinds of work when we call it at </a:t>
            </a:r>
            <a:r>
              <a:rPr lang="en-US" sz="3600" u="none" cap="none" strike="noStrike">
                <a:solidFill>
                  <a:srgbClr val="FF7F00"/>
                </a:solidFill>
                <a:latin typeface="Arial"/>
                <a:ea typeface="Arial"/>
                <a:cs typeface="Arial"/>
                <a:sym typeface="Arial"/>
              </a:rPr>
              <a:t>different</a:t>
            </a:r>
            <a:r>
              <a:rPr lang="en-US" sz="3600" u="none" cap="none" strike="noStrike">
                <a:solidFill>
                  <a:schemeClr val="lt1"/>
                </a:solidFill>
                <a:latin typeface="Arial"/>
                <a:ea typeface="Arial"/>
                <a:cs typeface="Arial"/>
                <a:sym typeface="Arial"/>
              </a:rPr>
              <a:t> times</a:t>
            </a:r>
            <a:endParaRPr/>
          </a:p>
          <a:p>
            <a:pPr indent="-371094" lvl="0" marL="7493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We put the </a:t>
            </a:r>
            <a:r>
              <a:rPr lang="en-US" sz="3600" u="none" cap="none" strike="noStrike">
                <a:solidFill>
                  <a:srgbClr val="FF7F00"/>
                </a:solidFill>
                <a:latin typeface="Arial"/>
                <a:ea typeface="Arial"/>
                <a:cs typeface="Arial"/>
                <a:sym typeface="Arial"/>
              </a:rPr>
              <a:t>arguments</a:t>
            </a:r>
            <a:r>
              <a:rPr lang="en-US" sz="3600" u="none" cap="none" strike="noStrike">
                <a:solidFill>
                  <a:schemeClr val="lt1"/>
                </a:solidFill>
                <a:latin typeface="Arial"/>
                <a:ea typeface="Arial"/>
                <a:cs typeface="Arial"/>
                <a:sym typeface="Arial"/>
              </a:rPr>
              <a:t> in parenthes</a:t>
            </a:r>
            <a:r>
              <a:rPr lang="en-US" sz="3600">
                <a:solidFill>
                  <a:schemeClr val="lt1"/>
                </a:solidFill>
                <a:latin typeface="Arial"/>
                <a:ea typeface="Arial"/>
                <a:cs typeface="Arial"/>
                <a:sym typeface="Arial"/>
              </a:rPr>
              <a:t>e</a:t>
            </a:r>
            <a:r>
              <a:rPr lang="en-US" sz="3600" u="none" cap="none" strike="noStrike">
                <a:solidFill>
                  <a:schemeClr val="lt1"/>
                </a:solidFill>
                <a:latin typeface="Arial"/>
                <a:ea typeface="Arial"/>
                <a:cs typeface="Arial"/>
                <a:sym typeface="Arial"/>
              </a:rPr>
              <a:t>s after the </a:t>
            </a:r>
            <a:r>
              <a:rPr lang="en-US" sz="3600" u="none" cap="none" strike="noStrike">
                <a:solidFill>
                  <a:srgbClr val="FF00FF"/>
                </a:solidFill>
                <a:latin typeface="Arial"/>
                <a:ea typeface="Arial"/>
                <a:cs typeface="Arial"/>
                <a:sym typeface="Arial"/>
              </a:rPr>
              <a:t>name</a:t>
            </a:r>
            <a:r>
              <a:rPr lang="en-US" sz="3600" u="none" cap="none" strike="noStrike">
                <a:solidFill>
                  <a:schemeClr val="lt1"/>
                </a:solidFill>
                <a:latin typeface="Arial"/>
                <a:ea typeface="Arial"/>
                <a:cs typeface="Arial"/>
                <a:sym typeface="Arial"/>
              </a:rPr>
              <a:t> of the function</a:t>
            </a:r>
            <a:endParaRPr/>
          </a:p>
        </p:txBody>
      </p:sp>
      <p:sp>
        <p:nvSpPr>
          <p:cNvPr id="86" name="Google Shape;86;p8"/>
          <p:cNvSpPr txBox="1"/>
          <p:nvPr/>
        </p:nvSpPr>
        <p:spPr>
          <a:xfrm>
            <a:off x="4635500" y="6718296"/>
            <a:ext cx="7580313" cy="8127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1225"/>
              <a:buFont typeface="Cabin"/>
              <a:buNone/>
            </a:pPr>
            <a:r>
              <a:rPr b="0" i="0" lang="en-US" sz="4900" u="none" cap="none" strike="noStrike">
                <a:solidFill>
                  <a:srgbClr val="00FF00"/>
                </a:solidFill>
                <a:latin typeface="Arial"/>
                <a:ea typeface="Arial"/>
                <a:cs typeface="Arial"/>
                <a:sym typeface="Arial"/>
              </a:rPr>
              <a:t>big</a:t>
            </a:r>
            <a:r>
              <a:rPr b="0" i="0" lang="en-US" sz="4900" u="none" cap="none" strike="noStrike">
                <a:solidFill>
                  <a:schemeClr val="lt1"/>
                </a:solidFill>
                <a:latin typeface="Arial"/>
                <a:ea typeface="Arial"/>
                <a:cs typeface="Arial"/>
                <a:sym typeface="Arial"/>
              </a:rPr>
              <a:t> = </a:t>
            </a:r>
            <a:r>
              <a:rPr b="0" i="0" lang="en-US" sz="4900" u="none" cap="none" strike="noStrike">
                <a:solidFill>
                  <a:srgbClr val="FF00FF"/>
                </a:solidFill>
                <a:latin typeface="Arial"/>
                <a:ea typeface="Arial"/>
                <a:cs typeface="Arial"/>
                <a:sym typeface="Arial"/>
              </a:rPr>
              <a:t>max</a:t>
            </a:r>
            <a:r>
              <a:rPr b="0" i="0" lang="en-US" sz="4900" u="none" cap="none" strike="noStrike">
                <a:solidFill>
                  <a:schemeClr val="lt1"/>
                </a:solidFill>
                <a:latin typeface="Arial"/>
                <a:ea typeface="Arial"/>
                <a:cs typeface="Arial"/>
                <a:sym typeface="Arial"/>
              </a:rPr>
              <a:t>(</a:t>
            </a:r>
            <a:r>
              <a:rPr b="0" i="0" lang="en-US" sz="4900" u="none" cap="none" strike="noStrike">
                <a:solidFill>
                  <a:srgbClr val="FF7F00"/>
                </a:solidFill>
                <a:latin typeface="Arial"/>
                <a:ea typeface="Arial"/>
                <a:cs typeface="Arial"/>
                <a:sym typeface="Arial"/>
              </a:rPr>
              <a:t>'Hello world'</a:t>
            </a:r>
            <a:r>
              <a:rPr b="0" i="0" lang="en-US" sz="4900" u="none" cap="none" strike="noStrike">
                <a:solidFill>
                  <a:schemeClr val="lt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87" name="Google Shape;87;p8"/>
          <p:cNvSpPr txBox="1"/>
          <p:nvPr/>
        </p:nvSpPr>
        <p:spPr>
          <a:xfrm>
            <a:off x="11498261" y="7823196"/>
            <a:ext cx="2446339" cy="6222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7F00"/>
              </a:buClr>
              <a:buSzPts val="900"/>
              <a:buFont typeface="Cabin"/>
              <a:buNone/>
            </a:pPr>
            <a:r>
              <a:rPr b="0" i="0" lang="en-US" sz="3600" u="none" cap="none" strike="noStrike">
                <a:solidFill>
                  <a:srgbClr val="FF7F00"/>
                </a:solidFill>
                <a:latin typeface="Arial"/>
                <a:ea typeface="Arial"/>
                <a:cs typeface="Arial"/>
                <a:sym typeface="Arial"/>
              </a:rPr>
              <a:t>Argument</a:t>
            </a:r>
            <a:endParaRPr b="0" i="0" sz="1400" u="none" cap="none" strike="noStrike">
              <a:solidFill>
                <a:srgbClr val="000000"/>
              </a:solidFill>
              <a:latin typeface="Arial"/>
              <a:ea typeface="Arial"/>
              <a:cs typeface="Arial"/>
              <a:sym typeface="Arial"/>
            </a:endParaRPr>
          </a:p>
        </p:txBody>
      </p:sp>
      <p:cxnSp>
        <p:nvCxnSpPr>
          <p:cNvPr id="88" name="Google Shape;88;p8"/>
          <p:cNvCxnSpPr/>
          <p:nvPr/>
        </p:nvCxnSpPr>
        <p:spPr>
          <a:xfrm>
            <a:off x="10014325" y="7538196"/>
            <a:ext cx="1288800" cy="638999"/>
          </a:xfrm>
          <a:prstGeom prst="straightConnector1">
            <a:avLst/>
          </a:prstGeom>
          <a:noFill/>
          <a:ln cap="rnd" cmpd="sng" w="76200">
            <a:solidFill>
              <a:srgbClr val="FF7F00"/>
            </a:solidFill>
            <a:prstDash val="solid"/>
            <a:miter lim="8000"/>
            <a:headEnd len="med" w="med" type="stealth"/>
            <a:tailEnd len="sm" w="sm"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9"/>
          <p:cNvSpPr txBox="1"/>
          <p:nvPr>
            <p:ph type="title"/>
          </p:nvPr>
        </p:nvSpPr>
        <p:spPr>
          <a:xfrm>
            <a:off x="1155700" y="803564"/>
            <a:ext cx="13203767" cy="1736336"/>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FF"/>
              </a:buClr>
              <a:buSzPts val="1900"/>
              <a:buFont typeface="Cabin"/>
              <a:buNone/>
            </a:pPr>
            <a:r>
              <a:rPr lang="en-US" sz="7600" u="none" cap="none" strike="noStrike">
                <a:solidFill>
                  <a:srgbClr val="FFD966"/>
                </a:solidFill>
                <a:latin typeface="Arial"/>
                <a:ea typeface="Arial"/>
                <a:cs typeface="Arial"/>
                <a:sym typeface="Arial"/>
              </a:rPr>
              <a:t>Parameters</a:t>
            </a:r>
            <a:endParaRPr/>
          </a:p>
        </p:txBody>
      </p:sp>
      <p:sp>
        <p:nvSpPr>
          <p:cNvPr id="94" name="Google Shape;94;p9"/>
          <p:cNvSpPr txBox="1"/>
          <p:nvPr>
            <p:ph idx="1" type="body"/>
          </p:nvPr>
        </p:nvSpPr>
        <p:spPr>
          <a:xfrm>
            <a:off x="1155700" y="2603500"/>
            <a:ext cx="6988175" cy="5050367"/>
          </a:xfrm>
          <a:prstGeom prst="rect">
            <a:avLst/>
          </a:prstGeom>
          <a:noFill/>
          <a:ln>
            <a:noFill/>
          </a:ln>
        </p:spPr>
        <p:txBody>
          <a:bodyPr anchorCtr="0" anchor="ctr" bIns="38100" lIns="38100" spcFirstLastPara="1" rIns="38100" wrap="square" tIns="38100">
            <a:noAutofit/>
          </a:bodyPr>
          <a:lstStyle/>
          <a:p>
            <a:pPr indent="0" lvl="0" marL="0" marR="0" rtl="0" algn="l">
              <a:lnSpc>
                <a:spcPct val="100000"/>
              </a:lnSpc>
              <a:spcBef>
                <a:spcPts val="0"/>
              </a:spcBef>
              <a:spcAft>
                <a:spcPts val="0"/>
              </a:spcAft>
              <a:buSzPts val="3600"/>
              <a:buNone/>
            </a:pPr>
            <a:r>
              <a:t/>
            </a:r>
            <a:endParaRPr sz="3600">
              <a:solidFill>
                <a:schemeClr val="lt1"/>
              </a:solidFill>
              <a:latin typeface="Arial"/>
              <a:ea typeface="Arial"/>
              <a:cs typeface="Arial"/>
              <a:sym typeface="Arial"/>
            </a:endParaRPr>
          </a:p>
          <a:p>
            <a:pPr indent="0" lvl="0" marL="215900" rtl="0" algn="l">
              <a:lnSpc>
                <a:spcPct val="115000"/>
              </a:lnSpc>
              <a:spcBef>
                <a:spcPts val="0"/>
              </a:spcBef>
              <a:spcAft>
                <a:spcPts val="0"/>
              </a:spcAft>
              <a:buSzPts val="6156"/>
              <a:buNone/>
            </a:pPr>
            <a:r>
              <a:rPr lang="en-US" sz="3600">
                <a:solidFill>
                  <a:schemeClr val="lt1"/>
                </a:solidFill>
                <a:latin typeface="Arial"/>
                <a:ea typeface="Arial"/>
                <a:cs typeface="Arial"/>
                <a:sym typeface="Arial"/>
              </a:rPr>
              <a:t>A </a:t>
            </a:r>
            <a:r>
              <a:rPr lang="en-US" sz="3600">
                <a:solidFill>
                  <a:srgbClr val="00FFFF"/>
                </a:solidFill>
                <a:latin typeface="Arial"/>
                <a:ea typeface="Arial"/>
                <a:cs typeface="Arial"/>
                <a:sym typeface="Arial"/>
              </a:rPr>
              <a:t>parameter</a:t>
            </a:r>
            <a:r>
              <a:rPr lang="en-US" sz="3600">
                <a:solidFill>
                  <a:schemeClr val="lt1"/>
                </a:solidFill>
                <a:latin typeface="Arial"/>
                <a:ea typeface="Arial"/>
                <a:cs typeface="Arial"/>
                <a:sym typeface="Arial"/>
              </a:rPr>
              <a:t> is a variable which we use </a:t>
            </a:r>
            <a:r>
              <a:rPr lang="en-US" sz="3600">
                <a:solidFill>
                  <a:srgbClr val="FF00FF"/>
                </a:solidFill>
                <a:latin typeface="Arial"/>
                <a:ea typeface="Arial"/>
                <a:cs typeface="Arial"/>
                <a:sym typeface="Arial"/>
              </a:rPr>
              <a:t>in</a:t>
            </a:r>
            <a:r>
              <a:rPr lang="en-US" sz="3600">
                <a:solidFill>
                  <a:schemeClr val="lt1"/>
                </a:solidFill>
                <a:latin typeface="Arial"/>
                <a:ea typeface="Arial"/>
                <a:cs typeface="Arial"/>
                <a:sym typeface="Arial"/>
              </a:rPr>
              <a:t> the function </a:t>
            </a:r>
            <a:r>
              <a:rPr lang="en-US" sz="3600">
                <a:solidFill>
                  <a:srgbClr val="FFFF00"/>
                </a:solidFill>
                <a:latin typeface="Arial"/>
                <a:ea typeface="Arial"/>
                <a:cs typeface="Arial"/>
                <a:sym typeface="Arial"/>
              </a:rPr>
              <a:t>definition</a:t>
            </a:r>
            <a:r>
              <a:rPr lang="en-US" sz="3600">
                <a:solidFill>
                  <a:schemeClr val="lt1"/>
                </a:solidFill>
                <a:latin typeface="Arial"/>
                <a:ea typeface="Arial"/>
                <a:cs typeface="Arial"/>
                <a:sym typeface="Arial"/>
              </a:rPr>
              <a:t>.  It is a </a:t>
            </a:r>
            <a:r>
              <a:rPr lang="en-US" sz="3600">
                <a:solidFill>
                  <a:schemeClr val="lt1"/>
                </a:solidFill>
              </a:rPr>
              <a:t>“</a:t>
            </a:r>
            <a:r>
              <a:rPr lang="en-US" sz="3600">
                <a:solidFill>
                  <a:schemeClr val="lt1"/>
                </a:solidFill>
                <a:latin typeface="Arial"/>
                <a:ea typeface="Arial"/>
                <a:cs typeface="Arial"/>
                <a:sym typeface="Arial"/>
              </a:rPr>
              <a:t>handle</a:t>
            </a:r>
            <a:r>
              <a:rPr lang="en-US" sz="3600">
                <a:solidFill>
                  <a:schemeClr val="lt1"/>
                </a:solidFill>
              </a:rPr>
              <a:t>”</a:t>
            </a:r>
            <a:r>
              <a:rPr lang="en-US" sz="3600">
                <a:solidFill>
                  <a:schemeClr val="lt1"/>
                </a:solidFill>
                <a:latin typeface="Arial"/>
                <a:ea typeface="Arial"/>
                <a:cs typeface="Arial"/>
                <a:sym typeface="Arial"/>
              </a:rPr>
              <a:t> that allows the code in the </a:t>
            </a:r>
            <a:r>
              <a:rPr lang="en-US" sz="3600">
                <a:solidFill>
                  <a:schemeClr val="accent1"/>
                </a:solidFill>
                <a:latin typeface="Arial"/>
                <a:ea typeface="Arial"/>
                <a:cs typeface="Arial"/>
                <a:sym typeface="Arial"/>
              </a:rPr>
              <a:t>function</a:t>
            </a:r>
            <a:r>
              <a:rPr lang="en-US" sz="3600">
                <a:solidFill>
                  <a:schemeClr val="lt1"/>
                </a:solidFill>
                <a:latin typeface="Arial"/>
                <a:ea typeface="Arial"/>
                <a:cs typeface="Arial"/>
                <a:sym typeface="Arial"/>
              </a:rPr>
              <a:t> to access the </a:t>
            </a:r>
            <a:r>
              <a:rPr lang="en-US" sz="3600">
                <a:solidFill>
                  <a:srgbClr val="FF7F00"/>
                </a:solidFill>
                <a:latin typeface="Arial"/>
                <a:ea typeface="Arial"/>
                <a:cs typeface="Arial"/>
                <a:sym typeface="Arial"/>
              </a:rPr>
              <a:t>arguments</a:t>
            </a:r>
            <a:r>
              <a:rPr lang="en-US" sz="3600">
                <a:solidFill>
                  <a:schemeClr val="lt1"/>
                </a:solidFill>
                <a:latin typeface="Arial"/>
                <a:ea typeface="Arial"/>
                <a:cs typeface="Arial"/>
                <a:sym typeface="Arial"/>
              </a:rPr>
              <a:t> for a particular </a:t>
            </a:r>
            <a:r>
              <a:rPr lang="en-US" sz="3600">
                <a:solidFill>
                  <a:schemeClr val="accent1"/>
                </a:solidFill>
                <a:latin typeface="Arial"/>
                <a:ea typeface="Arial"/>
                <a:cs typeface="Arial"/>
                <a:sym typeface="Arial"/>
              </a:rPr>
              <a:t>function</a:t>
            </a:r>
            <a:r>
              <a:rPr lang="en-US" sz="3600">
                <a:solidFill>
                  <a:schemeClr val="lt1"/>
                </a:solidFill>
                <a:latin typeface="Arial"/>
                <a:ea typeface="Arial"/>
                <a:cs typeface="Arial"/>
                <a:sym typeface="Arial"/>
              </a:rPr>
              <a:t> invocation.</a:t>
            </a:r>
            <a:endParaRPr/>
          </a:p>
          <a:p>
            <a:pPr indent="0" lvl="0" marL="0" marR="0" rtl="0" algn="l">
              <a:lnSpc>
                <a:spcPct val="100000"/>
              </a:lnSpc>
              <a:spcBef>
                <a:spcPts val="0"/>
              </a:spcBef>
              <a:spcAft>
                <a:spcPts val="0"/>
              </a:spcAft>
              <a:buSzPts val="3600"/>
              <a:buNone/>
            </a:pPr>
            <a:r>
              <a:t/>
            </a:r>
            <a:endParaRPr sz="3600">
              <a:solidFill>
                <a:schemeClr val="lt1"/>
              </a:solidFill>
              <a:latin typeface="Arial"/>
              <a:ea typeface="Arial"/>
              <a:cs typeface="Arial"/>
              <a:sym typeface="Arial"/>
            </a:endParaRPr>
          </a:p>
        </p:txBody>
      </p:sp>
      <p:sp>
        <p:nvSpPr>
          <p:cNvPr id="95" name="Google Shape;95;p9"/>
          <p:cNvSpPr txBox="1"/>
          <p:nvPr/>
        </p:nvSpPr>
        <p:spPr>
          <a:xfrm>
            <a:off x="9111343" y="2188908"/>
            <a:ext cx="6469780" cy="66482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00"/>
              <a:buFont typeface="Courier"/>
              <a:buNone/>
            </a:pPr>
            <a:r>
              <a:rPr b="0" i="0" lang="en-US" sz="2800" u="none" cap="none" strike="noStrike">
                <a:solidFill>
                  <a:srgbClr val="FFFF00"/>
                </a:solidFill>
                <a:latin typeface="Courier"/>
                <a:ea typeface="Courier"/>
                <a:cs typeface="Courier"/>
                <a:sym typeface="Courier"/>
              </a:rPr>
              <a:t>def</a:t>
            </a:r>
            <a:r>
              <a:rPr b="0" i="0" lang="en-US" sz="2800" u="none" cap="none" strike="noStrike">
                <a:solidFill>
                  <a:schemeClr val="lt1"/>
                </a:solidFill>
                <a:latin typeface="Courier"/>
                <a:ea typeface="Courier"/>
                <a:cs typeface="Courier"/>
                <a:sym typeface="Courier"/>
              </a:rPr>
              <a:t> </a:t>
            </a:r>
            <a:r>
              <a:rPr b="0" i="0" lang="en-US" sz="2800" u="none" cap="none" strike="noStrike">
                <a:solidFill>
                  <a:srgbClr val="00FF00"/>
                </a:solidFill>
                <a:latin typeface="Courier"/>
                <a:ea typeface="Courier"/>
                <a:cs typeface="Courier"/>
                <a:sym typeface="Courier"/>
              </a:rPr>
              <a:t>greet</a:t>
            </a:r>
            <a:r>
              <a:rPr b="0" i="0" lang="en-US" sz="2800" u="none" cap="none" strike="noStrike">
                <a:solidFill>
                  <a:schemeClr val="lt1"/>
                </a:solidFill>
                <a:latin typeface="Courier"/>
                <a:ea typeface="Courier"/>
                <a:cs typeface="Courier"/>
                <a:sym typeface="Courier"/>
              </a:rPr>
              <a:t>(</a:t>
            </a:r>
            <a:r>
              <a:rPr b="0" i="0" lang="en-US" sz="2800" u="none" cap="none" strike="noStrike">
                <a:solidFill>
                  <a:srgbClr val="00FFFF"/>
                </a:solidFill>
                <a:latin typeface="Courier"/>
                <a:ea typeface="Courier"/>
                <a:cs typeface="Courier"/>
                <a:sym typeface="Courier"/>
              </a:rPr>
              <a:t>lang</a:t>
            </a:r>
            <a:r>
              <a:rPr b="0" i="0" lang="en-US" sz="28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00"/>
              <a:buFont typeface="Courier"/>
              <a:buNone/>
            </a:pPr>
            <a:r>
              <a:rPr b="0" i="0" lang="en-US" sz="2800" u="none" cap="none" strike="noStrike">
                <a:solidFill>
                  <a:schemeClr val="lt1"/>
                </a:solidFill>
                <a:latin typeface="Courier"/>
                <a:ea typeface="Courier"/>
                <a:cs typeface="Courier"/>
                <a:sym typeface="Courier"/>
              </a:rPr>
              <a:t>    </a:t>
            </a:r>
            <a:r>
              <a:rPr b="0" i="0" lang="en-US" sz="2800" u="none" cap="none" strike="noStrike">
                <a:solidFill>
                  <a:srgbClr val="FFFF00"/>
                </a:solidFill>
                <a:latin typeface="Courier"/>
                <a:ea typeface="Courier"/>
                <a:cs typeface="Courier"/>
                <a:sym typeface="Courier"/>
              </a:rPr>
              <a:t>if</a:t>
            </a:r>
            <a:r>
              <a:rPr b="0" i="0" lang="en-US" sz="2800" u="none" cap="none" strike="noStrike">
                <a:solidFill>
                  <a:schemeClr val="lt1"/>
                </a:solidFill>
                <a:latin typeface="Courier"/>
                <a:ea typeface="Courier"/>
                <a:cs typeface="Courier"/>
                <a:sym typeface="Courier"/>
              </a:rPr>
              <a:t> </a:t>
            </a:r>
            <a:r>
              <a:rPr b="0" i="0" lang="en-US" sz="2800" u="none" cap="none" strike="noStrike">
                <a:solidFill>
                  <a:srgbClr val="00FFFF"/>
                </a:solidFill>
                <a:latin typeface="Courier"/>
                <a:ea typeface="Courier"/>
                <a:cs typeface="Courier"/>
                <a:sym typeface="Courier"/>
              </a:rPr>
              <a:t>lang</a:t>
            </a:r>
            <a:r>
              <a:rPr b="0" i="0" lang="en-US" sz="2800" u="none" cap="none" strike="noStrike">
                <a:solidFill>
                  <a:schemeClr val="lt1"/>
                </a:solidFill>
                <a:latin typeface="Courier"/>
                <a:ea typeface="Courier"/>
                <a:cs typeface="Courier"/>
                <a:sym typeface="Courier"/>
              </a:rPr>
              <a:t> == 'es':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00"/>
              <a:buFont typeface="Courier"/>
              <a:buNone/>
            </a:pPr>
            <a:r>
              <a:rPr b="0" i="0" lang="en-US" sz="2800" u="none" cap="none" strike="noStrike">
                <a:solidFill>
                  <a:schemeClr val="lt1"/>
                </a:solidFill>
                <a:latin typeface="Courier"/>
                <a:ea typeface="Courier"/>
                <a:cs typeface="Courier"/>
                <a:sym typeface="Courier"/>
              </a:rPr>
              <a:t>        </a:t>
            </a:r>
            <a:r>
              <a:rPr b="0" i="0" lang="en-US" sz="2800" u="none" cap="none" strike="noStrike">
                <a:solidFill>
                  <a:srgbClr val="FFFF00"/>
                </a:solidFill>
                <a:latin typeface="Courier"/>
                <a:ea typeface="Courier"/>
                <a:cs typeface="Courier"/>
                <a:sym typeface="Courier"/>
              </a:rPr>
              <a:t>print(</a:t>
            </a:r>
            <a:r>
              <a:rPr b="0" i="0" lang="en-US" sz="2800" u="none" cap="none" strike="noStrike">
                <a:solidFill>
                  <a:srgbClr val="FF00FF"/>
                </a:solidFill>
                <a:latin typeface="Courier"/>
                <a:ea typeface="Courier"/>
                <a:cs typeface="Courier"/>
                <a:sym typeface="Courier"/>
              </a:rPr>
              <a:t>'Hola’)</a:t>
            </a:r>
            <a:endParaRPr b="0" i="0" sz="28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00"/>
              <a:buFont typeface="Courier"/>
              <a:buNone/>
            </a:pPr>
            <a:r>
              <a:rPr b="0" i="0" lang="en-US" sz="2800" u="none" cap="none" strike="noStrike">
                <a:solidFill>
                  <a:srgbClr val="FF00FF"/>
                </a:solidFill>
                <a:latin typeface="Courier"/>
                <a:ea typeface="Courier"/>
                <a:cs typeface="Courier"/>
                <a:sym typeface="Courier"/>
              </a:rPr>
              <a:t>    </a:t>
            </a:r>
            <a:r>
              <a:rPr b="0" i="0" lang="en-US" sz="2800" u="none" cap="none" strike="noStrike">
                <a:solidFill>
                  <a:srgbClr val="FFFF00"/>
                </a:solidFill>
                <a:latin typeface="Courier"/>
                <a:ea typeface="Courier"/>
                <a:cs typeface="Courier"/>
                <a:sym typeface="Courier"/>
              </a:rPr>
              <a:t>elif</a:t>
            </a:r>
            <a:r>
              <a:rPr b="0" i="0" lang="en-US" sz="2800" u="none" cap="none" strike="noStrike">
                <a:solidFill>
                  <a:schemeClr val="lt1"/>
                </a:solidFill>
                <a:latin typeface="Courier"/>
                <a:ea typeface="Courier"/>
                <a:cs typeface="Courier"/>
                <a:sym typeface="Courier"/>
              </a:rPr>
              <a:t> </a:t>
            </a:r>
            <a:r>
              <a:rPr b="0" i="0" lang="en-US" sz="2800" u="none" cap="none" strike="noStrike">
                <a:solidFill>
                  <a:srgbClr val="00FFFF"/>
                </a:solidFill>
                <a:latin typeface="Courier"/>
                <a:ea typeface="Courier"/>
                <a:cs typeface="Courier"/>
                <a:sym typeface="Courier"/>
              </a:rPr>
              <a:t>lang</a:t>
            </a:r>
            <a:r>
              <a:rPr b="0" i="0" lang="en-US" sz="2800" u="none" cap="none" strike="noStrike">
                <a:solidFill>
                  <a:schemeClr val="lt1"/>
                </a:solidFill>
                <a:latin typeface="Courier"/>
                <a:ea typeface="Courier"/>
                <a:cs typeface="Courier"/>
                <a:sym typeface="Courier"/>
              </a:rPr>
              <a:t> == 'fr':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00"/>
              <a:buFont typeface="Courier"/>
              <a:buNone/>
            </a:pPr>
            <a:r>
              <a:rPr b="0" i="0" lang="en-US" sz="2800" u="none" cap="none" strike="noStrike">
                <a:solidFill>
                  <a:schemeClr val="lt1"/>
                </a:solidFill>
                <a:latin typeface="Courier"/>
                <a:ea typeface="Courier"/>
                <a:cs typeface="Courier"/>
                <a:sym typeface="Courier"/>
              </a:rPr>
              <a:t>        </a:t>
            </a:r>
            <a:r>
              <a:rPr b="0" i="0" lang="en-US" sz="2800" u="none" cap="none" strike="noStrike">
                <a:solidFill>
                  <a:srgbClr val="FFFF00"/>
                </a:solidFill>
                <a:latin typeface="Courier"/>
                <a:ea typeface="Courier"/>
                <a:cs typeface="Courier"/>
                <a:sym typeface="Courier"/>
              </a:rPr>
              <a:t>print(</a:t>
            </a:r>
            <a:r>
              <a:rPr b="0" i="0" lang="en-US" sz="2800" u="none" cap="none" strike="noStrike">
                <a:solidFill>
                  <a:srgbClr val="FF00FF"/>
                </a:solidFill>
                <a:latin typeface="Courier"/>
                <a:ea typeface="Courier"/>
                <a:cs typeface="Courier"/>
                <a:sym typeface="Courier"/>
              </a:rPr>
              <a:t>'Bonjour’)</a:t>
            </a:r>
            <a:endParaRPr b="0" i="0" sz="28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00"/>
              <a:buFont typeface="Courier"/>
              <a:buNone/>
            </a:pPr>
            <a:r>
              <a:rPr b="0" i="0" lang="en-US" sz="2800" u="none" cap="none" strike="noStrike">
                <a:solidFill>
                  <a:srgbClr val="FF00FF"/>
                </a:solidFill>
                <a:latin typeface="Courier"/>
                <a:ea typeface="Courier"/>
                <a:cs typeface="Courier"/>
                <a:sym typeface="Courier"/>
              </a:rPr>
              <a:t>    </a:t>
            </a:r>
            <a:r>
              <a:rPr b="0" i="0" lang="en-US" sz="2800" u="none" cap="none" strike="noStrike">
                <a:solidFill>
                  <a:srgbClr val="FFFF00"/>
                </a:solidFill>
                <a:latin typeface="Courier"/>
                <a:ea typeface="Courier"/>
                <a:cs typeface="Courier"/>
                <a:sym typeface="Courier"/>
              </a:rPr>
              <a:t>else: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00"/>
              <a:buFont typeface="Courier"/>
              <a:buNone/>
            </a:pPr>
            <a:r>
              <a:rPr b="0" i="0" lang="en-US" sz="2800" u="none" cap="none" strike="noStrike">
                <a:solidFill>
                  <a:srgbClr val="FFFF00"/>
                </a:solidFill>
                <a:latin typeface="Courier"/>
                <a:ea typeface="Courier"/>
                <a:cs typeface="Courier"/>
                <a:sym typeface="Courier"/>
              </a:rPr>
              <a:t>        print(</a:t>
            </a:r>
            <a:r>
              <a:rPr b="0" i="0" lang="en-US" sz="2800" u="none" cap="none" strike="noStrike">
                <a:solidFill>
                  <a:srgbClr val="FF00FF"/>
                </a:solidFill>
                <a:latin typeface="Courier"/>
                <a:ea typeface="Courier"/>
                <a:cs typeface="Courier"/>
                <a:sym typeface="Courier"/>
              </a:rPr>
              <a:t>'Hello’)</a:t>
            </a:r>
            <a:endParaRPr b="0" i="0" sz="28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00"/>
              <a:buFont typeface="Arial"/>
              <a:buNone/>
            </a:pPr>
            <a:r>
              <a:t/>
            </a:r>
            <a:endParaRPr b="0" i="0" sz="28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00"/>
              <a:buFont typeface="Courier"/>
              <a:buNone/>
            </a:pPr>
            <a:r>
              <a:rPr b="0" i="0" lang="en-US" sz="2800" u="none" cap="none" strike="noStrike">
                <a:solidFill>
                  <a:srgbClr val="FFFF00"/>
                </a:solidFill>
                <a:latin typeface="Courier"/>
                <a:ea typeface="Courier"/>
                <a:cs typeface="Courier"/>
                <a:sym typeface="Courier"/>
              </a:rPr>
              <a:t>print</a:t>
            </a:r>
            <a:r>
              <a:rPr b="0" i="0" lang="en-US" sz="2800" u="none" cap="none" strike="noStrike">
                <a:solidFill>
                  <a:schemeClr val="lt1"/>
                </a:solidFill>
                <a:latin typeface="Courier"/>
                <a:ea typeface="Courier"/>
                <a:cs typeface="Courier"/>
                <a:sym typeface="Courier"/>
              </a:rPr>
              <a:t>(</a:t>
            </a:r>
            <a:r>
              <a:rPr b="0" i="0" lang="en-US" sz="2800" u="none" cap="none" strike="noStrike">
                <a:solidFill>
                  <a:srgbClr val="00FF00"/>
                </a:solidFill>
                <a:latin typeface="Courier"/>
                <a:ea typeface="Courier"/>
                <a:cs typeface="Courier"/>
                <a:sym typeface="Courier"/>
              </a:rPr>
              <a:t>greet</a:t>
            </a:r>
            <a:r>
              <a:rPr b="0" i="0" lang="en-US" sz="2800" u="none" cap="none" strike="noStrike">
                <a:solidFill>
                  <a:schemeClr val="lt1"/>
                </a:solidFill>
                <a:latin typeface="Courier"/>
                <a:ea typeface="Courier"/>
                <a:cs typeface="Courier"/>
                <a:sym typeface="Courier"/>
              </a:rPr>
              <a:t>(</a:t>
            </a:r>
            <a:r>
              <a:rPr b="0" i="0" lang="en-US" sz="2800" u="none" cap="none" strike="noStrike">
                <a:solidFill>
                  <a:srgbClr val="FF7F00"/>
                </a:solidFill>
                <a:latin typeface="Courier"/>
                <a:ea typeface="Courier"/>
                <a:cs typeface="Courier"/>
                <a:sym typeface="Courier"/>
              </a:rPr>
              <a:t>'en'</a:t>
            </a:r>
            <a:r>
              <a:rPr b="0" i="0" lang="en-US" sz="2800" u="none" cap="none" strike="noStrike">
                <a:solidFill>
                  <a:schemeClr val="lt1"/>
                </a:solidFill>
                <a:latin typeface="Courier"/>
                <a:ea typeface="Courier"/>
                <a:cs typeface="Courier"/>
                <a:sym typeface="Courier"/>
              </a:rPr>
              <a:t>),'Glenn') Hello Glenn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00"/>
              <a:buFont typeface="Courier"/>
              <a:buNone/>
            </a:pPr>
            <a:r>
              <a:rPr b="0" i="0" lang="en-US" sz="2800" u="none" cap="none" strike="noStrike">
                <a:solidFill>
                  <a:srgbClr val="FFFF00"/>
                </a:solidFill>
                <a:latin typeface="Courier"/>
                <a:ea typeface="Courier"/>
                <a:cs typeface="Courier"/>
                <a:sym typeface="Courier"/>
              </a:rPr>
              <a:t>print</a:t>
            </a:r>
            <a:r>
              <a:rPr b="0" i="0" lang="en-US" sz="2800" u="none" cap="none" strike="noStrike">
                <a:solidFill>
                  <a:schemeClr val="lt1"/>
                </a:solidFill>
                <a:latin typeface="Courier"/>
                <a:ea typeface="Courier"/>
                <a:cs typeface="Courier"/>
                <a:sym typeface="Courier"/>
              </a:rPr>
              <a:t>(</a:t>
            </a:r>
            <a:r>
              <a:rPr b="0" i="0" lang="en-US" sz="2800" u="none" cap="none" strike="noStrike">
                <a:solidFill>
                  <a:srgbClr val="00FF00"/>
                </a:solidFill>
                <a:latin typeface="Courier"/>
                <a:ea typeface="Courier"/>
                <a:cs typeface="Courier"/>
                <a:sym typeface="Courier"/>
              </a:rPr>
              <a:t>greet</a:t>
            </a:r>
            <a:r>
              <a:rPr b="0" i="0" lang="en-US" sz="2800" u="none" cap="none" strike="noStrike">
                <a:solidFill>
                  <a:schemeClr val="lt1"/>
                </a:solidFill>
                <a:latin typeface="Courier"/>
                <a:ea typeface="Courier"/>
                <a:cs typeface="Courier"/>
                <a:sym typeface="Courier"/>
              </a:rPr>
              <a:t>(</a:t>
            </a:r>
            <a:r>
              <a:rPr b="0" i="0" lang="en-US" sz="2800" u="none" cap="none" strike="noStrike">
                <a:solidFill>
                  <a:srgbClr val="FF7F00"/>
                </a:solidFill>
                <a:latin typeface="Courier"/>
                <a:ea typeface="Courier"/>
                <a:cs typeface="Courier"/>
                <a:sym typeface="Courier"/>
              </a:rPr>
              <a:t>'es'</a:t>
            </a:r>
            <a:r>
              <a:rPr b="0" i="0" lang="en-US" sz="2800" u="none" cap="none" strike="noStrike">
                <a:solidFill>
                  <a:schemeClr val="lt1"/>
                </a:solidFill>
                <a:latin typeface="Courier"/>
                <a:ea typeface="Courier"/>
                <a:cs typeface="Courier"/>
                <a:sym typeface="Courier"/>
              </a:rPr>
              <a:t>),'Sally') Hola Sally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00"/>
              <a:buFont typeface="Courier"/>
              <a:buNone/>
            </a:pPr>
            <a:r>
              <a:rPr b="0" i="0" lang="en-US" sz="2800" u="none" cap="none" strike="noStrike">
                <a:solidFill>
                  <a:srgbClr val="FFFF00"/>
                </a:solidFill>
                <a:latin typeface="Courier"/>
                <a:ea typeface="Courier"/>
                <a:cs typeface="Courier"/>
                <a:sym typeface="Courier"/>
              </a:rPr>
              <a:t>print</a:t>
            </a:r>
            <a:r>
              <a:rPr b="0" i="0" lang="en-US" sz="2800" u="none" cap="none" strike="noStrike">
                <a:solidFill>
                  <a:schemeClr val="lt1"/>
                </a:solidFill>
                <a:latin typeface="Courier"/>
                <a:ea typeface="Courier"/>
                <a:cs typeface="Courier"/>
                <a:sym typeface="Courier"/>
              </a:rPr>
              <a:t>(</a:t>
            </a:r>
            <a:r>
              <a:rPr b="0" i="0" lang="en-US" sz="2800" u="none" cap="none" strike="noStrike">
                <a:solidFill>
                  <a:srgbClr val="00FF00"/>
                </a:solidFill>
                <a:latin typeface="Courier"/>
                <a:ea typeface="Courier"/>
                <a:cs typeface="Courier"/>
                <a:sym typeface="Courier"/>
              </a:rPr>
              <a:t>greet</a:t>
            </a:r>
            <a:r>
              <a:rPr b="0" i="0" lang="en-US" sz="2800" u="none" cap="none" strike="noStrike">
                <a:solidFill>
                  <a:schemeClr val="lt1"/>
                </a:solidFill>
                <a:latin typeface="Courier"/>
                <a:ea typeface="Courier"/>
                <a:cs typeface="Courier"/>
                <a:sym typeface="Courier"/>
              </a:rPr>
              <a:t>(</a:t>
            </a:r>
            <a:r>
              <a:rPr b="0" i="0" lang="en-US" sz="2800" u="none" cap="none" strike="noStrike">
                <a:solidFill>
                  <a:srgbClr val="FF7F00"/>
                </a:solidFill>
                <a:latin typeface="Courier"/>
                <a:ea typeface="Courier"/>
                <a:cs typeface="Courier"/>
                <a:sym typeface="Courier"/>
              </a:rPr>
              <a:t>'fr'</a:t>
            </a:r>
            <a:r>
              <a:rPr b="0" i="0" lang="en-US" sz="2800" u="none" cap="none" strike="noStrike">
                <a:solidFill>
                  <a:schemeClr val="lt1"/>
                </a:solidFill>
                <a:latin typeface="Courier"/>
                <a:ea typeface="Courier"/>
                <a:cs typeface="Courier"/>
                <a:sym typeface="Courier"/>
              </a:rPr>
              <a:t>),'Michael')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00"/>
              <a:buFont typeface="Courier"/>
              <a:buNone/>
            </a:pPr>
            <a:r>
              <a:rPr b="0" i="0" lang="en-US" sz="2800" u="none" cap="none" strike="noStrike">
                <a:solidFill>
                  <a:schemeClr val="lt1"/>
                </a:solidFill>
                <a:latin typeface="Courier"/>
                <a:ea typeface="Courier"/>
                <a:cs typeface="Courier"/>
                <a:sym typeface="Courier"/>
              </a:rPr>
              <a:t>Bonjour Michael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0"/>
          <p:cNvSpPr txBox="1"/>
          <p:nvPr>
            <p:ph type="title"/>
          </p:nvPr>
        </p:nvSpPr>
        <p:spPr>
          <a:xfrm>
            <a:off x="1155700" y="803564"/>
            <a:ext cx="13932000" cy="1736336"/>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7F00"/>
              </a:buClr>
              <a:buSzPts val="1900"/>
              <a:buFont typeface="Cabin"/>
              <a:buNone/>
            </a:pPr>
            <a:r>
              <a:rPr lang="en-US" sz="7600" u="none" cap="none" strike="noStrike">
                <a:solidFill>
                  <a:srgbClr val="FFD966"/>
                </a:solidFill>
                <a:latin typeface="Arial"/>
                <a:ea typeface="Arial"/>
                <a:cs typeface="Arial"/>
                <a:sym typeface="Arial"/>
              </a:rPr>
              <a:t>Return Value</a:t>
            </a:r>
            <a:endParaRPr sz="7600" u="none" cap="none" strike="noStrike">
              <a:solidFill>
                <a:srgbClr val="FFD966"/>
              </a:solidFill>
              <a:latin typeface="Arial"/>
              <a:ea typeface="Arial"/>
              <a:cs typeface="Arial"/>
              <a:sym typeface="Arial"/>
            </a:endParaRPr>
          </a:p>
        </p:txBody>
      </p:sp>
      <p:sp>
        <p:nvSpPr>
          <p:cNvPr id="101" name="Google Shape;101;p10"/>
          <p:cNvSpPr txBox="1"/>
          <p:nvPr>
            <p:ph idx="1" type="body"/>
          </p:nvPr>
        </p:nvSpPr>
        <p:spPr>
          <a:xfrm>
            <a:off x="1155700" y="2603501"/>
            <a:ext cx="13932000" cy="2254250"/>
          </a:xfrm>
          <a:prstGeom prst="rect">
            <a:avLst/>
          </a:prstGeom>
          <a:noFill/>
          <a:ln>
            <a:noFill/>
          </a:ln>
        </p:spPr>
        <p:txBody>
          <a:bodyPr anchorCtr="0" anchor="ctr" bIns="38100" lIns="38100" spcFirstLastPara="1" rIns="38100" wrap="square" tIns="38100">
            <a:noAutofit/>
          </a:bodyPr>
          <a:lstStyle/>
          <a:p>
            <a:pPr indent="0" lvl="0" marL="0" marR="0" rtl="0" algn="l">
              <a:lnSpc>
                <a:spcPct val="100000"/>
              </a:lnSpc>
              <a:spcBef>
                <a:spcPts val="0"/>
              </a:spcBef>
              <a:spcAft>
                <a:spcPts val="0"/>
              </a:spcAft>
              <a:buSzPts val="3600"/>
              <a:buNone/>
            </a:pPr>
            <a:r>
              <a:rPr lang="en-US" sz="3600" u="none" cap="none" strike="noStrike">
                <a:solidFill>
                  <a:schemeClr val="lt1"/>
                </a:solidFill>
                <a:latin typeface="Arial"/>
                <a:ea typeface="Arial"/>
                <a:cs typeface="Arial"/>
                <a:sym typeface="Arial"/>
              </a:rPr>
              <a:t>Often a function will take its arguments, do some computation, and </a:t>
            </a:r>
            <a:r>
              <a:rPr lang="en-US" sz="3600" u="none" cap="none" strike="noStrike">
                <a:solidFill>
                  <a:srgbClr val="FF7F00"/>
                </a:solidFill>
                <a:latin typeface="Arial"/>
                <a:ea typeface="Arial"/>
                <a:cs typeface="Arial"/>
                <a:sym typeface="Arial"/>
              </a:rPr>
              <a:t>return</a:t>
            </a:r>
            <a:r>
              <a:rPr lang="en-US" sz="3600" u="none" cap="none" strike="noStrike">
                <a:solidFill>
                  <a:schemeClr val="lt1"/>
                </a:solidFill>
                <a:latin typeface="Arial"/>
                <a:ea typeface="Arial"/>
                <a:cs typeface="Arial"/>
                <a:sym typeface="Arial"/>
              </a:rPr>
              <a:t> a value to be used as the value of the function call in the </a:t>
            </a:r>
            <a:r>
              <a:rPr lang="en-US" sz="3600" u="none" cap="none" strike="noStrike">
                <a:solidFill>
                  <a:srgbClr val="FF00FF"/>
                </a:solidFill>
                <a:latin typeface="Arial"/>
                <a:ea typeface="Arial"/>
                <a:cs typeface="Arial"/>
                <a:sym typeface="Arial"/>
              </a:rPr>
              <a:t>calling expression</a:t>
            </a:r>
            <a:r>
              <a:rPr lang="en-US" sz="3600" u="none" cap="none" strike="noStrike">
                <a:solidFill>
                  <a:schemeClr val="lt1"/>
                </a:solidFill>
                <a:latin typeface="Arial"/>
                <a:ea typeface="Arial"/>
                <a:cs typeface="Arial"/>
                <a:sym typeface="Arial"/>
              </a:rPr>
              <a:t>.  The </a:t>
            </a:r>
            <a:r>
              <a:rPr lang="en-US" sz="3600" u="none" cap="none" strike="noStrike">
                <a:solidFill>
                  <a:srgbClr val="FF7F00"/>
                </a:solidFill>
                <a:latin typeface="Arial"/>
                <a:ea typeface="Arial"/>
                <a:cs typeface="Arial"/>
                <a:sym typeface="Arial"/>
              </a:rPr>
              <a:t>return</a:t>
            </a:r>
            <a:r>
              <a:rPr lang="en-US" sz="3600" u="none" cap="none" strike="noStrike">
                <a:solidFill>
                  <a:schemeClr val="lt1"/>
                </a:solidFill>
                <a:latin typeface="Arial"/>
                <a:ea typeface="Arial"/>
                <a:cs typeface="Arial"/>
                <a:sym typeface="Arial"/>
              </a:rPr>
              <a:t> keyword is used for this.</a:t>
            </a:r>
            <a:endParaRPr/>
          </a:p>
        </p:txBody>
      </p:sp>
      <p:sp>
        <p:nvSpPr>
          <p:cNvPr id="102" name="Google Shape;102;p10"/>
          <p:cNvSpPr txBox="1"/>
          <p:nvPr/>
        </p:nvSpPr>
        <p:spPr>
          <a:xfrm>
            <a:off x="2911989" y="5370512"/>
            <a:ext cx="6832088" cy="2832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00"/>
              </a:buClr>
              <a:buSzPts val="800"/>
              <a:buFont typeface="Courier New"/>
              <a:buNone/>
            </a:pPr>
            <a:r>
              <a:rPr b="0" i="0" lang="en-US" sz="3200" u="none" cap="none" strike="noStrike">
                <a:solidFill>
                  <a:srgbClr val="FFFF00"/>
                </a:solidFill>
                <a:latin typeface="Courier"/>
                <a:ea typeface="Courier"/>
                <a:cs typeface="Courier"/>
                <a:sym typeface="Courier"/>
              </a:rPr>
              <a:t>def </a:t>
            </a:r>
            <a:r>
              <a:rPr b="0" i="0" lang="en-US" sz="3200" u="none" cap="none" strike="noStrike">
                <a:solidFill>
                  <a:srgbClr val="00FF00"/>
                </a:solidFill>
                <a:latin typeface="Courier"/>
                <a:ea typeface="Courier"/>
                <a:cs typeface="Courier"/>
                <a:sym typeface="Courier"/>
              </a:rPr>
              <a:t>greet</a:t>
            </a:r>
            <a:r>
              <a:rPr b="0" i="0" lang="en-US" sz="3200" u="none" cap="none" strike="noStrike">
                <a:solidFill>
                  <a:srgbClr val="FFFF00"/>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800"/>
              <a:buFont typeface="Courier New"/>
              <a:buNone/>
            </a:pPr>
            <a:r>
              <a:rPr b="0" i="0" lang="en-US" sz="3200" u="none" cap="none" strike="noStrike">
                <a:solidFill>
                  <a:srgbClr val="FFFF00"/>
                </a:solidFill>
                <a:latin typeface="Courier"/>
                <a:ea typeface="Courier"/>
                <a:cs typeface="Courier"/>
                <a:sym typeface="Courier"/>
              </a:rPr>
              <a:t>    </a:t>
            </a:r>
            <a:r>
              <a:rPr b="0" i="0" lang="en-US" sz="3200" u="none" cap="none" strike="noStrike">
                <a:solidFill>
                  <a:srgbClr val="FF7F00"/>
                </a:solidFill>
                <a:latin typeface="Courier"/>
                <a:ea typeface="Courier"/>
                <a:cs typeface="Courier"/>
                <a:sym typeface="Courier"/>
              </a:rPr>
              <a:t>return</a:t>
            </a:r>
            <a:r>
              <a:rPr b="0" i="0" lang="en-US" sz="3200" u="none" cap="none" strike="noStrike">
                <a:solidFill>
                  <a:srgbClr val="FFFF00"/>
                </a:solidFill>
                <a:latin typeface="Courier"/>
                <a:ea typeface="Courier"/>
                <a:cs typeface="Courier"/>
                <a:sym typeface="Courier"/>
              </a:rPr>
              <a:t> "Hello"</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200"/>
              <a:buFont typeface="Arial"/>
              <a:buNone/>
            </a:pPr>
            <a:r>
              <a:t/>
            </a:r>
            <a:endParaRPr b="1" i="0" sz="32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800"/>
              <a:buFont typeface="Courier New"/>
              <a:buNone/>
            </a:pPr>
            <a:r>
              <a:rPr b="0" i="0" lang="en-US" sz="3200" u="none" cap="none" strike="noStrike">
                <a:solidFill>
                  <a:srgbClr val="FFFF00"/>
                </a:solidFill>
                <a:latin typeface="Courier"/>
                <a:ea typeface="Courier"/>
                <a:cs typeface="Courier"/>
                <a:sym typeface="Courier"/>
              </a:rPr>
              <a:t>print(</a:t>
            </a:r>
            <a:r>
              <a:rPr b="0" i="0" lang="en-US" sz="3200" u="none" cap="none" strike="noStrike">
                <a:solidFill>
                  <a:srgbClr val="FF00FF"/>
                </a:solidFill>
                <a:latin typeface="Courier"/>
                <a:ea typeface="Courier"/>
                <a:cs typeface="Courier"/>
                <a:sym typeface="Courier"/>
              </a:rPr>
              <a:t>greet()</a:t>
            </a:r>
            <a:r>
              <a:rPr b="0" i="0" lang="en-US" sz="3200" u="none" cap="none" strike="noStrike">
                <a:solidFill>
                  <a:srgbClr val="FFFF00"/>
                </a:solidFill>
                <a:latin typeface="Courier"/>
                <a:ea typeface="Courier"/>
                <a:cs typeface="Courier"/>
                <a:sym typeface="Courier"/>
              </a:rPr>
              <a:t>, "Glenn")</a:t>
            </a:r>
            <a:endParaRPr b="0" i="0" sz="32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800"/>
              <a:buFont typeface="Courier New"/>
              <a:buNone/>
            </a:pPr>
            <a:r>
              <a:rPr b="0" i="0" lang="en-US" sz="3200" u="none" cap="none" strike="noStrike">
                <a:solidFill>
                  <a:srgbClr val="FFFF00"/>
                </a:solidFill>
                <a:latin typeface="Courier"/>
                <a:ea typeface="Courier"/>
                <a:cs typeface="Courier"/>
                <a:sym typeface="Courier"/>
              </a:rPr>
              <a:t>print(</a:t>
            </a:r>
            <a:r>
              <a:rPr b="0" i="0" lang="en-US" sz="3200" u="none" cap="none" strike="noStrike">
                <a:solidFill>
                  <a:srgbClr val="FF00FF"/>
                </a:solidFill>
                <a:latin typeface="Courier"/>
                <a:ea typeface="Courier"/>
                <a:cs typeface="Courier"/>
                <a:sym typeface="Courier"/>
              </a:rPr>
              <a:t>greet()</a:t>
            </a:r>
            <a:r>
              <a:rPr b="0" i="0" lang="en-US" sz="3200" u="none" cap="none" strike="noStrike">
                <a:solidFill>
                  <a:srgbClr val="FFFF00"/>
                </a:solidFill>
                <a:latin typeface="Courier"/>
                <a:ea typeface="Courier"/>
                <a:cs typeface="Courier"/>
                <a:sym typeface="Courier"/>
              </a:rPr>
              <a:t>, "Sally")</a:t>
            </a:r>
            <a:endParaRPr b="0" i="0" sz="3200" u="none" cap="none" strike="noStrike">
              <a:solidFill>
                <a:srgbClr val="FFFF00"/>
              </a:solidFill>
              <a:latin typeface="Courier"/>
              <a:ea typeface="Courier"/>
              <a:cs typeface="Courier"/>
              <a:sym typeface="Courier"/>
            </a:endParaRPr>
          </a:p>
        </p:txBody>
      </p:sp>
      <p:sp>
        <p:nvSpPr>
          <p:cNvPr id="103" name="Google Shape;103;p10"/>
          <p:cNvSpPr txBox="1"/>
          <p:nvPr/>
        </p:nvSpPr>
        <p:spPr>
          <a:xfrm>
            <a:off x="10894613" y="5947162"/>
            <a:ext cx="4000500" cy="11936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900"/>
              <a:buFont typeface="Courier New"/>
              <a:buNone/>
            </a:pPr>
            <a:r>
              <a:rPr b="0" i="0" lang="en-US" sz="3600" u="none" cap="none" strike="noStrike">
                <a:solidFill>
                  <a:srgbClr val="00FF00"/>
                </a:solidFill>
                <a:latin typeface="Courier"/>
                <a:ea typeface="Courier"/>
                <a:cs typeface="Courier"/>
                <a:sym typeface="Courier"/>
              </a:rPr>
              <a:t>Hello Glenn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900"/>
              <a:buFont typeface="Courier New"/>
              <a:buNone/>
            </a:pPr>
            <a:r>
              <a:rPr b="0" i="0" lang="en-US" sz="3600" u="none" cap="none" strike="noStrike">
                <a:solidFill>
                  <a:srgbClr val="00FF00"/>
                </a:solidFill>
                <a:latin typeface="Courier"/>
                <a:ea typeface="Courier"/>
                <a:cs typeface="Courier"/>
                <a:sym typeface="Courier"/>
              </a:rPr>
              <a:t>Hello Sally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1"/>
          <p:cNvSpPr txBox="1"/>
          <p:nvPr>
            <p:ph type="title"/>
          </p:nvPr>
        </p:nvSpPr>
        <p:spPr>
          <a:xfrm>
            <a:off x="1155700" y="803564"/>
            <a:ext cx="13542433" cy="1736336"/>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lang="en-US" sz="7600" u="none" cap="none" strike="noStrike">
                <a:solidFill>
                  <a:srgbClr val="FFD966"/>
                </a:solidFill>
                <a:latin typeface="Arial"/>
                <a:ea typeface="Arial"/>
                <a:cs typeface="Arial"/>
                <a:sym typeface="Arial"/>
              </a:rPr>
              <a:t>Return Value</a:t>
            </a:r>
            <a:endParaRPr/>
          </a:p>
        </p:txBody>
      </p:sp>
      <p:sp>
        <p:nvSpPr>
          <p:cNvPr id="109" name="Google Shape;109;p11"/>
          <p:cNvSpPr txBox="1"/>
          <p:nvPr>
            <p:ph idx="1" type="body"/>
          </p:nvPr>
        </p:nvSpPr>
        <p:spPr>
          <a:xfrm>
            <a:off x="1155700" y="2603500"/>
            <a:ext cx="6616700" cy="2458357"/>
          </a:xfrm>
          <a:prstGeom prst="rect">
            <a:avLst/>
          </a:prstGeom>
          <a:noFill/>
          <a:ln>
            <a:noFill/>
          </a:ln>
        </p:spPr>
        <p:txBody>
          <a:bodyPr anchorCtr="0" anchor="ctr" bIns="38100" lIns="38100" spcFirstLastPara="1" rIns="38100" wrap="square" tIns="38100">
            <a:noAutofit/>
          </a:bodyPr>
          <a:lstStyle/>
          <a:p>
            <a:pPr indent="-371094" lvl="0" marL="749300" marR="0" rtl="0" algn="l">
              <a:lnSpc>
                <a:spcPct val="100000"/>
              </a:lnSpc>
              <a:spcBef>
                <a:spcPts val="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The </a:t>
            </a:r>
            <a:r>
              <a:rPr lang="en-US" sz="3600" u="none" cap="none" strike="noStrike">
                <a:solidFill>
                  <a:srgbClr val="FFFF00"/>
                </a:solidFill>
                <a:latin typeface="Arial"/>
                <a:ea typeface="Arial"/>
                <a:cs typeface="Arial"/>
                <a:sym typeface="Arial"/>
              </a:rPr>
              <a:t>return</a:t>
            </a:r>
            <a:r>
              <a:rPr lang="en-US" sz="3600" u="none" cap="none" strike="noStrike">
                <a:solidFill>
                  <a:schemeClr val="lt1"/>
                </a:solidFill>
                <a:latin typeface="Arial"/>
                <a:ea typeface="Arial"/>
                <a:cs typeface="Arial"/>
                <a:sym typeface="Arial"/>
              </a:rPr>
              <a:t> statement ends the </a:t>
            </a:r>
            <a:r>
              <a:rPr lang="en-US" sz="3600" u="none" cap="none" strike="noStrike">
                <a:solidFill>
                  <a:srgbClr val="00FF00"/>
                </a:solidFill>
                <a:latin typeface="Arial"/>
                <a:ea typeface="Arial"/>
                <a:cs typeface="Arial"/>
                <a:sym typeface="Arial"/>
              </a:rPr>
              <a:t>function</a:t>
            </a:r>
            <a:r>
              <a:rPr lang="en-US" sz="3600" u="none" cap="none" strike="noStrike">
                <a:solidFill>
                  <a:schemeClr val="lt1"/>
                </a:solidFill>
                <a:latin typeface="Arial"/>
                <a:ea typeface="Arial"/>
                <a:cs typeface="Arial"/>
                <a:sym typeface="Arial"/>
              </a:rPr>
              <a:t> execution and </a:t>
            </a:r>
            <a:r>
              <a:rPr b="0" i="0" lang="en-US" sz="3600" u="none" cap="none" strike="noStrike">
                <a:solidFill>
                  <a:schemeClr val="lt1"/>
                </a:solidFill>
                <a:latin typeface="Arial"/>
                <a:ea typeface="Arial"/>
                <a:cs typeface="Arial"/>
                <a:sym typeface="Arial"/>
              </a:rPr>
              <a:t>“</a:t>
            </a:r>
            <a:r>
              <a:rPr lang="en-US" sz="3600" u="none" cap="none" strike="noStrike">
                <a:solidFill>
                  <a:schemeClr val="lt1"/>
                </a:solidFill>
                <a:latin typeface="Arial"/>
                <a:ea typeface="Arial"/>
                <a:cs typeface="Arial"/>
                <a:sym typeface="Arial"/>
              </a:rPr>
              <a:t>sends back</a:t>
            </a:r>
            <a:r>
              <a:rPr b="0" i="0" lang="en-US" sz="3600" u="none" cap="none" strike="noStrike">
                <a:solidFill>
                  <a:schemeClr val="lt1"/>
                </a:solidFill>
                <a:latin typeface="Arial"/>
                <a:ea typeface="Arial"/>
                <a:cs typeface="Arial"/>
                <a:sym typeface="Arial"/>
              </a:rPr>
              <a:t>”</a:t>
            </a:r>
            <a:r>
              <a:rPr lang="en-US" sz="3600" u="none" cap="none" strike="noStrike">
                <a:solidFill>
                  <a:schemeClr val="lt1"/>
                </a:solidFill>
                <a:latin typeface="Arial"/>
                <a:ea typeface="Arial"/>
                <a:cs typeface="Arial"/>
                <a:sym typeface="Arial"/>
              </a:rPr>
              <a:t> the </a:t>
            </a:r>
            <a:r>
              <a:rPr lang="en-US" sz="3600" u="none" cap="none" strike="noStrike">
                <a:solidFill>
                  <a:srgbClr val="FF00FF"/>
                </a:solidFill>
                <a:latin typeface="Arial"/>
                <a:ea typeface="Arial"/>
                <a:cs typeface="Arial"/>
                <a:sym typeface="Arial"/>
              </a:rPr>
              <a:t>result</a:t>
            </a:r>
            <a:r>
              <a:rPr lang="en-US" sz="3600" u="none" cap="none" strike="noStrike">
                <a:solidFill>
                  <a:schemeClr val="lt1"/>
                </a:solidFill>
                <a:latin typeface="Arial"/>
                <a:ea typeface="Arial"/>
                <a:cs typeface="Arial"/>
                <a:sym typeface="Arial"/>
              </a:rPr>
              <a:t> of the </a:t>
            </a:r>
            <a:r>
              <a:rPr lang="en-US" sz="3600" u="none" cap="none" strike="noStrike">
                <a:solidFill>
                  <a:srgbClr val="00FF00"/>
                </a:solidFill>
                <a:latin typeface="Arial"/>
                <a:ea typeface="Arial"/>
                <a:cs typeface="Arial"/>
                <a:sym typeface="Arial"/>
              </a:rPr>
              <a:t>function</a:t>
            </a:r>
            <a:endParaRPr/>
          </a:p>
        </p:txBody>
      </p:sp>
      <p:sp>
        <p:nvSpPr>
          <p:cNvPr id="110" name="Google Shape;110;p11"/>
          <p:cNvSpPr txBox="1"/>
          <p:nvPr/>
        </p:nvSpPr>
        <p:spPr>
          <a:xfrm>
            <a:off x="9002225" y="2309525"/>
            <a:ext cx="6722399" cy="6429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00"/>
              <a:buFont typeface="Courier"/>
              <a:buNone/>
            </a:pPr>
            <a:r>
              <a:rPr b="0" i="0" lang="en-US" sz="2800" u="none" cap="none" strike="noStrike">
                <a:solidFill>
                  <a:srgbClr val="FFFF00"/>
                </a:solidFill>
                <a:latin typeface="Courier"/>
                <a:ea typeface="Courier"/>
                <a:cs typeface="Courier"/>
                <a:sym typeface="Courier"/>
              </a:rPr>
              <a:t>def</a:t>
            </a:r>
            <a:r>
              <a:rPr b="0" i="0" lang="en-US" sz="2800" u="none" cap="none" strike="noStrike">
                <a:solidFill>
                  <a:schemeClr val="lt1"/>
                </a:solidFill>
                <a:latin typeface="Courier"/>
                <a:ea typeface="Courier"/>
                <a:cs typeface="Courier"/>
                <a:sym typeface="Courier"/>
              </a:rPr>
              <a:t> </a:t>
            </a:r>
            <a:r>
              <a:rPr b="0" i="0" lang="en-US" sz="2800" u="none" cap="none" strike="noStrike">
                <a:solidFill>
                  <a:srgbClr val="00FF00"/>
                </a:solidFill>
                <a:latin typeface="Courier"/>
                <a:ea typeface="Courier"/>
                <a:cs typeface="Courier"/>
                <a:sym typeface="Courier"/>
              </a:rPr>
              <a:t>greet</a:t>
            </a:r>
            <a:r>
              <a:rPr b="0" i="0" lang="en-US" sz="2800" u="none" cap="none" strike="noStrike">
                <a:solidFill>
                  <a:schemeClr val="lt1"/>
                </a:solidFill>
                <a:latin typeface="Courier"/>
                <a:ea typeface="Courier"/>
                <a:cs typeface="Courier"/>
                <a:sym typeface="Courier"/>
              </a:rPr>
              <a:t>(</a:t>
            </a:r>
            <a:r>
              <a:rPr b="0" i="0" lang="en-US" sz="2800" u="none" cap="none" strike="noStrike">
                <a:solidFill>
                  <a:srgbClr val="00FFFF"/>
                </a:solidFill>
                <a:latin typeface="Courier"/>
                <a:ea typeface="Courier"/>
                <a:cs typeface="Courier"/>
                <a:sym typeface="Courier"/>
              </a:rPr>
              <a:t>lang</a:t>
            </a:r>
            <a:r>
              <a:rPr b="0" i="0" lang="en-US" sz="28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00"/>
              <a:buFont typeface="Courier"/>
              <a:buNone/>
            </a:pPr>
            <a:r>
              <a:rPr b="0" i="0" lang="en-US" sz="2800" u="none" cap="none" strike="noStrike">
                <a:solidFill>
                  <a:schemeClr val="lt1"/>
                </a:solidFill>
                <a:latin typeface="Courier"/>
                <a:ea typeface="Courier"/>
                <a:cs typeface="Courier"/>
                <a:sym typeface="Courier"/>
              </a:rPr>
              <a:t>    </a:t>
            </a:r>
            <a:r>
              <a:rPr b="0" i="0" lang="en-US" sz="2800" u="none" cap="none" strike="noStrike">
                <a:solidFill>
                  <a:srgbClr val="FFFF00"/>
                </a:solidFill>
                <a:latin typeface="Courier"/>
                <a:ea typeface="Courier"/>
                <a:cs typeface="Courier"/>
                <a:sym typeface="Courier"/>
              </a:rPr>
              <a:t>if</a:t>
            </a:r>
            <a:r>
              <a:rPr b="0" i="0" lang="en-US" sz="2800" u="none" cap="none" strike="noStrike">
                <a:solidFill>
                  <a:schemeClr val="lt1"/>
                </a:solidFill>
                <a:latin typeface="Courier"/>
                <a:ea typeface="Courier"/>
                <a:cs typeface="Courier"/>
                <a:sym typeface="Courier"/>
              </a:rPr>
              <a:t> </a:t>
            </a:r>
            <a:r>
              <a:rPr b="0" i="0" lang="en-US" sz="2800" u="none" cap="none" strike="noStrike">
                <a:solidFill>
                  <a:srgbClr val="00FFFF"/>
                </a:solidFill>
                <a:latin typeface="Courier"/>
                <a:ea typeface="Courier"/>
                <a:cs typeface="Courier"/>
                <a:sym typeface="Courier"/>
              </a:rPr>
              <a:t>lang</a:t>
            </a:r>
            <a:r>
              <a:rPr b="0" i="0" lang="en-US" sz="2800" u="none" cap="none" strike="noStrike">
                <a:solidFill>
                  <a:schemeClr val="lt1"/>
                </a:solidFill>
                <a:latin typeface="Courier"/>
                <a:ea typeface="Courier"/>
                <a:cs typeface="Courier"/>
                <a:sym typeface="Courier"/>
              </a:rPr>
              <a:t> == 'es':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00"/>
              <a:buFont typeface="Courier"/>
              <a:buNone/>
            </a:pPr>
            <a:r>
              <a:rPr b="0" i="0" lang="en-US" sz="2800" u="none" cap="none" strike="noStrike">
                <a:solidFill>
                  <a:schemeClr val="lt1"/>
                </a:solidFill>
                <a:latin typeface="Courier"/>
                <a:ea typeface="Courier"/>
                <a:cs typeface="Courier"/>
                <a:sym typeface="Courier"/>
              </a:rPr>
              <a:t>        </a:t>
            </a:r>
            <a:r>
              <a:rPr b="0" i="0" lang="en-US" sz="2800" u="none" cap="none" strike="noStrike">
                <a:solidFill>
                  <a:srgbClr val="FFFF00"/>
                </a:solidFill>
                <a:latin typeface="Courier"/>
                <a:ea typeface="Courier"/>
                <a:cs typeface="Courier"/>
                <a:sym typeface="Courier"/>
              </a:rPr>
              <a:t>return</a:t>
            </a:r>
            <a:r>
              <a:rPr b="0" i="0" lang="en-US" sz="2800" u="none" cap="none" strike="noStrike">
                <a:solidFill>
                  <a:schemeClr val="lt1"/>
                </a:solidFill>
                <a:latin typeface="Courier"/>
                <a:ea typeface="Courier"/>
                <a:cs typeface="Courier"/>
                <a:sym typeface="Courier"/>
              </a:rPr>
              <a:t> </a:t>
            </a:r>
            <a:r>
              <a:rPr b="0" i="0" lang="en-US" sz="2800" u="none" cap="none" strike="noStrike">
                <a:solidFill>
                  <a:srgbClr val="FF00FF"/>
                </a:solidFill>
                <a:latin typeface="Courier"/>
                <a:ea typeface="Courier"/>
                <a:cs typeface="Courier"/>
                <a:sym typeface="Courier"/>
              </a:rPr>
              <a:t>'Hola’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00"/>
              <a:buFont typeface="Courier"/>
              <a:buNone/>
            </a:pPr>
            <a:r>
              <a:rPr b="0" i="0" lang="en-US" sz="2800" u="none" cap="none" strike="noStrike">
                <a:solidFill>
                  <a:srgbClr val="FF00FF"/>
                </a:solidFill>
                <a:latin typeface="Courier"/>
                <a:ea typeface="Courier"/>
                <a:cs typeface="Courier"/>
                <a:sym typeface="Courier"/>
              </a:rPr>
              <a:t>    </a:t>
            </a:r>
            <a:r>
              <a:rPr b="0" i="0" lang="en-US" sz="2800" u="none" cap="none" strike="noStrike">
                <a:solidFill>
                  <a:srgbClr val="FFFF00"/>
                </a:solidFill>
                <a:latin typeface="Courier"/>
                <a:ea typeface="Courier"/>
                <a:cs typeface="Courier"/>
                <a:sym typeface="Courier"/>
              </a:rPr>
              <a:t>elif</a:t>
            </a:r>
            <a:r>
              <a:rPr b="0" i="0" lang="en-US" sz="2800" u="none" cap="none" strike="noStrike">
                <a:solidFill>
                  <a:schemeClr val="lt1"/>
                </a:solidFill>
                <a:latin typeface="Courier"/>
                <a:ea typeface="Courier"/>
                <a:cs typeface="Courier"/>
                <a:sym typeface="Courier"/>
              </a:rPr>
              <a:t> </a:t>
            </a:r>
            <a:r>
              <a:rPr b="0" i="0" lang="en-US" sz="2800" u="none" cap="none" strike="noStrike">
                <a:solidFill>
                  <a:srgbClr val="00FFFF"/>
                </a:solidFill>
                <a:latin typeface="Courier"/>
                <a:ea typeface="Courier"/>
                <a:cs typeface="Courier"/>
                <a:sym typeface="Courier"/>
              </a:rPr>
              <a:t>lang</a:t>
            </a:r>
            <a:r>
              <a:rPr b="0" i="0" lang="en-US" sz="2800" u="none" cap="none" strike="noStrike">
                <a:solidFill>
                  <a:schemeClr val="lt1"/>
                </a:solidFill>
                <a:latin typeface="Courier"/>
                <a:ea typeface="Courier"/>
                <a:cs typeface="Courier"/>
                <a:sym typeface="Courier"/>
              </a:rPr>
              <a:t> == 'fr':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00"/>
              <a:buFont typeface="Courier"/>
              <a:buNone/>
            </a:pPr>
            <a:r>
              <a:rPr b="0" i="0" lang="en-US" sz="2800" u="none" cap="none" strike="noStrike">
                <a:solidFill>
                  <a:schemeClr val="lt1"/>
                </a:solidFill>
                <a:latin typeface="Courier"/>
                <a:ea typeface="Courier"/>
                <a:cs typeface="Courier"/>
                <a:sym typeface="Courier"/>
              </a:rPr>
              <a:t>        </a:t>
            </a:r>
            <a:r>
              <a:rPr b="0" i="0" lang="en-US" sz="2800" u="none" cap="none" strike="noStrike">
                <a:solidFill>
                  <a:srgbClr val="FFFF00"/>
                </a:solidFill>
                <a:latin typeface="Courier"/>
                <a:ea typeface="Courier"/>
                <a:cs typeface="Courier"/>
                <a:sym typeface="Courier"/>
              </a:rPr>
              <a:t>return</a:t>
            </a:r>
            <a:r>
              <a:rPr b="0" i="0" lang="en-US" sz="2800" u="none" cap="none" strike="noStrike">
                <a:solidFill>
                  <a:schemeClr val="lt1"/>
                </a:solidFill>
                <a:latin typeface="Courier"/>
                <a:ea typeface="Courier"/>
                <a:cs typeface="Courier"/>
                <a:sym typeface="Courier"/>
              </a:rPr>
              <a:t> </a:t>
            </a:r>
            <a:r>
              <a:rPr b="0" i="0" lang="en-US" sz="2800" u="none" cap="none" strike="noStrike">
                <a:solidFill>
                  <a:srgbClr val="FF00FF"/>
                </a:solidFill>
                <a:latin typeface="Courier"/>
                <a:ea typeface="Courier"/>
                <a:cs typeface="Courier"/>
                <a:sym typeface="Courier"/>
              </a:rPr>
              <a:t>'Bonjour’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00"/>
              <a:buFont typeface="Courier"/>
              <a:buNone/>
            </a:pPr>
            <a:r>
              <a:rPr b="0" i="0" lang="en-US" sz="2800" u="none" cap="none" strike="noStrike">
                <a:solidFill>
                  <a:srgbClr val="FF00FF"/>
                </a:solidFill>
                <a:latin typeface="Courier"/>
                <a:ea typeface="Courier"/>
                <a:cs typeface="Courier"/>
                <a:sym typeface="Courier"/>
              </a:rPr>
              <a:t>    </a:t>
            </a:r>
            <a:r>
              <a:rPr b="0" i="0" lang="en-US" sz="2800" u="none" cap="none" strike="noStrike">
                <a:solidFill>
                  <a:srgbClr val="FFFF00"/>
                </a:solidFill>
                <a:latin typeface="Courier"/>
                <a:ea typeface="Courier"/>
                <a:cs typeface="Courier"/>
                <a:sym typeface="Courier"/>
              </a:rPr>
              <a:t>else: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00"/>
              <a:buFont typeface="Courier"/>
              <a:buNone/>
            </a:pPr>
            <a:r>
              <a:rPr b="0" i="0" lang="en-US" sz="2800" u="none" cap="none" strike="noStrike">
                <a:solidFill>
                  <a:srgbClr val="FFFF00"/>
                </a:solidFill>
                <a:latin typeface="Courier"/>
                <a:ea typeface="Courier"/>
                <a:cs typeface="Courier"/>
                <a:sym typeface="Courier"/>
              </a:rPr>
              <a:t>        return</a:t>
            </a:r>
            <a:r>
              <a:rPr b="0" i="0" lang="en-US" sz="2800" u="none" cap="none" strike="noStrike">
                <a:solidFill>
                  <a:schemeClr val="lt1"/>
                </a:solidFill>
                <a:latin typeface="Courier"/>
                <a:ea typeface="Courier"/>
                <a:cs typeface="Courier"/>
                <a:sym typeface="Courier"/>
              </a:rPr>
              <a:t> </a:t>
            </a:r>
            <a:r>
              <a:rPr b="0" i="0" lang="en-US" sz="2800" u="none" cap="none" strike="noStrike">
                <a:solidFill>
                  <a:srgbClr val="FF00FF"/>
                </a:solidFill>
                <a:latin typeface="Courier"/>
                <a:ea typeface="Courier"/>
                <a:cs typeface="Courier"/>
                <a:sym typeface="Courier"/>
              </a:rPr>
              <a:t>'Hello'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00"/>
              <a:buFont typeface="Arial"/>
              <a:buNone/>
            </a:pPr>
            <a:r>
              <a:t/>
            </a:r>
            <a:endParaRPr b="0" i="0" sz="28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00"/>
              <a:buFont typeface="Courier"/>
              <a:buNone/>
            </a:pPr>
            <a:r>
              <a:rPr b="0" i="0" lang="en-US" sz="2800" u="none" cap="none" strike="noStrike">
                <a:solidFill>
                  <a:srgbClr val="FFFF00"/>
                </a:solidFill>
                <a:latin typeface="Courier"/>
                <a:ea typeface="Courier"/>
                <a:cs typeface="Courier"/>
                <a:sym typeface="Courier"/>
              </a:rPr>
              <a:t>print</a:t>
            </a:r>
            <a:r>
              <a:rPr b="0" i="0" lang="en-US" sz="2800" u="none" cap="none" strike="noStrike">
                <a:solidFill>
                  <a:schemeClr val="lt1"/>
                </a:solidFill>
                <a:latin typeface="Courier"/>
                <a:ea typeface="Courier"/>
                <a:cs typeface="Courier"/>
                <a:sym typeface="Courier"/>
              </a:rPr>
              <a:t>(</a:t>
            </a:r>
            <a:r>
              <a:rPr b="0" i="0" lang="en-US" sz="2800" u="none" cap="none" strike="noStrike">
                <a:solidFill>
                  <a:srgbClr val="00FF00"/>
                </a:solidFill>
                <a:latin typeface="Courier"/>
                <a:ea typeface="Courier"/>
                <a:cs typeface="Courier"/>
                <a:sym typeface="Courier"/>
              </a:rPr>
              <a:t>greet</a:t>
            </a:r>
            <a:r>
              <a:rPr b="0" i="0" lang="en-US" sz="2800" u="none" cap="none" strike="noStrike">
                <a:solidFill>
                  <a:schemeClr val="lt1"/>
                </a:solidFill>
                <a:latin typeface="Courier"/>
                <a:ea typeface="Courier"/>
                <a:cs typeface="Courier"/>
                <a:sym typeface="Courier"/>
              </a:rPr>
              <a:t>(</a:t>
            </a:r>
            <a:r>
              <a:rPr b="0" i="0" lang="en-US" sz="2800" u="none" cap="none" strike="noStrike">
                <a:solidFill>
                  <a:srgbClr val="FF7F00"/>
                </a:solidFill>
                <a:latin typeface="Courier"/>
                <a:ea typeface="Courier"/>
                <a:cs typeface="Courier"/>
                <a:sym typeface="Courier"/>
              </a:rPr>
              <a:t>'en'</a:t>
            </a:r>
            <a:r>
              <a:rPr b="0" i="0" lang="en-US" sz="2800" u="none" cap="none" strike="noStrike">
                <a:solidFill>
                  <a:schemeClr val="lt1"/>
                </a:solidFill>
                <a:latin typeface="Courier"/>
                <a:ea typeface="Courier"/>
                <a:cs typeface="Courier"/>
                <a:sym typeface="Courier"/>
              </a:rPr>
              <a:t>),'Glenn') Hello Glenn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00"/>
              <a:buFont typeface="Courier"/>
              <a:buNone/>
            </a:pPr>
            <a:r>
              <a:rPr b="0" i="0" lang="en-US" sz="2800" u="none" cap="none" strike="noStrike">
                <a:solidFill>
                  <a:srgbClr val="FFFF00"/>
                </a:solidFill>
                <a:latin typeface="Courier"/>
                <a:ea typeface="Courier"/>
                <a:cs typeface="Courier"/>
                <a:sym typeface="Courier"/>
              </a:rPr>
              <a:t>print</a:t>
            </a:r>
            <a:r>
              <a:rPr b="0" i="0" lang="en-US" sz="2800" u="none" cap="none" strike="noStrike">
                <a:solidFill>
                  <a:schemeClr val="lt1"/>
                </a:solidFill>
                <a:latin typeface="Courier"/>
                <a:ea typeface="Courier"/>
                <a:cs typeface="Courier"/>
                <a:sym typeface="Courier"/>
              </a:rPr>
              <a:t>(</a:t>
            </a:r>
            <a:r>
              <a:rPr b="0" i="0" lang="en-US" sz="2800" u="none" cap="none" strike="noStrike">
                <a:solidFill>
                  <a:srgbClr val="00FF00"/>
                </a:solidFill>
                <a:latin typeface="Courier"/>
                <a:ea typeface="Courier"/>
                <a:cs typeface="Courier"/>
                <a:sym typeface="Courier"/>
              </a:rPr>
              <a:t>greet</a:t>
            </a:r>
            <a:r>
              <a:rPr b="0" i="0" lang="en-US" sz="2800" u="none" cap="none" strike="noStrike">
                <a:solidFill>
                  <a:schemeClr val="lt1"/>
                </a:solidFill>
                <a:latin typeface="Courier"/>
                <a:ea typeface="Courier"/>
                <a:cs typeface="Courier"/>
                <a:sym typeface="Courier"/>
              </a:rPr>
              <a:t>(</a:t>
            </a:r>
            <a:r>
              <a:rPr b="0" i="0" lang="en-US" sz="2800" u="none" cap="none" strike="noStrike">
                <a:solidFill>
                  <a:srgbClr val="FF7F00"/>
                </a:solidFill>
                <a:latin typeface="Courier"/>
                <a:ea typeface="Courier"/>
                <a:cs typeface="Courier"/>
                <a:sym typeface="Courier"/>
              </a:rPr>
              <a:t>'es'</a:t>
            </a:r>
            <a:r>
              <a:rPr b="0" i="0" lang="en-US" sz="2800" u="none" cap="none" strike="noStrike">
                <a:solidFill>
                  <a:schemeClr val="lt1"/>
                </a:solidFill>
                <a:latin typeface="Courier"/>
                <a:ea typeface="Courier"/>
                <a:cs typeface="Courier"/>
                <a:sym typeface="Courier"/>
              </a:rPr>
              <a:t>),'Sally') </a:t>
            </a:r>
            <a:endParaRPr b="0" i="0" sz="28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00"/>
              <a:buFont typeface="Courier"/>
              <a:buNone/>
            </a:pPr>
            <a:r>
              <a:rPr b="0" i="0" lang="en-US" sz="2800" u="none" cap="none" strike="noStrike">
                <a:solidFill>
                  <a:schemeClr val="lt1"/>
                </a:solidFill>
                <a:latin typeface="Courier"/>
                <a:ea typeface="Courier"/>
                <a:cs typeface="Courier"/>
                <a:sym typeface="Courier"/>
              </a:rPr>
              <a:t>Hola Sally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00"/>
              <a:buFont typeface="Courier"/>
              <a:buNone/>
            </a:pPr>
            <a:r>
              <a:rPr b="0" i="0" lang="en-US" sz="2800" u="none" cap="none" strike="noStrike">
                <a:solidFill>
                  <a:srgbClr val="FFFF00"/>
                </a:solidFill>
                <a:latin typeface="Courier"/>
                <a:ea typeface="Courier"/>
                <a:cs typeface="Courier"/>
                <a:sym typeface="Courier"/>
              </a:rPr>
              <a:t>print</a:t>
            </a:r>
            <a:r>
              <a:rPr b="0" i="0" lang="en-US" sz="2800" u="none" cap="none" strike="noStrike">
                <a:solidFill>
                  <a:schemeClr val="lt1"/>
                </a:solidFill>
                <a:latin typeface="Courier"/>
                <a:ea typeface="Courier"/>
                <a:cs typeface="Courier"/>
                <a:sym typeface="Courier"/>
              </a:rPr>
              <a:t>(</a:t>
            </a:r>
            <a:r>
              <a:rPr b="0" i="0" lang="en-US" sz="2800" u="none" cap="none" strike="noStrike">
                <a:solidFill>
                  <a:srgbClr val="00FF00"/>
                </a:solidFill>
                <a:latin typeface="Courier"/>
                <a:ea typeface="Courier"/>
                <a:cs typeface="Courier"/>
                <a:sym typeface="Courier"/>
              </a:rPr>
              <a:t>greet</a:t>
            </a:r>
            <a:r>
              <a:rPr b="0" i="0" lang="en-US" sz="2800" u="none" cap="none" strike="noStrike">
                <a:solidFill>
                  <a:schemeClr val="lt1"/>
                </a:solidFill>
                <a:latin typeface="Courier"/>
                <a:ea typeface="Courier"/>
                <a:cs typeface="Courier"/>
                <a:sym typeface="Courier"/>
              </a:rPr>
              <a:t>(</a:t>
            </a:r>
            <a:r>
              <a:rPr b="0" i="0" lang="en-US" sz="2800" u="none" cap="none" strike="noStrike">
                <a:solidFill>
                  <a:srgbClr val="FF7F00"/>
                </a:solidFill>
                <a:latin typeface="Courier"/>
                <a:ea typeface="Courier"/>
                <a:cs typeface="Courier"/>
                <a:sym typeface="Courier"/>
              </a:rPr>
              <a:t>'fr'</a:t>
            </a:r>
            <a:r>
              <a:rPr b="0" i="0" lang="en-US" sz="2800" u="none" cap="none" strike="noStrike">
                <a:solidFill>
                  <a:schemeClr val="lt1"/>
                </a:solidFill>
                <a:latin typeface="Courier"/>
                <a:ea typeface="Courier"/>
                <a:cs typeface="Courier"/>
                <a:sym typeface="Courier"/>
              </a:rPr>
              <a:t>),'Michael') Bonjour Michael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2"/>
          <p:cNvSpPr txBox="1"/>
          <p:nvPr>
            <p:ph type="title"/>
          </p:nvPr>
        </p:nvSpPr>
        <p:spPr>
          <a:xfrm>
            <a:off x="1155700" y="803564"/>
            <a:ext cx="13932000" cy="1736336"/>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7F00"/>
              </a:buClr>
              <a:buSzPts val="1775"/>
              <a:buFont typeface="Cabin"/>
              <a:buNone/>
            </a:pPr>
            <a:r>
              <a:rPr lang="en-US" sz="7100" u="none" cap="none" strike="noStrike">
                <a:solidFill>
                  <a:srgbClr val="FF7F00"/>
                </a:solidFill>
                <a:latin typeface="Arial"/>
                <a:ea typeface="Arial"/>
                <a:cs typeface="Arial"/>
                <a:sym typeface="Arial"/>
              </a:rPr>
              <a:t>Arguments</a:t>
            </a:r>
            <a:r>
              <a:rPr lang="en-US" sz="7100" u="none" cap="none" strike="noStrike">
                <a:solidFill>
                  <a:schemeClr val="lt1"/>
                </a:solidFill>
                <a:latin typeface="Arial"/>
                <a:ea typeface="Arial"/>
                <a:cs typeface="Arial"/>
                <a:sym typeface="Arial"/>
              </a:rPr>
              <a:t>,</a:t>
            </a:r>
            <a:r>
              <a:rPr lang="en-US" sz="7100" u="none" cap="none" strike="noStrike">
                <a:solidFill>
                  <a:srgbClr val="FFFF00"/>
                </a:solidFill>
                <a:latin typeface="Arial"/>
                <a:ea typeface="Arial"/>
                <a:cs typeface="Arial"/>
                <a:sym typeface="Arial"/>
              </a:rPr>
              <a:t> </a:t>
            </a:r>
            <a:r>
              <a:rPr lang="en-US" sz="7100" u="none" cap="none" strike="noStrike">
                <a:solidFill>
                  <a:srgbClr val="00FFFF"/>
                </a:solidFill>
                <a:latin typeface="Arial"/>
                <a:ea typeface="Arial"/>
                <a:cs typeface="Arial"/>
                <a:sym typeface="Arial"/>
              </a:rPr>
              <a:t>Parameters</a:t>
            </a:r>
            <a:r>
              <a:rPr lang="en-US" sz="7100" u="none" cap="none" strike="noStrike">
                <a:solidFill>
                  <a:schemeClr val="lt1"/>
                </a:solidFill>
                <a:latin typeface="Arial"/>
                <a:ea typeface="Arial"/>
                <a:cs typeface="Arial"/>
                <a:sym typeface="Arial"/>
              </a:rPr>
              <a:t>, and</a:t>
            </a:r>
            <a:r>
              <a:rPr lang="en-US" sz="7100" u="none" cap="none" strike="noStrike">
                <a:solidFill>
                  <a:srgbClr val="FF00FF"/>
                </a:solidFill>
                <a:latin typeface="Arial"/>
                <a:ea typeface="Arial"/>
                <a:cs typeface="Arial"/>
                <a:sym typeface="Arial"/>
              </a:rPr>
              <a:t> </a:t>
            </a:r>
            <a:r>
              <a:rPr lang="en-US" sz="7100" u="none" cap="none" strike="noStrike">
                <a:solidFill>
                  <a:srgbClr val="00FF00"/>
                </a:solidFill>
                <a:latin typeface="Arial"/>
                <a:ea typeface="Arial"/>
                <a:cs typeface="Arial"/>
                <a:sym typeface="Arial"/>
              </a:rPr>
              <a:t>Results</a:t>
            </a:r>
            <a:endParaRPr/>
          </a:p>
        </p:txBody>
      </p:sp>
      <p:sp>
        <p:nvSpPr>
          <p:cNvPr id="116" name="Google Shape;116;p12"/>
          <p:cNvSpPr txBox="1"/>
          <p:nvPr/>
        </p:nvSpPr>
        <p:spPr>
          <a:xfrm>
            <a:off x="1155700" y="2908300"/>
            <a:ext cx="7557000" cy="1663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&gt;&gt;&gt; </a:t>
            </a:r>
            <a:r>
              <a:rPr b="0" i="0" lang="en-US" sz="3000" u="none" cap="none" strike="noStrike">
                <a:solidFill>
                  <a:srgbClr val="00FF00"/>
                </a:solidFill>
                <a:latin typeface="Courier"/>
                <a:ea typeface="Courier"/>
                <a:cs typeface="Courier"/>
                <a:sym typeface="Courier"/>
              </a:rPr>
              <a:t>big</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FF00FF"/>
                </a:solidFill>
                <a:latin typeface="Courier"/>
                <a:ea typeface="Courier"/>
                <a:cs typeface="Courier"/>
                <a:sym typeface="Courier"/>
              </a:rPr>
              <a:t>max</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'Hello world'</a:t>
            </a:r>
            <a:r>
              <a:rPr b="0" i="0" lang="en-US" sz="30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&gt;&gt;&gt; </a:t>
            </a: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big</a:t>
            </a:r>
            <a:r>
              <a:rPr b="0" i="0" lang="en-US" sz="30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00FF00"/>
                </a:solidFill>
                <a:latin typeface="Courier"/>
                <a:ea typeface="Courier"/>
                <a:cs typeface="Courier"/>
                <a:sym typeface="Courier"/>
              </a:rPr>
              <a:t>w</a:t>
            </a:r>
            <a:endParaRPr b="0" i="0" sz="3000" u="none" cap="none" strike="noStrike">
              <a:solidFill>
                <a:srgbClr val="00FF00"/>
              </a:solidFill>
              <a:latin typeface="Courier"/>
              <a:ea typeface="Courier"/>
              <a:cs typeface="Courier"/>
              <a:sym typeface="Courier"/>
            </a:endParaRPr>
          </a:p>
        </p:txBody>
      </p:sp>
      <p:sp>
        <p:nvSpPr>
          <p:cNvPr id="117" name="Google Shape;117;p12"/>
          <p:cNvSpPr txBox="1"/>
          <p:nvPr/>
        </p:nvSpPr>
        <p:spPr>
          <a:xfrm>
            <a:off x="7805637" y="4011400"/>
            <a:ext cx="3127800" cy="3483300"/>
          </a:xfrm>
          <a:prstGeom prst="rect">
            <a:avLst/>
          </a:prstGeom>
          <a:noFill/>
          <a:ln cap="flat" cmpd="sng" w="76200">
            <a:solidFill>
              <a:srgbClr val="00FFFF"/>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00"/>
              </a:buClr>
              <a:buSzPts val="600"/>
              <a:buFont typeface="Cabin"/>
              <a:buNone/>
            </a:pPr>
            <a:r>
              <a:rPr b="1" i="0" lang="en-US" sz="2400" u="none" cap="none" strike="noStrike">
                <a:solidFill>
                  <a:srgbClr val="FFFF00"/>
                </a:solidFill>
                <a:latin typeface="Courier"/>
                <a:ea typeface="Courier"/>
                <a:cs typeface="Courier"/>
                <a:sym typeface="Courier"/>
              </a:rPr>
              <a:t> </a:t>
            </a:r>
            <a:r>
              <a:rPr b="0" i="0" lang="en-US" sz="2400" u="none" cap="none" strike="noStrike">
                <a:solidFill>
                  <a:srgbClr val="FFFF00"/>
                </a:solidFill>
                <a:latin typeface="Courier"/>
                <a:ea typeface="Courier"/>
                <a:cs typeface="Courier"/>
                <a:sym typeface="Courier"/>
              </a:rPr>
              <a:t>def</a:t>
            </a:r>
            <a:r>
              <a:rPr b="0" i="0" lang="en-US" sz="2400" u="none" cap="none" strike="noStrike">
                <a:solidFill>
                  <a:schemeClr val="lt1"/>
                </a:solidFill>
                <a:latin typeface="Courier"/>
                <a:ea typeface="Courier"/>
                <a:cs typeface="Courier"/>
                <a:sym typeface="Courier"/>
              </a:rPr>
              <a:t> max(</a:t>
            </a:r>
            <a:r>
              <a:rPr b="0" i="0" lang="en-US" sz="2400" u="none" cap="none" strike="noStrike">
                <a:solidFill>
                  <a:srgbClr val="00FFFF"/>
                </a:solidFill>
                <a:latin typeface="Courier"/>
                <a:ea typeface="Courier"/>
                <a:cs typeface="Courier"/>
                <a:sym typeface="Courier"/>
              </a:rPr>
              <a:t>inp</a:t>
            </a:r>
            <a:r>
              <a:rPr b="0" i="0" lang="en-US" sz="24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chemeClr val="lt1"/>
                </a:solidFill>
                <a:latin typeface="Courier"/>
                <a:ea typeface="Courier"/>
                <a:cs typeface="Courier"/>
                <a:sym typeface="Courier"/>
              </a:rPr>
              <a:t>    blah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chemeClr val="lt1"/>
                </a:solidFill>
                <a:latin typeface="Courier"/>
                <a:ea typeface="Courier"/>
                <a:cs typeface="Courier"/>
                <a:sym typeface="Courier"/>
              </a:rPr>
              <a:t>    blah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FFFF00"/>
                </a:solidFill>
                <a:latin typeface="Courier"/>
                <a:ea typeface="Courier"/>
                <a:cs typeface="Courier"/>
                <a:sym typeface="Courier"/>
              </a:rPr>
              <a:t>for</a:t>
            </a:r>
            <a:r>
              <a:rPr b="0" i="0" lang="en-US" sz="2400" u="none" cap="none" strike="noStrike">
                <a:solidFill>
                  <a:schemeClr val="lt1"/>
                </a:solidFill>
                <a:latin typeface="Courier"/>
                <a:ea typeface="Courier"/>
                <a:cs typeface="Courier"/>
                <a:sym typeface="Courier"/>
              </a:rPr>
              <a:t> x </a:t>
            </a:r>
            <a:r>
              <a:rPr b="0" i="0" lang="en-US" sz="2400" u="none" cap="none" strike="noStrike">
                <a:solidFill>
                  <a:srgbClr val="FFFF00"/>
                </a:solidFill>
                <a:latin typeface="Courier"/>
                <a:ea typeface="Courier"/>
                <a:cs typeface="Courier"/>
                <a:sym typeface="Courier"/>
              </a:rPr>
              <a:t>in</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00FDFF"/>
                </a:solidFill>
                <a:latin typeface="Courier"/>
                <a:ea typeface="Courier"/>
                <a:cs typeface="Courier"/>
                <a:sym typeface="Courier"/>
              </a:rPr>
              <a:t>inp</a:t>
            </a:r>
            <a:r>
              <a:rPr b="0" i="0" lang="en-US" sz="2400" u="none" cap="none" strike="noStrike">
                <a:solidFill>
                  <a:schemeClr val="lt1"/>
                </a:solidFill>
                <a:latin typeface="Courier"/>
                <a:ea typeface="Courier"/>
                <a:cs typeface="Courier"/>
                <a:sym typeface="Courier"/>
              </a:rPr>
              <a:t>:</a:t>
            </a:r>
            <a:endParaRPr b="0" i="0" sz="24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chemeClr val="lt1"/>
                </a:solidFill>
                <a:latin typeface="Courier"/>
                <a:ea typeface="Courier"/>
                <a:cs typeface="Courier"/>
                <a:sym typeface="Courier"/>
              </a:rPr>
              <a:t>      blah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chemeClr val="lt1"/>
                </a:solidFill>
                <a:latin typeface="Courier"/>
                <a:ea typeface="Courier"/>
                <a:cs typeface="Courier"/>
                <a:sym typeface="Courier"/>
              </a:rPr>
              <a:t>      blah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00FF00"/>
                </a:solidFill>
                <a:latin typeface="Courier"/>
                <a:ea typeface="Courier"/>
                <a:cs typeface="Courier"/>
                <a:sym typeface="Courier"/>
              </a:rPr>
              <a:t>return 'w'</a:t>
            </a:r>
            <a:endParaRPr b="0" i="0" sz="1400" u="none" cap="none" strike="noStrike">
              <a:solidFill>
                <a:srgbClr val="000000"/>
              </a:solidFill>
              <a:latin typeface="Arial"/>
              <a:ea typeface="Arial"/>
              <a:cs typeface="Arial"/>
              <a:sym typeface="Arial"/>
            </a:endParaRPr>
          </a:p>
        </p:txBody>
      </p:sp>
      <p:cxnSp>
        <p:nvCxnSpPr>
          <p:cNvPr id="118" name="Google Shape;118;p12"/>
          <p:cNvCxnSpPr/>
          <p:nvPr/>
        </p:nvCxnSpPr>
        <p:spPr>
          <a:xfrm flipH="1">
            <a:off x="6569200" y="5608275"/>
            <a:ext cx="1016099" cy="3600"/>
          </a:xfrm>
          <a:prstGeom prst="straightConnector1">
            <a:avLst/>
          </a:prstGeom>
          <a:noFill/>
          <a:ln cap="rnd" cmpd="sng" w="88900">
            <a:solidFill>
              <a:srgbClr val="FF7F00"/>
            </a:solidFill>
            <a:prstDash val="solid"/>
            <a:miter lim="8000"/>
            <a:headEnd len="med" w="med" type="stealth"/>
            <a:tailEnd len="sm" w="sm" type="none"/>
          </a:ln>
        </p:spPr>
      </p:cxnSp>
      <p:sp>
        <p:nvSpPr>
          <p:cNvPr id="119" name="Google Shape;119;p12"/>
          <p:cNvSpPr txBox="1"/>
          <p:nvPr/>
        </p:nvSpPr>
        <p:spPr>
          <a:xfrm>
            <a:off x="3530600" y="5283200"/>
            <a:ext cx="2849562" cy="6222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7F00"/>
              </a:buClr>
              <a:buSzPts val="900"/>
              <a:buFont typeface="Arial"/>
              <a:buNone/>
            </a:pPr>
            <a:r>
              <a:rPr b="0" i="0" lang="en-US" sz="3600" u="none" cap="none" strike="noStrike">
                <a:solidFill>
                  <a:srgbClr val="FF7F00"/>
                </a:solidFill>
                <a:latin typeface="Arial"/>
                <a:ea typeface="Arial"/>
                <a:cs typeface="Arial"/>
                <a:sym typeface="Arial"/>
              </a:rPr>
              <a:t>'Hello world' </a:t>
            </a:r>
            <a:endParaRPr b="0" i="0" sz="1400" u="none" cap="none" strike="noStrike">
              <a:solidFill>
                <a:srgbClr val="000000"/>
              </a:solidFill>
              <a:latin typeface="Arial"/>
              <a:ea typeface="Arial"/>
              <a:cs typeface="Arial"/>
              <a:sym typeface="Arial"/>
            </a:endParaRPr>
          </a:p>
        </p:txBody>
      </p:sp>
      <p:sp>
        <p:nvSpPr>
          <p:cNvPr id="120" name="Google Shape;120;p12"/>
          <p:cNvSpPr txBox="1"/>
          <p:nvPr/>
        </p:nvSpPr>
        <p:spPr>
          <a:xfrm>
            <a:off x="13066711" y="5232400"/>
            <a:ext cx="644524" cy="6222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FF00"/>
              </a:buClr>
              <a:buSzPts val="900"/>
              <a:buFont typeface="Arial"/>
              <a:buNone/>
            </a:pPr>
            <a:r>
              <a:rPr b="0" i="0" lang="en-US" sz="3600" u="none" cap="none" strike="noStrike">
                <a:solidFill>
                  <a:srgbClr val="00FF00"/>
                </a:solidFill>
                <a:latin typeface="Arial"/>
                <a:ea typeface="Arial"/>
                <a:cs typeface="Arial"/>
                <a:sym typeface="Arial"/>
              </a:rPr>
              <a:t>'w'</a:t>
            </a:r>
            <a:endParaRPr b="0" i="0" sz="1400" u="none" cap="none" strike="noStrike">
              <a:solidFill>
                <a:srgbClr val="000000"/>
              </a:solidFill>
              <a:latin typeface="Arial"/>
              <a:ea typeface="Arial"/>
              <a:cs typeface="Arial"/>
              <a:sym typeface="Arial"/>
            </a:endParaRPr>
          </a:p>
        </p:txBody>
      </p:sp>
      <p:cxnSp>
        <p:nvCxnSpPr>
          <p:cNvPr id="121" name="Google Shape;121;p12"/>
          <p:cNvCxnSpPr/>
          <p:nvPr/>
        </p:nvCxnSpPr>
        <p:spPr>
          <a:xfrm flipH="1">
            <a:off x="11153774" y="5594350"/>
            <a:ext cx="1492250" cy="17461"/>
          </a:xfrm>
          <a:prstGeom prst="straightConnector1">
            <a:avLst/>
          </a:prstGeom>
          <a:noFill/>
          <a:ln cap="rnd" cmpd="sng" w="88900">
            <a:solidFill>
              <a:schemeClr val="lt1"/>
            </a:solidFill>
            <a:prstDash val="solid"/>
            <a:miter lim="8000"/>
            <a:headEnd len="med" w="med" type="stealth"/>
            <a:tailEnd len="sm" w="sm" type="none"/>
          </a:ln>
        </p:spPr>
      </p:cxnSp>
      <p:sp>
        <p:nvSpPr>
          <p:cNvPr id="122" name="Google Shape;122;p12"/>
          <p:cNvSpPr txBox="1"/>
          <p:nvPr/>
        </p:nvSpPr>
        <p:spPr>
          <a:xfrm>
            <a:off x="1700213" y="6502400"/>
            <a:ext cx="2325685" cy="6222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7F00"/>
              </a:buClr>
              <a:buSzPts val="900"/>
              <a:buFont typeface="Cabin"/>
              <a:buNone/>
            </a:pPr>
            <a:r>
              <a:rPr b="0" i="0" lang="en-US" sz="3600" u="none" cap="none" strike="noStrike">
                <a:solidFill>
                  <a:srgbClr val="FF7F00"/>
                </a:solidFill>
                <a:latin typeface="Arial"/>
                <a:ea typeface="Arial"/>
                <a:cs typeface="Arial"/>
                <a:sym typeface="Arial"/>
              </a:rPr>
              <a:t>Argument</a:t>
            </a:r>
            <a:endParaRPr b="0" i="0" sz="1400" u="none" cap="none" strike="noStrike">
              <a:solidFill>
                <a:srgbClr val="000000"/>
              </a:solidFill>
              <a:latin typeface="Arial"/>
              <a:ea typeface="Arial"/>
              <a:cs typeface="Arial"/>
              <a:sym typeface="Arial"/>
            </a:endParaRPr>
          </a:p>
        </p:txBody>
      </p:sp>
      <p:cxnSp>
        <p:nvCxnSpPr>
          <p:cNvPr id="123" name="Google Shape;123;p12"/>
          <p:cNvCxnSpPr/>
          <p:nvPr/>
        </p:nvCxnSpPr>
        <p:spPr>
          <a:xfrm flipH="1">
            <a:off x="3027375" y="5965150"/>
            <a:ext cx="903299" cy="532499"/>
          </a:xfrm>
          <a:prstGeom prst="straightConnector1">
            <a:avLst/>
          </a:prstGeom>
          <a:noFill/>
          <a:ln cap="rnd" cmpd="sng" w="76200">
            <a:solidFill>
              <a:srgbClr val="FF7F00"/>
            </a:solidFill>
            <a:prstDash val="solid"/>
            <a:miter lim="8000"/>
            <a:headEnd len="med" w="med" type="stealth"/>
            <a:tailEnd len="sm" w="sm" type="none"/>
          </a:ln>
        </p:spPr>
      </p:cxnSp>
      <p:sp>
        <p:nvSpPr>
          <p:cNvPr id="124" name="Google Shape;124;p12"/>
          <p:cNvSpPr txBox="1"/>
          <p:nvPr/>
        </p:nvSpPr>
        <p:spPr>
          <a:xfrm>
            <a:off x="11231561" y="2908300"/>
            <a:ext cx="2479674" cy="6222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FFFF"/>
              </a:buClr>
              <a:buSzPts val="900"/>
              <a:buFont typeface="Cabin"/>
              <a:buNone/>
            </a:pPr>
            <a:r>
              <a:rPr b="0" i="0" lang="en-US" sz="3600" u="none" cap="none" strike="noStrike">
                <a:solidFill>
                  <a:srgbClr val="00FFFF"/>
                </a:solidFill>
                <a:latin typeface="Arial"/>
                <a:ea typeface="Arial"/>
                <a:cs typeface="Arial"/>
                <a:sym typeface="Arial"/>
              </a:rPr>
              <a:t>Parameter</a:t>
            </a:r>
            <a:endParaRPr b="0" i="0" sz="1400" u="none" cap="none" strike="noStrike">
              <a:solidFill>
                <a:srgbClr val="000000"/>
              </a:solidFill>
              <a:latin typeface="Arial"/>
              <a:ea typeface="Arial"/>
              <a:cs typeface="Arial"/>
              <a:sym typeface="Arial"/>
            </a:endParaRPr>
          </a:p>
        </p:txBody>
      </p:sp>
      <p:cxnSp>
        <p:nvCxnSpPr>
          <p:cNvPr id="125" name="Google Shape;125;p12"/>
          <p:cNvCxnSpPr/>
          <p:nvPr/>
        </p:nvCxnSpPr>
        <p:spPr>
          <a:xfrm flipH="1" rot="10800000">
            <a:off x="10056975" y="3373299"/>
            <a:ext cx="1049100" cy="1075500"/>
          </a:xfrm>
          <a:prstGeom prst="straightConnector1">
            <a:avLst/>
          </a:prstGeom>
          <a:noFill/>
          <a:ln cap="rnd" cmpd="sng" w="76200">
            <a:solidFill>
              <a:srgbClr val="00FFFF"/>
            </a:solidFill>
            <a:prstDash val="solid"/>
            <a:miter lim="8000"/>
            <a:headEnd len="med" w="med" type="stealth"/>
            <a:tailEnd len="sm" w="sm" type="none"/>
          </a:ln>
        </p:spPr>
      </p:cxnSp>
      <p:sp>
        <p:nvSpPr>
          <p:cNvPr id="126" name="Google Shape;126;p12"/>
          <p:cNvSpPr txBox="1"/>
          <p:nvPr/>
        </p:nvSpPr>
        <p:spPr>
          <a:xfrm>
            <a:off x="13023850" y="6743700"/>
            <a:ext cx="1689326" cy="6222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FF00"/>
              </a:buClr>
              <a:buSzPts val="900"/>
              <a:buFont typeface="Cabin"/>
              <a:buNone/>
            </a:pPr>
            <a:r>
              <a:rPr b="0" i="0" lang="en-US" sz="3600" u="none" cap="none" strike="noStrike">
                <a:solidFill>
                  <a:srgbClr val="00FF00"/>
                </a:solidFill>
                <a:latin typeface="Arial"/>
                <a:ea typeface="Arial"/>
                <a:cs typeface="Arial"/>
                <a:sym typeface="Arial"/>
              </a:rPr>
              <a:t>Result</a:t>
            </a:r>
            <a:endParaRPr b="0" i="0" sz="1400" u="none" cap="none" strike="noStrike">
              <a:solidFill>
                <a:srgbClr val="000000"/>
              </a:solidFill>
              <a:latin typeface="Arial"/>
              <a:ea typeface="Arial"/>
              <a:cs typeface="Arial"/>
              <a:sym typeface="Arial"/>
            </a:endParaRPr>
          </a:p>
        </p:txBody>
      </p:sp>
      <p:cxnSp>
        <p:nvCxnSpPr>
          <p:cNvPr id="127" name="Google Shape;127;p12"/>
          <p:cNvCxnSpPr/>
          <p:nvPr/>
        </p:nvCxnSpPr>
        <p:spPr>
          <a:xfrm>
            <a:off x="13377863" y="5940425"/>
            <a:ext cx="0" cy="711200"/>
          </a:xfrm>
          <a:prstGeom prst="straightConnector1">
            <a:avLst/>
          </a:prstGeom>
          <a:noFill/>
          <a:ln cap="rnd" cmpd="sng" w="76200">
            <a:solidFill>
              <a:srgbClr val="00FF00"/>
            </a:solidFill>
            <a:prstDash val="solid"/>
            <a:miter lim="8000"/>
            <a:headEnd len="med" w="med" type="stealth"/>
            <a:tailEnd len="sm" w="sm"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3"/>
          <p:cNvSpPr txBox="1"/>
          <p:nvPr>
            <p:ph type="title"/>
          </p:nvPr>
        </p:nvSpPr>
        <p:spPr>
          <a:xfrm>
            <a:off x="1155700" y="803564"/>
            <a:ext cx="13932000" cy="1736336"/>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chemeClr val="lt1"/>
              </a:buClr>
              <a:buSzPts val="1800"/>
              <a:buFont typeface="Cabin"/>
              <a:buNone/>
            </a:pPr>
            <a:r>
              <a:rPr lang="en-US" sz="7200" u="none" cap="none" strike="noStrike">
                <a:solidFill>
                  <a:schemeClr val="lt1"/>
                </a:solidFill>
                <a:latin typeface="Arial"/>
                <a:ea typeface="Arial"/>
                <a:cs typeface="Arial"/>
                <a:sym typeface="Arial"/>
              </a:rPr>
              <a:t>Multiple </a:t>
            </a:r>
            <a:r>
              <a:rPr lang="en-US" sz="7200" u="none" cap="none" strike="noStrike">
                <a:solidFill>
                  <a:srgbClr val="00FFFF"/>
                </a:solidFill>
                <a:latin typeface="Arial"/>
                <a:ea typeface="Arial"/>
                <a:cs typeface="Arial"/>
                <a:sym typeface="Arial"/>
              </a:rPr>
              <a:t>Parameters</a:t>
            </a:r>
            <a:r>
              <a:rPr lang="en-US" sz="7200" u="none" cap="none" strike="noStrike">
                <a:solidFill>
                  <a:schemeClr val="lt1"/>
                </a:solidFill>
                <a:latin typeface="Arial"/>
                <a:ea typeface="Arial"/>
                <a:cs typeface="Arial"/>
                <a:sym typeface="Arial"/>
              </a:rPr>
              <a:t> / </a:t>
            </a:r>
            <a:r>
              <a:rPr lang="en-US" sz="7200" u="none" cap="none" strike="noStrike">
                <a:solidFill>
                  <a:srgbClr val="FF7F00"/>
                </a:solidFill>
                <a:latin typeface="Arial"/>
                <a:ea typeface="Arial"/>
                <a:cs typeface="Arial"/>
                <a:sym typeface="Arial"/>
              </a:rPr>
              <a:t>Arguments</a:t>
            </a:r>
            <a:endParaRPr/>
          </a:p>
        </p:txBody>
      </p:sp>
      <p:sp>
        <p:nvSpPr>
          <p:cNvPr id="133" name="Google Shape;133;p13"/>
          <p:cNvSpPr txBox="1"/>
          <p:nvPr>
            <p:ph idx="1" type="body"/>
          </p:nvPr>
        </p:nvSpPr>
        <p:spPr>
          <a:xfrm>
            <a:off x="1155700" y="2603500"/>
            <a:ext cx="7588250" cy="5254625"/>
          </a:xfrm>
          <a:prstGeom prst="rect">
            <a:avLst/>
          </a:prstGeom>
          <a:noFill/>
          <a:ln>
            <a:noFill/>
          </a:ln>
        </p:spPr>
        <p:txBody>
          <a:bodyPr anchorCtr="0" anchor="ctr" bIns="38100" lIns="38100" spcFirstLastPara="1" rIns="38100" wrap="square" tIns="38100">
            <a:noAutofit/>
          </a:bodyPr>
          <a:lstStyle/>
          <a:p>
            <a:pPr indent="-371094" lvl="0" marL="749300" marR="0" rtl="0" algn="l">
              <a:lnSpc>
                <a:spcPct val="100000"/>
              </a:lnSpc>
              <a:spcBef>
                <a:spcPts val="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We can define more than one </a:t>
            </a:r>
            <a:r>
              <a:rPr lang="en-US" sz="3600" u="none" cap="none" strike="noStrike">
                <a:solidFill>
                  <a:srgbClr val="00FFFF"/>
                </a:solidFill>
                <a:latin typeface="Arial"/>
                <a:ea typeface="Arial"/>
                <a:cs typeface="Arial"/>
                <a:sym typeface="Arial"/>
              </a:rPr>
              <a:t>parameter</a:t>
            </a:r>
            <a:r>
              <a:rPr lang="en-US" sz="3600" u="none" cap="none" strike="noStrike">
                <a:solidFill>
                  <a:schemeClr val="lt1"/>
                </a:solidFill>
                <a:latin typeface="Arial"/>
                <a:ea typeface="Arial"/>
                <a:cs typeface="Arial"/>
                <a:sym typeface="Arial"/>
              </a:rPr>
              <a:t> in the </a:t>
            </a:r>
            <a:r>
              <a:rPr lang="en-US" sz="3600" u="none" cap="none" strike="noStrike">
                <a:solidFill>
                  <a:srgbClr val="00FF00"/>
                </a:solidFill>
                <a:latin typeface="Arial"/>
                <a:ea typeface="Arial"/>
                <a:cs typeface="Arial"/>
                <a:sym typeface="Arial"/>
              </a:rPr>
              <a:t>function</a:t>
            </a:r>
            <a:r>
              <a:rPr lang="en-US" sz="3600" u="none" cap="none" strike="noStrike">
                <a:solidFill>
                  <a:srgbClr val="FFFF00"/>
                </a:solidFill>
                <a:latin typeface="Arial"/>
                <a:ea typeface="Arial"/>
                <a:cs typeface="Arial"/>
                <a:sym typeface="Arial"/>
              </a:rPr>
              <a:t> definition</a:t>
            </a:r>
            <a:endParaRPr/>
          </a:p>
          <a:p>
            <a:pPr indent="-371094" lvl="0" marL="7493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We simply add more </a:t>
            </a:r>
            <a:r>
              <a:rPr lang="en-US" sz="3600" u="none" cap="none" strike="noStrike">
                <a:solidFill>
                  <a:srgbClr val="FF7F00"/>
                </a:solidFill>
                <a:latin typeface="Arial"/>
                <a:ea typeface="Arial"/>
                <a:cs typeface="Arial"/>
                <a:sym typeface="Arial"/>
              </a:rPr>
              <a:t>arguments</a:t>
            </a:r>
            <a:r>
              <a:rPr lang="en-US" sz="3600" u="none" cap="none" strike="noStrike">
                <a:solidFill>
                  <a:schemeClr val="lt1"/>
                </a:solidFill>
                <a:latin typeface="Arial"/>
                <a:ea typeface="Arial"/>
                <a:cs typeface="Arial"/>
                <a:sym typeface="Arial"/>
              </a:rPr>
              <a:t> when we call the </a:t>
            </a:r>
            <a:r>
              <a:rPr lang="en-US" sz="3600" u="none" cap="none" strike="noStrike">
                <a:solidFill>
                  <a:srgbClr val="00FF00"/>
                </a:solidFill>
                <a:latin typeface="Arial"/>
                <a:ea typeface="Arial"/>
                <a:cs typeface="Arial"/>
                <a:sym typeface="Arial"/>
              </a:rPr>
              <a:t>function</a:t>
            </a:r>
            <a:endParaRPr/>
          </a:p>
          <a:p>
            <a:pPr indent="-371094" lvl="0" marL="7493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We match the number and order of arguments and parameters</a:t>
            </a:r>
            <a:endParaRPr/>
          </a:p>
        </p:txBody>
      </p:sp>
      <p:sp>
        <p:nvSpPr>
          <p:cNvPr id="134" name="Google Shape;134;p13"/>
          <p:cNvSpPr txBox="1"/>
          <p:nvPr/>
        </p:nvSpPr>
        <p:spPr>
          <a:xfrm>
            <a:off x="9966100" y="3380664"/>
            <a:ext cx="5481000" cy="393482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def</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addtwo</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FF"/>
                </a:solidFill>
                <a:latin typeface="Courier"/>
                <a:ea typeface="Courier"/>
                <a:cs typeface="Courier"/>
                <a:sym typeface="Courier"/>
              </a:rPr>
              <a:t>a, b</a:t>
            </a:r>
            <a:r>
              <a:rPr b="0" i="0" lang="en-US" sz="30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    added = </a:t>
            </a:r>
            <a:r>
              <a:rPr b="0" i="0" lang="en-US" sz="3000" u="none" cap="none" strike="noStrike">
                <a:solidFill>
                  <a:srgbClr val="00FFFF"/>
                </a:solidFill>
                <a:latin typeface="Courier"/>
                <a:ea typeface="Courier"/>
                <a:cs typeface="Courier"/>
                <a:sym typeface="Courier"/>
              </a:rPr>
              <a:t>a</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00FFFF"/>
                </a:solidFill>
                <a:latin typeface="Courier"/>
                <a:ea typeface="Courier"/>
                <a:cs typeface="Courier"/>
                <a:sym typeface="Courier"/>
              </a:rPr>
              <a:t>b</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return</a:t>
            </a:r>
            <a:r>
              <a:rPr b="0" i="0" lang="en-US" sz="3000" u="none" cap="none" strike="noStrike">
                <a:solidFill>
                  <a:schemeClr val="lt1"/>
                </a:solidFill>
                <a:latin typeface="Courier"/>
                <a:ea typeface="Courier"/>
                <a:cs typeface="Courier"/>
                <a:sym typeface="Courier"/>
              </a:rPr>
              <a:t> added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3000"/>
              <a:buFont typeface="Cabin"/>
              <a:buNone/>
            </a:pPr>
            <a:r>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x = </a:t>
            </a:r>
            <a:r>
              <a:rPr b="0" i="0" lang="en-US" sz="3000" u="none" cap="none" strike="noStrike">
                <a:solidFill>
                  <a:srgbClr val="00FF00"/>
                </a:solidFill>
                <a:latin typeface="Courier"/>
                <a:ea typeface="Courier"/>
                <a:cs typeface="Courier"/>
                <a:sym typeface="Courier"/>
              </a:rPr>
              <a:t>addtwo</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7F00"/>
                </a:solidFill>
                <a:latin typeface="Courier"/>
                <a:ea typeface="Courier"/>
                <a:cs typeface="Courier"/>
                <a:sym typeface="Courier"/>
              </a:rPr>
              <a:t>3, 5</a:t>
            </a:r>
            <a:r>
              <a:rPr b="0" i="0" lang="en-US" sz="30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(x)</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abin"/>
              <a:buNone/>
            </a:pPr>
            <a:r>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00FF00"/>
                </a:solidFill>
                <a:latin typeface="Courier"/>
                <a:ea typeface="Courier"/>
                <a:cs typeface="Courier"/>
                <a:sym typeface="Courier"/>
              </a:rPr>
              <a:t>8</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4"/>
          <p:cNvSpPr txBox="1"/>
          <p:nvPr>
            <p:ph type="title"/>
          </p:nvPr>
        </p:nvSpPr>
        <p:spPr>
          <a:xfrm>
            <a:off x="1155700" y="803564"/>
            <a:ext cx="13932000" cy="1736336"/>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lang="en-US" sz="7600" u="none" cap="none" strike="noStrike">
                <a:solidFill>
                  <a:srgbClr val="FFD966"/>
                </a:solidFill>
                <a:latin typeface="Arial"/>
                <a:ea typeface="Arial"/>
                <a:cs typeface="Arial"/>
                <a:sym typeface="Arial"/>
              </a:rPr>
              <a:t>To function or not to function...</a:t>
            </a:r>
            <a:endParaRPr/>
          </a:p>
        </p:txBody>
      </p:sp>
      <p:sp>
        <p:nvSpPr>
          <p:cNvPr id="140" name="Google Shape;140;p14"/>
          <p:cNvSpPr txBox="1"/>
          <p:nvPr>
            <p:ph idx="1" type="body"/>
          </p:nvPr>
        </p:nvSpPr>
        <p:spPr>
          <a:xfrm>
            <a:off x="1155700" y="2603500"/>
            <a:ext cx="13932000" cy="5702399"/>
          </a:xfrm>
          <a:prstGeom prst="rect">
            <a:avLst/>
          </a:prstGeom>
          <a:noFill/>
          <a:ln>
            <a:noFill/>
          </a:ln>
        </p:spPr>
        <p:txBody>
          <a:bodyPr anchorCtr="0" anchor="ctr" bIns="38100" lIns="38100" spcFirstLastPara="1" rIns="38100" wrap="square" tIns="38100">
            <a:noAutofit/>
          </a:bodyPr>
          <a:lstStyle/>
          <a:p>
            <a:pPr indent="-371094" lvl="0" marL="749300" marR="0" rtl="0" algn="l">
              <a:lnSpc>
                <a:spcPct val="100000"/>
              </a:lnSpc>
              <a:spcBef>
                <a:spcPts val="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Organize your code into </a:t>
            </a:r>
            <a:r>
              <a:rPr b="0" i="0" lang="en-US" sz="3600" u="none" cap="none" strike="noStrike">
                <a:solidFill>
                  <a:schemeClr val="lt1"/>
                </a:solidFill>
                <a:latin typeface="Arial"/>
                <a:ea typeface="Arial"/>
                <a:cs typeface="Arial"/>
                <a:sym typeface="Arial"/>
              </a:rPr>
              <a:t>“</a:t>
            </a:r>
            <a:r>
              <a:rPr lang="en-US" sz="3600" u="none" cap="none" strike="noStrike">
                <a:solidFill>
                  <a:schemeClr val="lt1"/>
                </a:solidFill>
                <a:latin typeface="Arial"/>
                <a:ea typeface="Arial"/>
                <a:cs typeface="Arial"/>
                <a:sym typeface="Arial"/>
              </a:rPr>
              <a:t>paragraphs</a:t>
            </a:r>
            <a:r>
              <a:rPr b="0" i="0" lang="en-US" sz="3600" u="none" cap="none" strike="noStrike">
                <a:solidFill>
                  <a:schemeClr val="lt1"/>
                </a:solidFill>
                <a:latin typeface="Arial"/>
                <a:ea typeface="Arial"/>
                <a:cs typeface="Arial"/>
                <a:sym typeface="Arial"/>
              </a:rPr>
              <a:t>”</a:t>
            </a:r>
            <a:r>
              <a:rPr lang="en-US" sz="3600" u="none" cap="none" strike="noStrike">
                <a:solidFill>
                  <a:schemeClr val="lt1"/>
                </a:solidFill>
                <a:latin typeface="Arial"/>
                <a:ea typeface="Arial"/>
                <a:cs typeface="Arial"/>
                <a:sym typeface="Arial"/>
              </a:rPr>
              <a:t> - capture a complete thought and </a:t>
            </a:r>
            <a:r>
              <a:rPr b="0" i="0" lang="en-US" sz="3600" u="none" cap="none" strike="noStrike">
                <a:solidFill>
                  <a:schemeClr val="lt1"/>
                </a:solidFill>
                <a:latin typeface="Arial"/>
                <a:ea typeface="Arial"/>
                <a:cs typeface="Arial"/>
                <a:sym typeface="Arial"/>
              </a:rPr>
              <a:t>“</a:t>
            </a:r>
            <a:r>
              <a:rPr lang="en-US" sz="3600" u="none" cap="none" strike="noStrike">
                <a:solidFill>
                  <a:schemeClr val="lt1"/>
                </a:solidFill>
                <a:latin typeface="Arial"/>
                <a:ea typeface="Arial"/>
                <a:cs typeface="Arial"/>
                <a:sym typeface="Arial"/>
              </a:rPr>
              <a:t>name it</a:t>
            </a:r>
            <a:r>
              <a:rPr b="0" i="0" lang="en-US" sz="3600" u="none" cap="none" strike="noStrike">
                <a:solidFill>
                  <a:schemeClr val="lt1"/>
                </a:solidFill>
                <a:latin typeface="Arial"/>
                <a:ea typeface="Arial"/>
                <a:cs typeface="Arial"/>
                <a:sym typeface="Arial"/>
              </a:rPr>
              <a:t>”</a:t>
            </a:r>
            <a:endParaRPr/>
          </a:p>
          <a:p>
            <a:pPr indent="-371094" lvl="0" marL="7493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Don</a:t>
            </a:r>
            <a:r>
              <a:rPr b="0" i="0" lang="en-US" sz="3600" u="none" cap="none" strike="noStrike">
                <a:solidFill>
                  <a:schemeClr val="lt1"/>
                </a:solidFill>
                <a:latin typeface="Arial"/>
                <a:ea typeface="Arial"/>
                <a:cs typeface="Arial"/>
                <a:sym typeface="Arial"/>
              </a:rPr>
              <a:t>’</a:t>
            </a:r>
            <a:r>
              <a:rPr lang="en-US" sz="3600" u="none" cap="none" strike="noStrike">
                <a:solidFill>
                  <a:schemeClr val="lt1"/>
                </a:solidFill>
                <a:latin typeface="Arial"/>
                <a:ea typeface="Arial"/>
                <a:cs typeface="Arial"/>
                <a:sym typeface="Arial"/>
              </a:rPr>
              <a:t>t repeat yourself - make it work once and then reuse it</a:t>
            </a:r>
            <a:endParaRPr/>
          </a:p>
          <a:p>
            <a:pPr indent="-371094" lvl="0" marL="7493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If something gets too long or complex, break it up into logical chunks and put those chunks in functions</a:t>
            </a:r>
            <a:endParaRPr/>
          </a:p>
          <a:p>
            <a:pPr indent="-371094" lvl="0" marL="7493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Make a library of common stuff that you do over and over - perhaps share this with your friends...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5"/>
          <p:cNvSpPr txBox="1"/>
          <p:nvPr>
            <p:ph type="title"/>
          </p:nvPr>
        </p:nvSpPr>
        <p:spPr>
          <a:xfrm>
            <a:off x="1155700" y="803564"/>
            <a:ext cx="13237633" cy="1736336"/>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7F00"/>
              </a:buClr>
              <a:buSzPts val="1900"/>
              <a:buFont typeface="Cabin"/>
              <a:buNone/>
            </a:pPr>
            <a:r>
              <a:rPr lang="en-US" sz="7600" u="none" cap="none" strike="noStrike">
                <a:solidFill>
                  <a:srgbClr val="FFD966"/>
                </a:solidFill>
                <a:latin typeface="Arial"/>
                <a:ea typeface="Arial"/>
                <a:cs typeface="Arial"/>
                <a:sym typeface="Arial"/>
              </a:rPr>
              <a:t>Summary</a:t>
            </a:r>
            <a:endParaRPr sz="7600" u="none" cap="none" strike="noStrike">
              <a:solidFill>
                <a:srgbClr val="FFD966"/>
              </a:solidFill>
              <a:latin typeface="Arial"/>
              <a:ea typeface="Arial"/>
              <a:cs typeface="Arial"/>
              <a:sym typeface="Arial"/>
            </a:endParaRPr>
          </a:p>
        </p:txBody>
      </p:sp>
      <p:sp>
        <p:nvSpPr>
          <p:cNvPr id="146" name="Google Shape;146;p15"/>
          <p:cNvSpPr txBox="1"/>
          <p:nvPr>
            <p:ph idx="1" type="body"/>
          </p:nvPr>
        </p:nvSpPr>
        <p:spPr>
          <a:xfrm>
            <a:off x="8178800" y="2886163"/>
            <a:ext cx="6908900" cy="5702399"/>
          </a:xfrm>
          <a:prstGeom prst="rect">
            <a:avLst/>
          </a:prstGeom>
          <a:noFill/>
          <a:ln>
            <a:noFill/>
          </a:ln>
        </p:spPr>
        <p:txBody>
          <a:bodyPr anchorCtr="0" anchor="t" bIns="38100" lIns="38100" spcFirstLastPara="1" rIns="38100" wrap="square" tIns="38100">
            <a:noAutofit/>
          </a:bodyPr>
          <a:lstStyle/>
          <a:p>
            <a:pPr indent="-361886" lvl="0" marL="685800" marR="0" rtl="0" algn="l">
              <a:lnSpc>
                <a:spcPct val="80000"/>
              </a:lnSpc>
              <a:spcBef>
                <a:spcPts val="0"/>
              </a:spcBef>
              <a:spcAft>
                <a:spcPts val="0"/>
              </a:spcAft>
              <a:buClr>
                <a:schemeClr val="lt1"/>
              </a:buClr>
              <a:buSzPts val="3600"/>
              <a:buFont typeface="Cabin"/>
              <a:buChar char="•"/>
            </a:pPr>
            <a:r>
              <a:rPr lang="en-US" sz="3600">
                <a:solidFill>
                  <a:schemeClr val="lt1"/>
                </a:solidFill>
                <a:latin typeface="Arial"/>
                <a:ea typeface="Arial"/>
                <a:cs typeface="Arial"/>
                <a:sym typeface="Arial"/>
              </a:rPr>
              <a:t>Arguments</a:t>
            </a:r>
            <a:endParaRPr/>
          </a:p>
          <a:p>
            <a:pPr indent="-361886" lvl="0" marL="685800" marR="0" rtl="0" algn="l">
              <a:lnSpc>
                <a:spcPct val="80000"/>
              </a:lnSpc>
              <a:spcBef>
                <a:spcPts val="3500"/>
              </a:spcBef>
              <a:spcAft>
                <a:spcPts val="0"/>
              </a:spcAft>
              <a:buClr>
                <a:schemeClr val="lt1"/>
              </a:buClr>
              <a:buSzPts val="3600"/>
              <a:buFont typeface="Cabin"/>
              <a:buChar char="•"/>
            </a:pPr>
            <a:r>
              <a:rPr lang="en-US" sz="3600">
                <a:solidFill>
                  <a:schemeClr val="lt1"/>
                </a:solidFill>
                <a:latin typeface="Arial"/>
                <a:ea typeface="Arial"/>
                <a:cs typeface="Arial"/>
                <a:sym typeface="Arial"/>
              </a:rPr>
              <a:t>Returned Results</a:t>
            </a:r>
            <a:endParaRPr sz="3600">
              <a:solidFill>
                <a:schemeClr val="lt1"/>
              </a:solidFill>
              <a:latin typeface="Arial"/>
              <a:ea typeface="Arial"/>
              <a:cs typeface="Arial"/>
              <a:sym typeface="Arial"/>
            </a:endParaRPr>
          </a:p>
          <a:p>
            <a:pPr indent="-361886" lvl="0" marL="685800" marR="0" rtl="0" algn="l">
              <a:lnSpc>
                <a:spcPct val="80000"/>
              </a:lnSpc>
              <a:spcBef>
                <a:spcPts val="3500"/>
              </a:spcBef>
              <a:spcAft>
                <a:spcPts val="0"/>
              </a:spcAft>
              <a:buClr>
                <a:schemeClr val="lt1"/>
              </a:buClr>
              <a:buSzPts val="3600"/>
              <a:buFont typeface="Cabin"/>
              <a:buChar char="•"/>
            </a:pPr>
            <a:r>
              <a:rPr lang="en-US" sz="3600">
                <a:solidFill>
                  <a:schemeClr val="lt1"/>
                </a:solidFill>
                <a:latin typeface="Arial"/>
                <a:ea typeface="Arial"/>
                <a:cs typeface="Arial"/>
                <a:sym typeface="Arial"/>
              </a:rPr>
              <a:t>Void functions</a:t>
            </a:r>
            <a:endParaRPr sz="3600">
              <a:solidFill>
                <a:schemeClr val="lt1"/>
              </a:solidFill>
              <a:latin typeface="Arial"/>
              <a:ea typeface="Arial"/>
              <a:cs typeface="Arial"/>
              <a:sym typeface="Arial"/>
            </a:endParaRPr>
          </a:p>
          <a:p>
            <a:pPr indent="-361886" lvl="0" marL="685800" marR="0" rtl="0" algn="l">
              <a:lnSpc>
                <a:spcPct val="80000"/>
              </a:lnSpc>
              <a:spcBef>
                <a:spcPts val="3500"/>
              </a:spcBef>
              <a:spcAft>
                <a:spcPts val="0"/>
              </a:spcAft>
              <a:buClr>
                <a:schemeClr val="lt1"/>
              </a:buClr>
              <a:buSzPts val="3600"/>
              <a:buFont typeface="Cabin"/>
              <a:buChar char="•"/>
            </a:pPr>
            <a:r>
              <a:rPr lang="en-US" sz="3600">
                <a:solidFill>
                  <a:schemeClr val="lt1"/>
                </a:solidFill>
                <a:latin typeface="Arial"/>
                <a:ea typeface="Arial"/>
                <a:cs typeface="Arial"/>
                <a:sym typeface="Arial"/>
              </a:rPr>
              <a:t>Why use functions?</a:t>
            </a:r>
            <a:endParaRPr sz="3600">
              <a:solidFill>
                <a:schemeClr val="lt1"/>
              </a:solidFill>
              <a:latin typeface="Arial"/>
              <a:ea typeface="Arial"/>
              <a:cs typeface="Arial"/>
              <a:sym typeface="Arial"/>
            </a:endParaRPr>
          </a:p>
        </p:txBody>
      </p:sp>
      <p:sp>
        <p:nvSpPr>
          <p:cNvPr id="147" name="Google Shape;147;p15"/>
          <p:cNvSpPr txBox="1"/>
          <p:nvPr>
            <p:ph idx="4294967295" type="body"/>
          </p:nvPr>
        </p:nvSpPr>
        <p:spPr>
          <a:xfrm>
            <a:off x="1353078" y="2886163"/>
            <a:ext cx="6370638" cy="4967288"/>
          </a:xfrm>
          <a:prstGeom prst="rect">
            <a:avLst/>
          </a:prstGeom>
          <a:noFill/>
          <a:ln>
            <a:noFill/>
          </a:ln>
        </p:spPr>
        <p:txBody>
          <a:bodyPr anchorCtr="0" anchor="t" bIns="38100" lIns="38100" spcFirstLastPara="1" rIns="38100" wrap="square" tIns="38100">
            <a:noAutofit/>
          </a:bodyPr>
          <a:lstStyle/>
          <a:p>
            <a:pPr indent="-361886" lvl="0" marL="685800" marR="0" rtl="0" algn="l">
              <a:lnSpc>
                <a:spcPct val="80000"/>
              </a:lnSpc>
              <a:spcBef>
                <a:spcPts val="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Functions</a:t>
            </a:r>
            <a:endParaRPr/>
          </a:p>
          <a:p>
            <a:pPr indent="-361886" lvl="0" marL="685800" marR="0" rtl="0" algn="l">
              <a:lnSpc>
                <a:spcPct val="8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Built-In Functions</a:t>
            </a:r>
            <a:endParaRPr/>
          </a:p>
          <a:p>
            <a:pPr indent="-361886" lvl="0" marL="685800" rtl="0" algn="l">
              <a:lnSpc>
                <a:spcPct val="80000"/>
              </a:lnSpc>
              <a:spcBef>
                <a:spcPts val="3500"/>
              </a:spcBef>
              <a:spcAft>
                <a:spcPts val="0"/>
              </a:spcAft>
              <a:buClr>
                <a:schemeClr val="lt1"/>
              </a:buClr>
              <a:buSzPts val="3600"/>
              <a:buFont typeface="Cabin"/>
              <a:buChar char="•"/>
            </a:pPr>
            <a:r>
              <a:rPr lang="en-US" sz="3600">
                <a:solidFill>
                  <a:schemeClr val="lt1"/>
                </a:solidFill>
                <a:latin typeface="Arial"/>
                <a:ea typeface="Arial"/>
                <a:cs typeface="Arial"/>
                <a:sym typeface="Arial"/>
              </a:rPr>
              <a:t>Type conversion (int, float)</a:t>
            </a:r>
            <a:endParaRPr/>
          </a:p>
          <a:p>
            <a:pPr indent="-361886" lvl="0" marL="685800" marR="0" rtl="0" algn="l">
              <a:lnSpc>
                <a:spcPct val="80000"/>
              </a:lnSpc>
              <a:spcBef>
                <a:spcPts val="3500"/>
              </a:spcBef>
              <a:spcAft>
                <a:spcPts val="0"/>
              </a:spcAft>
              <a:buClr>
                <a:schemeClr val="lt1"/>
              </a:buClr>
              <a:buSzPts val="3600"/>
              <a:buFont typeface="Cabin"/>
              <a:buChar char="•"/>
            </a:pPr>
            <a:r>
              <a:rPr lang="en-US" sz="3600">
                <a:solidFill>
                  <a:schemeClr val="lt1"/>
                </a:solidFill>
                <a:latin typeface="Arial"/>
                <a:ea typeface="Arial"/>
                <a:cs typeface="Arial"/>
                <a:sym typeface="Arial"/>
              </a:rPr>
              <a:t>Parameters</a:t>
            </a:r>
            <a:endParaRPr sz="3600">
              <a:solidFill>
                <a:schemeClr val="lt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6"/>
          <p:cNvSpPr txBox="1"/>
          <p:nvPr>
            <p:ph type="title"/>
          </p:nvPr>
        </p:nvSpPr>
        <p:spPr>
          <a:xfrm>
            <a:off x="1155700" y="803564"/>
            <a:ext cx="13932000" cy="1736336"/>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rgbClr val="FFFF00"/>
              </a:buClr>
              <a:buSzPts val="3600"/>
              <a:buFont typeface="Arial"/>
              <a:buNone/>
            </a:pPr>
            <a:r>
              <a:rPr lang="en-US" sz="3600">
                <a:solidFill>
                  <a:srgbClr val="FFFF00"/>
                </a:solidFill>
              </a:rPr>
              <a:t>Acknowledgements / Contributions</a:t>
            </a:r>
            <a:endParaRPr/>
          </a:p>
        </p:txBody>
      </p:sp>
      <p:sp>
        <p:nvSpPr>
          <p:cNvPr id="153" name="Google Shape;153;p16"/>
          <p:cNvSpPr txBox="1"/>
          <p:nvPr/>
        </p:nvSpPr>
        <p:spPr>
          <a:xfrm>
            <a:off x="1234676" y="2124684"/>
            <a:ext cx="6797699" cy="5919188"/>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These slides are Copyright 2010-  Charles R. Severance (</a:t>
            </a:r>
            <a:r>
              <a:rPr b="0" i="0" lang="en-US" sz="1800" u="sng" cap="none" strike="noStrike">
                <a:solidFill>
                  <a:srgbClr val="FFFF00"/>
                </a:solidFill>
                <a:latin typeface="Arial"/>
                <a:ea typeface="Arial"/>
                <a:cs typeface="Arial"/>
                <a:sym typeface="Arial"/>
                <a:hlinkClick r:id="rId3">
                  <a:extLst>
                    <a:ext uri="{A12FA001-AC4F-418D-AE19-62706E023703}">
                      <ahyp:hlinkClr val="tx"/>
                    </a:ext>
                  </a:extLst>
                </a:hlinkClick>
              </a:rPr>
              <a:t>www.dr-chuck.com</a:t>
            </a:r>
            <a:r>
              <a:rPr b="0" i="0" lang="en-US" sz="1800" u="none" cap="none" strike="noStrike">
                <a:solidFill>
                  <a:srgbClr val="FFFFFF"/>
                </a:solidFill>
                <a:latin typeface="Arial"/>
                <a:ea typeface="Arial"/>
                <a:cs typeface="Arial"/>
                <a:sym typeface="Arial"/>
              </a:rPr>
              <a:t>) of the University of Michigan School of Information and </a:t>
            </a:r>
            <a:r>
              <a:rPr b="0" i="0" lang="en-US" sz="1800" u="sng" cap="none" strike="noStrike">
                <a:solidFill>
                  <a:srgbClr val="FFFF00"/>
                </a:solidFill>
                <a:latin typeface="Arial"/>
                <a:ea typeface="Arial"/>
                <a:cs typeface="Arial"/>
                <a:sym typeface="Arial"/>
                <a:hlinkClick r:id="rId4">
                  <a:extLst>
                    <a:ext uri="{A12FA001-AC4F-418D-AE19-62706E023703}">
                      <ahyp:hlinkClr val="tx"/>
                    </a:ext>
                  </a:extLst>
                </a:hlinkClick>
              </a:rPr>
              <a:t>open.umich.edu</a:t>
            </a:r>
            <a:r>
              <a:rPr b="0" i="0" lang="en-US" sz="1800" u="none" cap="none" strike="noStrike">
                <a:solidFill>
                  <a:srgbClr val="FFFFFF"/>
                </a:solidFill>
                <a:latin typeface="Arial"/>
                <a:ea typeface="Arial"/>
                <a:cs typeface="Arial"/>
                <a:sym typeface="Arial"/>
              </a:rPr>
              <a:t> and made available under a Creative Commons Attribution 4.0 License.  Please maintain this last slide in all copies of the document to comply with the attribution requirements of the license.  If you make a change, feel free to add your name and organization to the list of contributors on this page as you republish the materials.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Initial Development: Charles Severance, University of Michigan School of Information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 Insert new Contributors and Translators here </a:t>
            </a:r>
            <a:endParaRPr b="0" i="0" sz="1400" u="none" cap="none" strike="noStrike">
              <a:solidFill>
                <a:srgbClr val="000000"/>
              </a:solidFill>
              <a:latin typeface="Arial"/>
              <a:ea typeface="Arial"/>
              <a:cs typeface="Arial"/>
              <a:sym typeface="Arial"/>
            </a:endParaRPr>
          </a:p>
        </p:txBody>
      </p:sp>
      <p:pic>
        <p:nvPicPr>
          <p:cNvPr id="154" name="Google Shape;154;p16"/>
          <p:cNvPicPr preferRelativeResize="0"/>
          <p:nvPr/>
        </p:nvPicPr>
        <p:blipFill rotWithShape="1">
          <a:blip r:embed="rId5">
            <a:alphaModFix/>
          </a:blip>
          <a:srcRect b="0" l="0" r="0" t="0"/>
          <a:stretch/>
        </p:blipFill>
        <p:spPr>
          <a:xfrm>
            <a:off x="13897688" y="1041522"/>
            <a:ext cx="1968599" cy="668400"/>
          </a:xfrm>
          <a:prstGeom prst="rect">
            <a:avLst/>
          </a:prstGeom>
          <a:noFill/>
          <a:ln>
            <a:noFill/>
          </a:ln>
        </p:spPr>
      </p:pic>
      <p:sp>
        <p:nvSpPr>
          <p:cNvPr id="155" name="Google Shape;155;p16"/>
          <p:cNvSpPr txBox="1"/>
          <p:nvPr/>
        </p:nvSpPr>
        <p:spPr>
          <a:xfrm>
            <a:off x="8732976" y="2140854"/>
            <a:ext cx="6797699" cy="5945875"/>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itle &amp; Subtitle">
  <a:themeElements>
    <a:clrScheme name="">
      <a:dk1>
        <a:srgbClr val="80808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