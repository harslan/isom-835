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9144000" cx="16256000"/>
  <p:notesSz cx="6858000" cy="9144000"/>
  <p:embeddedFontLst>
    <p:embeddedFont>
      <p:font typeface="Gill Sans"/>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illSans-bold.fntdata"/><Relationship Id="rId30" Type="http://schemas.openxmlformats.org/officeDocument/2006/relationships/font" Target="fonts/GillSans-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ocs.python.org/tutorial/datastructures.html"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i="0" lang="en-US" sz="1100">
                <a:solidFill>
                  <a:schemeClr val="dk1"/>
                </a:solidFill>
                <a:latin typeface="Arial"/>
                <a:ea typeface="Arial"/>
                <a:cs typeface="Arial"/>
                <a:sym typeface="Arial"/>
              </a:rPr>
              <a:t>We look at Python's simplest data structure - the list. Lists can store more than one item in a variable.</a:t>
            </a:r>
            <a:endParaRPr/>
          </a:p>
          <a:p>
            <a:pPr indent="0" lvl="0" marL="0" rtl="0" algn="l">
              <a:spcBef>
                <a:spcPts val="0"/>
              </a:spcBef>
              <a:spcAft>
                <a:spcPts val="0"/>
              </a:spcAft>
              <a:buNone/>
            </a:pPr>
            <a:br>
              <a:rPr b="0" i="0" lang="en-US" sz="1100">
                <a:solidFill>
                  <a:schemeClr val="dk1"/>
                </a:solidFill>
                <a:latin typeface="Arial"/>
                <a:ea typeface="Arial"/>
                <a:cs typeface="Arial"/>
                <a:sym typeface="Arial"/>
              </a:rPr>
            </a:br>
            <a:endParaRPr b="0" i="0" sz="11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solidFill>
                <a:schemeClr val="dk2"/>
              </a:solidFill>
            </a:endParaRPr>
          </a:p>
        </p:txBody>
      </p:sp>
      <p:sp>
        <p:nvSpPr>
          <p:cNvPr id="21" name="Google Shape;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Like a string, a list is a sequence of values. In a string, the values are characters; in a list, they can be any type. The values in list are called elements or sometimes items.</a:t>
            </a:r>
            <a:endParaRPr/>
          </a:p>
        </p:txBody>
      </p:sp>
      <p:sp>
        <p:nvSpPr>
          <p:cNvPr id="29" name="Google Shape;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There are several ways to create a new list. The simplest is to enclose the elements in square brackets (“[" and “]”). For example, </a:t>
            </a:r>
            <a:r>
              <a:rPr i="0" lang="en-US" sz="1100" u="none" cap="none" strike="noStrike">
                <a:solidFill>
                  <a:srgbClr val="FFF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[1, 24, 76] is a list of three integers; ['red', 'yellow', 'blue']</a:t>
            </a:r>
            <a:endParaRPr/>
          </a:p>
          <a:p>
            <a:pPr indent="0" lvl="0" marL="0" marR="0" rtl="0" algn="l">
              <a:lnSpc>
                <a:spcPct val="100000"/>
              </a:lnSpc>
              <a:spcBef>
                <a:spcPts val="0"/>
              </a:spcBef>
              <a:spcAft>
                <a:spcPts val="0"/>
              </a:spcAft>
              <a:buClr>
                <a:schemeClr val="lt1"/>
              </a:buClr>
              <a:buSzPts val="1100"/>
              <a:buFont typeface="Courier"/>
              <a:buNone/>
            </a:pPr>
            <a:r>
              <a:rPr i="0" lang="en-US" sz="1100" u="none" cap="none" strike="noStrike">
                <a:solidFill>
                  <a:schemeClr val="lt1"/>
                </a:solidFill>
                <a:latin typeface="Courier"/>
                <a:ea typeface="Courier"/>
                <a:cs typeface="Courier"/>
                <a:sym typeface="Courier"/>
              </a:rPr>
              <a:t>Is a list of three strings. The elements of a list don’t have to be the same type. The following list contains a string, an integer, and a float: ['red', 24, 98.6].  A list element can even be another list. For example, the following list [1, [5, 6], 7] contains an integer, a list, and another integer. A list that contains no elements is called an empty list; you can create one with empty brackets, [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100"/>
              <a:buFont typeface="Arial"/>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a:p>
        </p:txBody>
      </p:sp>
      <p:sp>
        <p:nvSpPr>
          <p:cNvPr id="37" name="Google Shape;3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most common way to traverse the elements of a list in Python is with a for loop. The syntax is the same as for strings. For example, in the following code we print the elements of the list [5, 4, 3, 2, 1] using a for loop:</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i</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[5, 4, 3, 2, 1]</a:t>
            </a:r>
            <a:r>
              <a:rPr i="0" lang="en-US" sz="1100" u="none" cap="none" strike="noStrike">
                <a:solidFill>
                  <a:srgbClr val="00F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i</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7F00"/>
                </a:solidFill>
                <a:latin typeface="Courier"/>
                <a:ea typeface="Courier"/>
                <a:cs typeface="Courier"/>
                <a:sym typeface="Courier"/>
              </a:rPr>
              <a:t>'Blastoff!'</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t/>
            </a:r>
            <a:endParaRPr i="0" sz="11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The above code yields the following output:</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5</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4</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3</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2</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1</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Blastoff!</a:t>
            </a:r>
            <a:endParaRPr/>
          </a:p>
          <a:p>
            <a:pPr indent="0" lvl="0" marL="0" marR="0" rtl="0" algn="l">
              <a:lnSpc>
                <a:spcPct val="100000"/>
              </a:lnSpc>
              <a:spcBef>
                <a:spcPts val="0"/>
              </a:spcBef>
              <a:spcAft>
                <a:spcPts val="0"/>
              </a:spcAft>
              <a:buClr>
                <a:srgbClr val="FFFF00"/>
              </a:buClr>
              <a:buSzPts val="275"/>
              <a:buFont typeface="Cabin"/>
              <a:buNone/>
            </a:pPr>
            <a:r>
              <a:t/>
            </a:r>
            <a:endParaRPr i="0" sz="11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275"/>
              <a:buFont typeface="Cabin"/>
              <a:buNone/>
            </a:pPr>
            <a:r>
              <a:t/>
            </a:r>
            <a:endParaRPr i="0" sz="1100" u="none" cap="none" strike="noStrike">
              <a:solidFill>
                <a:srgbClr val="FFFF00"/>
              </a:solidFill>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a:p>
        </p:txBody>
      </p:sp>
      <p:sp>
        <p:nvSpPr>
          <p:cNvPr id="44" name="Google Shape;4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You can use lists in creating definite loops very easily in Python. For example, you can iterate over the list </a:t>
            </a:r>
            <a:r>
              <a:rPr i="0" lang="en-US" sz="1100" u="none" cap="none" strike="noStrike">
                <a:solidFill>
                  <a:srgbClr val="FF7F00"/>
                </a:solidFill>
                <a:latin typeface="Courier"/>
                <a:ea typeface="Courier"/>
                <a:cs typeface="Courier"/>
                <a:sym typeface="Courier"/>
              </a:rPr>
              <a:t>['Joseph', 'Glenn', 'Sally'] to print out a Happy New Year message to each member in the list as follows:</a:t>
            </a:r>
            <a:endParaRPr/>
          </a:p>
          <a:p>
            <a:pPr indent="0" lvl="0" marL="0" marR="0" rtl="0" algn="l">
              <a:lnSpc>
                <a:spcPct val="100000"/>
              </a:lnSpc>
              <a:spcBef>
                <a:spcPts val="0"/>
              </a:spcBef>
              <a:spcAft>
                <a:spcPts val="0"/>
              </a:spcAft>
              <a:buClr>
                <a:schemeClr val="dk1"/>
              </a:buClr>
              <a:buSzPts val="1100"/>
              <a:buFont typeface="Arial"/>
              <a:buNone/>
            </a:pPr>
            <a:r>
              <a:t/>
            </a:r>
            <a:endParaRPr i="0" sz="11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friends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['Joseph', 'Glenn', 'Sally']</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friend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friends </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7F00"/>
                </a:solidFill>
                <a:latin typeface="Courier"/>
                <a:ea typeface="Courier"/>
                <a:cs typeface="Courier"/>
                <a:sym typeface="Courier"/>
              </a:rPr>
              <a:t>'Happy New Year:'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friend</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'Done!'</a:t>
            </a:r>
            <a:r>
              <a:rPr lang="en-US" sz="1100">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dk1"/>
              </a:buClr>
              <a:buSzPts val="1100"/>
              <a:buFont typeface="Arial"/>
              <a:buNone/>
            </a:pPr>
            <a:r>
              <a:t/>
            </a:r>
            <a:endParaRPr i="0" sz="1100" u="none" cap="none" strike="noStrike">
              <a:solidFill>
                <a:srgbClr val="FF7F00"/>
              </a:solidFill>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a:p>
        </p:txBody>
      </p:sp>
      <p:sp>
        <p:nvSpPr>
          <p:cNvPr id="51" name="Google Shape;5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If you only need to read the elements of the list, you can iterate over the list using a for loop. However, if you want to write or update the elements of a list, you need the indices.</a:t>
            </a:r>
            <a:r>
              <a:rPr lang="en-US" sz="1100" u="none" cap="none" strike="noStrike">
                <a:solidFill>
                  <a:schemeClr val="lt1"/>
                </a:solidFill>
                <a:latin typeface="Arial"/>
                <a:ea typeface="Arial"/>
                <a:cs typeface="Arial"/>
                <a:sym typeface="Arial"/>
              </a:rPr>
              <a:t>Just like strings, you can get at any single element in a list using an index specified in</a:t>
            </a:r>
            <a:r>
              <a:rPr lang="en-US" sz="1100" u="none" cap="none" strike="noStrike">
                <a:solidFill>
                  <a:srgbClr val="00FFFF"/>
                </a:solidFill>
                <a:latin typeface="Arial"/>
                <a:ea typeface="Arial"/>
                <a:cs typeface="Arial"/>
                <a:sym typeface="Arial"/>
              </a:rPr>
              <a:t> square brackets. For example, </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rgbClr val="00FFFF"/>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friends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 'Joseph', 'Glenn', 'Sally'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friends</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1</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FF00"/>
                </a:solidFill>
                <a:latin typeface="Courier"/>
                <a:ea typeface="Courier"/>
                <a:cs typeface="Courier"/>
                <a:sym typeface="Courier"/>
              </a:rPr>
              <a:t>)</a:t>
            </a:r>
            <a:endParaRPr sz="1100">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Glenn</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rgbClr val="00FFFF"/>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1100"/>
              <a:buFont typeface="Arial"/>
              <a:buNone/>
            </a:pPr>
            <a:r>
              <a:rPr lang="en-US" sz="1100" u="none" cap="none" strike="noStrike">
                <a:solidFill>
                  <a:srgbClr val="00FFFF"/>
                </a:solidFill>
                <a:latin typeface="Arial"/>
                <a:ea typeface="Arial"/>
                <a:cs typeface="Arial"/>
                <a:sym typeface="Arial"/>
              </a:rPr>
              <a:t>You can access and print out the second element in the list using its index value of 1 in the above code.</a:t>
            </a:r>
            <a:endParaRPr sz="1100" u="none" cap="none" strike="noStrike">
              <a:solidFill>
                <a:srgbClr val="00FFFF"/>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p>
        </p:txBody>
      </p:sp>
      <p:sp>
        <p:nvSpPr>
          <p:cNvPr id="61" name="Google Shape;6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It is tempting to use the bracket [ ] operator along with an index value on the left side of an assignment, with the intention of changing a character in a string. For example, the following Python code yields a TypeError:</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fruit</a:t>
            </a:r>
            <a:r>
              <a:rPr i="0" lang="en-US" sz="1100" u="none" cap="none" strike="noStrike">
                <a:solidFill>
                  <a:schemeClr val="lt1"/>
                </a:solidFill>
                <a:latin typeface="Courier"/>
                <a:ea typeface="Courier"/>
                <a:cs typeface="Courier"/>
                <a:sym typeface="Courier"/>
              </a:rPr>
              <a:t> = 'Banana</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fruit</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0</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 'b</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66FF"/>
              </a:buClr>
              <a:buSzPts val="275"/>
              <a:buFont typeface="Cabin"/>
              <a:buNone/>
            </a:pPr>
            <a:r>
              <a:rPr i="0" lang="en-US" sz="1100" u="none" cap="none" strike="noStrike">
                <a:solidFill>
                  <a:srgbClr val="E06666"/>
                </a:solidFill>
                <a:latin typeface="Courier"/>
                <a:ea typeface="Courier"/>
                <a:cs typeface="Courier"/>
                <a:sym typeface="Courier"/>
              </a:rPr>
              <a:t>Traceback </a:t>
            </a:r>
            <a:endParaRPr/>
          </a:p>
          <a:p>
            <a:pPr indent="0" lvl="0" marL="0" marR="0" rtl="0" algn="l">
              <a:lnSpc>
                <a:spcPct val="100000"/>
              </a:lnSpc>
              <a:spcBef>
                <a:spcPts val="0"/>
              </a:spcBef>
              <a:spcAft>
                <a:spcPts val="0"/>
              </a:spcAft>
              <a:buClr>
                <a:srgbClr val="FF66FF"/>
              </a:buClr>
              <a:buSzPts val="275"/>
              <a:buFont typeface="Cabin"/>
              <a:buNone/>
            </a:pPr>
            <a:r>
              <a:rPr i="0" lang="en-US" sz="1100" u="none" cap="none" strike="noStrike">
                <a:solidFill>
                  <a:srgbClr val="E06666"/>
                </a:solidFill>
                <a:latin typeface="Courier"/>
                <a:ea typeface="Courier"/>
                <a:cs typeface="Courier"/>
                <a:sym typeface="Courier"/>
              </a:rPr>
              <a:t>TypeError: 'str' object does not </a:t>
            </a:r>
            <a:endParaRPr/>
          </a:p>
          <a:p>
            <a:pPr indent="0" lvl="0" marL="0" marR="0" rtl="0" algn="l">
              <a:lnSpc>
                <a:spcPct val="100000"/>
              </a:lnSpc>
              <a:spcBef>
                <a:spcPts val="0"/>
              </a:spcBef>
              <a:spcAft>
                <a:spcPts val="0"/>
              </a:spcAft>
              <a:buClr>
                <a:srgbClr val="FF66FF"/>
              </a:buClr>
              <a:buSzPts val="275"/>
              <a:buFont typeface="Cabin"/>
              <a:buNone/>
            </a:pPr>
            <a:r>
              <a:rPr i="0" lang="en-US" sz="1100" u="none" cap="none" strike="noStrike">
                <a:solidFill>
                  <a:srgbClr val="E06666"/>
                </a:solidFill>
                <a:latin typeface="Courier"/>
                <a:ea typeface="Courier"/>
                <a:cs typeface="Courier"/>
                <a:sym typeface="Courier"/>
              </a:rPr>
              <a:t>support item assignment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reason for the error is that strings are immutable, which means you can’t change an existing string. The best you can do is create a new string that is a variation on the original. Lists, on the other hand, are mutable. You can change an element of a list using the index operator. For example, we can update the element of the list at index value 2 in the following Python code: </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lotto</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[2, 14, 26, 41, 63]</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lotto</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[2, 14, 26, 41, 63]</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lotto</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2</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 28</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lotto</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[2, 14, </a:t>
            </a:r>
            <a:r>
              <a:rPr i="0" lang="en-US" sz="1100" u="none" cap="none" strike="noStrike">
                <a:solidFill>
                  <a:srgbClr val="FF00FF"/>
                </a:solidFill>
                <a:latin typeface="Courier"/>
                <a:ea typeface="Courier"/>
                <a:cs typeface="Courier"/>
                <a:sym typeface="Courier"/>
              </a:rPr>
              <a:t>28</a:t>
            </a:r>
            <a:r>
              <a:rPr i="0" lang="en-US" sz="1100" u="none" cap="none" strike="noStrike">
                <a:solidFill>
                  <a:schemeClr val="lt1"/>
                </a:solidFill>
                <a:latin typeface="Courier"/>
                <a:ea typeface="Courier"/>
                <a:cs typeface="Courier"/>
                <a:sym typeface="Courier"/>
              </a:rPr>
              <a:t>, 41, 63]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syntax for accessing the elements of a list is the same as for accessing the characters of a string: the bracket operator. The expression inside the brackets specifies the index. Remember that the indices start at 0. Unlike strings, lists are mutable because you can change the order of items in a list or reassign an item in a list. When the bracket operator appears on the left side of an assignment, it identifies the element of the list that will be assigned.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You can think of a list as a relationship between indices and elements. This relationship is called a mapping; each index maps to one of the elements. List indices work the same way as string indices. Namely, any integer expression can be used as an index; If you try to read or write an element that does not exist, you get an IndexError; and If an index has a negative value, it counts backward from the end of the list.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
        <p:nvSpPr>
          <p:cNvPr id="74" name="Google Shape;7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Arial"/>
              <a:buNone/>
            </a:pPr>
            <a:r>
              <a:rPr lang="en-US" sz="1100" u="none" cap="none" strike="noStrike">
                <a:solidFill>
                  <a:schemeClr val="lt1"/>
                </a:solidFill>
                <a:latin typeface="Arial"/>
                <a:ea typeface="Arial"/>
                <a:cs typeface="Arial"/>
                <a:sym typeface="Arial"/>
              </a:rPr>
              <a:t>The </a:t>
            </a:r>
            <a:r>
              <a:rPr lang="en-US" sz="1100" u="none" cap="none" strike="noStrike">
                <a:solidFill>
                  <a:srgbClr val="FF00FF"/>
                </a:solidFill>
                <a:latin typeface="Arial"/>
                <a:ea typeface="Arial"/>
                <a:cs typeface="Arial"/>
                <a:sym typeface="Arial"/>
              </a:rPr>
              <a:t>len()</a:t>
            </a:r>
            <a:r>
              <a:rPr lang="en-US" sz="1100" u="none" cap="none" strike="noStrike">
                <a:solidFill>
                  <a:schemeClr val="lt1"/>
                </a:solidFill>
                <a:latin typeface="Arial"/>
                <a:ea typeface="Arial"/>
                <a:cs typeface="Arial"/>
                <a:sym typeface="Arial"/>
              </a:rPr>
              <a:t> function takes a </a:t>
            </a:r>
            <a:r>
              <a:rPr lang="en-US" sz="1100" u="none" cap="none" strike="noStrike">
                <a:solidFill>
                  <a:srgbClr val="FF7F00"/>
                </a:solidFill>
                <a:latin typeface="Arial"/>
                <a:ea typeface="Arial"/>
                <a:cs typeface="Arial"/>
                <a:sym typeface="Arial"/>
              </a:rPr>
              <a:t>list</a:t>
            </a:r>
            <a:r>
              <a:rPr lang="en-US" sz="1100" u="none" cap="none" strike="noStrike">
                <a:solidFill>
                  <a:schemeClr val="lt1"/>
                </a:solidFill>
                <a:latin typeface="Arial"/>
                <a:ea typeface="Arial"/>
                <a:cs typeface="Arial"/>
                <a:sym typeface="Arial"/>
              </a:rPr>
              <a:t> as a parameter and returns the number of </a:t>
            </a:r>
            <a:r>
              <a:rPr lang="en-US" sz="1100" u="none" cap="none" strike="noStrike">
                <a:solidFill>
                  <a:srgbClr val="00FFFF"/>
                </a:solidFill>
                <a:latin typeface="Arial"/>
                <a:ea typeface="Arial"/>
                <a:cs typeface="Arial"/>
                <a:sym typeface="Arial"/>
              </a:rPr>
              <a:t>elements</a:t>
            </a:r>
            <a:r>
              <a:rPr lang="en-US" sz="1100" u="none" cap="none" strike="noStrike">
                <a:solidFill>
                  <a:schemeClr val="lt1"/>
                </a:solidFill>
                <a:latin typeface="Arial"/>
                <a:ea typeface="Arial"/>
                <a:cs typeface="Arial"/>
                <a:sym typeface="Arial"/>
              </a:rPr>
              <a:t> in the </a:t>
            </a:r>
            <a:r>
              <a:rPr lang="en-US" sz="1100" u="none" cap="none" strike="noStrike">
                <a:solidFill>
                  <a:srgbClr val="FF7F00"/>
                </a:solidFill>
                <a:latin typeface="Arial"/>
                <a:ea typeface="Arial"/>
                <a:cs typeface="Arial"/>
                <a:sym typeface="Arial"/>
              </a:rPr>
              <a:t>list. More precisely, </a:t>
            </a:r>
            <a:r>
              <a:rPr lang="en-US" sz="1100" u="none" cap="none" strike="noStrike">
                <a:solidFill>
                  <a:srgbClr val="FF00FF"/>
                </a:solidFill>
                <a:latin typeface="Arial"/>
                <a:ea typeface="Arial"/>
                <a:cs typeface="Arial"/>
                <a:sym typeface="Arial"/>
              </a:rPr>
              <a:t>len()</a:t>
            </a:r>
            <a:r>
              <a:rPr lang="en-US" sz="1100" u="none" cap="none" strike="noStrike">
                <a:solidFill>
                  <a:schemeClr val="lt1"/>
                </a:solidFill>
                <a:latin typeface="Arial"/>
                <a:ea typeface="Arial"/>
                <a:cs typeface="Arial"/>
                <a:sym typeface="Arial"/>
              </a:rPr>
              <a:t> tells us the number of elements of any set or sequence (such as a string). For example,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rgbClr val="FF7F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greet</a:t>
            </a:r>
            <a:r>
              <a:rPr i="0" lang="en-US" sz="1100" u="none" cap="none" strike="noStrike">
                <a:solidFill>
                  <a:schemeClr val="lt1"/>
                </a:solidFill>
                <a:latin typeface="Courier"/>
                <a:ea typeface="Courier"/>
                <a:cs typeface="Courier"/>
                <a:sym typeface="Courier"/>
              </a:rPr>
              <a:t> = 'Hello Bob</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greet</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9</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x</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[ 1, 2, 'joe', 99]</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x</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4</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Although a list can contain another list, the nested list still counts as a single element. The length of the following list is four:</a:t>
            </a:r>
            <a:endParaRPr/>
          </a:p>
          <a:p>
            <a:pPr indent="0" lvl="0" marL="0" rtl="0" algn="l">
              <a:spcBef>
                <a:spcPts val="0"/>
              </a:spcBef>
              <a:spcAft>
                <a:spcPts val="0"/>
              </a:spcAft>
              <a:buClr>
                <a:schemeClr val="dk1"/>
              </a:buClr>
              <a:buSzPts val="1100"/>
              <a:buFont typeface="Arial"/>
              <a:buNone/>
            </a:pPr>
            <a:r>
              <a:rPr lang="en-US"/>
              <a:t>y= ['spam', 1, [A', B'], [1, 2]]</a:t>
            </a:r>
            <a:endParaRPr/>
          </a:p>
          <a:p>
            <a:pPr indent="0" lvl="0" marL="0" rtl="0" algn="l">
              <a:spcBef>
                <a:spcPts val="0"/>
              </a:spcBef>
              <a:spcAft>
                <a:spcPts val="0"/>
              </a:spcAft>
              <a:buClr>
                <a:schemeClr val="dk1"/>
              </a:buClr>
              <a:buSzPts val="1100"/>
              <a:buFont typeface="Arial"/>
              <a:buNone/>
            </a:pPr>
            <a:r>
              <a:rPr lang="en-US"/>
              <a:t>print(len(y))</a:t>
            </a:r>
            <a:endParaRPr/>
          </a:p>
          <a:p>
            <a:pPr indent="0" lvl="0" marL="0" rtl="0" algn="l">
              <a:spcBef>
                <a:spcPts val="0"/>
              </a:spcBef>
              <a:spcAft>
                <a:spcPts val="0"/>
              </a:spcAft>
              <a:buClr>
                <a:schemeClr val="dk1"/>
              </a:buClr>
              <a:buSzPts val="1100"/>
              <a:buFont typeface="Arial"/>
              <a:buNone/>
            </a:pPr>
            <a:r>
              <a:rPr lang="en-US"/>
              <a:t>4</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
        <p:nvSpPr>
          <p:cNvPr id="81" name="Google Shape;8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range function returns a list of indices from 0 to n − 1, where n is the length of the list. For example,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range</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4</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275"/>
              <a:buFont typeface="Cabin"/>
              <a:buNone/>
            </a:pPr>
            <a:r>
              <a:rPr i="0" lang="en-US" sz="1100" u="none" cap="none" strike="noStrike">
                <a:solidFill>
                  <a:srgbClr val="FF7F00"/>
                </a:solidFill>
                <a:latin typeface="Courier"/>
                <a:ea typeface="Courier"/>
                <a:cs typeface="Courier"/>
                <a:sym typeface="Courier"/>
              </a:rPr>
              <a:t>[0, 1, 2, 3]</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friends</a:t>
            </a:r>
            <a:r>
              <a:rPr i="0" lang="en-US" sz="1100" u="none" cap="none" strike="noStrike">
                <a:solidFill>
                  <a:schemeClr val="lt1"/>
                </a:solidFill>
                <a:latin typeface="Courier"/>
                <a:ea typeface="Courier"/>
                <a:cs typeface="Courier"/>
                <a:sym typeface="Courier"/>
              </a:rPr>
              <a:t> = ['Joseph', 'Glenn', 'Sally']</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friends</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3</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range</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friends</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275"/>
              <a:buFont typeface="Cabin"/>
              <a:buNone/>
            </a:pPr>
            <a:r>
              <a:rPr i="0" lang="en-US" sz="1100" u="none" cap="none" strike="noStrike">
                <a:solidFill>
                  <a:srgbClr val="FF7F00"/>
                </a:solidFill>
                <a:latin typeface="Courier"/>
                <a:ea typeface="Courier"/>
                <a:cs typeface="Courier"/>
                <a:sym typeface="Courier"/>
              </a:rPr>
              <a:t>[0, 1, 2]</a:t>
            </a:r>
            <a:endParaRPr/>
          </a:p>
          <a:p>
            <a:pPr indent="0" lvl="0" marL="0" rtl="0" algn="l">
              <a:spcBef>
                <a:spcPts val="0"/>
              </a:spcBef>
              <a:spcAft>
                <a:spcPts val="0"/>
              </a:spcAft>
              <a:buClr>
                <a:schemeClr val="dk1"/>
              </a:buClr>
              <a:buSzPts val="1100"/>
              <a:buFont typeface="Arial"/>
              <a:buNone/>
            </a:pPr>
            <a:r>
              <a:t/>
            </a:r>
            <a:endParaRPr b="0" i="0" sz="1100">
              <a:solidFill>
                <a:schemeClr val="dk1"/>
              </a:solidFill>
              <a:latin typeface="Arial"/>
              <a:ea typeface="Arial"/>
              <a:cs typeface="Arial"/>
              <a:sym typeface="Arial"/>
            </a:endParaRPr>
          </a:p>
          <a:p>
            <a:pPr indent="0" lvl="0" marL="0" rtl="0" algn="l">
              <a:spcBef>
                <a:spcPts val="0"/>
              </a:spcBef>
              <a:spcAft>
                <a:spcPts val="0"/>
              </a:spcAft>
              <a:buNone/>
            </a:pPr>
            <a:r>
              <a:rPr b="0" i="0" lang="en-US" sz="1100">
                <a:solidFill>
                  <a:schemeClr val="dk1"/>
                </a:solidFill>
                <a:latin typeface="Arial"/>
                <a:ea typeface="Arial"/>
                <a:cs typeface="Arial"/>
                <a:sym typeface="Arial"/>
              </a:rPr>
              <a:t>The range function is used when you need to perform an action for a specific number of times. It simply generates a sequence of numbers. Most common use of </a:t>
            </a:r>
            <a:r>
              <a:rPr lang="en-US"/>
              <a:t>range()</a:t>
            </a:r>
            <a:r>
              <a:rPr b="0" i="0" lang="en-US" sz="1100">
                <a:solidFill>
                  <a:schemeClr val="dk1"/>
                </a:solidFill>
                <a:latin typeface="Arial"/>
                <a:ea typeface="Arial"/>
                <a:cs typeface="Arial"/>
                <a:sym typeface="Arial"/>
              </a:rPr>
              <a:t> function in Python is to iterate sequence type such as List and string with a for and a while loop. It takes three arguments: </a:t>
            </a:r>
            <a:endParaRPr/>
          </a:p>
          <a:p>
            <a:pPr indent="0" lvl="0" marL="0" rtl="0" algn="l">
              <a:spcBef>
                <a:spcPts val="0"/>
              </a:spcBef>
              <a:spcAft>
                <a:spcPts val="0"/>
              </a:spcAft>
              <a:buNone/>
            </a:pPr>
            <a:r>
              <a:t/>
            </a:r>
            <a:endParaRPr b="0" i="0" sz="1100">
              <a:solidFill>
                <a:schemeClr val="dk1"/>
              </a:solidFill>
              <a:latin typeface="Arial"/>
              <a:ea typeface="Arial"/>
              <a:cs typeface="Arial"/>
              <a:sym typeface="Arial"/>
            </a:endParaRPr>
          </a:p>
          <a:p>
            <a:pPr indent="0" lvl="0" marL="0" rtl="0" algn="l">
              <a:spcBef>
                <a:spcPts val="0"/>
              </a:spcBef>
              <a:spcAft>
                <a:spcPts val="0"/>
              </a:spcAft>
              <a:buNone/>
            </a:pPr>
            <a:r>
              <a:rPr b="0" i="0" lang="en-US" sz="1100">
                <a:solidFill>
                  <a:schemeClr val="dk1"/>
                </a:solidFill>
                <a:latin typeface="Arial"/>
                <a:ea typeface="Arial"/>
                <a:cs typeface="Arial"/>
                <a:sym typeface="Arial"/>
              </a:rPr>
              <a:t>start: integer starting from which the sequence of integers is to be returned</a:t>
            </a:r>
            <a:endParaRPr/>
          </a:p>
          <a:p>
            <a:pPr indent="0" lvl="0" marL="0" rtl="0" algn="l">
              <a:spcBef>
                <a:spcPts val="0"/>
              </a:spcBef>
              <a:spcAft>
                <a:spcPts val="0"/>
              </a:spcAft>
              <a:buNone/>
            </a:pPr>
            <a:r>
              <a:rPr b="0" i="0" lang="en-US" sz="1100">
                <a:solidFill>
                  <a:schemeClr val="dk1"/>
                </a:solidFill>
                <a:latin typeface="Arial"/>
                <a:ea typeface="Arial"/>
                <a:cs typeface="Arial"/>
                <a:sym typeface="Arial"/>
              </a:rPr>
              <a:t>stop: integer before which the sequence of integers is to be returned. The range of integers end at stop – 1.</a:t>
            </a:r>
            <a:endParaRPr/>
          </a:p>
          <a:p>
            <a:pPr indent="0" lvl="0" marL="0" rtl="0" algn="l">
              <a:spcBef>
                <a:spcPts val="0"/>
              </a:spcBef>
              <a:spcAft>
                <a:spcPts val="0"/>
              </a:spcAft>
              <a:buNone/>
            </a:pPr>
            <a:r>
              <a:rPr b="0" i="0" lang="en-US" sz="1100">
                <a:solidFill>
                  <a:schemeClr val="dk1"/>
                </a:solidFill>
                <a:latin typeface="Arial"/>
                <a:ea typeface="Arial"/>
                <a:cs typeface="Arial"/>
                <a:sym typeface="Arial"/>
              </a:rPr>
              <a:t>step: integer value which determines the increment between each integer in the sequence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0" i="0" lang="en-US" sz="1100">
                <a:solidFill>
                  <a:schemeClr val="dk1"/>
                </a:solidFill>
                <a:latin typeface="Arial"/>
                <a:ea typeface="Arial"/>
                <a:cs typeface="Arial"/>
                <a:sym typeface="Arial"/>
              </a:rPr>
              <a:t>When you call </a:t>
            </a:r>
            <a:r>
              <a:rPr lang="en-US"/>
              <a:t>range()</a:t>
            </a:r>
            <a:r>
              <a:rPr b="0" i="0" lang="en-US" sz="1100">
                <a:solidFill>
                  <a:schemeClr val="dk1"/>
                </a:solidFill>
                <a:latin typeface="Arial"/>
                <a:ea typeface="Arial"/>
                <a:cs typeface="Arial"/>
                <a:sym typeface="Arial"/>
              </a:rPr>
              <a:t> function with one argument, you will get a series of numbers that starts at 0 and includes every whole number up to, but not including, the number that you have provided as the stop. When you call range() function with two arguments, you get to decide not only where the series of numbers stops but also where it starts, thus you don’t have to start at 0 all the time. Namely, you can use </a:t>
            </a:r>
            <a:r>
              <a:rPr lang="en-US"/>
              <a:t>range() function</a:t>
            </a:r>
            <a:r>
              <a:rPr b="0" i="0" lang="en-US" sz="1100">
                <a:solidFill>
                  <a:schemeClr val="dk1"/>
                </a:solidFill>
                <a:latin typeface="Arial"/>
                <a:ea typeface="Arial"/>
                <a:cs typeface="Arial"/>
                <a:sym typeface="Arial"/>
              </a:rPr>
              <a:t> to generate a series of numbers from i to j using a range(i, j). When you call </a:t>
            </a:r>
            <a:r>
              <a:rPr lang="en-US"/>
              <a:t>range()</a:t>
            </a:r>
            <a:r>
              <a:rPr b="0" i="0" lang="en-US" sz="1100">
                <a:solidFill>
                  <a:schemeClr val="dk1"/>
                </a:solidFill>
                <a:latin typeface="Arial"/>
                <a:ea typeface="Arial"/>
                <a:cs typeface="Arial"/>
                <a:sym typeface="Arial"/>
              </a:rPr>
              <a:t> function with three arguments, you can choose not only where the series of numbers will start and stop but also how big the difference will be between one number and the next. If you don’t provide a step value, then range() will automatically behave as if the step is 1.</a:t>
            </a:r>
            <a:endParaRPr/>
          </a:p>
        </p:txBody>
      </p:sp>
      <p:sp>
        <p:nvSpPr>
          <p:cNvPr id="88" name="Google Shape;8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following for loop read the elements of the list and prints them in a sentence:</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friends</a:t>
            </a:r>
            <a:r>
              <a:rPr i="0" lang="en-US" sz="1100" u="none" cap="none" strike="noStrike">
                <a:solidFill>
                  <a:schemeClr val="lt1"/>
                </a:solidFill>
                <a:latin typeface="Courier"/>
                <a:ea typeface="Courier"/>
                <a:cs typeface="Courier"/>
                <a:sym typeface="Courier"/>
              </a:rPr>
              <a:t> = ['Joseph', 'Glenn', 'Sally']</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friend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friends </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i="0" lang="en-US" sz="1100" u="none" cap="none" strike="noStrike">
                <a:solidFill>
                  <a:schemeClr val="lt1"/>
                </a:solidFill>
                <a:latin typeface="Courier"/>
                <a:ea typeface="Courier"/>
                <a:cs typeface="Courier"/>
                <a:sym typeface="Courier"/>
              </a:rPr>
              <a:t>'Happy New Year:',  </a:t>
            </a:r>
            <a:r>
              <a:rPr i="0" lang="en-US" sz="1100" u="none" cap="none" strike="noStrike">
                <a:solidFill>
                  <a:srgbClr val="FF7F00"/>
                </a:solidFill>
                <a:latin typeface="Courier"/>
                <a:ea typeface="Courier"/>
                <a:cs typeface="Courier"/>
                <a:sym typeface="Courier"/>
              </a:rPr>
              <a:t>friend</a:t>
            </a:r>
            <a:r>
              <a:rPr lang="en-US" sz="1100">
                <a:solidFill>
                  <a:srgbClr val="FFFF00"/>
                </a:solidFill>
                <a:latin typeface="Courier"/>
                <a:ea typeface="Courier"/>
                <a:cs typeface="Courier"/>
                <a:sym typeface="Courier"/>
              </a:rPr>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Alternatively, we can combine range() and len() functions to create indices in order to access each element of the list in a for loop using bracket operator. For example, the following loop traverses the list and accesses each element and prints each element in a sentence. len returns the number of elements in the list friends, which is 3. range returns a list of indices from 0 to 3 – 1 = 2, where 3 is the length of the list. Each time through the loop, the iterator i gets the index of the next element. The assignment statement in the body uses i to read the value of the element and to assign it to a new variable friend, and the value of friend is printed in a sentence. Thus, both loops yield the same output!</a:t>
            </a:r>
            <a:endParaRPr/>
          </a:p>
        </p:txBody>
      </p:sp>
      <p:sp>
        <p:nvSpPr>
          <p:cNvPr id="95" name="Google Shape;9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 operator concatenates lists. For example, we can create a new list by adding two existing lists together:</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a</a:t>
            </a:r>
            <a:r>
              <a:rPr i="0" lang="en-US" sz="1100" u="none" cap="none" strike="noStrike">
                <a:solidFill>
                  <a:schemeClr val="lt1"/>
                </a:solidFill>
                <a:latin typeface="Courier"/>
                <a:ea typeface="Courier"/>
                <a:cs typeface="Courier"/>
                <a:sym typeface="Courier"/>
              </a:rPr>
              <a:t> = [1, 2, 3]</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b</a:t>
            </a:r>
            <a:r>
              <a:rPr i="0" lang="en-US" sz="1100" u="none" cap="none" strike="noStrike">
                <a:solidFill>
                  <a:schemeClr val="lt1"/>
                </a:solidFill>
                <a:latin typeface="Courier"/>
                <a:ea typeface="Courier"/>
                <a:cs typeface="Courier"/>
                <a:sym typeface="Courier"/>
              </a:rPr>
              <a:t> = [4, 5, 6]</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c</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a </a:t>
            </a:r>
            <a:r>
              <a:rPr i="0" lang="en-US" sz="1100" u="none" cap="none" strike="noStrike">
                <a:solidFill>
                  <a:srgbClr val="00FFFF"/>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 b</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c</a:t>
            </a:r>
            <a:r>
              <a:rPr lang="en-US" sz="1100">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[1, 2, 3, 4, 5, 6]</a:t>
            </a:r>
            <a:endParaRPr/>
          </a:p>
          <a:p>
            <a:pPr indent="0" lvl="0" marL="0" rtl="0" algn="l">
              <a:spcBef>
                <a:spcPts val="0"/>
              </a:spcBef>
              <a:spcAft>
                <a:spcPts val="0"/>
              </a:spcAft>
              <a:buClr>
                <a:schemeClr val="dk1"/>
              </a:buClr>
              <a:buSzPts val="1100"/>
              <a:buFont typeface="Arial"/>
              <a:buNone/>
            </a:pPr>
            <a:r>
              <a:t/>
            </a:r>
            <a:endParaRPr/>
          </a:p>
        </p:txBody>
      </p:sp>
      <p:sp>
        <p:nvSpPr>
          <p:cNvPr id="103" name="Google Shape;10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Similar to string objects, the slice operator also works on lists. For example, in the following code, we access the elements at index value 1 and 2, which are 41 and 12: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t</a:t>
            </a:r>
            <a:r>
              <a:rPr i="0" lang="en-US" sz="1100" u="none" cap="none" strike="noStrike">
                <a:solidFill>
                  <a:schemeClr val="lt1"/>
                </a:solidFill>
                <a:latin typeface="Courier"/>
                <a:ea typeface="Courier"/>
                <a:cs typeface="Courier"/>
                <a:sym typeface="Courier"/>
              </a:rPr>
              <a:t> = [9, 41, 12, 3, 74, 15]</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t</a:t>
            </a:r>
            <a:r>
              <a:rPr i="0" lang="en-US" sz="1100" u="none" cap="none" strike="noStrike">
                <a:solidFill>
                  <a:schemeClr val="lt1"/>
                </a:solidFill>
                <a:latin typeface="Courier"/>
                <a:ea typeface="Courier"/>
                <a:cs typeface="Courier"/>
                <a:sym typeface="Courier"/>
              </a:rPr>
              <a:t>[1</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00FF"/>
                </a:solidFill>
                <a:latin typeface="Courier"/>
                <a:ea typeface="Courier"/>
                <a:cs typeface="Courier"/>
                <a:sym typeface="Courier"/>
              </a:rPr>
              <a:t>3</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[41,12]</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If you omit the first index in slicing, the slice starts at the beginning (at index zero).  In the following code, we access the elements from index value zero to all the way to index value 3 inclusive:</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t</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00FF"/>
                </a:solidFill>
                <a:latin typeface="Courier"/>
                <a:ea typeface="Courier"/>
                <a:cs typeface="Courier"/>
                <a:sym typeface="Courier"/>
              </a:rPr>
              <a:t>4</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[9, 41, 12, 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If you omit the second index in slicing, the slice goes to the end. For example, in the following code, you access elements starting from index value 3 to all the way to the end of the list.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t</a:t>
            </a:r>
            <a:r>
              <a:rPr i="0" lang="en-US" sz="1100" u="none" cap="none" strike="noStrike">
                <a:solidFill>
                  <a:schemeClr val="lt1"/>
                </a:solidFill>
                <a:latin typeface="Courier"/>
                <a:ea typeface="Courier"/>
                <a:cs typeface="Courier"/>
                <a:sym typeface="Courier"/>
              </a:rPr>
              <a:t>[3</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[3, 74, 15]</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In addition, if you omit both indexes in slicing, the slice is a copy of the whole list as shown below:</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t</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[9, 41, 12, 3, 74, 15]</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We note that since lists are mutable, it is often useful to make a copy before performing operations on lists that fold, spindle, or mutilate lists.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
        <p:nvSpPr>
          <p:cNvPr id="110" name="Google Shape;11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Python provides several methods that operate on lists. You can use dir() function to get a list of methods that work on list objects. For example, you can create an empty list object and print the list of available methods on it as follows:</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x</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list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00FF"/>
                </a:solidFill>
                <a:latin typeface="Courier"/>
                <a:ea typeface="Courier"/>
                <a:cs typeface="Courier"/>
                <a:sym typeface="Courier"/>
              </a:rPr>
              <a:t>type</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x</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&lt;type 'list'&gt;</a:t>
            </a:r>
            <a:endParaRPr/>
          </a:p>
          <a:p>
            <a:pPr indent="0" lvl="0" marL="0" marR="0" rtl="0" algn="l">
              <a:lnSpc>
                <a:spcPct val="100000"/>
              </a:lnSpc>
              <a:spcBef>
                <a:spcPts val="0"/>
              </a:spcBef>
              <a:spcAft>
                <a:spcPts val="0"/>
              </a:spcAft>
              <a:buClr>
                <a:schemeClr val="lt1"/>
              </a:buClr>
              <a:buSzPts val="275"/>
              <a:buFont typeface="Cabin"/>
              <a:buNone/>
            </a:pPr>
            <a:r>
              <a:t/>
            </a:r>
            <a:endParaRPr sz="1100">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00FF"/>
                </a:solidFill>
                <a:latin typeface="Courier"/>
                <a:ea typeface="Courier"/>
                <a:cs typeface="Courier"/>
                <a:sym typeface="Courier"/>
              </a:rPr>
              <a:t>dir</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x</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['append', 'count', 'extend', 'index', 'insert', 'pop', 'remove', 'reverse', 'sort']</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You can also refer to the online Python documentation for list methods: </a:t>
            </a:r>
            <a:r>
              <a:rPr lang="en-US" sz="1100" u="sng" cap="none" strike="noStrike">
                <a:solidFill>
                  <a:srgbClr val="FFFF00"/>
                </a:solidFill>
                <a:latin typeface="Arial"/>
                <a:ea typeface="Arial"/>
                <a:cs typeface="Arial"/>
                <a:sym typeface="Arial"/>
                <a:hlinkClick r:id="rId2">
                  <a:extLst>
                    <a:ext uri="{A12FA001-AC4F-418D-AE19-62706E023703}">
                      <ahyp:hlinkClr val="tx"/>
                    </a:ext>
                  </a:extLst>
                </a:hlinkClick>
              </a:rPr>
              <a:t>http://docs.python.org/tutorial/datastructures.html</a:t>
            </a:r>
            <a:endParaRPr/>
          </a:p>
          <a:p>
            <a:pPr indent="0" lvl="0" marL="0" rtl="0" algn="l">
              <a:spcBef>
                <a:spcPts val="0"/>
              </a:spcBef>
              <a:spcAft>
                <a:spcPts val="0"/>
              </a:spcAft>
              <a:buClr>
                <a:schemeClr val="dk1"/>
              </a:buClr>
              <a:buSzPts val="1100"/>
              <a:buFont typeface="Arial"/>
              <a:buNone/>
            </a:pPr>
            <a:r>
              <a:t/>
            </a:r>
            <a:endParaRPr/>
          </a:p>
        </p:txBody>
      </p:sp>
      <p:sp>
        <p:nvSpPr>
          <p:cNvPr id="117" name="Google Shape;11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For example, append method adds a new element to the end of a list. </a:t>
            </a:r>
            <a:r>
              <a:rPr lang="en-US" sz="1100" u="none" cap="none" strike="noStrike">
                <a:solidFill>
                  <a:schemeClr val="lt1"/>
                </a:solidFill>
                <a:latin typeface="Arial"/>
                <a:ea typeface="Arial"/>
                <a:cs typeface="Arial"/>
                <a:sym typeface="Arial"/>
              </a:rPr>
              <a:t>You can create an empty </a:t>
            </a:r>
            <a:r>
              <a:rPr lang="en-US" sz="1100" u="none" cap="none" strike="noStrike">
                <a:solidFill>
                  <a:srgbClr val="00FF00"/>
                </a:solidFill>
                <a:latin typeface="Arial"/>
                <a:ea typeface="Arial"/>
                <a:cs typeface="Arial"/>
                <a:sym typeface="Arial"/>
              </a:rPr>
              <a:t>list</a:t>
            </a:r>
            <a:r>
              <a:rPr lang="en-US" sz="1100" u="none" cap="none" strike="noStrike">
                <a:solidFill>
                  <a:schemeClr val="lt1"/>
                </a:solidFill>
                <a:latin typeface="Arial"/>
                <a:ea typeface="Arial"/>
                <a:cs typeface="Arial"/>
                <a:sym typeface="Arial"/>
              </a:rPr>
              <a:t> and then add elements using the </a:t>
            </a:r>
            <a:r>
              <a:rPr lang="en-US" sz="1100" u="none" cap="none" strike="noStrike">
                <a:solidFill>
                  <a:srgbClr val="FF00FF"/>
                </a:solidFill>
                <a:latin typeface="Arial"/>
                <a:ea typeface="Arial"/>
                <a:cs typeface="Arial"/>
                <a:sym typeface="Arial"/>
              </a:rPr>
              <a:t>append</a:t>
            </a:r>
            <a:r>
              <a:rPr lang="en-US" sz="1100" u="none" cap="none" strike="noStrike">
                <a:solidFill>
                  <a:schemeClr val="lt1"/>
                </a:solidFill>
                <a:latin typeface="Arial"/>
                <a:ea typeface="Arial"/>
                <a:cs typeface="Arial"/>
                <a:sym typeface="Arial"/>
              </a:rPr>
              <a:t> method as follows:</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stuff</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list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stuff</a:t>
            </a:r>
            <a:r>
              <a:rPr i="0" lang="en-US" sz="1100" u="none" cap="none" strike="noStrike">
                <a:solidFill>
                  <a:srgbClr val="FF00FF"/>
                </a:solidFill>
                <a:latin typeface="Courier"/>
                <a:ea typeface="Courier"/>
                <a:cs typeface="Courier"/>
                <a:sym typeface="Courier"/>
              </a:rPr>
              <a:t>.append</a:t>
            </a:r>
            <a:r>
              <a:rPr i="0" lang="en-US" sz="1100" u="none" cap="none" strike="noStrike">
                <a:solidFill>
                  <a:schemeClr val="lt1"/>
                </a:solidFill>
                <a:latin typeface="Courier"/>
                <a:ea typeface="Courier"/>
                <a:cs typeface="Courier"/>
                <a:sym typeface="Courier"/>
              </a:rPr>
              <a:t>('book')</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stuff</a:t>
            </a:r>
            <a:r>
              <a:rPr i="0" lang="en-US" sz="1100" u="none" cap="none" strike="noStrike">
                <a:solidFill>
                  <a:srgbClr val="FF00FF"/>
                </a:solidFill>
                <a:latin typeface="Courier"/>
                <a:ea typeface="Courier"/>
                <a:cs typeface="Courier"/>
                <a:sym typeface="Courier"/>
              </a:rPr>
              <a:t>.append</a:t>
            </a:r>
            <a:r>
              <a:rPr i="0" lang="en-US" sz="1100" u="none" cap="none" strike="noStrike">
                <a:solidFill>
                  <a:schemeClr val="lt1"/>
                </a:solidFill>
                <a:latin typeface="Courier"/>
                <a:ea typeface="Courier"/>
                <a:cs typeface="Courier"/>
                <a:sym typeface="Courier"/>
              </a:rPr>
              <a:t>(99)</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stuff</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['book', 99]</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stuff</a:t>
            </a:r>
            <a:r>
              <a:rPr i="0" lang="en-US" sz="1100" u="none" cap="none" strike="noStrike">
                <a:solidFill>
                  <a:srgbClr val="FF00FF"/>
                </a:solidFill>
                <a:latin typeface="Courier"/>
                <a:ea typeface="Courier"/>
                <a:cs typeface="Courier"/>
                <a:sym typeface="Courier"/>
              </a:rPr>
              <a:t>.append</a:t>
            </a:r>
            <a:r>
              <a:rPr i="0" lang="en-US" sz="1100" u="none" cap="none" strike="noStrike">
                <a:solidFill>
                  <a:schemeClr val="lt1"/>
                </a:solidFill>
                <a:latin typeface="Courier"/>
                <a:ea typeface="Courier"/>
                <a:cs typeface="Courier"/>
                <a:sym typeface="Courier"/>
              </a:rPr>
              <a:t>('cookie')</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stuff</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['book', 99, 'cookie']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As you observe, </a:t>
            </a:r>
            <a:r>
              <a:rPr lang="en-US" sz="1100" u="none" cap="none" strike="noStrike">
                <a:solidFill>
                  <a:schemeClr val="lt1"/>
                </a:solidFill>
                <a:latin typeface="Arial"/>
                <a:ea typeface="Arial"/>
                <a:cs typeface="Arial"/>
                <a:sym typeface="Arial"/>
              </a:rPr>
              <a:t>The </a:t>
            </a:r>
            <a:r>
              <a:rPr lang="en-US" sz="1100" u="none" cap="none" strike="noStrike">
                <a:solidFill>
                  <a:srgbClr val="00FF00"/>
                </a:solidFill>
                <a:latin typeface="Arial"/>
                <a:ea typeface="Arial"/>
                <a:cs typeface="Arial"/>
                <a:sym typeface="Arial"/>
              </a:rPr>
              <a:t>list</a:t>
            </a:r>
            <a:r>
              <a:rPr lang="en-US" sz="1100" u="none" cap="none" strike="noStrike">
                <a:solidFill>
                  <a:schemeClr val="lt1"/>
                </a:solidFill>
                <a:latin typeface="Arial"/>
                <a:ea typeface="Arial"/>
                <a:cs typeface="Arial"/>
                <a:sym typeface="Arial"/>
              </a:rPr>
              <a:t> stuff stays in order and new elements are </a:t>
            </a:r>
            <a:r>
              <a:rPr lang="en-US" sz="1100" u="none" cap="none" strike="noStrike">
                <a:solidFill>
                  <a:srgbClr val="FF00FF"/>
                </a:solidFill>
                <a:latin typeface="Arial"/>
                <a:ea typeface="Arial"/>
                <a:cs typeface="Arial"/>
                <a:sym typeface="Arial"/>
              </a:rPr>
              <a:t>added</a:t>
            </a:r>
            <a:r>
              <a:rPr lang="en-US" sz="1100" u="none" cap="none" strike="noStrike">
                <a:solidFill>
                  <a:schemeClr val="lt1"/>
                </a:solidFill>
                <a:latin typeface="Arial"/>
                <a:ea typeface="Arial"/>
                <a:cs typeface="Arial"/>
                <a:sym typeface="Arial"/>
              </a:rPr>
              <a:t> at the end of the </a:t>
            </a:r>
            <a:r>
              <a:rPr lang="en-US" sz="1100" u="none" cap="none" strike="noStrike">
                <a:solidFill>
                  <a:srgbClr val="00FF00"/>
                </a:solidFill>
                <a:latin typeface="Arial"/>
                <a:ea typeface="Arial"/>
                <a:cs typeface="Arial"/>
                <a:sym typeface="Arial"/>
              </a:rPr>
              <a:t>list.</a:t>
            </a:r>
            <a:endParaRPr/>
          </a:p>
          <a:p>
            <a:pPr indent="0" lvl="0" marL="0" rtl="0" algn="l">
              <a:spcBef>
                <a:spcPts val="0"/>
              </a:spcBef>
              <a:spcAft>
                <a:spcPts val="0"/>
              </a:spcAft>
              <a:buClr>
                <a:schemeClr val="dk1"/>
              </a:buClr>
              <a:buSzPts val="1100"/>
              <a:buFont typeface="Arial"/>
              <a:buNone/>
            </a:pPr>
            <a:r>
              <a:t/>
            </a:r>
            <a:endParaRPr/>
          </a:p>
        </p:txBody>
      </p:sp>
      <p:sp>
        <p:nvSpPr>
          <p:cNvPr id="124" name="Google Shape;12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In Python, </a:t>
            </a:r>
            <a:r>
              <a:rPr b="0" i="0" lang="en-US" sz="1100">
                <a:solidFill>
                  <a:schemeClr val="dk1"/>
                </a:solidFill>
                <a:latin typeface="Arial"/>
                <a:ea typeface="Arial"/>
                <a:cs typeface="Arial"/>
                <a:sym typeface="Arial"/>
              </a:rPr>
              <a:t>the ‘in’ operator is used to check if a value exists in a sequence or not. Evaluates to rue if it finds a variable in the specified sequence and false otherwise. Similarly, ‘not in’ operator evaluates to true if it does not finds a variable in the specified sequence and false otherwise. We can use these membership operators to check if an item is a member of a list. These operators do not modify the list. For example, </a:t>
            </a:r>
            <a:endParaRPr/>
          </a:p>
          <a:p>
            <a:pPr indent="0" lvl="0" marL="0" rtl="0" algn="l">
              <a:spcBef>
                <a:spcPts val="0"/>
              </a:spcBef>
              <a:spcAft>
                <a:spcPts val="0"/>
              </a:spcAft>
              <a:buClr>
                <a:schemeClr val="dk1"/>
              </a:buClr>
              <a:buSzPts val="1100"/>
              <a:buFont typeface="Arial"/>
              <a:buNone/>
            </a:pPr>
            <a:r>
              <a:t/>
            </a:r>
            <a:endParaRPr b="0" i="0"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some</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[1, 9, 21, 10, 16]</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7F00"/>
                </a:solidFill>
                <a:latin typeface="Courier"/>
                <a:ea typeface="Courier"/>
                <a:cs typeface="Courier"/>
                <a:sym typeface="Courier"/>
              </a:rPr>
              <a:t>9</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some</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True</a:t>
            </a:r>
            <a:endParaRPr/>
          </a:p>
          <a:p>
            <a:pPr indent="0" lvl="0" marL="0" marR="0" rtl="0" algn="l">
              <a:lnSpc>
                <a:spcPct val="100000"/>
              </a:lnSpc>
              <a:spcBef>
                <a:spcPts val="0"/>
              </a:spcBef>
              <a:spcAft>
                <a:spcPts val="0"/>
              </a:spcAft>
              <a:buClr>
                <a:srgbClr val="FF00FF"/>
              </a:buClr>
              <a:buSzPts val="275"/>
              <a:buFont typeface="Cabin"/>
              <a:buNone/>
            </a:pPr>
            <a:r>
              <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7F00"/>
                </a:solidFill>
                <a:latin typeface="Courier"/>
                <a:ea typeface="Courier"/>
                <a:cs typeface="Courier"/>
                <a:sym typeface="Courier"/>
              </a:rPr>
              <a:t>15</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some</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False</a:t>
            </a:r>
            <a:endParaRPr/>
          </a:p>
          <a:p>
            <a:pPr indent="0" lvl="0" marL="0" marR="0" rtl="0" algn="l">
              <a:lnSpc>
                <a:spcPct val="100000"/>
              </a:lnSpc>
              <a:spcBef>
                <a:spcPts val="0"/>
              </a:spcBef>
              <a:spcAft>
                <a:spcPts val="0"/>
              </a:spcAft>
              <a:buClr>
                <a:srgbClr val="00FF00"/>
              </a:buClr>
              <a:buSzPts val="275"/>
              <a:buFont typeface="Cabin"/>
              <a:buNone/>
            </a:pPr>
            <a:r>
              <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7F00"/>
                </a:solidFill>
                <a:latin typeface="Courier"/>
                <a:ea typeface="Courier"/>
                <a:cs typeface="Courier"/>
                <a:sym typeface="Courier"/>
              </a:rPr>
              <a:t>20</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not 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some</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True</a:t>
            </a:r>
            <a:endParaRPr/>
          </a:p>
          <a:p>
            <a:pPr indent="0" lvl="0" marL="0" marR="0" rtl="0" algn="l">
              <a:lnSpc>
                <a:spcPct val="100000"/>
              </a:lnSpc>
              <a:spcBef>
                <a:spcPts val="0"/>
              </a:spcBef>
              <a:spcAft>
                <a:spcPts val="0"/>
              </a:spcAft>
              <a:buClr>
                <a:srgbClr val="FF00FF"/>
              </a:buClr>
              <a:buSzPts val="275"/>
              <a:buFont typeface="Cabin"/>
              <a:buNone/>
            </a:pPr>
            <a:r>
              <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t/>
            </a:r>
            <a:endParaRPr i="0" sz="1100" u="none" cap="none" strike="noStrike">
              <a:solidFill>
                <a:srgbClr val="FF00FF"/>
              </a:solidFill>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a:p>
        </p:txBody>
      </p:sp>
      <p:sp>
        <p:nvSpPr>
          <p:cNvPr id="131" name="Google Shape;13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t>In Python, </a:t>
            </a:r>
            <a:r>
              <a:rPr lang="en-US" sz="1100" u="none" cap="none" strike="noStrike">
                <a:solidFill>
                  <a:schemeClr val="lt1"/>
                </a:solidFill>
                <a:latin typeface="Arial"/>
                <a:ea typeface="Arial"/>
                <a:cs typeface="Arial"/>
                <a:sym typeface="Arial"/>
              </a:rPr>
              <a:t>a </a:t>
            </a:r>
            <a:r>
              <a:rPr lang="en-US" sz="1100" u="none" cap="none" strike="noStrike">
                <a:solidFill>
                  <a:srgbClr val="FF7F00"/>
                </a:solidFill>
                <a:latin typeface="Arial"/>
                <a:ea typeface="Arial"/>
                <a:cs typeface="Arial"/>
                <a:sym typeface="Arial"/>
              </a:rPr>
              <a:t>list</a:t>
            </a:r>
            <a:r>
              <a:rPr lang="en-US" sz="1100" u="none" cap="none" strike="noStrike">
                <a:solidFill>
                  <a:schemeClr val="lt1"/>
                </a:solidFill>
                <a:latin typeface="Arial"/>
                <a:ea typeface="Arial"/>
                <a:cs typeface="Arial"/>
                <a:sym typeface="Arial"/>
              </a:rPr>
              <a:t> can hold many items and keeps those items in the order until we do something to change the order. </a:t>
            </a:r>
            <a:r>
              <a:rPr b="0" i="0" lang="en-US" sz="1100" u="none" cap="none" strike="noStrike">
                <a:solidFill>
                  <a:schemeClr val="dk1"/>
                </a:solidFill>
                <a:latin typeface="Arial"/>
                <a:ea typeface="Arial"/>
                <a:cs typeface="Arial"/>
                <a:sym typeface="Arial"/>
              </a:rPr>
              <a:t>P</a:t>
            </a:r>
            <a:r>
              <a:rPr b="0" i="0" lang="en-US" sz="1100">
                <a:solidFill>
                  <a:schemeClr val="dk1"/>
                </a:solidFill>
                <a:latin typeface="Arial"/>
                <a:ea typeface="Arial"/>
                <a:cs typeface="Arial"/>
                <a:sym typeface="Arial"/>
              </a:rPr>
              <a:t>ython provides built in function to sort.</a:t>
            </a:r>
            <a:endParaRPr/>
          </a:p>
          <a:p>
            <a:pPr indent="0" lvl="0" marL="0" rtl="0" algn="l">
              <a:spcBef>
                <a:spcPts val="0"/>
              </a:spcBef>
              <a:spcAft>
                <a:spcPts val="0"/>
              </a:spcAft>
              <a:buNone/>
            </a:pPr>
            <a:r>
              <a:rPr b="0" i="0" lang="en-US" sz="1100">
                <a:solidFill>
                  <a:schemeClr val="dk1"/>
                </a:solidFill>
                <a:latin typeface="Arial"/>
                <a:ea typeface="Arial"/>
                <a:cs typeface="Arial"/>
                <a:sym typeface="Arial"/>
              </a:rPr>
              <a:t>The sort function can be used to sort the list in both ascending and descending order. The following code sorts the list friends in ascending order:</a:t>
            </a:r>
            <a:endParaRPr/>
          </a:p>
          <a:p>
            <a:pPr indent="0" lvl="0" marL="0" rtl="0" algn="l">
              <a:spcBef>
                <a:spcPts val="0"/>
              </a:spcBef>
              <a:spcAft>
                <a:spcPts val="0"/>
              </a:spcAft>
              <a:buNone/>
            </a:pPr>
            <a:r>
              <a:t/>
            </a:r>
            <a:endParaRPr b="0" i="0"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friends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 'Joseph', 'Glenn', 'Sally'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friends</a:t>
            </a:r>
            <a:r>
              <a:rPr i="0" lang="en-US" sz="1100" u="none" cap="none" strike="noStrike">
                <a:solidFill>
                  <a:srgbClr val="FF00FF"/>
                </a:solidFill>
                <a:latin typeface="Courier"/>
                <a:ea typeface="Courier"/>
                <a:cs typeface="Courier"/>
                <a:sym typeface="Courier"/>
              </a:rPr>
              <a:t>.sort</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friends</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['Glenn', 'Joseph', 'Sally']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b="0" i="0" lang="en-US" sz="1100">
                <a:solidFill>
                  <a:schemeClr val="dk1"/>
                </a:solidFill>
                <a:latin typeface="Arial"/>
                <a:ea typeface="Arial"/>
                <a:cs typeface="Arial"/>
                <a:sym typeface="Arial"/>
              </a:rPr>
              <a:t>The following code sorts the list decimalnumber in descending order:</a:t>
            </a:r>
            <a:endParaRPr b="0" i="0" sz="1100">
              <a:solidFill>
                <a:schemeClr val="dk1"/>
              </a:solidFill>
              <a:latin typeface="Arial"/>
              <a:ea typeface="Arial"/>
              <a:cs typeface="Arial"/>
              <a:sym typeface="Arial"/>
            </a:endParaRPr>
          </a:p>
          <a:p>
            <a:pPr indent="0" lvl="0" marL="0" rtl="0" algn="l">
              <a:spcBef>
                <a:spcPts val="0"/>
              </a:spcBef>
              <a:spcAft>
                <a:spcPts val="0"/>
              </a:spcAft>
              <a:buNone/>
            </a:pPr>
            <a:r>
              <a:t/>
            </a:r>
            <a:endParaRPr b="0" i="0" sz="1100">
              <a:solidFill>
                <a:schemeClr val="dk1"/>
              </a:solidFill>
              <a:latin typeface="Arial"/>
              <a:ea typeface="Arial"/>
              <a:cs typeface="Arial"/>
              <a:sym typeface="Arial"/>
            </a:endParaRPr>
          </a:p>
          <a:p>
            <a:pPr indent="0" lvl="0" marL="0" rtl="0" algn="l">
              <a:spcBef>
                <a:spcPts val="0"/>
              </a:spcBef>
              <a:spcAft>
                <a:spcPts val="0"/>
              </a:spcAft>
              <a:buNone/>
            </a:pPr>
            <a:r>
              <a:rPr b="0" i="0" lang="en-US" sz="1100">
                <a:solidFill>
                  <a:schemeClr val="dk1"/>
                </a:solidFill>
                <a:latin typeface="Arial"/>
                <a:ea typeface="Arial"/>
                <a:cs typeface="Arial"/>
                <a:sym typeface="Arial"/>
              </a:rPr>
              <a:t>decimalnumber = [3.01, 3.00, 4.67, 4.28, 2.68] </a:t>
            </a:r>
            <a:endParaRPr/>
          </a:p>
          <a:p>
            <a:pPr indent="0" lvl="0" marL="0" rtl="0" algn="l">
              <a:spcBef>
                <a:spcPts val="0"/>
              </a:spcBef>
              <a:spcAft>
                <a:spcPts val="0"/>
              </a:spcAft>
              <a:buNone/>
            </a:pPr>
            <a:r>
              <a:rPr b="0" i="0" lang="en-US" sz="1100">
                <a:solidFill>
                  <a:schemeClr val="dk1"/>
                </a:solidFill>
                <a:latin typeface="Arial"/>
                <a:ea typeface="Arial"/>
                <a:cs typeface="Arial"/>
                <a:sym typeface="Arial"/>
              </a:rPr>
              <a:t>decimalnumber.sort(reverse=True) </a:t>
            </a:r>
            <a:endParaRPr/>
          </a:p>
          <a:p>
            <a:pPr indent="0" lvl="0" marL="0" rtl="0" algn="l">
              <a:spcBef>
                <a:spcPts val="0"/>
              </a:spcBef>
              <a:spcAft>
                <a:spcPts val="0"/>
              </a:spcAft>
              <a:buNone/>
            </a:pPr>
            <a:r>
              <a:rPr lang="en-US"/>
              <a:t>print(decimalnumber) </a:t>
            </a:r>
            <a:endParaRPr/>
          </a:p>
          <a:p>
            <a:pPr indent="0" lvl="0" marL="0" marR="0" rtl="0" algn="l">
              <a:lnSpc>
                <a:spcPct val="100000"/>
              </a:lnSpc>
              <a:spcBef>
                <a:spcPts val="0"/>
              </a:spcBef>
              <a:spcAft>
                <a:spcPts val="0"/>
              </a:spcAft>
              <a:buClr>
                <a:schemeClr val="dk1"/>
              </a:buClr>
              <a:buSzPts val="1100"/>
              <a:buFont typeface="Arial"/>
              <a:buNone/>
            </a:pPr>
            <a:r>
              <a:rPr b="0" i="0" lang="en-US" sz="1100">
                <a:solidFill>
                  <a:schemeClr val="dk1"/>
                </a:solidFill>
                <a:latin typeface="Arial"/>
                <a:ea typeface="Arial"/>
                <a:cs typeface="Arial"/>
                <a:sym typeface="Arial"/>
              </a:rPr>
              <a:t>[4.67, 4.28, 3.01, 3.00,  2.68] </a:t>
            </a:r>
            <a:endParaRPr/>
          </a:p>
          <a:p>
            <a:pPr indent="0" lvl="0" marL="0" rtl="0" algn="l">
              <a:spcBef>
                <a:spcPts val="0"/>
              </a:spcBef>
              <a:spcAft>
                <a:spcPts val="0"/>
              </a:spcAft>
              <a:buNone/>
            </a:pPr>
            <a:r>
              <a:t/>
            </a:r>
            <a:endParaRPr b="0" i="0" sz="1100">
              <a:solidFill>
                <a:schemeClr val="dk1"/>
              </a:solidFill>
              <a:latin typeface="Arial"/>
              <a:ea typeface="Arial"/>
              <a:cs typeface="Arial"/>
              <a:sym typeface="Arial"/>
            </a:endParaRPr>
          </a:p>
          <a:p>
            <a:pPr indent="0" lvl="0" marL="0" rtl="0" algn="l">
              <a:spcBef>
                <a:spcPts val="0"/>
              </a:spcBef>
              <a:spcAft>
                <a:spcPts val="0"/>
              </a:spcAft>
              <a:buNone/>
            </a:pPr>
            <a:r>
              <a:t/>
            </a:r>
            <a:endParaRPr b="0" i="0" sz="1100">
              <a:solidFill>
                <a:schemeClr val="dk1"/>
              </a:solidFill>
              <a:latin typeface="Arial"/>
              <a:ea typeface="Arial"/>
              <a:cs typeface="Arial"/>
              <a:sym typeface="Arial"/>
            </a:endParaRPr>
          </a:p>
          <a:p>
            <a:pPr indent="0" lvl="0" marL="0" rtl="0" algn="l">
              <a:spcBef>
                <a:spcPts val="0"/>
              </a:spcBef>
              <a:spcAft>
                <a:spcPts val="0"/>
              </a:spcAft>
              <a:buNone/>
            </a:pPr>
            <a:br>
              <a:rPr lang="en-US"/>
            </a:br>
            <a:endParaRPr/>
          </a:p>
        </p:txBody>
      </p:sp>
      <p:sp>
        <p:nvSpPr>
          <p:cNvPr id="138" name="Google Shape;13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There are a number of built-in functions that can be used on lists that allow you to quickly look through a list without writing your own loops: len(), sum(), max(), min(). The sum() function only works when the list elements are numbers. The other functions (max(), min(), len()) work with lists of strings and other types that can be comparable. For example, </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nums</a:t>
            </a:r>
            <a:r>
              <a:rPr i="0" lang="en-US" sz="1100" u="none" cap="none" strike="noStrike">
                <a:solidFill>
                  <a:schemeClr val="lt1"/>
                </a:solidFill>
                <a:latin typeface="Courier"/>
                <a:ea typeface="Courier"/>
                <a:cs typeface="Courier"/>
                <a:sym typeface="Courier"/>
              </a:rPr>
              <a:t> = [3, 41, 12, 9, 74, 15]</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nums</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6</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max</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nums</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74</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min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nums</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3</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00FF"/>
                </a:solidFill>
                <a:latin typeface="Courier"/>
                <a:ea typeface="Courier"/>
                <a:cs typeface="Courier"/>
                <a:sym typeface="Courier"/>
              </a:rPr>
              <a:t>sum</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nums</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154</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00FF"/>
                </a:solidFill>
                <a:latin typeface="Courier"/>
                <a:ea typeface="Courier"/>
                <a:cs typeface="Courier"/>
                <a:sym typeface="Courier"/>
              </a:rPr>
              <a:t>sum</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nums</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nums</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25.6</a:t>
            </a:r>
            <a:endParaRPr/>
          </a:p>
          <a:p>
            <a:pPr indent="0" lvl="0" marL="0" rtl="0" algn="l">
              <a:spcBef>
                <a:spcPts val="0"/>
              </a:spcBef>
              <a:spcAft>
                <a:spcPts val="0"/>
              </a:spcAft>
              <a:buClr>
                <a:schemeClr val="dk1"/>
              </a:buClr>
              <a:buSzPts val="1100"/>
              <a:buFont typeface="Arial"/>
              <a:buNone/>
            </a:pPr>
            <a:r>
              <a:t/>
            </a:r>
            <a:endParaRPr/>
          </a:p>
        </p:txBody>
      </p:sp>
      <p:sp>
        <p:nvSpPr>
          <p:cNvPr id="145" name="Google Shape;14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We could write a Python program to compute the average of a list of numbers entered by the user using a list. We could simply remember each number as the user entered it and use built-in functions such as float, append, sum, len to compute the sum and count at the end as follows:</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ourier New"/>
              <a:buNone/>
            </a:pPr>
            <a:r>
              <a:rPr i="0" lang="en-US" sz="1100" u="none" cap="none" strike="noStrike">
                <a:solidFill>
                  <a:srgbClr val="00FF00"/>
                </a:solidFill>
                <a:latin typeface="Courier"/>
                <a:ea typeface="Courier"/>
                <a:cs typeface="Courier"/>
                <a:sym typeface="Courier"/>
              </a:rPr>
              <a:t>numlist = list()</a:t>
            </a:r>
            <a:endParaRPr/>
          </a:p>
          <a:p>
            <a:pPr indent="0" lvl="0" marL="0" marR="0" rtl="0" algn="l">
              <a:lnSpc>
                <a:spcPct val="100000"/>
              </a:lnSpc>
              <a:spcBef>
                <a:spcPts val="0"/>
              </a:spcBef>
              <a:spcAft>
                <a:spcPts val="0"/>
              </a:spcAft>
              <a:buClr>
                <a:srgbClr val="FFFFFF"/>
              </a:buClr>
              <a:buSzPts val="275"/>
              <a:buFont typeface="Courier New"/>
              <a:buNone/>
            </a:pPr>
            <a:r>
              <a:rPr i="0" lang="en-US" sz="1100" u="none" cap="none" strike="noStrike">
                <a:solidFill>
                  <a:srgbClr val="FFFFFF"/>
                </a:solidFill>
                <a:latin typeface="Courier"/>
                <a:ea typeface="Courier"/>
                <a:cs typeface="Courier"/>
                <a:sym typeface="Courier"/>
              </a:rPr>
              <a:t>while True :</a:t>
            </a:r>
            <a:endParaRPr/>
          </a:p>
          <a:p>
            <a:pPr indent="0" lvl="0" marL="0" marR="0" rtl="0" algn="l">
              <a:lnSpc>
                <a:spcPct val="100000"/>
              </a:lnSpc>
              <a:spcBef>
                <a:spcPts val="0"/>
              </a:spcBef>
              <a:spcAft>
                <a:spcPts val="0"/>
              </a:spcAft>
              <a:buClr>
                <a:srgbClr val="FFFFFF"/>
              </a:buClr>
              <a:buSzPts val="275"/>
              <a:buFont typeface="Courier New"/>
              <a:buNone/>
            </a:pPr>
            <a:r>
              <a:rPr i="0" lang="en-US" sz="1100" u="none" cap="none" strike="noStrike">
                <a:solidFill>
                  <a:srgbClr val="FFFFFF"/>
                </a:solidFill>
                <a:latin typeface="Courier"/>
                <a:ea typeface="Courier"/>
                <a:cs typeface="Courier"/>
                <a:sym typeface="Courier"/>
              </a:rPr>
              <a:t>    inp = input('Enter a number: ')</a:t>
            </a:r>
            <a:endParaRPr/>
          </a:p>
          <a:p>
            <a:pPr indent="0" lvl="0" marL="0" marR="0" rtl="0" algn="l">
              <a:lnSpc>
                <a:spcPct val="100000"/>
              </a:lnSpc>
              <a:spcBef>
                <a:spcPts val="0"/>
              </a:spcBef>
              <a:spcAft>
                <a:spcPts val="0"/>
              </a:spcAft>
              <a:buClr>
                <a:srgbClr val="FFFFFF"/>
              </a:buClr>
              <a:buSzPts val="275"/>
              <a:buFont typeface="Courier New"/>
              <a:buNone/>
            </a:pPr>
            <a:r>
              <a:rPr i="0" lang="en-US" sz="1100" u="none" cap="none" strike="noStrike">
                <a:solidFill>
                  <a:srgbClr val="FFFFFF"/>
                </a:solidFill>
                <a:latin typeface="Courier"/>
                <a:ea typeface="Courier"/>
                <a:cs typeface="Courier"/>
                <a:sym typeface="Courier"/>
              </a:rPr>
              <a:t>    if inp == 'done' : break</a:t>
            </a:r>
            <a:endParaRPr/>
          </a:p>
          <a:p>
            <a:pPr indent="0" lvl="0" marL="0" marR="0" rtl="0" algn="l">
              <a:lnSpc>
                <a:spcPct val="100000"/>
              </a:lnSpc>
              <a:spcBef>
                <a:spcPts val="0"/>
              </a:spcBef>
              <a:spcAft>
                <a:spcPts val="0"/>
              </a:spcAft>
              <a:buClr>
                <a:srgbClr val="FFFFFF"/>
              </a:buClr>
              <a:buSzPts val="275"/>
              <a:buFont typeface="Courier New"/>
              <a:buNone/>
            </a:pPr>
            <a:r>
              <a:rPr i="0" lang="en-US" sz="1100" u="none" cap="none" strike="noStrike">
                <a:solidFill>
                  <a:srgbClr val="FFFFFF"/>
                </a:solidFill>
                <a:latin typeface="Courier"/>
                <a:ea typeface="Courier"/>
                <a:cs typeface="Courier"/>
                <a:sym typeface="Courier"/>
              </a:rPr>
              <a:t>    value = float(inp)</a:t>
            </a:r>
            <a:endParaRPr/>
          </a:p>
          <a:p>
            <a:pPr indent="0" lvl="0" marL="0" marR="0" rtl="0" algn="l">
              <a:lnSpc>
                <a:spcPct val="100000"/>
              </a:lnSpc>
              <a:spcBef>
                <a:spcPts val="0"/>
              </a:spcBef>
              <a:spcAft>
                <a:spcPts val="0"/>
              </a:spcAft>
              <a:buClr>
                <a:srgbClr val="00FF00"/>
              </a:buClr>
              <a:buSzPts val="275"/>
              <a:buFont typeface="Courier New"/>
              <a:buNone/>
            </a:pPr>
            <a:r>
              <a:rPr i="0" lang="en-US" sz="1100" u="none" cap="none" strike="noStrike">
                <a:solidFill>
                  <a:srgbClr val="00FF00"/>
                </a:solidFill>
                <a:latin typeface="Courier"/>
                <a:ea typeface="Courier"/>
                <a:cs typeface="Courier"/>
                <a:sym typeface="Courier"/>
              </a:rPr>
              <a:t>    numlist.append(value)</a:t>
            </a:r>
            <a:endParaRPr/>
          </a:p>
          <a:p>
            <a:pPr indent="0" lvl="0" marL="0" marR="0" rtl="0" algn="ctr">
              <a:lnSpc>
                <a:spcPct val="100000"/>
              </a:lnSpc>
              <a:spcBef>
                <a:spcPts val="0"/>
              </a:spcBef>
              <a:spcAft>
                <a:spcPts val="0"/>
              </a:spcAft>
              <a:buClr>
                <a:schemeClr val="dk1"/>
              </a:buClr>
              <a:buSzPts val="1100"/>
              <a:buFont typeface="Arial"/>
              <a:buNone/>
            </a:pPr>
            <a:r>
              <a:t/>
            </a:r>
            <a:endParaRPr i="0" sz="1100" u="none" cap="none" strike="noStrike">
              <a:solidFill>
                <a:srgbClr val="FFFFFF"/>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275"/>
              <a:buFont typeface="Courier New"/>
              <a:buNone/>
            </a:pPr>
            <a:r>
              <a:rPr i="0" lang="en-US" sz="1100" u="none" cap="none" strike="noStrike">
                <a:solidFill>
                  <a:srgbClr val="00FF00"/>
                </a:solidFill>
                <a:latin typeface="Courier"/>
                <a:ea typeface="Courier"/>
                <a:cs typeface="Courier"/>
                <a:sym typeface="Courier"/>
              </a:rPr>
              <a:t>average = sum(numlist) / len(numlist)</a:t>
            </a:r>
            <a:endParaRPr/>
          </a:p>
          <a:p>
            <a:pPr indent="0" lvl="0" marL="0" marR="0" rtl="0" algn="l">
              <a:lnSpc>
                <a:spcPct val="100000"/>
              </a:lnSpc>
              <a:spcBef>
                <a:spcPts val="0"/>
              </a:spcBef>
              <a:spcAft>
                <a:spcPts val="0"/>
              </a:spcAft>
              <a:buClr>
                <a:srgbClr val="FFFFFF"/>
              </a:buClr>
              <a:buSzPts val="275"/>
              <a:buFont typeface="Courier New"/>
              <a:buNone/>
            </a:pPr>
            <a:r>
              <a:rPr i="0" lang="en-US" sz="1100" u="none" cap="none" strike="noStrike">
                <a:solidFill>
                  <a:srgbClr val="FFFFFF"/>
                </a:solidFill>
                <a:latin typeface="Courier"/>
                <a:ea typeface="Courier"/>
                <a:cs typeface="Courier"/>
                <a:sym typeface="Courier"/>
              </a:rPr>
              <a:t>print('Average:', average)</a:t>
            </a:r>
            <a:endParaRPr/>
          </a:p>
          <a:p>
            <a:pPr indent="0" lvl="0" marL="0" marR="0" rtl="0" algn="l">
              <a:lnSpc>
                <a:spcPct val="100000"/>
              </a:lnSpc>
              <a:spcBef>
                <a:spcPts val="0"/>
              </a:spcBef>
              <a:spcAft>
                <a:spcPts val="0"/>
              </a:spcAft>
              <a:buClr>
                <a:srgbClr val="FFFFFF"/>
              </a:buClr>
              <a:buSzPts val="275"/>
              <a:buFont typeface="Courier New"/>
              <a:buNone/>
            </a:pPr>
            <a:r>
              <a:t/>
            </a:r>
            <a:endParaRPr i="0" sz="1100" u="none" cap="none" strike="noStrike">
              <a:solidFill>
                <a:srgbClr val="FFFFFF"/>
              </a:solidFill>
              <a:latin typeface="Courier"/>
              <a:ea typeface="Courier"/>
              <a:cs typeface="Courier"/>
              <a:sym typeface="Courier"/>
            </a:endParaRPr>
          </a:p>
          <a:p>
            <a:pPr indent="0" lvl="0" marL="0" marR="0" rtl="0" algn="l">
              <a:lnSpc>
                <a:spcPct val="100000"/>
              </a:lnSpc>
              <a:spcBef>
                <a:spcPts val="0"/>
              </a:spcBef>
              <a:spcAft>
                <a:spcPts val="0"/>
              </a:spcAft>
              <a:buClr>
                <a:srgbClr val="FFFFFF"/>
              </a:buClr>
              <a:buSzPts val="275"/>
              <a:buFont typeface="Courier New"/>
              <a:buNone/>
            </a:pPr>
            <a:r>
              <a:rPr i="0" lang="en-US" sz="1100" u="none" cap="none" strike="noStrike">
                <a:solidFill>
                  <a:srgbClr val="FFFFFF"/>
                </a:solidFill>
                <a:latin typeface="Courier"/>
                <a:ea typeface="Courier"/>
                <a:cs typeface="Courier"/>
                <a:sym typeface="Courier"/>
              </a:rPr>
              <a:t>We make an empty list before the loop starts, and then each time we have a number, we append it to the list. At the end of the program, we simply compute the sum of the numbers in the list and divide it by the count of the numbers in the list to come up with the average. A sample run of the above Python code would be: </a:t>
            </a:r>
            <a:endParaRPr/>
          </a:p>
          <a:p>
            <a:pPr indent="0" lvl="0" marL="0" marR="0" rtl="0" algn="l">
              <a:lnSpc>
                <a:spcPct val="115000"/>
              </a:lnSpc>
              <a:spcBef>
                <a:spcPts val="0"/>
              </a:spcBef>
              <a:spcAft>
                <a:spcPts val="0"/>
              </a:spcAft>
              <a:buClr>
                <a:srgbClr val="FFFF00"/>
              </a:buClr>
              <a:buSzPts val="275"/>
              <a:buFont typeface="Cabin"/>
              <a:buNone/>
            </a:pPr>
            <a:r>
              <a:rPr lang="en-US" sz="1100" u="none" cap="none" strike="noStrike">
                <a:solidFill>
                  <a:srgbClr val="FFFF00"/>
                </a:solidFill>
                <a:latin typeface="Arial"/>
                <a:ea typeface="Arial"/>
                <a:cs typeface="Arial"/>
                <a:sym typeface="Arial"/>
              </a:rPr>
              <a:t>Enter a number: </a:t>
            </a:r>
            <a:r>
              <a:rPr lang="en-US" sz="1100" u="none" cap="none" strike="noStrike">
                <a:solidFill>
                  <a:srgbClr val="00FFFF"/>
                </a:solidFill>
                <a:latin typeface="Arial"/>
                <a:ea typeface="Arial"/>
                <a:cs typeface="Arial"/>
                <a:sym typeface="Arial"/>
              </a:rPr>
              <a:t>3</a:t>
            </a:r>
            <a:endParaRPr/>
          </a:p>
          <a:p>
            <a:pPr indent="0" lvl="0" marL="0" marR="0" rtl="0" algn="l">
              <a:lnSpc>
                <a:spcPct val="115000"/>
              </a:lnSpc>
              <a:spcBef>
                <a:spcPts val="0"/>
              </a:spcBef>
              <a:spcAft>
                <a:spcPts val="0"/>
              </a:spcAft>
              <a:buClr>
                <a:srgbClr val="FFFF00"/>
              </a:buClr>
              <a:buSzPts val="275"/>
              <a:buFont typeface="Cabin"/>
              <a:buNone/>
            </a:pPr>
            <a:r>
              <a:rPr lang="en-US" sz="1100" u="none" cap="none" strike="noStrike">
                <a:solidFill>
                  <a:srgbClr val="FFFF00"/>
                </a:solidFill>
                <a:latin typeface="Arial"/>
                <a:ea typeface="Arial"/>
                <a:cs typeface="Arial"/>
                <a:sym typeface="Arial"/>
              </a:rPr>
              <a:t>Enter a number: </a:t>
            </a:r>
            <a:r>
              <a:rPr lang="en-US" sz="1100" u="none" cap="none" strike="noStrike">
                <a:solidFill>
                  <a:srgbClr val="00FFFF"/>
                </a:solidFill>
                <a:latin typeface="Arial"/>
                <a:ea typeface="Arial"/>
                <a:cs typeface="Arial"/>
                <a:sym typeface="Arial"/>
              </a:rPr>
              <a:t>9</a:t>
            </a:r>
            <a:endParaRPr/>
          </a:p>
          <a:p>
            <a:pPr indent="0" lvl="0" marL="0" marR="0" rtl="0" algn="l">
              <a:lnSpc>
                <a:spcPct val="115000"/>
              </a:lnSpc>
              <a:spcBef>
                <a:spcPts val="0"/>
              </a:spcBef>
              <a:spcAft>
                <a:spcPts val="0"/>
              </a:spcAft>
              <a:buClr>
                <a:srgbClr val="FFFF00"/>
              </a:buClr>
              <a:buSzPts val="275"/>
              <a:buFont typeface="Cabin"/>
              <a:buNone/>
            </a:pPr>
            <a:r>
              <a:rPr lang="en-US" sz="1100" u="none" cap="none" strike="noStrike">
                <a:solidFill>
                  <a:srgbClr val="FFFF00"/>
                </a:solidFill>
                <a:latin typeface="Arial"/>
                <a:ea typeface="Arial"/>
                <a:cs typeface="Arial"/>
                <a:sym typeface="Arial"/>
              </a:rPr>
              <a:t>Enter a number: </a:t>
            </a:r>
            <a:r>
              <a:rPr lang="en-US" sz="1100" u="none" cap="none" strike="noStrike">
                <a:solidFill>
                  <a:srgbClr val="00FFFF"/>
                </a:solidFill>
                <a:latin typeface="Arial"/>
                <a:ea typeface="Arial"/>
                <a:cs typeface="Arial"/>
                <a:sym typeface="Arial"/>
              </a:rPr>
              <a:t>5</a:t>
            </a:r>
            <a:endParaRPr/>
          </a:p>
          <a:p>
            <a:pPr indent="0" lvl="0" marL="0" marR="0" rtl="0" algn="l">
              <a:lnSpc>
                <a:spcPct val="115000"/>
              </a:lnSpc>
              <a:spcBef>
                <a:spcPts val="0"/>
              </a:spcBef>
              <a:spcAft>
                <a:spcPts val="0"/>
              </a:spcAft>
              <a:buClr>
                <a:srgbClr val="FFFF00"/>
              </a:buClr>
              <a:buSzPts val="275"/>
              <a:buFont typeface="Cabin"/>
              <a:buNone/>
            </a:pPr>
            <a:r>
              <a:rPr lang="en-US" sz="1100" u="none" cap="none" strike="noStrike">
                <a:solidFill>
                  <a:srgbClr val="FFFF00"/>
                </a:solidFill>
                <a:latin typeface="Arial"/>
                <a:ea typeface="Arial"/>
                <a:cs typeface="Arial"/>
                <a:sym typeface="Arial"/>
              </a:rPr>
              <a:t>Enter a number: </a:t>
            </a:r>
            <a:r>
              <a:rPr lang="en-US" sz="1100" u="none" cap="none" strike="noStrike">
                <a:solidFill>
                  <a:srgbClr val="00FFFF"/>
                </a:solidFill>
                <a:latin typeface="Arial"/>
                <a:ea typeface="Arial"/>
                <a:cs typeface="Arial"/>
                <a:sym typeface="Arial"/>
              </a:rPr>
              <a:t>done</a:t>
            </a:r>
            <a:endParaRPr/>
          </a:p>
          <a:p>
            <a:pPr indent="0" lvl="0" marL="0" marR="0" rtl="0" algn="l">
              <a:lnSpc>
                <a:spcPct val="115000"/>
              </a:lnSpc>
              <a:spcBef>
                <a:spcPts val="0"/>
              </a:spcBef>
              <a:spcAft>
                <a:spcPts val="0"/>
              </a:spcAft>
              <a:buClr>
                <a:srgbClr val="FFFF00"/>
              </a:buClr>
              <a:buSzPts val="275"/>
              <a:buFont typeface="Cabin"/>
              <a:buNone/>
            </a:pPr>
            <a:r>
              <a:rPr lang="en-US" sz="1100" u="none" cap="none" strike="noStrike">
                <a:solidFill>
                  <a:srgbClr val="FFFF00"/>
                </a:solidFill>
                <a:latin typeface="Arial"/>
                <a:ea typeface="Arial"/>
                <a:cs typeface="Arial"/>
                <a:sym typeface="Arial"/>
              </a:rPr>
              <a:t>Average: 5.66666666667</a:t>
            </a:r>
            <a:endParaRPr/>
          </a:p>
          <a:p>
            <a:pPr indent="0" lvl="0" marL="0" marR="0" rtl="0" algn="l">
              <a:lnSpc>
                <a:spcPct val="100000"/>
              </a:lnSpc>
              <a:spcBef>
                <a:spcPts val="0"/>
              </a:spcBef>
              <a:spcAft>
                <a:spcPts val="0"/>
              </a:spcAft>
              <a:buClr>
                <a:srgbClr val="FFFFFF"/>
              </a:buClr>
              <a:buSzPts val="275"/>
              <a:buFont typeface="Courier New"/>
              <a:buNone/>
            </a:pPr>
            <a:r>
              <a:t/>
            </a:r>
            <a:endParaRPr i="0" sz="1100" u="none" cap="none" strike="noStrike">
              <a:solidFill>
                <a:srgbClr val="FFFFFF"/>
              </a:solidFill>
              <a:latin typeface="Courier"/>
              <a:ea typeface="Courier"/>
              <a:cs typeface="Courier"/>
              <a:sym typeface="Courier"/>
            </a:endParaRPr>
          </a:p>
          <a:p>
            <a:pPr indent="0" lvl="0" marL="0" marR="0" rtl="0" algn="l">
              <a:lnSpc>
                <a:spcPct val="100000"/>
              </a:lnSpc>
              <a:spcBef>
                <a:spcPts val="0"/>
              </a:spcBef>
              <a:spcAft>
                <a:spcPts val="0"/>
              </a:spcAft>
              <a:buClr>
                <a:srgbClr val="FFFFFF"/>
              </a:buClr>
              <a:buSzPts val="275"/>
              <a:buFont typeface="Courier New"/>
              <a:buNone/>
            </a:pPr>
            <a:r>
              <a:t/>
            </a:r>
            <a:endParaRPr i="0" sz="1100" u="none" cap="none" strike="noStrike">
              <a:solidFill>
                <a:srgbClr val="FFFFFF"/>
              </a:solidFill>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a:p>
        </p:txBody>
      </p:sp>
      <p:sp>
        <p:nvSpPr>
          <p:cNvPr id="152" name="Google Shape;15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If you want to break a string into words, you can use the split method. Once you have used split to break the string into a list of words, you can use the index operator (square bracket) to look at a particular word in the list. Also, you can use a for loop to loop through all the words in the list. For example,</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abc</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'With three words</a:t>
            </a:r>
            <a:r>
              <a:rPr lang="en-US" sz="1100">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stuff</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 abc</a:t>
            </a:r>
            <a:r>
              <a:rPr i="0" lang="en-US" sz="1100" u="none" cap="none" strike="noStrike">
                <a:solidFill>
                  <a:srgbClr val="FF00FF"/>
                </a:solidFill>
                <a:latin typeface="Courier"/>
                <a:ea typeface="Courier"/>
                <a:cs typeface="Courier"/>
                <a:sym typeface="Courier"/>
              </a:rPr>
              <a:t>.split</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stuff</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['With', 'three', 'words']</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stuff</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0</a:t>
            </a:r>
            <a:r>
              <a:rPr i="0" lang="en-US" sz="1100" u="none" cap="none" strike="noStrike">
                <a:solidFill>
                  <a:srgbClr val="00FFFF"/>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rgbClr val="00FF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With</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stuff </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None/>
            </a:pPr>
            <a:r>
              <a:rPr lang="en-US" sz="1100">
                <a:solidFill>
                  <a:srgbClr val="FFF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w</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With</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Three</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Words</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a:p>
        </p:txBody>
      </p:sp>
      <p:sp>
        <p:nvSpPr>
          <p:cNvPr id="158" name="Google Shape;15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It is important to note that you can call split with an optional argument called a delimiter that specifies which characters to use as word boundaries. </a:t>
            </a:r>
            <a:r>
              <a:rPr lang="en-US" sz="1100" u="none" cap="none" strike="noStrike">
                <a:solidFill>
                  <a:schemeClr val="lt1"/>
                </a:solidFill>
                <a:latin typeface="Arial"/>
                <a:ea typeface="Arial"/>
                <a:cs typeface="Arial"/>
                <a:sym typeface="Arial"/>
              </a:rPr>
              <a:t>When you do not specify a </a:t>
            </a:r>
            <a:r>
              <a:rPr lang="en-US" sz="1100" u="none" cap="none" strike="noStrike">
                <a:solidFill>
                  <a:srgbClr val="00FFFF"/>
                </a:solidFill>
                <a:latin typeface="Arial"/>
                <a:ea typeface="Arial"/>
                <a:cs typeface="Arial"/>
                <a:sym typeface="Arial"/>
              </a:rPr>
              <a:t>delimiter</a:t>
            </a:r>
            <a:r>
              <a:rPr lang="en-US" sz="1100" u="none" cap="none" strike="noStrike">
                <a:solidFill>
                  <a:schemeClr val="lt1"/>
                </a:solidFill>
                <a:latin typeface="Arial"/>
                <a:ea typeface="Arial"/>
                <a:cs typeface="Arial"/>
                <a:sym typeface="Arial"/>
              </a:rPr>
              <a:t>, multiple spaces are treated like</a:t>
            </a:r>
            <a:r>
              <a:rPr lang="en-US" sz="1100">
                <a:solidFill>
                  <a:schemeClr val="lt1"/>
                </a:solidFill>
                <a:latin typeface="Arial"/>
                <a:ea typeface="Arial"/>
                <a:cs typeface="Arial"/>
                <a:sym typeface="Arial"/>
              </a:rPr>
              <a:t> </a:t>
            </a:r>
            <a:r>
              <a:rPr lang="en-US" sz="1100" u="none" cap="none" strike="noStrike">
                <a:solidFill>
                  <a:schemeClr val="lt1"/>
                </a:solidFill>
                <a:latin typeface="Arial"/>
                <a:ea typeface="Arial"/>
                <a:cs typeface="Arial"/>
                <a:sym typeface="Arial"/>
              </a:rPr>
              <a:t>one delimiter. For example,</a:t>
            </a:r>
            <a:endParaRPr/>
          </a:p>
          <a:p>
            <a:pPr indent="0" lvl="0" marL="0" marR="0" rtl="0" algn="l">
              <a:lnSpc>
                <a:spcPct val="100000"/>
              </a:lnSpc>
              <a:spcBef>
                <a:spcPts val="0"/>
              </a:spcBef>
              <a:spcAft>
                <a:spcPts val="0"/>
              </a:spcAft>
              <a:buClr>
                <a:schemeClr val="lt1"/>
              </a:buClr>
              <a:buSzPts val="275"/>
              <a:buFont typeface="Cabin"/>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'A lot               of spaces</a:t>
            </a:r>
            <a:r>
              <a:rPr lang="en-US" sz="1100">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etc</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split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etc</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['A', 'lot', 'of', 'spaces']</a:t>
            </a:r>
            <a:endParaRPr/>
          </a:p>
          <a:p>
            <a:pPr indent="0" lvl="0" marL="0" marR="0" rtl="0" algn="l">
              <a:lnSpc>
                <a:spcPct val="100000"/>
              </a:lnSpc>
              <a:spcBef>
                <a:spcPts val="0"/>
              </a:spcBef>
              <a:spcAft>
                <a:spcPts val="0"/>
              </a:spcAft>
              <a:buClr>
                <a:schemeClr val="lt1"/>
              </a:buClr>
              <a:buSzPts val="275"/>
              <a:buFont typeface="Cabin"/>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You can specify what </a:t>
            </a:r>
            <a:r>
              <a:rPr lang="en-US" sz="1100" u="none" cap="none" strike="noStrike">
                <a:solidFill>
                  <a:srgbClr val="00FFFF"/>
                </a:solidFill>
                <a:latin typeface="Arial"/>
                <a:ea typeface="Arial"/>
                <a:cs typeface="Arial"/>
                <a:sym typeface="Arial"/>
              </a:rPr>
              <a:t>delimiter</a:t>
            </a:r>
            <a:r>
              <a:rPr lang="en-US" sz="1100" u="none" cap="none" strike="noStrike">
                <a:solidFill>
                  <a:schemeClr val="lt1"/>
                </a:solidFill>
                <a:latin typeface="Arial"/>
                <a:ea typeface="Arial"/>
                <a:cs typeface="Arial"/>
                <a:sym typeface="Arial"/>
              </a:rPr>
              <a:t> character to use in the </a:t>
            </a:r>
            <a:r>
              <a:rPr lang="en-US" sz="1100" u="none" cap="none" strike="noStrike">
                <a:solidFill>
                  <a:srgbClr val="FF00FF"/>
                </a:solidFill>
                <a:latin typeface="Arial"/>
                <a:ea typeface="Arial"/>
                <a:cs typeface="Arial"/>
                <a:sym typeface="Arial"/>
              </a:rPr>
              <a:t>splitting. The following example uses a semicolon as a delimiter:</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'first</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second</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third</a:t>
            </a:r>
            <a:r>
              <a:rPr lang="en-US" sz="1100">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thing</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 line</a:t>
            </a:r>
            <a:r>
              <a:rPr i="0" lang="en-US" sz="1100" u="none" cap="none" strike="noStrike">
                <a:solidFill>
                  <a:srgbClr val="FF00FF"/>
                </a:solidFill>
                <a:latin typeface="Courier"/>
                <a:ea typeface="Courier"/>
                <a:cs typeface="Courier"/>
                <a:sym typeface="Courier"/>
              </a:rPr>
              <a:t>.split</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thing</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['first;second;third']</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thing</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1</a:t>
            </a:r>
            <a:endParaRPr/>
          </a:p>
          <a:p>
            <a:pPr indent="0" lvl="0" marL="0" marR="0" rtl="0" algn="l">
              <a:lnSpc>
                <a:spcPct val="100000"/>
              </a:lnSpc>
              <a:spcBef>
                <a:spcPts val="0"/>
              </a:spcBef>
              <a:spcAft>
                <a:spcPts val="0"/>
              </a:spcAft>
              <a:buClr>
                <a:schemeClr val="lt1"/>
              </a:buClr>
              <a:buSzPts val="275"/>
              <a:buFont typeface="Courier New"/>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thing</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.split</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thing</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['first', 'second', 'third']</a:t>
            </a:r>
            <a:endParaRPr/>
          </a:p>
          <a:p>
            <a:pPr indent="0" lvl="0" marL="0" rtl="0" algn="l">
              <a:spcBef>
                <a:spcPts val="0"/>
              </a:spcBef>
              <a:spcAft>
                <a:spcPts val="0"/>
              </a:spcAft>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thing</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3</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a:p>
        </p:txBody>
      </p:sp>
      <p:sp>
        <p:nvSpPr>
          <p:cNvPr id="166" name="Google Shape;16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Usually when we are reading a file we want to do something to the lines other than just printing the whole line. Often we want to find the “interesting lines” and then parse the line to find some interesting part of the line. What if we wanted to print out the day of the week from those lines that start with “From”?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From stephen.marquard@uct.ac.za Sat Jan 5 09:14:16 2008</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split method is very effective when faced with this kind of problem. We can write a small program that looks for lines where the line starts with “From”, split those lines, and then print out the third word in the line:</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lang="en-US" sz="1100">
                <a:solidFill>
                  <a:srgbClr val="00F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('mbox-short.txt')</a:t>
            </a:r>
            <a:endParaRPr/>
          </a:p>
          <a:p>
            <a:pPr indent="0" lvl="0" marL="0" marR="0" rtl="0" algn="l">
              <a:lnSpc>
                <a:spcPct val="100000"/>
              </a:lnSpc>
              <a:spcBef>
                <a:spcPts val="0"/>
              </a:spcBef>
              <a:spcAft>
                <a:spcPts val="0"/>
              </a:spcAft>
              <a:buClr>
                <a:srgbClr val="FFFF00"/>
              </a:buClr>
              <a:buSzPts val="275"/>
              <a:buFont typeface="Cabin"/>
              <a:buNone/>
            </a:pPr>
            <a:r>
              <a:rPr lang="en-US" sz="1100">
                <a:solidFill>
                  <a:srgbClr val="FFF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.rstrip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 not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.startswith</a:t>
            </a:r>
            <a:r>
              <a:rPr i="0" lang="en-US" sz="1100" u="none" cap="none" strike="noStrike">
                <a:solidFill>
                  <a:schemeClr val="lt1"/>
                </a:solidFill>
                <a:latin typeface="Courier"/>
                <a:ea typeface="Courier"/>
                <a:cs typeface="Courier"/>
                <a:sym typeface="Courier"/>
              </a:rPr>
              <a:t>('From ') : </a:t>
            </a:r>
            <a:r>
              <a:rPr i="0" lang="en-US" sz="1100" u="none" cap="none" strike="noStrike">
                <a:solidFill>
                  <a:srgbClr val="FFFF00"/>
                </a:solidFill>
                <a:latin typeface="Courier"/>
                <a:ea typeface="Courier"/>
                <a:cs typeface="Courier"/>
                <a:sym typeface="Courier"/>
              </a:rPr>
              <a:t>continue</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.split</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words</a:t>
            </a:r>
            <a:r>
              <a:rPr i="0" lang="en-US" sz="1100" u="none" cap="none" strike="noStrike">
                <a:solidFill>
                  <a:srgbClr val="00FFFF"/>
                </a:solidFill>
                <a:latin typeface="Courier"/>
                <a:ea typeface="Courier"/>
                <a:cs typeface="Courier"/>
                <a:sym typeface="Courier"/>
              </a:rPr>
              <a:t>[2]</a:t>
            </a:r>
            <a:r>
              <a:rPr lang="en-US" sz="1100">
                <a:solidFill>
                  <a:srgbClr val="FFFF00"/>
                </a:solidFill>
                <a:latin typeface="Courier"/>
                <a:ea typeface="Courier"/>
                <a:cs typeface="Courier"/>
                <a:sym typeface="Courier"/>
              </a:rPr>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above Python program produces the following output:</a:t>
            </a:r>
            <a:endParaRPr/>
          </a:p>
          <a:p>
            <a:pPr indent="0" lvl="0" marL="0" marR="0" rtl="0" algn="l">
              <a:lnSpc>
                <a:spcPct val="115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Sat</a:t>
            </a:r>
            <a:endParaRPr/>
          </a:p>
          <a:p>
            <a:pPr indent="0" lvl="0" marL="0" marR="0" rtl="0" algn="l">
              <a:lnSpc>
                <a:spcPct val="115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Fri</a:t>
            </a:r>
            <a:endParaRPr/>
          </a:p>
          <a:p>
            <a:pPr indent="0" lvl="0" marL="0" marR="0" rtl="0" algn="l">
              <a:lnSpc>
                <a:spcPct val="115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Fri</a:t>
            </a:r>
            <a:endParaRPr/>
          </a:p>
          <a:p>
            <a:pPr indent="0" lvl="0" marL="0" marR="0" rtl="0" algn="l">
              <a:lnSpc>
                <a:spcPct val="115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Fri</a:t>
            </a:r>
            <a:endParaRPr/>
          </a:p>
          <a:p>
            <a:pPr indent="0" lvl="0" marL="0" marR="0" rtl="0" algn="l">
              <a:lnSpc>
                <a:spcPct val="115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 …</a:t>
            </a:r>
            <a:endParaRPr/>
          </a:p>
          <a:p>
            <a:pPr indent="0" lvl="0" marL="0" rtl="0" algn="l">
              <a:spcBef>
                <a:spcPts val="0"/>
              </a:spcBef>
              <a:spcAft>
                <a:spcPts val="0"/>
              </a:spcAft>
              <a:buClr>
                <a:schemeClr val="dk1"/>
              </a:buClr>
              <a:buSzPts val="1100"/>
              <a:buFont typeface="Arial"/>
              <a:buNone/>
            </a:pPr>
            <a:r>
              <a:t/>
            </a:r>
            <a:endParaRPr/>
          </a:p>
        </p:txBody>
      </p:sp>
      <p:sp>
        <p:nvSpPr>
          <p:cNvPr id="172" name="Google Shape;17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Arial"/>
              <a:buNone/>
            </a:pPr>
            <a:r>
              <a:rPr lang="en-US" sz="1100" u="none" cap="none" strike="noStrike">
                <a:solidFill>
                  <a:schemeClr val="lt1"/>
                </a:solidFill>
                <a:latin typeface="Arial"/>
                <a:ea typeface="Arial"/>
                <a:cs typeface="Arial"/>
                <a:sym typeface="Arial"/>
              </a:rPr>
              <a:t>Sometimes we split a line one way, and then grab one of the pieces of the line and split that piece again. For example, consider the following Python code:</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100"/>
              <a:buFont typeface="Arial"/>
              <a:buNone/>
            </a:pPr>
            <a:r>
              <a:rPr lang="en-US" sz="1100" u="none" cap="none" strike="noStrike">
                <a:solidFill>
                  <a:schemeClr val="lt1"/>
                </a:solidFill>
                <a:latin typeface="Arial"/>
                <a:ea typeface="Arial"/>
                <a:cs typeface="Arial"/>
                <a:sym typeface="Arial"/>
              </a:rPr>
              <a:t>line = ‘</a:t>
            </a:r>
            <a:r>
              <a:rPr i="0" lang="en-US" sz="1100" u="none" cap="none" strike="noStrike">
                <a:solidFill>
                  <a:srgbClr val="FF7F00"/>
                </a:solidFill>
                <a:latin typeface="Courier"/>
                <a:ea typeface="Courier"/>
                <a:cs typeface="Courier"/>
                <a:sym typeface="Courier"/>
              </a:rPr>
              <a:t>From </a:t>
            </a:r>
            <a:r>
              <a:rPr b="1" i="0" lang="en-US" sz="1100" u="none" cap="none" strike="noStrike">
                <a:solidFill>
                  <a:srgbClr val="FF7F00"/>
                </a:solidFill>
                <a:latin typeface="Courier"/>
                <a:ea typeface="Courier"/>
                <a:cs typeface="Courier"/>
                <a:sym typeface="Courier"/>
              </a:rPr>
              <a:t>stephen.marquard@</a:t>
            </a:r>
            <a:r>
              <a:rPr b="1" i="0" lang="en-US" sz="1100" u="none" cap="none" strike="noStrike">
                <a:solidFill>
                  <a:srgbClr val="FFFF00"/>
                </a:solidFill>
                <a:latin typeface="Courier"/>
                <a:ea typeface="Courier"/>
                <a:cs typeface="Courier"/>
                <a:sym typeface="Courier"/>
              </a:rPr>
              <a:t>uct.ac.za</a:t>
            </a:r>
            <a:r>
              <a:rPr i="0" lang="en-US" sz="1100" u="none" cap="none" strike="noStrike">
                <a:solidFill>
                  <a:srgbClr val="FF7F00"/>
                </a:solidFill>
                <a:latin typeface="Courier"/>
                <a:ea typeface="Courier"/>
                <a:cs typeface="Courier"/>
                <a:sym typeface="Courier"/>
              </a:rPr>
              <a:t> Sat Jan  5 09:14:16 2008’</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words = </a:t>
            </a:r>
            <a:r>
              <a:rPr i="0" lang="en-US" sz="1100" u="none" cap="none" strike="noStrike">
                <a:solidFill>
                  <a:srgbClr val="FF7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.split()</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email</a:t>
            </a:r>
            <a:r>
              <a:rPr i="0" lang="en-US" sz="1100" u="none" cap="none" strike="noStrike">
                <a:solidFill>
                  <a:schemeClr val="lt1"/>
                </a:solidFill>
                <a:latin typeface="Courier"/>
                <a:ea typeface="Courier"/>
                <a:cs typeface="Courier"/>
                <a:sym typeface="Courier"/>
              </a:rPr>
              <a:t> = words[1]</a:t>
            </a:r>
            <a:endParaRPr/>
          </a:p>
          <a:p>
            <a:pPr indent="0" lvl="0" marL="0" marR="0" rtl="0" algn="l">
              <a:lnSpc>
                <a:spcPct val="100000"/>
              </a:lnSpc>
              <a:spcBef>
                <a:spcPts val="0"/>
              </a:spcBef>
              <a:spcAft>
                <a:spcPts val="0"/>
              </a:spcAft>
              <a:buClr>
                <a:srgbClr val="FF00FF"/>
              </a:buClr>
              <a:buSzPts val="275"/>
              <a:buFont typeface="Cabin"/>
              <a:buNone/>
            </a:pPr>
            <a:r>
              <a:rPr lang="en-US" sz="1100">
                <a:solidFill>
                  <a:srgbClr val="FFFF00"/>
                </a:solidFill>
                <a:latin typeface="Courier"/>
                <a:ea typeface="Courier"/>
                <a:cs typeface="Courier"/>
                <a:sym typeface="Courier"/>
              </a:rPr>
              <a:t>pieces</a:t>
            </a:r>
            <a:r>
              <a:rPr lang="en-US" sz="1100">
                <a:solidFill>
                  <a:schemeClr val="lt1"/>
                </a:solidFill>
                <a:latin typeface="Courier"/>
                <a:ea typeface="Courier"/>
                <a:cs typeface="Courier"/>
                <a:sym typeface="Courier"/>
              </a:rPr>
              <a:t> = email.split('@')</a:t>
            </a:r>
            <a:endParaRPr/>
          </a:p>
          <a:p>
            <a:pPr indent="0" lvl="0" marL="0" marR="0" rtl="0" algn="l">
              <a:lnSpc>
                <a:spcPct val="100000"/>
              </a:lnSpc>
              <a:spcBef>
                <a:spcPts val="0"/>
              </a:spcBef>
              <a:spcAft>
                <a:spcPts val="0"/>
              </a:spcAft>
              <a:buClr>
                <a:srgbClr val="FF00FF"/>
              </a:buClr>
              <a:buSzPts val="275"/>
              <a:buFont typeface="Cabin"/>
              <a:buNone/>
            </a:pPr>
            <a:r>
              <a:rPr lang="en-US" sz="1100">
                <a:solidFill>
                  <a:schemeClr val="lt1"/>
                </a:solidFill>
                <a:latin typeface="Courier"/>
                <a:ea typeface="Courier"/>
                <a:cs typeface="Courier"/>
                <a:sym typeface="Courier"/>
              </a:rPr>
              <a:t>print(</a:t>
            </a:r>
            <a:r>
              <a:rPr lang="en-US" sz="1100">
                <a:solidFill>
                  <a:srgbClr val="00FF00"/>
                </a:solidFill>
                <a:latin typeface="Courier"/>
                <a:ea typeface="Courier"/>
                <a:cs typeface="Courier"/>
                <a:sym typeface="Courier"/>
              </a:rPr>
              <a:t>pieces[1]</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00FF00"/>
                </a:solidFill>
                <a:latin typeface="Courier"/>
                <a:ea typeface="Courier"/>
                <a:cs typeface="Courier"/>
                <a:sym typeface="Courier"/>
              </a:rPr>
              <a:t>uct.ac.za</a:t>
            </a:r>
            <a:endParaRPr sz="1100">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100"/>
              <a:buFont typeface="Arial"/>
              <a:buNone/>
            </a:pPr>
            <a:r>
              <a:rPr lang="en-US" sz="1100" u="none" cap="none" strike="noStrike">
                <a:solidFill>
                  <a:schemeClr val="lt1"/>
                </a:solidFill>
                <a:latin typeface="Arial"/>
                <a:ea typeface="Arial"/>
                <a:cs typeface="Arial"/>
                <a:sym typeface="Arial"/>
              </a:rPr>
              <a:t>We first split it and store the words as a list in words. We then access a member of this list at index value of 1 using bracket operator, which corresponds to the email address. Next, we split the email address portion by delimiter ‘@’ to create a new list called pieces with members as the user-name and domain-name.</a:t>
            </a:r>
            <a:endParaRPr sz="1100" u="none" cap="none" strike="noStrike">
              <a:solidFill>
                <a:schemeClr val="lt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p>
        </p:txBody>
      </p:sp>
      <p:sp>
        <p:nvSpPr>
          <p:cNvPr id="180" name="Google Shape;18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
        <p:nvSpPr>
          <p:cNvPr id="190" name="Google Shape;19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2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Title" type="obj">
  <p:cSld name="OBJECT">
    <p:spTree>
      <p:nvGrpSpPr>
        <p:cNvPr id="10" name="Shape 10"/>
        <p:cNvGrpSpPr/>
        <p:nvPr/>
      </p:nvGrpSpPr>
      <p:grpSpPr>
        <a:xfrm>
          <a:off x="0" y="0"/>
          <a:ext cx="0" cy="0"/>
          <a:chOff x="0" y="0"/>
          <a:chExt cx="0" cy="0"/>
        </a:xfrm>
      </p:grpSpPr>
      <p:sp>
        <p:nvSpPr>
          <p:cNvPr id="11" name="Google Shape;11;p2"/>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 name="Google Shape;12;p2"/>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0"/>
              </a:spcBef>
              <a:spcAft>
                <a:spcPts val="0"/>
              </a:spcAft>
              <a:buClr>
                <a:srgbClr val="000000"/>
              </a:buClr>
              <a:buSzPts val="1400"/>
              <a:buFont typeface="Arial"/>
              <a:buNone/>
              <a:defRPr/>
            </a:lvl1pPr>
            <a:lvl2pPr indent="-228600" lvl="1" marL="914400" algn="ctr">
              <a:lnSpc>
                <a:spcPct val="100000"/>
              </a:lnSpc>
              <a:spcBef>
                <a:spcPts val="0"/>
              </a:spcBef>
              <a:spcAft>
                <a:spcPts val="0"/>
              </a:spcAft>
              <a:buClr>
                <a:srgbClr val="000000"/>
              </a:buClr>
              <a:buSzPts val="1400"/>
              <a:buFont typeface="Arial"/>
              <a:buNone/>
              <a:defRPr/>
            </a:lvl2pPr>
            <a:lvl3pPr indent="-228600" lvl="2" marL="1371600" algn="ctr">
              <a:lnSpc>
                <a:spcPct val="100000"/>
              </a:lnSpc>
              <a:spcBef>
                <a:spcPts val="0"/>
              </a:spcBef>
              <a:spcAft>
                <a:spcPts val="0"/>
              </a:spcAft>
              <a:buClr>
                <a:srgbClr val="000000"/>
              </a:buClr>
              <a:buSzPts val="1400"/>
              <a:buFont typeface="Arial"/>
              <a:buNone/>
              <a:defRPr/>
            </a:lvl3pPr>
            <a:lvl4pPr indent="-228600" lvl="3" marL="1828800" algn="ctr">
              <a:lnSpc>
                <a:spcPct val="100000"/>
              </a:lnSpc>
              <a:spcBef>
                <a:spcPts val="0"/>
              </a:spcBef>
              <a:spcAft>
                <a:spcPts val="0"/>
              </a:spcAft>
              <a:buClr>
                <a:srgbClr val="000000"/>
              </a:buClr>
              <a:buSzPts val="1400"/>
              <a:buFont typeface="Arial"/>
              <a:buNone/>
              <a:defRPr/>
            </a:lvl4pPr>
            <a:lvl5pPr indent="-228600" lvl="4" marL="2286000" algn="ctr">
              <a:lnSpc>
                <a:spcPct val="100000"/>
              </a:lnSpc>
              <a:spcBef>
                <a:spcPts val="0"/>
              </a:spcBef>
              <a:spcAft>
                <a:spcPts val="0"/>
              </a:spcAft>
              <a:buClr>
                <a:srgbClr val="000000"/>
              </a:buClr>
              <a:buSzPts val="1400"/>
              <a:buFont typeface="Arial"/>
              <a:buNone/>
              <a:defRPr/>
            </a:lvl5pPr>
            <a:lvl6pPr indent="-228600" lvl="5" marL="2743200" algn="ctr">
              <a:lnSpc>
                <a:spcPct val="100000"/>
              </a:lnSpc>
              <a:spcBef>
                <a:spcPts val="0"/>
              </a:spcBef>
              <a:spcAft>
                <a:spcPts val="0"/>
              </a:spcAft>
              <a:buClr>
                <a:srgbClr val="000000"/>
              </a:buClr>
              <a:buSzPts val="1400"/>
              <a:buFont typeface="Arial"/>
              <a:buNone/>
              <a:defRPr/>
            </a:lvl6pPr>
            <a:lvl7pPr indent="-228600" lvl="6" marL="3200400" algn="ctr">
              <a:lnSpc>
                <a:spcPct val="100000"/>
              </a:lnSpc>
              <a:spcBef>
                <a:spcPts val="0"/>
              </a:spcBef>
              <a:spcAft>
                <a:spcPts val="0"/>
              </a:spcAft>
              <a:buClr>
                <a:srgbClr val="000000"/>
              </a:buClr>
              <a:buSzPts val="1400"/>
              <a:buFont typeface="Arial"/>
              <a:buNone/>
              <a:defRPr/>
            </a:lvl7pPr>
            <a:lvl8pPr indent="-228600" lvl="7" marL="3657600" algn="ctr">
              <a:lnSpc>
                <a:spcPct val="100000"/>
              </a:lnSpc>
              <a:spcBef>
                <a:spcPts val="0"/>
              </a:spcBef>
              <a:spcAft>
                <a:spcPts val="0"/>
              </a:spcAft>
              <a:buClr>
                <a:srgbClr val="000000"/>
              </a:buClr>
              <a:buSzPts val="1400"/>
              <a:buFont typeface="Arial"/>
              <a:buNone/>
              <a:defRPr/>
            </a:lvl8pPr>
            <a:lvl9pPr indent="-228600" lvl="8" marL="4114800" algn="ctr">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sp>
        <p:nvSpPr>
          <p:cNvPr id="14" name="Google Shape;14;p3"/>
          <p:cNvSpPr txBox="1"/>
          <p:nvPr>
            <p:ph type="title"/>
          </p:nvPr>
        </p:nvSpPr>
        <p:spPr>
          <a:xfrm>
            <a:off x="1155700" y="789709"/>
            <a:ext cx="13931900" cy="175029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 name="Google Shape;15;p3"/>
          <p:cNvSpPr txBox="1"/>
          <p:nvPr>
            <p:ph idx="1" type="body"/>
          </p:nvPr>
        </p:nvSpPr>
        <p:spPr>
          <a:xfrm>
            <a:off x="1155700" y="2603500"/>
            <a:ext cx="13931900" cy="5702299"/>
          </a:xfrm>
          <a:prstGeom prst="rect">
            <a:avLst/>
          </a:prstGeom>
          <a:noFill/>
          <a:ln>
            <a:noFill/>
          </a:ln>
        </p:spPr>
        <p:txBody>
          <a:bodyPr anchorCtr="0" anchor="t" bIns="91425" lIns="91425" spcFirstLastPara="1" rIns="91425" wrap="square" tIns="91425">
            <a:noAutofit/>
          </a:bodyPr>
          <a:lstStyle>
            <a:lvl1pPr indent="-431800" lvl="0" marL="457200" algn="l">
              <a:lnSpc>
                <a:spcPct val="100000"/>
              </a:lnSpc>
              <a:spcBef>
                <a:spcPts val="3500"/>
              </a:spcBef>
              <a:spcAft>
                <a:spcPts val="0"/>
              </a:spcAft>
              <a:buClr>
                <a:schemeClr val="lt1"/>
              </a:buClr>
              <a:buSzPts val="3200"/>
              <a:buFont typeface="Cabin"/>
              <a:buChar char="•"/>
              <a:defRPr sz="3200"/>
            </a:lvl1pPr>
            <a:lvl2pPr indent="-317500" lvl="1" marL="914400" algn="l">
              <a:lnSpc>
                <a:spcPct val="100000"/>
              </a:lnSpc>
              <a:spcBef>
                <a:spcPts val="3500"/>
              </a:spcBef>
              <a:spcAft>
                <a:spcPts val="0"/>
              </a:spcAft>
              <a:buClr>
                <a:schemeClr val="lt1"/>
              </a:buClr>
              <a:buSzPts val="1400"/>
              <a:buFont typeface="Cabin"/>
              <a:buChar char="•"/>
              <a:defRPr/>
            </a:lvl2pPr>
            <a:lvl3pPr indent="-317500" lvl="2" marL="1371600" algn="l">
              <a:lnSpc>
                <a:spcPct val="100000"/>
              </a:lnSpc>
              <a:spcBef>
                <a:spcPts val="3500"/>
              </a:spcBef>
              <a:spcAft>
                <a:spcPts val="0"/>
              </a:spcAft>
              <a:buClr>
                <a:schemeClr val="lt1"/>
              </a:buClr>
              <a:buSzPts val="1400"/>
              <a:buFont typeface="Cabin"/>
              <a:buChar char="•"/>
              <a:defRPr/>
            </a:lvl3pPr>
            <a:lvl4pPr indent="-317500" lvl="3" marL="1828800" algn="l">
              <a:lnSpc>
                <a:spcPct val="100000"/>
              </a:lnSpc>
              <a:spcBef>
                <a:spcPts val="3500"/>
              </a:spcBef>
              <a:spcAft>
                <a:spcPts val="0"/>
              </a:spcAft>
              <a:buClr>
                <a:schemeClr val="lt1"/>
              </a:buClr>
              <a:buSzPts val="1400"/>
              <a:buFont typeface="Cabin"/>
              <a:buChar char="•"/>
              <a:defRPr/>
            </a:lvl4pPr>
            <a:lvl5pPr indent="-317500" lvl="4" marL="2286000" algn="l">
              <a:lnSpc>
                <a:spcPct val="100000"/>
              </a:lnSpc>
              <a:spcBef>
                <a:spcPts val="3500"/>
              </a:spcBef>
              <a:spcAft>
                <a:spcPts val="0"/>
              </a:spcAft>
              <a:buClr>
                <a:schemeClr val="lt1"/>
              </a:buClr>
              <a:buSzPts val="1400"/>
              <a:buFont typeface="Cabin"/>
              <a:buChar char="•"/>
              <a:defRPr/>
            </a:lvl5pPr>
            <a:lvl6pPr indent="-317500" lvl="5" marL="2743200" algn="l">
              <a:lnSpc>
                <a:spcPct val="100000"/>
              </a:lnSpc>
              <a:spcBef>
                <a:spcPts val="3500"/>
              </a:spcBef>
              <a:spcAft>
                <a:spcPts val="0"/>
              </a:spcAft>
              <a:buClr>
                <a:schemeClr val="lt1"/>
              </a:buClr>
              <a:buSzPts val="1400"/>
              <a:buFont typeface="Cabin"/>
              <a:buChar char="•"/>
              <a:defRPr/>
            </a:lvl6pPr>
            <a:lvl7pPr indent="-317500" lvl="6" marL="3200400" algn="l">
              <a:lnSpc>
                <a:spcPct val="100000"/>
              </a:lnSpc>
              <a:spcBef>
                <a:spcPts val="3500"/>
              </a:spcBef>
              <a:spcAft>
                <a:spcPts val="0"/>
              </a:spcAft>
              <a:buClr>
                <a:schemeClr val="lt1"/>
              </a:buClr>
              <a:buSzPts val="1400"/>
              <a:buFont typeface="Cabin"/>
              <a:buChar char="•"/>
              <a:defRPr/>
            </a:lvl7pPr>
            <a:lvl8pPr indent="-317500" lvl="7" marL="3657600" algn="l">
              <a:lnSpc>
                <a:spcPct val="100000"/>
              </a:lnSpc>
              <a:spcBef>
                <a:spcPts val="3500"/>
              </a:spcBef>
              <a:spcAft>
                <a:spcPts val="0"/>
              </a:spcAft>
              <a:buClr>
                <a:schemeClr val="lt1"/>
              </a:buClr>
              <a:buSzPts val="1400"/>
              <a:buFont typeface="Cabin"/>
              <a:buChar char="•"/>
              <a:defRPr/>
            </a:lvl8pPr>
            <a:lvl9pPr indent="-317500" lvl="8" marL="4114800" algn="l">
              <a:lnSpc>
                <a:spcPct val="100000"/>
              </a:lnSpc>
              <a:spcBef>
                <a:spcPts val="3500"/>
              </a:spcBef>
              <a:spcAft>
                <a:spcPts val="0"/>
              </a:spcAft>
              <a:buClr>
                <a:schemeClr val="lt1"/>
              </a:buClr>
              <a:buSzPts val="1400"/>
              <a:buFont typeface="Cabin"/>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6" name="Shape 16"/>
        <p:cNvGrpSpPr/>
        <p:nvPr/>
      </p:nvGrpSpPr>
      <p:grpSpPr>
        <a:xfrm>
          <a:off x="0" y="0"/>
          <a:ext cx="0" cy="0"/>
          <a:chOff x="0" y="0"/>
          <a:chExt cx="0" cy="0"/>
        </a:xfrm>
      </p:grpSpPr>
      <p:sp>
        <p:nvSpPr>
          <p:cNvPr id="17" name="Google Shape;17;p4"/>
          <p:cNvSpPr txBox="1"/>
          <p:nvPr>
            <p:ph type="title"/>
          </p:nvPr>
        </p:nvSpPr>
        <p:spPr>
          <a:xfrm>
            <a:off x="1155700" y="789709"/>
            <a:ext cx="13931900" cy="175029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sz="1800"/>
            </a:lvl2pPr>
            <a:lvl3pPr lvl="2" marR="0" rtl="0" algn="ctr">
              <a:spcBef>
                <a:spcPts val="0"/>
              </a:spcBef>
              <a:spcAft>
                <a:spcPts val="0"/>
              </a:spcAft>
              <a:buSzPts val="1400"/>
              <a:buNone/>
              <a:defRPr sz="1800"/>
            </a:lvl3pPr>
            <a:lvl4pPr lvl="3" marR="0" rtl="0" algn="ctr">
              <a:spcBef>
                <a:spcPts val="0"/>
              </a:spcBef>
              <a:spcAft>
                <a:spcPts val="0"/>
              </a:spcAft>
              <a:buSzPts val="1400"/>
              <a:buNone/>
              <a:defRPr sz="1800"/>
            </a:lvl4pPr>
            <a:lvl5pPr lvl="4" marR="0" rtl="0" algn="ctr">
              <a:spcBef>
                <a:spcPts val="0"/>
              </a:spcBef>
              <a:spcAft>
                <a:spcPts val="0"/>
              </a:spcAft>
              <a:buSzPts val="1400"/>
              <a:buNone/>
              <a:defRPr sz="1800"/>
            </a:lvl5pPr>
            <a:lvl6pPr lvl="5" marR="0" rtl="0" algn="ctr">
              <a:spcBef>
                <a:spcPts val="0"/>
              </a:spcBef>
              <a:spcAft>
                <a:spcPts val="0"/>
              </a:spcAft>
              <a:buSzPts val="1400"/>
              <a:buNone/>
              <a:defRPr sz="1800"/>
            </a:lvl6pPr>
            <a:lvl7pPr lvl="6" marR="0" rtl="0" algn="ctr">
              <a:spcBef>
                <a:spcPts val="0"/>
              </a:spcBef>
              <a:spcAft>
                <a:spcPts val="0"/>
              </a:spcAft>
              <a:buSzPts val="1400"/>
              <a:buNone/>
              <a:defRPr sz="1800"/>
            </a:lvl7pPr>
            <a:lvl8pPr lvl="7" marR="0" rtl="0" algn="ctr">
              <a:spcBef>
                <a:spcPts val="0"/>
              </a:spcBef>
              <a:spcAft>
                <a:spcPts val="0"/>
              </a:spcAft>
              <a:buSzPts val="1400"/>
              <a:buNone/>
              <a:defRPr sz="1800"/>
            </a:lvl8pPr>
            <a:lvl9pPr lvl="8" marR="0" rtl="0" algn="ctr">
              <a:spcBef>
                <a:spcPts val="0"/>
              </a:spcBef>
              <a:spcAft>
                <a:spcPts val="0"/>
              </a:spcAft>
              <a:buSzPts val="1400"/>
              <a:buNone/>
              <a:defRPr sz="1800"/>
            </a:lvl9pPr>
          </a:lstStyle>
          <a:p/>
        </p:txBody>
      </p:sp>
      <p:sp>
        <p:nvSpPr>
          <p:cNvPr id="7" name="Google Shape;7;p1"/>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1"/>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9" name="Google Shape;9;p1"/>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docs.python.org/tutorial/datastructure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hyperlink" Target="http://www.dr-chuck.com" TargetMode="External"/><Relationship Id="rId4" Type="http://schemas.openxmlformats.org/officeDocument/2006/relationships/hyperlink" Target="http://open.umich.edu/" TargetMode="External"/><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6"/>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Python Lists</a:t>
            </a:r>
            <a:endParaRPr/>
          </a:p>
        </p:txBody>
      </p:sp>
      <p:sp>
        <p:nvSpPr>
          <p:cNvPr id="24" name="Google Shape;24;p6"/>
          <p:cNvSpPr txBox="1"/>
          <p:nvPr>
            <p:ph idx="1" type="body"/>
          </p:nvPr>
        </p:nvSpPr>
        <p:spPr>
          <a:xfrm>
            <a:off x="1155700" y="4711700"/>
            <a:ext cx="13931900" cy="1054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chemeClr val="lt1"/>
                </a:solidFill>
                <a:latin typeface="Arial"/>
                <a:ea typeface="Arial"/>
                <a:cs typeface="Arial"/>
                <a:sym typeface="Arial"/>
              </a:rPr>
              <a:t>Chapter 8</a:t>
            </a:r>
            <a:endParaRPr/>
          </a:p>
        </p:txBody>
      </p:sp>
      <p:sp>
        <p:nvSpPr>
          <p:cNvPr id="25" name="Google Shape;25;p6"/>
          <p:cNvSpPr txBox="1"/>
          <p:nvPr/>
        </p:nvSpPr>
        <p:spPr>
          <a:xfrm>
            <a:off x="3804600" y="6415089"/>
            <a:ext cx="7987499" cy="15606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b="0" i="0" sz="3200" u="none" cap="none" strike="noStrike">
              <a:solidFill>
                <a:srgbClr val="FFFF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www.py4e.com</a:t>
            </a:r>
            <a:endParaRPr b="0" i="0" sz="3200" u="none" cap="none" strike="noStrike">
              <a:solidFill>
                <a:srgbClr val="FFFF00"/>
              </a:solidFill>
              <a:latin typeface="Arial"/>
              <a:ea typeface="Arial"/>
              <a:cs typeface="Arial"/>
              <a:sym typeface="Arial"/>
            </a:endParaRPr>
          </a:p>
        </p:txBody>
      </p:sp>
      <p:pic>
        <p:nvPicPr>
          <p:cNvPr id="26" name="Google Shape;26;p6"/>
          <p:cNvPicPr preferRelativeResize="0"/>
          <p:nvPr/>
        </p:nvPicPr>
        <p:blipFill rotWithShape="1">
          <a:blip r:embed="rId3">
            <a:alphaModFix/>
          </a:blip>
          <a:srcRect b="0" l="0" r="0" t="0"/>
          <a:stretch/>
        </p:blipFill>
        <p:spPr>
          <a:xfrm>
            <a:off x="13587413" y="7318368"/>
            <a:ext cx="1968599" cy="66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7"/>
          <p:cNvSpPr txBox="1"/>
          <p:nvPr>
            <p:ph type="title"/>
          </p:nvPr>
        </p:nvSpPr>
        <p:spPr>
          <a:xfrm>
            <a:off x="1155700" y="789709"/>
            <a:ext cx="11688763"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850"/>
              <a:buFont typeface="Cabin"/>
              <a:buNone/>
            </a:pPr>
            <a:r>
              <a:rPr lang="en-US" sz="7400" u="none" cap="none" strike="noStrike">
                <a:solidFill>
                  <a:srgbClr val="FFD966"/>
                </a:solidFill>
                <a:latin typeface="Arial"/>
                <a:ea typeface="Arial"/>
                <a:cs typeface="Arial"/>
                <a:sym typeface="Arial"/>
              </a:rPr>
              <a:t>A List is a Kind of Collection</a:t>
            </a:r>
            <a:endParaRPr/>
          </a:p>
        </p:txBody>
      </p:sp>
      <p:sp>
        <p:nvSpPr>
          <p:cNvPr id="32" name="Google Shape;32;p7"/>
          <p:cNvSpPr txBox="1"/>
          <p:nvPr>
            <p:ph idx="1" type="body"/>
          </p:nvPr>
        </p:nvSpPr>
        <p:spPr>
          <a:xfrm>
            <a:off x="1155700" y="2603501"/>
            <a:ext cx="13931900" cy="3525838"/>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A </a:t>
            </a:r>
            <a:r>
              <a:rPr lang="en-US" sz="3600" u="none" cap="none" strike="noStrike">
                <a:solidFill>
                  <a:srgbClr val="FF00FF"/>
                </a:solidFill>
                <a:latin typeface="Arial"/>
                <a:ea typeface="Arial"/>
                <a:cs typeface="Arial"/>
                <a:sym typeface="Arial"/>
              </a:rPr>
              <a:t>collection</a:t>
            </a:r>
            <a:r>
              <a:rPr lang="en-US" sz="3600" u="none" cap="none" strike="noStrike">
                <a:solidFill>
                  <a:schemeClr val="lt1"/>
                </a:solidFill>
                <a:latin typeface="Arial"/>
                <a:ea typeface="Arial"/>
                <a:cs typeface="Arial"/>
                <a:sym typeface="Arial"/>
              </a:rPr>
              <a:t> allows us to put many values in a single </a:t>
            </a:r>
            <a:r>
              <a:rPr b="0" i="0" lang="en-US" sz="3600" u="none" cap="none" strike="noStrike">
                <a:solidFill>
                  <a:schemeClr val="lt1"/>
                </a:solidFill>
                <a:latin typeface="Arial"/>
                <a:ea typeface="Arial"/>
                <a:cs typeface="Arial"/>
                <a:sym typeface="Arial"/>
              </a:rPr>
              <a:t>“</a:t>
            </a:r>
            <a:r>
              <a:rPr lang="en-US" sz="3600" u="none" cap="none" strike="noStrike">
                <a:solidFill>
                  <a:srgbClr val="00FF00"/>
                </a:solidFill>
                <a:latin typeface="Arial"/>
                <a:ea typeface="Arial"/>
                <a:cs typeface="Arial"/>
                <a:sym typeface="Arial"/>
              </a:rPr>
              <a:t>variable</a:t>
            </a:r>
            <a:r>
              <a:rPr b="0" i="0" lang="en-US" sz="3600" u="none" cap="none" strike="noStrike">
                <a:solidFill>
                  <a:schemeClr val="lt1"/>
                </a:solidFill>
                <a:latin typeface="Arial"/>
                <a:ea typeface="Arial"/>
                <a:cs typeface="Arial"/>
                <a:sym typeface="Arial"/>
              </a:rPr>
              <a:t>”</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A </a:t>
            </a:r>
            <a:r>
              <a:rPr lang="en-US" sz="3600" u="none" cap="none" strike="noStrike">
                <a:solidFill>
                  <a:srgbClr val="FF00FF"/>
                </a:solidFill>
                <a:latin typeface="Arial"/>
                <a:ea typeface="Arial"/>
                <a:cs typeface="Arial"/>
                <a:sym typeface="Arial"/>
              </a:rPr>
              <a:t>collection</a:t>
            </a:r>
            <a:r>
              <a:rPr lang="en-US" sz="3600" u="none" cap="none" strike="noStrike">
                <a:solidFill>
                  <a:schemeClr val="lt1"/>
                </a:solidFill>
                <a:latin typeface="Arial"/>
                <a:ea typeface="Arial"/>
                <a:cs typeface="Arial"/>
                <a:sym typeface="Arial"/>
              </a:rPr>
              <a:t> is nice because we can carry all </a:t>
            </a:r>
            <a:r>
              <a:rPr lang="en-US" sz="3600" u="none" cap="none" strike="noStrike">
                <a:solidFill>
                  <a:srgbClr val="FF7F00"/>
                </a:solidFill>
                <a:latin typeface="Arial"/>
                <a:ea typeface="Arial"/>
                <a:cs typeface="Arial"/>
                <a:sym typeface="Arial"/>
              </a:rPr>
              <a:t>many values</a:t>
            </a:r>
            <a:r>
              <a:rPr lang="en-US" sz="3600" u="none" cap="none" strike="noStrike">
                <a:solidFill>
                  <a:schemeClr val="lt1"/>
                </a:solidFill>
                <a:latin typeface="Arial"/>
                <a:ea typeface="Arial"/>
                <a:cs typeface="Arial"/>
                <a:sym typeface="Arial"/>
              </a:rPr>
              <a:t> around in one convenient package.</a:t>
            </a:r>
            <a:endParaRPr/>
          </a:p>
        </p:txBody>
      </p:sp>
      <p:pic>
        <p:nvPicPr>
          <p:cNvPr id="33" name="Google Shape;33;p7"/>
          <p:cNvPicPr preferRelativeResize="0"/>
          <p:nvPr/>
        </p:nvPicPr>
        <p:blipFill rotWithShape="1">
          <a:blip r:embed="rId3">
            <a:alphaModFix/>
          </a:blip>
          <a:srcRect b="0" l="0" r="0" t="0"/>
          <a:stretch/>
        </p:blipFill>
        <p:spPr>
          <a:xfrm>
            <a:off x="13277850" y="789709"/>
            <a:ext cx="2557874" cy="2096292"/>
          </a:xfrm>
          <a:prstGeom prst="rect">
            <a:avLst/>
          </a:prstGeom>
          <a:noFill/>
          <a:ln>
            <a:noFill/>
          </a:ln>
        </p:spPr>
      </p:pic>
      <p:sp>
        <p:nvSpPr>
          <p:cNvPr id="34" name="Google Shape;34;p7"/>
          <p:cNvSpPr txBox="1"/>
          <p:nvPr/>
        </p:nvSpPr>
        <p:spPr>
          <a:xfrm>
            <a:off x="2002250" y="6000750"/>
            <a:ext cx="12192000" cy="221456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Courier"/>
                <a:ea typeface="Courier"/>
                <a:cs typeface="Courier"/>
                <a:sym typeface="Courier"/>
              </a:rPr>
              <a:t>friends</a:t>
            </a:r>
            <a:r>
              <a:rPr b="0" i="0" lang="en-US" sz="3600" u="none" cap="none" strike="noStrike">
                <a:solidFill>
                  <a:srgbClr val="FF7F00"/>
                </a:solidFill>
                <a:latin typeface="Courier"/>
                <a:ea typeface="Courier"/>
                <a:cs typeface="Courier"/>
                <a:sym typeface="Courier"/>
              </a:rPr>
              <a:t> </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 [ 'Joseph', 'Glenn', 'Sally' ]</a:t>
            </a:r>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Courier"/>
                <a:ea typeface="Courier"/>
                <a:cs typeface="Courier"/>
                <a:sym typeface="Courier"/>
              </a:rPr>
              <a:t>carryon</a:t>
            </a:r>
            <a:r>
              <a:rPr b="0" i="0" lang="en-US" sz="3600" u="none" cap="none" strike="noStrike">
                <a:solidFill>
                  <a:srgbClr val="FF7F00"/>
                </a:solidFill>
                <a:latin typeface="Courier"/>
                <a:ea typeface="Courier"/>
                <a:cs typeface="Courier"/>
                <a:sym typeface="Courier"/>
              </a:rPr>
              <a:t> </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 [ 'socks', 'shirt', 'perfume'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8"/>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List Constants</a:t>
            </a:r>
            <a:endParaRPr/>
          </a:p>
        </p:txBody>
      </p:sp>
      <p:sp>
        <p:nvSpPr>
          <p:cNvPr id="40" name="Google Shape;40;p8"/>
          <p:cNvSpPr txBox="1"/>
          <p:nvPr>
            <p:ph idx="1" type="body"/>
          </p:nvPr>
        </p:nvSpPr>
        <p:spPr>
          <a:xfrm>
            <a:off x="698500" y="2857500"/>
            <a:ext cx="7331075" cy="4843463"/>
          </a:xfrm>
          <a:prstGeom prst="rect">
            <a:avLst/>
          </a:prstGeom>
          <a:noFill/>
          <a:ln>
            <a:noFill/>
          </a:ln>
        </p:spPr>
        <p:txBody>
          <a:bodyPr anchorCtr="0" anchor="ctr" bIns="38100" lIns="38100" spcFirstLastPara="1" rIns="38100" wrap="square" tIns="38100">
            <a:noAutofit/>
          </a:bodyPr>
          <a:lstStyle/>
          <a:p>
            <a:pPr indent="-444500" lvl="0" marL="457200" marR="0" rtl="0" algn="l">
              <a:lnSpc>
                <a:spcPct val="100000"/>
              </a:lnSpc>
              <a:spcBef>
                <a:spcPts val="0"/>
              </a:spcBef>
              <a:spcAft>
                <a:spcPts val="0"/>
              </a:spcAft>
              <a:buSzPts val="3400"/>
              <a:buFont typeface="Cabin"/>
              <a:buChar char="•"/>
            </a:pPr>
            <a:r>
              <a:rPr lang="en-US" sz="3400" u="none" cap="none" strike="noStrike">
                <a:solidFill>
                  <a:srgbClr val="FF7F00"/>
                </a:solidFill>
                <a:latin typeface="Arial"/>
                <a:ea typeface="Arial"/>
                <a:cs typeface="Arial"/>
                <a:sym typeface="Arial"/>
              </a:rPr>
              <a:t>List</a:t>
            </a:r>
            <a:r>
              <a:rPr lang="en-US" sz="3400" u="none" cap="none" strike="noStrike">
                <a:solidFill>
                  <a:schemeClr val="lt1"/>
                </a:solidFill>
                <a:latin typeface="Arial"/>
                <a:ea typeface="Arial"/>
                <a:cs typeface="Arial"/>
                <a:sym typeface="Arial"/>
              </a:rPr>
              <a:t> constants are surrounded by square brackets and the elements in the list are separated by commas</a:t>
            </a:r>
            <a:endParaRPr/>
          </a:p>
          <a:p>
            <a:pPr indent="-444500" lvl="0" marL="457200" marR="0" rtl="0" algn="l">
              <a:lnSpc>
                <a:spcPct val="100000"/>
              </a:lnSpc>
              <a:spcBef>
                <a:spcPts val="4500"/>
              </a:spcBef>
              <a:spcAft>
                <a:spcPts val="0"/>
              </a:spcAft>
              <a:buSzPts val="3400"/>
              <a:buFont typeface="Cabin"/>
              <a:buChar char="•"/>
            </a:pPr>
            <a:r>
              <a:rPr lang="en-US" sz="3400" u="none" cap="none" strike="noStrike">
                <a:solidFill>
                  <a:schemeClr val="lt1"/>
                </a:solidFill>
                <a:latin typeface="Arial"/>
                <a:ea typeface="Arial"/>
                <a:cs typeface="Arial"/>
                <a:sym typeface="Arial"/>
              </a:rPr>
              <a:t>A </a:t>
            </a:r>
            <a:r>
              <a:rPr lang="en-US" sz="3400" u="none" cap="none" strike="noStrike">
                <a:solidFill>
                  <a:srgbClr val="FF7F00"/>
                </a:solidFill>
                <a:latin typeface="Arial"/>
                <a:ea typeface="Arial"/>
                <a:cs typeface="Arial"/>
                <a:sym typeface="Arial"/>
              </a:rPr>
              <a:t>list</a:t>
            </a:r>
            <a:r>
              <a:rPr lang="en-US" sz="3400" u="none" cap="none" strike="noStrike">
                <a:solidFill>
                  <a:schemeClr val="lt1"/>
                </a:solidFill>
                <a:latin typeface="Arial"/>
                <a:ea typeface="Arial"/>
                <a:cs typeface="Arial"/>
                <a:sym typeface="Arial"/>
              </a:rPr>
              <a:t> element can be any Python object - even </a:t>
            </a:r>
            <a:r>
              <a:rPr lang="en-US" sz="3400" u="none" cap="none" strike="noStrike">
                <a:solidFill>
                  <a:srgbClr val="00FFFF"/>
                </a:solidFill>
                <a:latin typeface="Arial"/>
                <a:ea typeface="Arial"/>
                <a:cs typeface="Arial"/>
                <a:sym typeface="Arial"/>
              </a:rPr>
              <a:t>another list</a:t>
            </a:r>
            <a:endParaRPr/>
          </a:p>
          <a:p>
            <a:pPr indent="-444500" lvl="0" marL="457200" marR="0" rtl="0" algn="l">
              <a:lnSpc>
                <a:spcPct val="100000"/>
              </a:lnSpc>
              <a:spcBef>
                <a:spcPts val="4500"/>
              </a:spcBef>
              <a:spcAft>
                <a:spcPts val="0"/>
              </a:spcAft>
              <a:buSzPts val="3400"/>
              <a:buFont typeface="Cabin"/>
              <a:buChar char="•"/>
            </a:pPr>
            <a:r>
              <a:rPr lang="en-US" sz="3400" u="none" cap="none" strike="noStrike">
                <a:solidFill>
                  <a:schemeClr val="lt1"/>
                </a:solidFill>
                <a:latin typeface="Arial"/>
                <a:ea typeface="Arial"/>
                <a:cs typeface="Arial"/>
                <a:sym typeface="Arial"/>
              </a:rPr>
              <a:t>A </a:t>
            </a:r>
            <a:r>
              <a:rPr lang="en-US" sz="3400" u="none" cap="none" strike="noStrike">
                <a:solidFill>
                  <a:srgbClr val="FF7F00"/>
                </a:solidFill>
                <a:latin typeface="Arial"/>
                <a:ea typeface="Arial"/>
                <a:cs typeface="Arial"/>
                <a:sym typeface="Arial"/>
              </a:rPr>
              <a:t>list</a:t>
            </a:r>
            <a:r>
              <a:rPr lang="en-US" sz="3400" u="none" cap="none" strike="noStrike">
                <a:solidFill>
                  <a:schemeClr val="lt1"/>
                </a:solidFill>
                <a:latin typeface="Arial"/>
                <a:ea typeface="Arial"/>
                <a:cs typeface="Arial"/>
                <a:sym typeface="Arial"/>
              </a:rPr>
              <a:t> can be empty</a:t>
            </a:r>
            <a:endParaRPr/>
          </a:p>
        </p:txBody>
      </p:sp>
      <p:sp>
        <p:nvSpPr>
          <p:cNvPr id="41" name="Google Shape;41;p8"/>
          <p:cNvSpPr txBox="1"/>
          <p:nvPr/>
        </p:nvSpPr>
        <p:spPr>
          <a:xfrm>
            <a:off x="8774113" y="2947685"/>
            <a:ext cx="7162387" cy="55403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FF7F00"/>
                </a:solidFill>
                <a:latin typeface="Courier"/>
                <a:ea typeface="Courier"/>
                <a:cs typeface="Courier"/>
                <a:sym typeface="Courier"/>
              </a:rPr>
              <a:t>[1, 24, 76]</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Courier"/>
                <a:ea typeface="Courier"/>
                <a:cs typeface="Courier"/>
                <a:sym typeface="Courier"/>
              </a:rPr>
              <a:t>[1, 24, 76]</a:t>
            </a:r>
            <a:endParaRPr/>
          </a:p>
          <a:p>
            <a:pPr indent="0" lvl="0" marL="0" marR="0" rtl="0" algn="l">
              <a:lnSpc>
                <a:spcPct val="100000"/>
              </a:lnSpc>
              <a:spcBef>
                <a:spcPts val="0"/>
              </a:spcBef>
              <a:spcAft>
                <a:spcPts val="0"/>
              </a:spcAft>
              <a:buClr>
                <a:schemeClr val="lt1"/>
              </a:buClr>
              <a:buSzPts val="700"/>
              <a:buFont typeface="Cabin"/>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['red', 'yellow', 'blue']</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Courier"/>
                <a:ea typeface="Courier"/>
                <a:cs typeface="Courier"/>
                <a:sym typeface="Courier"/>
              </a:rPr>
              <a:t>['red', 'yellow', 'blue']</a:t>
            </a:r>
            <a:endParaRPr/>
          </a:p>
          <a:p>
            <a:pPr indent="0" lvl="0" marL="0" marR="0" rtl="0" algn="l">
              <a:lnSpc>
                <a:spcPct val="100000"/>
              </a:lnSpc>
              <a:spcBef>
                <a:spcPts val="0"/>
              </a:spcBef>
              <a:spcAft>
                <a:spcPts val="0"/>
              </a:spcAft>
              <a:buClr>
                <a:schemeClr val="lt1"/>
              </a:buClr>
              <a:buSzPts val="700"/>
              <a:buFont typeface="Cabin"/>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['red', 24, 98.6]</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Courier"/>
                <a:ea typeface="Courier"/>
                <a:cs typeface="Courier"/>
                <a:sym typeface="Courier"/>
              </a:rPr>
              <a:t>['red', 24, 98.6]</a:t>
            </a:r>
            <a:endParaRPr/>
          </a:p>
          <a:p>
            <a:pPr indent="0" lvl="0" marL="0" marR="0" rtl="0" algn="l">
              <a:lnSpc>
                <a:spcPct val="100000"/>
              </a:lnSpc>
              <a:spcBef>
                <a:spcPts val="0"/>
              </a:spcBef>
              <a:spcAft>
                <a:spcPts val="0"/>
              </a:spcAft>
              <a:buClr>
                <a:schemeClr val="lt1"/>
              </a:buClr>
              <a:buSzPts val="700"/>
              <a:buFont typeface="Cabin"/>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FF7F00"/>
                </a:solidFill>
                <a:latin typeface="Courier"/>
                <a:ea typeface="Courier"/>
                <a:cs typeface="Courier"/>
                <a:sym typeface="Courier"/>
              </a:rPr>
              <a:t>[ 1, </a:t>
            </a:r>
            <a:r>
              <a:rPr b="0" i="0" lang="en-US" sz="2800" u="none" cap="none" strike="noStrike">
                <a:solidFill>
                  <a:srgbClr val="00FFFF"/>
                </a:solidFill>
                <a:latin typeface="Courier"/>
                <a:ea typeface="Courier"/>
                <a:cs typeface="Courier"/>
                <a:sym typeface="Courier"/>
              </a:rPr>
              <a:t>[5, 6]</a:t>
            </a:r>
            <a:r>
              <a:rPr b="0" i="0" lang="en-US" sz="2800" u="none" cap="none" strike="noStrike">
                <a:solidFill>
                  <a:srgbClr val="FF7F00"/>
                </a:solidFill>
                <a:latin typeface="Courier"/>
                <a:ea typeface="Courier"/>
                <a:cs typeface="Courier"/>
                <a:sym typeface="Courier"/>
              </a:rPr>
              <a:t>, 7]</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Courier"/>
                <a:ea typeface="Courier"/>
                <a:cs typeface="Courier"/>
                <a:sym typeface="Courier"/>
              </a:rPr>
              <a:t>[1, [5, 6], 7]</a:t>
            </a:r>
            <a:endParaRPr/>
          </a:p>
          <a:p>
            <a:pPr indent="0" lvl="0" marL="0" marR="0" rtl="0" algn="l">
              <a:lnSpc>
                <a:spcPct val="100000"/>
              </a:lnSpc>
              <a:spcBef>
                <a:spcPts val="0"/>
              </a:spcBef>
              <a:spcAft>
                <a:spcPts val="0"/>
              </a:spcAft>
              <a:buClr>
                <a:schemeClr val="lt1"/>
              </a:buClr>
              <a:buSzPts val="700"/>
              <a:buFont typeface="Cabin"/>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Courier"/>
                <a:ea typeface="Courier"/>
                <a:cs typeface="Courier"/>
                <a:sym typeface="Courier"/>
              </a:rPr>
              <a:t>[]</a:t>
            </a:r>
            <a:endParaRPr b="0" i="0" sz="2800" u="none" cap="none" strike="noStrike">
              <a:solidFill>
                <a:schemeClr val="lt1"/>
              </a:solidFill>
              <a:latin typeface="Courier"/>
              <a:ea typeface="Courier"/>
              <a:cs typeface="Courier"/>
              <a:sym typeface="Couri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9"/>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We Already Use Lists!</a:t>
            </a:r>
            <a:endParaRPr/>
          </a:p>
        </p:txBody>
      </p:sp>
      <p:sp>
        <p:nvSpPr>
          <p:cNvPr id="47" name="Google Shape;47;p9"/>
          <p:cNvSpPr txBox="1"/>
          <p:nvPr/>
        </p:nvSpPr>
        <p:spPr>
          <a:xfrm>
            <a:off x="1895475" y="2840601"/>
            <a:ext cx="8488800" cy="36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Courier"/>
                <a:ea typeface="Courier"/>
                <a:cs typeface="Courier"/>
                <a:sym typeface="Courier"/>
              </a:rPr>
              <a:t>for</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00"/>
                </a:solidFill>
                <a:latin typeface="Courier"/>
                <a:ea typeface="Courier"/>
                <a:cs typeface="Courier"/>
                <a:sym typeface="Courier"/>
              </a:rPr>
              <a:t>i</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FF00"/>
                </a:solidFill>
                <a:latin typeface="Courier"/>
                <a:ea typeface="Courier"/>
                <a:cs typeface="Courier"/>
                <a:sym typeface="Courier"/>
              </a:rPr>
              <a:t>in</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7F00"/>
                </a:solidFill>
                <a:latin typeface="Courier"/>
                <a:ea typeface="Courier"/>
                <a:cs typeface="Courier"/>
                <a:sym typeface="Courier"/>
              </a:rPr>
              <a:t>[5, 4, 3, 2, 1]</a:t>
            </a:r>
            <a:r>
              <a:rPr b="0" i="0" lang="en-US" sz="3600" u="none" cap="none" strike="noStrike">
                <a:solidFill>
                  <a:srgbClr val="00FF00"/>
                </a:solidFill>
                <a:latin typeface="Courier"/>
                <a:ea typeface="Courier"/>
                <a:cs typeface="Courier"/>
                <a:sym typeface="Courier"/>
              </a:rPr>
              <a:t> </a:t>
            </a:r>
            <a:r>
              <a:rPr b="0" i="0" lang="en-US" sz="36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FF00"/>
                </a:solidFill>
                <a:latin typeface="Courier"/>
                <a:ea typeface="Courier"/>
                <a:cs typeface="Courier"/>
                <a:sym typeface="Courier"/>
              </a:rPr>
              <a:t>print(</a:t>
            </a:r>
            <a:r>
              <a:rPr b="0" i="0" lang="en-US" sz="3600" u="none" cap="none" strike="noStrike">
                <a:solidFill>
                  <a:srgbClr val="00FF00"/>
                </a:solidFill>
                <a:latin typeface="Courier"/>
                <a:ea typeface="Courier"/>
                <a:cs typeface="Courier"/>
                <a:sym typeface="Courier"/>
              </a:rPr>
              <a:t>i</a:t>
            </a:r>
            <a:r>
              <a:rPr b="0" i="0" lang="en-US" sz="3600" u="none" cap="none" strike="noStrike">
                <a:solidFill>
                  <a:srgbClr val="FFFF00"/>
                </a:solidFill>
                <a:latin typeface="Courier"/>
                <a:ea typeface="Courier"/>
                <a:cs typeface="Courier"/>
                <a:sym typeface="Courier"/>
              </a:rPr>
              <a:t>)</a:t>
            </a:r>
            <a:endParaRPr b="0" i="0" sz="36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Courier"/>
                <a:ea typeface="Courier"/>
                <a:cs typeface="Courier"/>
                <a:sym typeface="Courier"/>
              </a:rPr>
              <a:t>print(</a:t>
            </a:r>
            <a:r>
              <a:rPr b="0" i="0" lang="en-US" sz="3600" u="none" cap="none" strike="noStrike">
                <a:solidFill>
                  <a:srgbClr val="FF7F00"/>
                </a:solidFill>
                <a:latin typeface="Courier"/>
                <a:ea typeface="Courier"/>
                <a:cs typeface="Courier"/>
                <a:sym typeface="Courier"/>
              </a:rPr>
              <a:t>'Blastoff!'</a:t>
            </a:r>
            <a:r>
              <a:rPr b="0" i="0" lang="en-US" sz="3600" u="none" cap="none" strike="noStrike">
                <a:solidFill>
                  <a:srgbClr val="FFFF00"/>
                </a:solidFill>
                <a:latin typeface="Courier"/>
                <a:ea typeface="Courier"/>
                <a:cs typeface="Courier"/>
                <a:sym typeface="Courier"/>
              </a:rPr>
              <a:t>)</a:t>
            </a:r>
            <a:endParaRPr b="0" i="0" sz="3600" u="none" cap="none" strike="noStrike">
              <a:solidFill>
                <a:srgbClr val="FFFF00"/>
              </a:solidFill>
              <a:latin typeface="Courier"/>
              <a:ea typeface="Courier"/>
              <a:cs typeface="Courier"/>
              <a:sym typeface="Courier"/>
            </a:endParaRPr>
          </a:p>
        </p:txBody>
      </p:sp>
      <p:sp>
        <p:nvSpPr>
          <p:cNvPr id="48" name="Google Shape;48;p9"/>
          <p:cNvSpPr txBox="1"/>
          <p:nvPr/>
        </p:nvSpPr>
        <p:spPr>
          <a:xfrm>
            <a:off x="11091861" y="3003550"/>
            <a:ext cx="2384424" cy="490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1200"/>
              <a:buFont typeface="Cabin"/>
              <a:buNone/>
            </a:pPr>
            <a:r>
              <a:rPr b="0" i="0" lang="en-US" sz="4800" u="none" cap="none" strike="noStrike">
                <a:solidFill>
                  <a:srgbClr val="FF00FF"/>
                </a:solidFill>
                <a:latin typeface="Arial"/>
                <a:ea typeface="Arial"/>
                <a:cs typeface="Arial"/>
                <a:sym typeface="Arial"/>
              </a:rPr>
              <a:t>5</a:t>
            </a:r>
            <a:endParaRPr/>
          </a:p>
          <a:p>
            <a:pPr indent="0" lvl="0" marL="0" marR="0" rtl="0" algn="l">
              <a:lnSpc>
                <a:spcPct val="100000"/>
              </a:lnSpc>
              <a:spcBef>
                <a:spcPts val="0"/>
              </a:spcBef>
              <a:spcAft>
                <a:spcPts val="0"/>
              </a:spcAft>
              <a:buClr>
                <a:srgbClr val="FF00FF"/>
              </a:buClr>
              <a:buSzPts val="1200"/>
              <a:buFont typeface="Cabin"/>
              <a:buNone/>
            </a:pPr>
            <a:r>
              <a:rPr b="0" i="0" lang="en-US" sz="4800" u="none" cap="none" strike="noStrike">
                <a:solidFill>
                  <a:srgbClr val="FF00FF"/>
                </a:solidFill>
                <a:latin typeface="Arial"/>
                <a:ea typeface="Arial"/>
                <a:cs typeface="Arial"/>
                <a:sym typeface="Arial"/>
              </a:rPr>
              <a:t>4</a:t>
            </a:r>
            <a:endParaRPr/>
          </a:p>
          <a:p>
            <a:pPr indent="0" lvl="0" marL="0" marR="0" rtl="0" algn="l">
              <a:lnSpc>
                <a:spcPct val="100000"/>
              </a:lnSpc>
              <a:spcBef>
                <a:spcPts val="0"/>
              </a:spcBef>
              <a:spcAft>
                <a:spcPts val="0"/>
              </a:spcAft>
              <a:buClr>
                <a:srgbClr val="FF00FF"/>
              </a:buClr>
              <a:buSzPts val="1200"/>
              <a:buFont typeface="Cabin"/>
              <a:buNone/>
            </a:pPr>
            <a:r>
              <a:rPr b="0" i="0" lang="en-US" sz="4800" u="none" cap="none" strike="noStrike">
                <a:solidFill>
                  <a:srgbClr val="FF00FF"/>
                </a:solidFill>
                <a:latin typeface="Arial"/>
                <a:ea typeface="Arial"/>
                <a:cs typeface="Arial"/>
                <a:sym typeface="Arial"/>
              </a:rPr>
              <a:t>3</a:t>
            </a:r>
            <a:endParaRPr/>
          </a:p>
          <a:p>
            <a:pPr indent="0" lvl="0" marL="0" marR="0" rtl="0" algn="l">
              <a:lnSpc>
                <a:spcPct val="100000"/>
              </a:lnSpc>
              <a:spcBef>
                <a:spcPts val="0"/>
              </a:spcBef>
              <a:spcAft>
                <a:spcPts val="0"/>
              </a:spcAft>
              <a:buClr>
                <a:srgbClr val="FF00FF"/>
              </a:buClr>
              <a:buSzPts val="1200"/>
              <a:buFont typeface="Cabin"/>
              <a:buNone/>
            </a:pPr>
            <a:r>
              <a:rPr b="0" i="0" lang="en-US" sz="4800" u="none" cap="none" strike="noStrike">
                <a:solidFill>
                  <a:srgbClr val="FF00FF"/>
                </a:solidFill>
                <a:latin typeface="Arial"/>
                <a:ea typeface="Arial"/>
                <a:cs typeface="Arial"/>
                <a:sym typeface="Arial"/>
              </a:rPr>
              <a:t>2</a:t>
            </a:r>
            <a:endParaRPr/>
          </a:p>
          <a:p>
            <a:pPr indent="0" lvl="0" marL="0" marR="0" rtl="0" algn="l">
              <a:lnSpc>
                <a:spcPct val="100000"/>
              </a:lnSpc>
              <a:spcBef>
                <a:spcPts val="0"/>
              </a:spcBef>
              <a:spcAft>
                <a:spcPts val="0"/>
              </a:spcAft>
              <a:buClr>
                <a:srgbClr val="FF00FF"/>
              </a:buClr>
              <a:buSzPts val="1200"/>
              <a:buFont typeface="Cabin"/>
              <a:buNone/>
            </a:pPr>
            <a:r>
              <a:rPr b="0" i="0" lang="en-US" sz="4800" u="none" cap="none" strike="noStrike">
                <a:solidFill>
                  <a:srgbClr val="FF00FF"/>
                </a:solidFill>
                <a:latin typeface="Arial"/>
                <a:ea typeface="Arial"/>
                <a:cs typeface="Arial"/>
                <a:sym typeface="Arial"/>
              </a:rPr>
              <a:t>1</a:t>
            </a:r>
            <a:endParaRPr/>
          </a:p>
          <a:p>
            <a:pPr indent="0" lvl="0" marL="0" marR="0" rtl="0" algn="l">
              <a:lnSpc>
                <a:spcPct val="100000"/>
              </a:lnSpc>
              <a:spcBef>
                <a:spcPts val="0"/>
              </a:spcBef>
              <a:spcAft>
                <a:spcPts val="0"/>
              </a:spcAft>
              <a:buClr>
                <a:srgbClr val="FF00FF"/>
              </a:buClr>
              <a:buSzPts val="1200"/>
              <a:buFont typeface="Cabin"/>
              <a:buNone/>
            </a:pPr>
            <a:r>
              <a:rPr b="0" i="0" lang="en-US" sz="4800" u="none" cap="none" strike="noStrike">
                <a:solidFill>
                  <a:srgbClr val="FF00FF"/>
                </a:solidFill>
                <a:latin typeface="Arial"/>
                <a:ea typeface="Arial"/>
                <a:cs typeface="Arial"/>
                <a:sym typeface="Arial"/>
              </a:rPr>
              <a:t>Blastoff!</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650"/>
              <a:buFont typeface="Cabin"/>
              <a:buNone/>
            </a:pPr>
            <a:r>
              <a:rPr lang="en-US" sz="6600" u="none" cap="none" strike="noStrike">
                <a:solidFill>
                  <a:srgbClr val="FFD966"/>
                </a:solidFill>
                <a:latin typeface="Arial"/>
                <a:ea typeface="Arial"/>
                <a:cs typeface="Arial"/>
                <a:sym typeface="Arial"/>
              </a:rPr>
              <a:t>Lists and Definite Loops - Best Pals</a:t>
            </a:r>
            <a:endParaRPr sz="6600" u="none" cap="none" strike="noStrike">
              <a:solidFill>
                <a:srgbClr val="FFD966"/>
              </a:solidFill>
              <a:latin typeface="Arial"/>
              <a:ea typeface="Arial"/>
              <a:cs typeface="Arial"/>
              <a:sym typeface="Arial"/>
            </a:endParaRPr>
          </a:p>
        </p:txBody>
      </p:sp>
      <p:sp>
        <p:nvSpPr>
          <p:cNvPr id="54" name="Google Shape;54;p10"/>
          <p:cNvSpPr txBox="1"/>
          <p:nvPr/>
        </p:nvSpPr>
        <p:spPr>
          <a:xfrm>
            <a:off x="1279124" y="3423163"/>
            <a:ext cx="7280400" cy="22160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00"/>
              <a:buFont typeface="Cabin"/>
              <a:buNone/>
            </a:pPr>
            <a:r>
              <a:rPr b="0" i="0" lang="en-US" sz="2400" u="none" cap="none" strike="noStrike">
                <a:solidFill>
                  <a:srgbClr val="00FF00"/>
                </a:solidFill>
                <a:latin typeface="Courier"/>
                <a:ea typeface="Courier"/>
                <a:cs typeface="Courier"/>
                <a:sym typeface="Courier"/>
              </a:rPr>
              <a:t>friends</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FF7F00"/>
                </a:solidFill>
                <a:latin typeface="Courier"/>
                <a:ea typeface="Courier"/>
                <a:cs typeface="Courier"/>
                <a:sym typeface="Courier"/>
              </a:rPr>
              <a:t>['Joseph', 'Glenn', 'Sally']</a:t>
            </a:r>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for</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friend</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friends </a:t>
            </a:r>
            <a:r>
              <a:rPr b="0" i="0" lang="en-US" sz="24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print(</a:t>
            </a:r>
            <a:r>
              <a:rPr b="0" i="0" lang="en-US" sz="2400" u="none" cap="none" strike="noStrike">
                <a:solidFill>
                  <a:srgbClr val="FF7F00"/>
                </a:solidFill>
                <a:latin typeface="Courier"/>
                <a:ea typeface="Courier"/>
                <a:cs typeface="Courier"/>
                <a:sym typeface="Courier"/>
              </a:rPr>
              <a:t>'Happy New Year:'</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friend</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00"/>
              <a:buFont typeface="Courier"/>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FF7F00"/>
                </a:solidFill>
                <a:latin typeface="Courier"/>
                <a:ea typeface="Courier"/>
                <a:cs typeface="Courier"/>
                <a:sym typeface="Courier"/>
              </a:rPr>
              <a:t>'Done!'</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FFFF00"/>
              </a:solidFill>
              <a:latin typeface="Courier"/>
              <a:ea typeface="Courier"/>
              <a:cs typeface="Courier"/>
              <a:sym typeface="Courier"/>
            </a:endParaRPr>
          </a:p>
        </p:txBody>
      </p:sp>
      <p:sp>
        <p:nvSpPr>
          <p:cNvPr id="55" name="Google Shape;55;p10"/>
          <p:cNvSpPr txBox="1"/>
          <p:nvPr/>
        </p:nvSpPr>
        <p:spPr>
          <a:xfrm>
            <a:off x="10658475" y="4051100"/>
            <a:ext cx="4943475" cy="218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Happy New Year: Joseph</a:t>
            </a:r>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Happy New Year: Glenn</a:t>
            </a:r>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Happy New Year: Sally</a:t>
            </a:r>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Done!</a:t>
            </a:r>
            <a:endParaRPr/>
          </a:p>
        </p:txBody>
      </p:sp>
      <p:cxnSp>
        <p:nvCxnSpPr>
          <p:cNvPr id="56" name="Google Shape;56;p10"/>
          <p:cNvCxnSpPr/>
          <p:nvPr/>
        </p:nvCxnSpPr>
        <p:spPr>
          <a:xfrm flipH="1">
            <a:off x="8443912" y="4353475"/>
            <a:ext cx="1986512" cy="318538"/>
          </a:xfrm>
          <a:prstGeom prst="straightConnector1">
            <a:avLst/>
          </a:prstGeom>
          <a:noFill/>
          <a:ln cap="rnd" cmpd="sng" w="50800">
            <a:solidFill>
              <a:srgbClr val="FFFF00"/>
            </a:solidFill>
            <a:prstDash val="solid"/>
            <a:miter lim="8000"/>
            <a:headEnd len="med" w="med" type="stealth"/>
            <a:tailEnd len="sm" w="sm" type="none"/>
          </a:ln>
        </p:spPr>
      </p:cxnSp>
      <p:cxnSp>
        <p:nvCxnSpPr>
          <p:cNvPr id="57" name="Google Shape;57;p10"/>
          <p:cNvCxnSpPr/>
          <p:nvPr/>
        </p:nvCxnSpPr>
        <p:spPr>
          <a:xfrm rot="10800000">
            <a:off x="8464060" y="4672014"/>
            <a:ext cx="1961138" cy="839786"/>
          </a:xfrm>
          <a:prstGeom prst="straightConnector1">
            <a:avLst/>
          </a:prstGeom>
          <a:noFill/>
          <a:ln cap="rnd" cmpd="sng" w="50800">
            <a:solidFill>
              <a:srgbClr val="FFFF00"/>
            </a:solidFill>
            <a:prstDash val="solid"/>
            <a:miter lim="8000"/>
            <a:headEnd len="med" w="med" type="stealth"/>
            <a:tailEnd len="sm" w="sm" type="none"/>
          </a:ln>
        </p:spPr>
      </p:cxnSp>
      <p:cxnSp>
        <p:nvCxnSpPr>
          <p:cNvPr id="58" name="Google Shape;58;p10"/>
          <p:cNvCxnSpPr/>
          <p:nvPr/>
        </p:nvCxnSpPr>
        <p:spPr>
          <a:xfrm rot="10800000">
            <a:off x="3904399" y="5160163"/>
            <a:ext cx="6596999" cy="798899"/>
          </a:xfrm>
          <a:prstGeom prst="straightConnector1">
            <a:avLst/>
          </a:prstGeom>
          <a:noFill/>
          <a:ln cap="rnd" cmpd="sng" w="50800">
            <a:solidFill>
              <a:srgbClr val="FFFF00"/>
            </a:solidFill>
            <a:prstDash val="solid"/>
            <a:miter lim="8000"/>
            <a:headEnd len="med" w="med" type="stealth"/>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1"/>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Looking Inside Lists</a:t>
            </a:r>
            <a:endParaRPr/>
          </a:p>
        </p:txBody>
      </p:sp>
      <p:sp>
        <p:nvSpPr>
          <p:cNvPr id="64" name="Google Shape;64;p11"/>
          <p:cNvSpPr txBox="1"/>
          <p:nvPr>
            <p:ph idx="1" type="body"/>
          </p:nvPr>
        </p:nvSpPr>
        <p:spPr>
          <a:xfrm>
            <a:off x="1155700" y="2603501"/>
            <a:ext cx="13931900" cy="3086100"/>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600"/>
              <a:buNone/>
            </a:pPr>
            <a:r>
              <a:rPr lang="en-US" sz="3600" u="none" cap="none" strike="noStrike">
                <a:solidFill>
                  <a:schemeClr val="lt1"/>
                </a:solidFill>
                <a:latin typeface="Arial"/>
                <a:ea typeface="Arial"/>
                <a:cs typeface="Arial"/>
                <a:sym typeface="Arial"/>
              </a:rPr>
              <a:t>Just like strings, we can get at any single element in a list using an index specified in</a:t>
            </a:r>
            <a:r>
              <a:rPr lang="en-US" sz="3600" u="none" cap="none" strike="noStrike">
                <a:solidFill>
                  <a:srgbClr val="00FFFF"/>
                </a:solidFill>
                <a:latin typeface="Arial"/>
                <a:ea typeface="Arial"/>
                <a:cs typeface="Arial"/>
                <a:sym typeface="Arial"/>
              </a:rPr>
              <a:t> square brackets</a:t>
            </a:r>
            <a:endParaRPr/>
          </a:p>
        </p:txBody>
      </p:sp>
      <p:sp>
        <p:nvSpPr>
          <p:cNvPr id="65" name="Google Shape;65;p11"/>
          <p:cNvSpPr txBox="1"/>
          <p:nvPr/>
        </p:nvSpPr>
        <p:spPr>
          <a:xfrm>
            <a:off x="1727200" y="6375401"/>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0</a:t>
            </a:r>
            <a:endParaRPr/>
          </a:p>
        </p:txBody>
      </p:sp>
      <p:sp>
        <p:nvSpPr>
          <p:cNvPr id="66" name="Google Shape;66;p11"/>
          <p:cNvSpPr txBox="1"/>
          <p:nvPr/>
        </p:nvSpPr>
        <p:spPr>
          <a:xfrm>
            <a:off x="1155700" y="5651501"/>
            <a:ext cx="1879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Joseph</a:t>
            </a:r>
            <a:endParaRPr/>
          </a:p>
        </p:txBody>
      </p:sp>
      <p:sp>
        <p:nvSpPr>
          <p:cNvPr id="67" name="Google Shape;67;p11"/>
          <p:cNvSpPr txBox="1"/>
          <p:nvPr/>
        </p:nvSpPr>
        <p:spPr>
          <a:xfrm>
            <a:off x="7429500" y="5065701"/>
            <a:ext cx="8156400" cy="23399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rgbClr val="00FF00"/>
                </a:solidFill>
                <a:latin typeface="Courier"/>
                <a:ea typeface="Courier"/>
                <a:cs typeface="Courier"/>
                <a:sym typeface="Courier"/>
              </a:rPr>
              <a:t>friends</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FF7F00"/>
                </a:solidFill>
                <a:latin typeface="Courier"/>
                <a:ea typeface="Courier"/>
                <a:cs typeface="Courier"/>
                <a:sym typeface="Courier"/>
              </a:rPr>
              <a:t>[ 'Joseph', 'Glenn', 'Sally' ]</a:t>
            </a: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rgbClr val="00FF00"/>
                </a:solidFill>
                <a:latin typeface="Courier"/>
                <a:ea typeface="Courier"/>
                <a:cs typeface="Courier"/>
                <a:sym typeface="Courier"/>
              </a:rPr>
              <a:t>friends</a:t>
            </a:r>
            <a:r>
              <a:rPr b="0" i="0" lang="en-US" sz="2400" u="none" cap="none" strike="noStrike">
                <a:solidFill>
                  <a:srgbClr val="00FFFF"/>
                </a:solidFill>
                <a:latin typeface="Courier"/>
                <a:ea typeface="Courier"/>
                <a:cs typeface="Courier"/>
                <a:sym typeface="Courier"/>
              </a:rPr>
              <a:t>[</a:t>
            </a:r>
            <a:r>
              <a:rPr b="0" i="0" lang="en-US" sz="2400" u="none" cap="none" strike="noStrike">
                <a:solidFill>
                  <a:schemeClr val="lt1"/>
                </a:solidFill>
                <a:latin typeface="Courier"/>
                <a:ea typeface="Courier"/>
                <a:cs typeface="Courier"/>
                <a:sym typeface="Courier"/>
              </a:rPr>
              <a:t>1</a:t>
            </a:r>
            <a:r>
              <a:rPr b="0" i="0" lang="en-US" sz="2400" u="none" cap="none" strike="noStrike">
                <a:solidFill>
                  <a:srgbClr val="00FFFF"/>
                </a:solidFill>
                <a:latin typeface="Courier"/>
                <a:ea typeface="Courier"/>
                <a:cs typeface="Courier"/>
                <a:sym typeface="Courier"/>
              </a:rPr>
              <a:t>]</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Glenn</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t/>
            </a:r>
            <a:endParaRPr b="0" i="0" sz="2400" u="none" cap="none" strike="noStrike">
              <a:solidFill>
                <a:schemeClr val="lt1"/>
              </a:solidFill>
              <a:latin typeface="Courier"/>
              <a:ea typeface="Courier"/>
              <a:cs typeface="Courier"/>
              <a:sym typeface="Courier"/>
            </a:endParaRPr>
          </a:p>
        </p:txBody>
      </p:sp>
      <p:sp>
        <p:nvSpPr>
          <p:cNvPr id="68" name="Google Shape;68;p11"/>
          <p:cNvSpPr txBox="1"/>
          <p:nvPr/>
        </p:nvSpPr>
        <p:spPr>
          <a:xfrm>
            <a:off x="3606800" y="6375401"/>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1</a:t>
            </a:r>
            <a:endParaRPr/>
          </a:p>
        </p:txBody>
      </p:sp>
      <p:sp>
        <p:nvSpPr>
          <p:cNvPr id="69" name="Google Shape;69;p11"/>
          <p:cNvSpPr txBox="1"/>
          <p:nvPr/>
        </p:nvSpPr>
        <p:spPr>
          <a:xfrm>
            <a:off x="3035300" y="5651501"/>
            <a:ext cx="1879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Glenn</a:t>
            </a:r>
            <a:endParaRPr/>
          </a:p>
        </p:txBody>
      </p:sp>
      <p:sp>
        <p:nvSpPr>
          <p:cNvPr id="70" name="Google Shape;70;p11"/>
          <p:cNvSpPr txBox="1"/>
          <p:nvPr/>
        </p:nvSpPr>
        <p:spPr>
          <a:xfrm>
            <a:off x="5486400" y="6375401"/>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2</a:t>
            </a:r>
            <a:endParaRPr/>
          </a:p>
        </p:txBody>
      </p:sp>
      <p:sp>
        <p:nvSpPr>
          <p:cNvPr id="71" name="Google Shape;71;p11"/>
          <p:cNvSpPr txBox="1"/>
          <p:nvPr/>
        </p:nvSpPr>
        <p:spPr>
          <a:xfrm>
            <a:off x="4914900" y="5651501"/>
            <a:ext cx="1879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Sally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2"/>
          <p:cNvSpPr txBox="1"/>
          <p:nvPr>
            <p:ph type="title"/>
          </p:nvPr>
        </p:nvSpPr>
        <p:spPr>
          <a:xfrm>
            <a:off x="1155700" y="789709"/>
            <a:ext cx="134493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Lists are Mutable</a:t>
            </a:r>
            <a:endParaRPr/>
          </a:p>
        </p:txBody>
      </p:sp>
      <p:sp>
        <p:nvSpPr>
          <p:cNvPr id="77" name="Google Shape;77;p12"/>
          <p:cNvSpPr txBox="1"/>
          <p:nvPr>
            <p:ph idx="1" type="body"/>
          </p:nvPr>
        </p:nvSpPr>
        <p:spPr>
          <a:xfrm>
            <a:off x="1155700" y="2603501"/>
            <a:ext cx="7331075" cy="5156200"/>
          </a:xfrm>
          <a:prstGeom prst="rect">
            <a:avLst/>
          </a:prstGeom>
          <a:noFill/>
          <a:ln>
            <a:noFill/>
          </a:ln>
        </p:spPr>
        <p:txBody>
          <a:bodyPr anchorCtr="0" anchor="ctr" bIns="38100" lIns="38100" spcFirstLastPara="1" rIns="38100" wrap="square" tIns="38100">
            <a:noAutofit/>
          </a:bodyPr>
          <a:lstStyle/>
          <a:p>
            <a:pPr indent="-444500" lvl="0" marL="457200" marR="0" rtl="0" algn="l">
              <a:lnSpc>
                <a:spcPct val="100000"/>
              </a:lnSpc>
              <a:spcBef>
                <a:spcPts val="0"/>
              </a:spcBef>
              <a:spcAft>
                <a:spcPts val="0"/>
              </a:spcAft>
              <a:buSzPts val="3400"/>
              <a:buFont typeface="Cabin"/>
              <a:buChar char="•"/>
            </a:pPr>
            <a:r>
              <a:rPr lang="en-US" sz="3400" u="none" cap="none" strike="noStrike">
                <a:solidFill>
                  <a:schemeClr val="lt1"/>
                </a:solidFill>
                <a:latin typeface="Arial"/>
                <a:ea typeface="Arial"/>
                <a:cs typeface="Arial"/>
                <a:sym typeface="Arial"/>
              </a:rPr>
              <a:t>Strings are </a:t>
            </a:r>
            <a:r>
              <a:rPr lang="en-US" sz="3400">
                <a:solidFill>
                  <a:schemeClr val="lt1"/>
                </a:solidFill>
                <a:latin typeface="Arial"/>
                <a:ea typeface="Arial"/>
                <a:cs typeface="Arial"/>
                <a:sym typeface="Arial"/>
              </a:rPr>
              <a:t>“</a:t>
            </a:r>
            <a:r>
              <a:rPr lang="en-US" sz="3400" u="none" cap="none" strike="noStrike">
                <a:solidFill>
                  <a:srgbClr val="00FF00"/>
                </a:solidFill>
                <a:latin typeface="Arial"/>
                <a:ea typeface="Arial"/>
                <a:cs typeface="Arial"/>
                <a:sym typeface="Arial"/>
              </a:rPr>
              <a:t>immutable</a:t>
            </a:r>
            <a:r>
              <a:rPr lang="en-US" sz="3400">
                <a:solidFill>
                  <a:schemeClr val="lt1"/>
                </a:solidFill>
                <a:latin typeface="Arial"/>
                <a:ea typeface="Arial"/>
                <a:cs typeface="Arial"/>
                <a:sym typeface="Arial"/>
              </a:rPr>
              <a:t>”</a:t>
            </a:r>
            <a:r>
              <a:rPr lang="en-US" sz="3400" u="none" cap="none" strike="noStrike">
                <a:solidFill>
                  <a:schemeClr val="lt1"/>
                </a:solidFill>
                <a:latin typeface="Arial"/>
                <a:ea typeface="Arial"/>
                <a:cs typeface="Arial"/>
                <a:sym typeface="Arial"/>
              </a:rPr>
              <a:t> - we cannot change the contents of a string - we must make a </a:t>
            </a:r>
            <a:r>
              <a:rPr lang="en-US" sz="3400" u="none" cap="none" strike="noStrike">
                <a:solidFill>
                  <a:srgbClr val="FF00FF"/>
                </a:solidFill>
                <a:latin typeface="Arial"/>
                <a:ea typeface="Arial"/>
                <a:cs typeface="Arial"/>
                <a:sym typeface="Arial"/>
              </a:rPr>
              <a:t>new string</a:t>
            </a:r>
            <a:r>
              <a:rPr lang="en-US" sz="3400" u="none" cap="none" strike="noStrike">
                <a:solidFill>
                  <a:schemeClr val="lt1"/>
                </a:solidFill>
                <a:latin typeface="Arial"/>
                <a:ea typeface="Arial"/>
                <a:cs typeface="Arial"/>
                <a:sym typeface="Arial"/>
              </a:rPr>
              <a:t> to make any change</a:t>
            </a:r>
            <a:endParaRPr/>
          </a:p>
          <a:p>
            <a:pPr indent="-444500" lvl="0" marL="457200" rtl="0" algn="l">
              <a:lnSpc>
                <a:spcPct val="100000"/>
              </a:lnSpc>
              <a:spcBef>
                <a:spcPts val="4500"/>
              </a:spcBef>
              <a:spcAft>
                <a:spcPts val="0"/>
              </a:spcAft>
              <a:buSzPts val="3400"/>
              <a:buChar char="•"/>
            </a:pPr>
            <a:r>
              <a:rPr lang="en-US" sz="3400" u="none" cap="none" strike="noStrike">
                <a:solidFill>
                  <a:schemeClr val="lt1"/>
                </a:solidFill>
                <a:latin typeface="Arial"/>
                <a:ea typeface="Arial"/>
                <a:cs typeface="Arial"/>
                <a:sym typeface="Arial"/>
              </a:rPr>
              <a:t>Lists are </a:t>
            </a:r>
            <a:r>
              <a:rPr lang="en-US" sz="3400">
                <a:solidFill>
                  <a:schemeClr val="lt1"/>
                </a:solidFill>
                <a:latin typeface="Arial"/>
                <a:ea typeface="Arial"/>
                <a:cs typeface="Arial"/>
                <a:sym typeface="Arial"/>
              </a:rPr>
              <a:t>“</a:t>
            </a:r>
            <a:r>
              <a:rPr lang="en-US" sz="3400" u="none" cap="none" strike="noStrike">
                <a:solidFill>
                  <a:srgbClr val="00FF00"/>
                </a:solidFill>
                <a:latin typeface="Arial"/>
                <a:ea typeface="Arial"/>
                <a:cs typeface="Arial"/>
                <a:sym typeface="Arial"/>
              </a:rPr>
              <a:t>mutable</a:t>
            </a:r>
            <a:r>
              <a:rPr lang="en-US" sz="3400">
                <a:solidFill>
                  <a:schemeClr val="lt1"/>
                </a:solidFill>
                <a:latin typeface="Arial"/>
                <a:ea typeface="Arial"/>
                <a:cs typeface="Arial"/>
                <a:sym typeface="Arial"/>
              </a:rPr>
              <a:t>”</a:t>
            </a:r>
            <a:r>
              <a:rPr lang="en-US" sz="3400" u="none" cap="none" strike="noStrike">
                <a:solidFill>
                  <a:schemeClr val="lt1"/>
                </a:solidFill>
                <a:latin typeface="Arial"/>
                <a:ea typeface="Arial"/>
                <a:cs typeface="Arial"/>
                <a:sym typeface="Arial"/>
              </a:rPr>
              <a:t> - we can </a:t>
            </a:r>
            <a:r>
              <a:rPr lang="en-US" sz="3400" u="none" cap="none" strike="noStrike">
                <a:solidFill>
                  <a:srgbClr val="FF00FF"/>
                </a:solidFill>
                <a:latin typeface="Arial"/>
                <a:ea typeface="Arial"/>
                <a:cs typeface="Arial"/>
                <a:sym typeface="Arial"/>
              </a:rPr>
              <a:t>change</a:t>
            </a:r>
            <a:r>
              <a:rPr lang="en-US" sz="3400" u="none" cap="none" strike="noStrike">
                <a:solidFill>
                  <a:schemeClr val="lt1"/>
                </a:solidFill>
                <a:latin typeface="Arial"/>
                <a:ea typeface="Arial"/>
                <a:cs typeface="Arial"/>
                <a:sym typeface="Arial"/>
              </a:rPr>
              <a:t> an element of a list using the </a:t>
            </a:r>
            <a:r>
              <a:rPr lang="en-US" sz="3400" u="none" cap="none" strike="noStrike">
                <a:solidFill>
                  <a:srgbClr val="00FFFF"/>
                </a:solidFill>
                <a:latin typeface="Arial"/>
                <a:ea typeface="Arial"/>
                <a:cs typeface="Arial"/>
                <a:sym typeface="Arial"/>
              </a:rPr>
              <a:t>index</a:t>
            </a:r>
            <a:r>
              <a:rPr lang="en-US" sz="3400" u="none" cap="none" strike="noStrike">
                <a:solidFill>
                  <a:schemeClr val="lt1"/>
                </a:solidFill>
                <a:latin typeface="Arial"/>
                <a:ea typeface="Arial"/>
                <a:cs typeface="Arial"/>
                <a:sym typeface="Arial"/>
              </a:rPr>
              <a:t> operator</a:t>
            </a:r>
            <a:endParaRPr/>
          </a:p>
        </p:txBody>
      </p:sp>
      <p:sp>
        <p:nvSpPr>
          <p:cNvPr id="78" name="Google Shape;78;p12"/>
          <p:cNvSpPr txBox="1"/>
          <p:nvPr/>
        </p:nvSpPr>
        <p:spPr>
          <a:xfrm>
            <a:off x="9334300" y="2447925"/>
            <a:ext cx="6464399" cy="596944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rgbClr val="00FF00"/>
                </a:solidFill>
                <a:latin typeface="Courier"/>
                <a:ea typeface="Courier"/>
                <a:cs typeface="Courier"/>
                <a:sym typeface="Courier"/>
              </a:rPr>
              <a:t>fruit</a:t>
            </a:r>
            <a:r>
              <a:rPr b="0" i="0" lang="en-US" sz="2400" u="none" cap="none" strike="noStrike">
                <a:solidFill>
                  <a:schemeClr val="lt1"/>
                </a:solidFill>
                <a:latin typeface="Courier"/>
                <a:ea typeface="Courier"/>
                <a:cs typeface="Courier"/>
                <a:sym typeface="Courier"/>
              </a:rPr>
              <a:t> = 'Banana'</a:t>
            </a: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rgbClr val="00FF00"/>
                </a:solidFill>
                <a:latin typeface="Courier"/>
                <a:ea typeface="Courier"/>
                <a:cs typeface="Courier"/>
                <a:sym typeface="Courier"/>
              </a:rPr>
              <a:t>fruit</a:t>
            </a:r>
            <a:r>
              <a:rPr b="0" i="0" lang="en-US" sz="2400" u="none" cap="none" strike="noStrike">
                <a:solidFill>
                  <a:srgbClr val="00FFFF"/>
                </a:solidFill>
                <a:latin typeface="Courier"/>
                <a:ea typeface="Courier"/>
                <a:cs typeface="Courier"/>
                <a:sym typeface="Courier"/>
              </a:rPr>
              <a:t>[</a:t>
            </a:r>
            <a:r>
              <a:rPr b="0" i="0" lang="en-US" sz="2400" u="none" cap="none" strike="noStrike">
                <a:solidFill>
                  <a:schemeClr val="lt1"/>
                </a:solidFill>
                <a:latin typeface="Courier"/>
                <a:ea typeface="Courier"/>
                <a:cs typeface="Courier"/>
                <a:sym typeface="Courier"/>
              </a:rPr>
              <a:t>0</a:t>
            </a:r>
            <a:r>
              <a:rPr b="0" i="0" lang="en-US" sz="2400" u="none" cap="none" strike="noStrike">
                <a:solidFill>
                  <a:srgbClr val="00FFFF"/>
                </a:solidFill>
                <a:latin typeface="Courier"/>
                <a:ea typeface="Courier"/>
                <a:cs typeface="Courier"/>
                <a:sym typeface="Courier"/>
              </a:rPr>
              <a:t>]</a:t>
            </a:r>
            <a:r>
              <a:rPr b="0" i="0" lang="en-US" sz="2400" u="none" cap="none" strike="noStrike">
                <a:solidFill>
                  <a:schemeClr val="lt1"/>
                </a:solidFill>
                <a:latin typeface="Courier"/>
                <a:ea typeface="Courier"/>
                <a:cs typeface="Courier"/>
                <a:sym typeface="Courier"/>
              </a:rPr>
              <a:t> = 'b'</a:t>
            </a:r>
            <a:endParaRPr/>
          </a:p>
          <a:p>
            <a:pPr indent="0" lvl="0" marL="0" marR="0" rtl="0" algn="l">
              <a:lnSpc>
                <a:spcPct val="100000"/>
              </a:lnSpc>
              <a:spcBef>
                <a:spcPts val="0"/>
              </a:spcBef>
              <a:spcAft>
                <a:spcPts val="0"/>
              </a:spcAft>
              <a:buClr>
                <a:srgbClr val="FF66FF"/>
              </a:buClr>
              <a:buSzPts val="600"/>
              <a:buFont typeface="Cabin"/>
              <a:buNone/>
            </a:pPr>
            <a:r>
              <a:rPr b="0" i="0" lang="en-US" sz="2400" u="none" cap="none" strike="noStrike">
                <a:solidFill>
                  <a:srgbClr val="E06666"/>
                </a:solidFill>
                <a:latin typeface="Courier"/>
                <a:ea typeface="Courier"/>
                <a:cs typeface="Courier"/>
                <a:sym typeface="Courier"/>
              </a:rPr>
              <a:t>Traceback </a:t>
            </a:r>
            <a:endParaRPr/>
          </a:p>
          <a:p>
            <a:pPr indent="0" lvl="0" marL="0" marR="0" rtl="0" algn="l">
              <a:lnSpc>
                <a:spcPct val="100000"/>
              </a:lnSpc>
              <a:spcBef>
                <a:spcPts val="0"/>
              </a:spcBef>
              <a:spcAft>
                <a:spcPts val="0"/>
              </a:spcAft>
              <a:buClr>
                <a:srgbClr val="FF66FF"/>
              </a:buClr>
              <a:buSzPts val="600"/>
              <a:buFont typeface="Cabin"/>
              <a:buNone/>
            </a:pPr>
            <a:r>
              <a:rPr b="0" i="0" lang="en-US" sz="2400" u="none" cap="none" strike="noStrike">
                <a:solidFill>
                  <a:srgbClr val="E06666"/>
                </a:solidFill>
                <a:latin typeface="Courier"/>
                <a:ea typeface="Courier"/>
                <a:cs typeface="Courier"/>
                <a:sym typeface="Courier"/>
              </a:rPr>
              <a:t>TypeError: 'str' object does not </a:t>
            </a:r>
            <a:endParaRPr/>
          </a:p>
          <a:p>
            <a:pPr indent="0" lvl="0" marL="0" marR="0" rtl="0" algn="l">
              <a:lnSpc>
                <a:spcPct val="100000"/>
              </a:lnSpc>
              <a:spcBef>
                <a:spcPts val="0"/>
              </a:spcBef>
              <a:spcAft>
                <a:spcPts val="0"/>
              </a:spcAft>
              <a:buClr>
                <a:srgbClr val="FF66FF"/>
              </a:buClr>
              <a:buSzPts val="600"/>
              <a:buFont typeface="Cabin"/>
              <a:buNone/>
            </a:pPr>
            <a:r>
              <a:rPr b="0" i="0" lang="en-US" sz="2400" u="none" cap="none" strike="noStrike">
                <a:solidFill>
                  <a:srgbClr val="E06666"/>
                </a:solidFill>
                <a:latin typeface="Courier"/>
                <a:ea typeface="Courier"/>
                <a:cs typeface="Courier"/>
                <a:sym typeface="Courier"/>
              </a:rPr>
              <a:t>support item assignment</a:t>
            </a:r>
            <a:endParaRPr/>
          </a:p>
          <a:p>
            <a:pPr indent="0" lvl="0" marL="0" marR="0" rtl="0" algn="l">
              <a:lnSpc>
                <a:spcPct val="100000"/>
              </a:lnSpc>
              <a:spcBef>
                <a:spcPts val="0"/>
              </a:spcBef>
              <a:spcAft>
                <a:spcPts val="0"/>
              </a:spcAft>
              <a:buClr>
                <a:schemeClr val="lt1"/>
              </a:buClr>
              <a:buSzPts val="600"/>
              <a:buFont typeface="Cabin"/>
              <a:buNone/>
            </a:pPr>
            <a:r>
              <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rgbClr val="00FF00"/>
                </a:solidFill>
                <a:latin typeface="Courier"/>
                <a:ea typeface="Courier"/>
                <a:cs typeface="Courier"/>
                <a:sym typeface="Courier"/>
              </a:rPr>
              <a:t>lotto</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FF7F00"/>
                </a:solidFill>
                <a:latin typeface="Courier"/>
                <a:ea typeface="Courier"/>
                <a:cs typeface="Courier"/>
                <a:sym typeface="Courier"/>
              </a:rPr>
              <a:t>[2, 14, 26, 41, 63]</a:t>
            </a:r>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rgbClr val="00FF00"/>
                </a:solidFill>
                <a:latin typeface="Courier"/>
                <a:ea typeface="Courier"/>
                <a:cs typeface="Courier"/>
                <a:sym typeface="Courier"/>
              </a:rPr>
              <a:t>lotto</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[2, 14, 26, 41, 63]</a:t>
            </a:r>
            <a:endParaRPr/>
          </a:p>
          <a:p>
            <a:pPr indent="0" lvl="0" marL="0" marR="0" rtl="0" algn="l">
              <a:lnSpc>
                <a:spcPct val="100000"/>
              </a:lnSpc>
              <a:spcBef>
                <a:spcPts val="0"/>
              </a:spcBef>
              <a:spcAft>
                <a:spcPts val="0"/>
              </a:spcAft>
              <a:buClr>
                <a:schemeClr val="lt1"/>
              </a:buClr>
              <a:buSzPts val="600"/>
              <a:buFont typeface="Cabin"/>
              <a:buNone/>
            </a:pPr>
            <a:r>
              <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rgbClr val="00FF00"/>
                </a:solidFill>
                <a:latin typeface="Courier"/>
                <a:ea typeface="Courier"/>
                <a:cs typeface="Courier"/>
                <a:sym typeface="Courier"/>
              </a:rPr>
              <a:t>lotto</a:t>
            </a:r>
            <a:r>
              <a:rPr b="0" i="0" lang="en-US" sz="2400" u="none" cap="none" strike="noStrike">
                <a:solidFill>
                  <a:srgbClr val="00FFFF"/>
                </a:solidFill>
                <a:latin typeface="Courier"/>
                <a:ea typeface="Courier"/>
                <a:cs typeface="Courier"/>
                <a:sym typeface="Courier"/>
              </a:rPr>
              <a:t>[</a:t>
            </a:r>
            <a:r>
              <a:rPr b="0" i="0" lang="en-US" sz="2400" u="none" cap="none" strike="noStrike">
                <a:solidFill>
                  <a:schemeClr val="lt1"/>
                </a:solidFill>
                <a:latin typeface="Courier"/>
                <a:ea typeface="Courier"/>
                <a:cs typeface="Courier"/>
                <a:sym typeface="Courier"/>
              </a:rPr>
              <a:t>2</a:t>
            </a:r>
            <a:r>
              <a:rPr b="0" i="0" lang="en-US" sz="2400" u="none" cap="none" strike="noStrike">
                <a:solidFill>
                  <a:srgbClr val="00FFFF"/>
                </a:solidFill>
                <a:latin typeface="Courier"/>
                <a:ea typeface="Courier"/>
                <a:cs typeface="Courier"/>
                <a:sym typeface="Courier"/>
              </a:rPr>
              <a:t>]</a:t>
            </a:r>
            <a:r>
              <a:rPr b="0" i="0" lang="en-US" sz="2400" u="none" cap="none" strike="noStrike">
                <a:solidFill>
                  <a:schemeClr val="lt1"/>
                </a:solidFill>
                <a:latin typeface="Courier"/>
                <a:ea typeface="Courier"/>
                <a:cs typeface="Courier"/>
                <a:sym typeface="Courier"/>
              </a:rPr>
              <a:t> = 28</a:t>
            </a:r>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rgbClr val="00FF00"/>
                </a:solidFill>
                <a:latin typeface="Courier"/>
                <a:ea typeface="Courier"/>
                <a:cs typeface="Courier"/>
                <a:sym typeface="Courier"/>
              </a:rPr>
              <a:t>lotto</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[2, 14, </a:t>
            </a:r>
            <a:r>
              <a:rPr b="0" i="0" lang="en-US" sz="2400" u="none" cap="none" strike="noStrike">
                <a:solidFill>
                  <a:srgbClr val="FF00FF"/>
                </a:solidFill>
                <a:latin typeface="Courier"/>
                <a:ea typeface="Courier"/>
                <a:cs typeface="Courier"/>
                <a:sym typeface="Courier"/>
              </a:rPr>
              <a:t>28</a:t>
            </a:r>
            <a:r>
              <a:rPr b="0" i="0" lang="en-US" sz="2400" u="none" cap="none" strike="noStrike">
                <a:solidFill>
                  <a:schemeClr val="lt1"/>
                </a:solidFill>
                <a:latin typeface="Courier"/>
                <a:ea typeface="Courier"/>
                <a:cs typeface="Courier"/>
                <a:sym typeface="Courier"/>
              </a:rPr>
              <a:t>, 41, 63]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3"/>
          <p:cNvSpPr txBox="1"/>
          <p:nvPr>
            <p:ph type="title"/>
          </p:nvPr>
        </p:nvSpPr>
        <p:spPr>
          <a:xfrm>
            <a:off x="1155700" y="789709"/>
            <a:ext cx="13144499"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How Long is a List?</a:t>
            </a:r>
            <a:endParaRPr/>
          </a:p>
        </p:txBody>
      </p:sp>
      <p:sp>
        <p:nvSpPr>
          <p:cNvPr id="84" name="Google Shape;84;p13"/>
          <p:cNvSpPr txBox="1"/>
          <p:nvPr>
            <p:ph idx="1" type="body"/>
          </p:nvPr>
        </p:nvSpPr>
        <p:spPr>
          <a:xfrm>
            <a:off x="269875" y="2603500"/>
            <a:ext cx="7488238" cy="5702299"/>
          </a:xfrm>
          <a:prstGeom prst="rect">
            <a:avLst/>
          </a:prstGeom>
          <a:noFill/>
          <a:ln>
            <a:noFill/>
          </a:ln>
        </p:spPr>
        <p:txBody>
          <a:bodyPr anchorCtr="0" anchor="ctr" bIns="38100" lIns="38100" spcFirstLastPara="1" rIns="38100" wrap="square" tIns="38100">
            <a:noAutofit/>
          </a:bodyPr>
          <a:lstStyle/>
          <a:p>
            <a:pPr indent="-444500" lvl="0" marL="457200" marR="0" rtl="0" algn="l">
              <a:lnSpc>
                <a:spcPct val="100000"/>
              </a:lnSpc>
              <a:spcBef>
                <a:spcPts val="0"/>
              </a:spcBef>
              <a:spcAft>
                <a:spcPts val="0"/>
              </a:spcAft>
              <a:buSzPts val="3400"/>
              <a:buFont typeface="Cabin"/>
              <a:buChar char="•"/>
            </a:pPr>
            <a:r>
              <a:rPr lang="en-US" sz="3400" u="none" cap="none" strike="noStrike">
                <a:solidFill>
                  <a:schemeClr val="lt1"/>
                </a:solidFill>
                <a:latin typeface="Arial"/>
                <a:ea typeface="Arial"/>
                <a:cs typeface="Arial"/>
                <a:sym typeface="Arial"/>
              </a:rPr>
              <a:t>The </a:t>
            </a:r>
            <a:r>
              <a:rPr lang="en-US" sz="3400" u="none" cap="none" strike="noStrike">
                <a:solidFill>
                  <a:srgbClr val="FF00FF"/>
                </a:solidFill>
                <a:latin typeface="Arial"/>
                <a:ea typeface="Arial"/>
                <a:cs typeface="Arial"/>
                <a:sym typeface="Arial"/>
              </a:rPr>
              <a:t>len()</a:t>
            </a:r>
            <a:r>
              <a:rPr lang="en-US" sz="3400" u="none" cap="none" strike="noStrike">
                <a:solidFill>
                  <a:schemeClr val="lt1"/>
                </a:solidFill>
                <a:latin typeface="Arial"/>
                <a:ea typeface="Arial"/>
                <a:cs typeface="Arial"/>
                <a:sym typeface="Arial"/>
              </a:rPr>
              <a:t> function takes a </a:t>
            </a:r>
            <a:r>
              <a:rPr lang="en-US" sz="3400" u="none" cap="none" strike="noStrike">
                <a:solidFill>
                  <a:srgbClr val="FF7F00"/>
                </a:solidFill>
                <a:latin typeface="Arial"/>
                <a:ea typeface="Arial"/>
                <a:cs typeface="Arial"/>
                <a:sym typeface="Arial"/>
              </a:rPr>
              <a:t>list</a:t>
            </a:r>
            <a:r>
              <a:rPr lang="en-US" sz="3400" u="none" cap="none" strike="noStrike">
                <a:solidFill>
                  <a:schemeClr val="lt1"/>
                </a:solidFill>
                <a:latin typeface="Arial"/>
                <a:ea typeface="Arial"/>
                <a:cs typeface="Arial"/>
                <a:sym typeface="Arial"/>
              </a:rPr>
              <a:t> as a parameter and returns the number of </a:t>
            </a:r>
            <a:r>
              <a:rPr lang="en-US" sz="3400" u="none" cap="none" strike="noStrike">
                <a:solidFill>
                  <a:srgbClr val="00FFFF"/>
                </a:solidFill>
                <a:latin typeface="Arial"/>
                <a:ea typeface="Arial"/>
                <a:cs typeface="Arial"/>
                <a:sym typeface="Arial"/>
              </a:rPr>
              <a:t>elements</a:t>
            </a:r>
            <a:r>
              <a:rPr lang="en-US" sz="3400" u="none" cap="none" strike="noStrike">
                <a:solidFill>
                  <a:schemeClr val="lt1"/>
                </a:solidFill>
                <a:latin typeface="Arial"/>
                <a:ea typeface="Arial"/>
                <a:cs typeface="Arial"/>
                <a:sym typeface="Arial"/>
              </a:rPr>
              <a:t> in the </a:t>
            </a:r>
            <a:r>
              <a:rPr lang="en-US" sz="3400" u="none" cap="none" strike="noStrike">
                <a:solidFill>
                  <a:srgbClr val="FF7F00"/>
                </a:solidFill>
                <a:latin typeface="Arial"/>
                <a:ea typeface="Arial"/>
                <a:cs typeface="Arial"/>
                <a:sym typeface="Arial"/>
              </a:rPr>
              <a:t>list</a:t>
            </a:r>
            <a:endParaRPr/>
          </a:p>
          <a:p>
            <a:pPr indent="-444500" lvl="0" marL="457200" marR="0" rtl="0" algn="l">
              <a:lnSpc>
                <a:spcPct val="100000"/>
              </a:lnSpc>
              <a:spcBef>
                <a:spcPts val="4500"/>
              </a:spcBef>
              <a:spcAft>
                <a:spcPts val="0"/>
              </a:spcAft>
              <a:buSzPts val="3400"/>
              <a:buFont typeface="Cabin"/>
              <a:buChar char="•"/>
            </a:pPr>
            <a:r>
              <a:rPr lang="en-US" sz="3400" u="none" cap="none" strike="noStrike">
                <a:solidFill>
                  <a:schemeClr val="lt1"/>
                </a:solidFill>
                <a:latin typeface="Arial"/>
                <a:ea typeface="Arial"/>
                <a:cs typeface="Arial"/>
                <a:sym typeface="Arial"/>
              </a:rPr>
              <a:t>Actually </a:t>
            </a:r>
            <a:r>
              <a:rPr lang="en-US" sz="3400" u="none" cap="none" strike="noStrike">
                <a:solidFill>
                  <a:srgbClr val="FF00FF"/>
                </a:solidFill>
                <a:latin typeface="Arial"/>
                <a:ea typeface="Arial"/>
                <a:cs typeface="Arial"/>
                <a:sym typeface="Arial"/>
              </a:rPr>
              <a:t>len()</a:t>
            </a:r>
            <a:r>
              <a:rPr lang="en-US" sz="3400" u="none" cap="none" strike="noStrike">
                <a:solidFill>
                  <a:schemeClr val="lt1"/>
                </a:solidFill>
                <a:latin typeface="Arial"/>
                <a:ea typeface="Arial"/>
                <a:cs typeface="Arial"/>
                <a:sym typeface="Arial"/>
              </a:rPr>
              <a:t> tells us the number of elements of any set or sequence (such as a string...)</a:t>
            </a:r>
            <a:endParaRPr/>
          </a:p>
        </p:txBody>
      </p:sp>
      <p:sp>
        <p:nvSpPr>
          <p:cNvPr id="85" name="Google Shape;85;p13"/>
          <p:cNvSpPr txBox="1"/>
          <p:nvPr/>
        </p:nvSpPr>
        <p:spPr>
          <a:xfrm>
            <a:off x="7843838" y="3546475"/>
            <a:ext cx="8383587" cy="602614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greet</a:t>
            </a:r>
            <a:r>
              <a:rPr b="0" i="0" lang="en-US" sz="3000" u="none" cap="none" strike="noStrike">
                <a:solidFill>
                  <a:schemeClr val="lt1"/>
                </a:solidFill>
                <a:latin typeface="Courier"/>
                <a:ea typeface="Courier"/>
                <a:cs typeface="Courier"/>
                <a:sym typeface="Courier"/>
              </a:rPr>
              <a:t> = 'Hello Bob'</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00FF"/>
                </a:solidFill>
                <a:latin typeface="Courier"/>
                <a:ea typeface="Courier"/>
                <a:cs typeface="Courier"/>
                <a:sym typeface="Courier"/>
              </a:rPr>
              <a:t>len</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greet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9</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[ 1, 2, 'joe', 99]</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00FF"/>
                </a:solidFill>
                <a:latin typeface="Courier"/>
                <a:ea typeface="Courier"/>
                <a:cs typeface="Courier"/>
                <a:sym typeface="Courier"/>
              </a:rPr>
              <a:t>len</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4</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00FF00"/>
                </a:solidFill>
                <a:latin typeface="Courier"/>
                <a:ea typeface="Courier"/>
                <a:cs typeface="Courier"/>
                <a:sym typeface="Courier"/>
              </a:rPr>
              <a:t>y</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 ‘spam’, 1, [‘A’,’B’], [1,2]]</a:t>
            </a:r>
            <a:endParaRPr b="0" i="0" sz="30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00FF"/>
                </a:solidFill>
                <a:latin typeface="Courier"/>
                <a:ea typeface="Courier"/>
                <a:cs typeface="Courier"/>
                <a:sym typeface="Courier"/>
              </a:rPr>
              <a:t>len</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y</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4</a:t>
            </a:r>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000000"/>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000000"/>
              </a:solidFill>
              <a:latin typeface="Courier"/>
              <a:ea typeface="Courier"/>
              <a:cs typeface="Courier"/>
              <a:sym typeface="Couri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Using the </a:t>
            </a:r>
            <a:r>
              <a:rPr lang="en-US" sz="7600" u="none" cap="none" strike="noStrike">
                <a:solidFill>
                  <a:srgbClr val="FF00FF"/>
                </a:solidFill>
                <a:latin typeface="Arial"/>
                <a:ea typeface="Arial"/>
                <a:cs typeface="Arial"/>
                <a:sym typeface="Arial"/>
              </a:rPr>
              <a:t>range</a:t>
            </a:r>
            <a:r>
              <a:rPr lang="en-US" sz="7600" u="none" cap="none" strike="noStrike">
                <a:solidFill>
                  <a:srgbClr val="FFFF00"/>
                </a:solidFill>
                <a:latin typeface="Arial"/>
                <a:ea typeface="Arial"/>
                <a:cs typeface="Arial"/>
                <a:sym typeface="Arial"/>
              </a:rPr>
              <a:t> </a:t>
            </a:r>
            <a:r>
              <a:rPr lang="en-US" sz="7600" u="none" cap="none" strike="noStrike">
                <a:solidFill>
                  <a:srgbClr val="FFD966"/>
                </a:solidFill>
                <a:latin typeface="Arial"/>
                <a:ea typeface="Arial"/>
                <a:cs typeface="Arial"/>
                <a:sym typeface="Arial"/>
              </a:rPr>
              <a:t>Function</a:t>
            </a:r>
            <a:endParaRPr/>
          </a:p>
        </p:txBody>
      </p:sp>
      <p:sp>
        <p:nvSpPr>
          <p:cNvPr id="91" name="Google Shape;91;p14"/>
          <p:cNvSpPr txBox="1"/>
          <p:nvPr>
            <p:ph idx="1" type="body"/>
          </p:nvPr>
        </p:nvSpPr>
        <p:spPr>
          <a:xfrm>
            <a:off x="1155700" y="2603500"/>
            <a:ext cx="5916613" cy="5702299"/>
          </a:xfrm>
          <a:prstGeom prst="rect">
            <a:avLst/>
          </a:prstGeom>
          <a:noFill/>
          <a:ln>
            <a:noFill/>
          </a:ln>
        </p:spPr>
        <p:txBody>
          <a:bodyPr anchorCtr="0" anchor="ctr" bIns="38100" lIns="38100" spcFirstLastPara="1" rIns="38100" wrap="square" tIns="38100">
            <a:noAutofit/>
          </a:bodyPr>
          <a:lstStyle/>
          <a:p>
            <a:pPr indent="-444500" lvl="0" marL="457200" marR="0" rtl="0" algn="l">
              <a:lnSpc>
                <a:spcPct val="100000"/>
              </a:lnSpc>
              <a:spcBef>
                <a:spcPts val="0"/>
              </a:spcBef>
              <a:spcAft>
                <a:spcPts val="0"/>
              </a:spcAft>
              <a:buSzPts val="3400"/>
              <a:buFont typeface="Cabin"/>
              <a:buChar char="•"/>
            </a:pPr>
            <a:r>
              <a:rPr lang="en-US" sz="3400" u="none" cap="none" strike="noStrike">
                <a:solidFill>
                  <a:schemeClr val="lt1"/>
                </a:solidFill>
                <a:latin typeface="Arial"/>
                <a:ea typeface="Arial"/>
                <a:cs typeface="Arial"/>
                <a:sym typeface="Arial"/>
              </a:rPr>
              <a:t>The </a:t>
            </a:r>
            <a:r>
              <a:rPr lang="en-US" sz="3400" u="none" cap="none" strike="noStrike">
                <a:solidFill>
                  <a:srgbClr val="FF00FF"/>
                </a:solidFill>
                <a:latin typeface="Arial"/>
                <a:ea typeface="Arial"/>
                <a:cs typeface="Arial"/>
                <a:sym typeface="Arial"/>
              </a:rPr>
              <a:t>range</a:t>
            </a:r>
            <a:r>
              <a:rPr lang="en-US" sz="3400" u="none" cap="none" strike="noStrike">
                <a:solidFill>
                  <a:schemeClr val="lt1"/>
                </a:solidFill>
                <a:latin typeface="Arial"/>
                <a:ea typeface="Arial"/>
                <a:cs typeface="Arial"/>
                <a:sym typeface="Arial"/>
              </a:rPr>
              <a:t> function </a:t>
            </a:r>
            <a:r>
              <a:rPr lang="en-US" sz="3400" u="none" cap="none" strike="noStrike">
                <a:solidFill>
                  <a:srgbClr val="FF00FF"/>
                </a:solidFill>
                <a:latin typeface="Arial"/>
                <a:ea typeface="Arial"/>
                <a:cs typeface="Arial"/>
                <a:sym typeface="Arial"/>
              </a:rPr>
              <a:t>returns a list of numbers</a:t>
            </a:r>
            <a:r>
              <a:rPr lang="en-US" sz="3400" u="none" cap="none" strike="noStrike">
                <a:solidFill>
                  <a:schemeClr val="lt1"/>
                </a:solidFill>
                <a:latin typeface="Arial"/>
                <a:ea typeface="Arial"/>
                <a:cs typeface="Arial"/>
                <a:sym typeface="Arial"/>
              </a:rPr>
              <a:t> that range from zero to one less than the </a:t>
            </a:r>
            <a:r>
              <a:rPr lang="en-US" sz="3400" u="none" cap="none" strike="noStrike">
                <a:solidFill>
                  <a:srgbClr val="00FFFF"/>
                </a:solidFill>
                <a:latin typeface="Arial"/>
                <a:ea typeface="Arial"/>
                <a:cs typeface="Arial"/>
                <a:sym typeface="Arial"/>
              </a:rPr>
              <a:t>parameter</a:t>
            </a:r>
            <a:endParaRPr/>
          </a:p>
          <a:p>
            <a:pPr indent="-444500" lvl="0" marL="457200" marR="0" rtl="0" algn="l">
              <a:lnSpc>
                <a:spcPct val="100000"/>
              </a:lnSpc>
              <a:spcBef>
                <a:spcPts val="4500"/>
              </a:spcBef>
              <a:spcAft>
                <a:spcPts val="0"/>
              </a:spcAft>
              <a:buSzPts val="3400"/>
              <a:buFont typeface="Cabin"/>
              <a:buChar char="•"/>
            </a:pPr>
            <a:r>
              <a:rPr lang="en-US" sz="3400" u="none" cap="none" strike="noStrike">
                <a:solidFill>
                  <a:schemeClr val="lt1"/>
                </a:solidFill>
                <a:latin typeface="Arial"/>
                <a:ea typeface="Arial"/>
                <a:cs typeface="Arial"/>
                <a:sym typeface="Arial"/>
              </a:rPr>
              <a:t>We can construct an index loop using </a:t>
            </a:r>
            <a:r>
              <a:rPr lang="en-US" sz="3400" u="none" cap="none" strike="noStrike">
                <a:solidFill>
                  <a:srgbClr val="FFFF00"/>
                </a:solidFill>
                <a:latin typeface="Arial"/>
                <a:ea typeface="Arial"/>
                <a:cs typeface="Arial"/>
                <a:sym typeface="Arial"/>
              </a:rPr>
              <a:t>for</a:t>
            </a:r>
            <a:r>
              <a:rPr lang="en-US" sz="3400" u="none" cap="none" strike="noStrike">
                <a:solidFill>
                  <a:schemeClr val="lt1"/>
                </a:solidFill>
                <a:latin typeface="Arial"/>
                <a:ea typeface="Arial"/>
                <a:cs typeface="Arial"/>
                <a:sym typeface="Arial"/>
              </a:rPr>
              <a:t> and an integer</a:t>
            </a:r>
            <a:r>
              <a:rPr lang="en-US" sz="3400" u="none" cap="none" strike="noStrike">
                <a:solidFill>
                  <a:srgbClr val="00FF00"/>
                </a:solidFill>
                <a:latin typeface="Arial"/>
                <a:ea typeface="Arial"/>
                <a:cs typeface="Arial"/>
                <a:sym typeface="Arial"/>
              </a:rPr>
              <a:t> iterator</a:t>
            </a:r>
            <a:endParaRPr/>
          </a:p>
        </p:txBody>
      </p:sp>
      <p:sp>
        <p:nvSpPr>
          <p:cNvPr id="92" name="Google Shape;92;p14"/>
          <p:cNvSpPr txBox="1"/>
          <p:nvPr/>
        </p:nvSpPr>
        <p:spPr>
          <a:xfrm>
            <a:off x="8126250" y="2308225"/>
            <a:ext cx="7843799" cy="579754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rgbClr val="FF00FF"/>
                </a:solidFill>
                <a:latin typeface="Courier"/>
                <a:ea typeface="Courier"/>
                <a:cs typeface="Courier"/>
                <a:sym typeface="Courier"/>
              </a:rPr>
              <a:t>range</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00FFFF"/>
                </a:solidFill>
                <a:latin typeface="Courier"/>
                <a:ea typeface="Courier"/>
                <a:cs typeface="Courier"/>
                <a:sym typeface="Courier"/>
              </a:rPr>
              <a:t>4</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FFFF00"/>
                </a:solidFill>
                <a:latin typeface="Courier"/>
                <a:ea typeface="Courier"/>
                <a:cs typeface="Courier"/>
                <a:sym typeface="Courier"/>
              </a:rPr>
              <a:t>)</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600"/>
              <a:buFont typeface="Cabin"/>
              <a:buNone/>
            </a:pPr>
            <a:r>
              <a:rPr b="0" i="0" lang="en-US" sz="2400" u="none" cap="none" strike="noStrike">
                <a:solidFill>
                  <a:srgbClr val="FF7F00"/>
                </a:solidFill>
                <a:latin typeface="Courier"/>
                <a:ea typeface="Courier"/>
                <a:cs typeface="Courier"/>
                <a:sym typeface="Courier"/>
              </a:rPr>
              <a:t>[0, 1, 2, 3]</a:t>
            </a:r>
            <a:endParaRPr/>
          </a:p>
          <a:p>
            <a:pPr indent="0" lvl="0" marL="0" marR="0" rtl="0" algn="l">
              <a:lnSpc>
                <a:spcPct val="100000"/>
              </a:lnSpc>
              <a:spcBef>
                <a:spcPts val="0"/>
              </a:spcBef>
              <a:spcAft>
                <a:spcPts val="0"/>
              </a:spcAft>
              <a:buClr>
                <a:srgbClr val="FF7F00"/>
              </a:buClr>
              <a:buSzPts val="600"/>
              <a:buFont typeface="Cabin"/>
              <a:buNone/>
            </a:pPr>
            <a:r>
              <a:t/>
            </a:r>
            <a:endParaRPr b="0" i="0" sz="24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rgbClr val="00FF00"/>
                </a:solidFill>
                <a:latin typeface="Courier"/>
                <a:ea typeface="Courier"/>
                <a:cs typeface="Courier"/>
                <a:sym typeface="Courier"/>
              </a:rPr>
              <a:t>friends</a:t>
            </a:r>
            <a:r>
              <a:rPr b="0" i="0" lang="en-US" sz="2400" u="none" cap="none" strike="noStrike">
                <a:solidFill>
                  <a:schemeClr val="lt1"/>
                </a:solidFill>
                <a:latin typeface="Courier"/>
                <a:ea typeface="Courier"/>
                <a:cs typeface="Courier"/>
                <a:sym typeface="Courier"/>
              </a:rPr>
              <a:t> = ['Joseph', 'Glenn', 'Sally']</a:t>
            </a:r>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rgbClr val="FF00FF"/>
                </a:solidFill>
                <a:latin typeface="Courier"/>
                <a:ea typeface="Courier"/>
                <a:cs typeface="Courier"/>
                <a:sym typeface="Courier"/>
              </a:rPr>
              <a:t>len</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00FF00"/>
                </a:solidFill>
                <a:latin typeface="Courier"/>
                <a:ea typeface="Courier"/>
                <a:cs typeface="Courier"/>
                <a:sym typeface="Courier"/>
              </a:rPr>
              <a:t>friends</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FFFF00"/>
                </a:solidFill>
                <a:latin typeface="Courier"/>
                <a:ea typeface="Courier"/>
                <a:cs typeface="Courier"/>
                <a:sym typeface="Courier"/>
              </a:rPr>
              <a:t>)</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3</a:t>
            </a:r>
            <a:endParaRPr/>
          </a:p>
          <a:p>
            <a:pPr indent="0" lvl="0" marL="0" marR="0" rtl="0" algn="l">
              <a:lnSpc>
                <a:spcPct val="100000"/>
              </a:lnSpc>
              <a:spcBef>
                <a:spcPts val="0"/>
              </a:spcBef>
              <a:spcAft>
                <a:spcPts val="0"/>
              </a:spcAft>
              <a:buClr>
                <a:schemeClr val="lt1"/>
              </a:buClr>
              <a:buSzPts val="600"/>
              <a:buFont typeface="Cabin"/>
              <a:buNone/>
            </a:pPr>
            <a:r>
              <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rgbClr val="FF00FF"/>
                </a:solidFill>
                <a:latin typeface="Courier"/>
                <a:ea typeface="Courier"/>
                <a:cs typeface="Courier"/>
                <a:sym typeface="Courier"/>
              </a:rPr>
              <a:t>range</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FF00FF"/>
                </a:solidFill>
                <a:latin typeface="Courier"/>
                <a:ea typeface="Courier"/>
                <a:cs typeface="Courier"/>
                <a:sym typeface="Courier"/>
              </a:rPr>
              <a:t>len</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00FF00"/>
                </a:solidFill>
                <a:latin typeface="Courier"/>
                <a:ea typeface="Courier"/>
                <a:cs typeface="Courier"/>
                <a:sym typeface="Courier"/>
              </a:rPr>
              <a:t>friends</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FFFF00"/>
                </a:solidFill>
                <a:latin typeface="Courier"/>
                <a:ea typeface="Courier"/>
                <a:cs typeface="Courier"/>
                <a:sym typeface="Courier"/>
              </a:rPr>
              <a:t>)</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600"/>
              <a:buFont typeface="Cabin"/>
              <a:buNone/>
            </a:pPr>
            <a:r>
              <a:rPr b="0" i="0" lang="en-US" sz="2400" u="none" cap="none" strike="noStrike">
                <a:solidFill>
                  <a:srgbClr val="FF7F00"/>
                </a:solidFill>
                <a:latin typeface="Courier"/>
                <a:ea typeface="Courier"/>
                <a:cs typeface="Courier"/>
                <a:sym typeface="Courier"/>
              </a:rPr>
              <a:t>[0, 1, 2]</a:t>
            </a:r>
            <a:endParaRPr/>
          </a:p>
          <a:p>
            <a:pPr indent="0" lvl="0" marL="0" marR="0" rtl="0" algn="l">
              <a:lnSpc>
                <a:spcPct val="100000"/>
              </a:lnSpc>
              <a:spcBef>
                <a:spcPts val="0"/>
              </a:spcBef>
              <a:spcAft>
                <a:spcPts val="0"/>
              </a:spcAft>
              <a:buClr>
                <a:schemeClr val="lt1"/>
              </a:buClr>
              <a:buSzPts val="600"/>
              <a:buFont typeface="Cabin"/>
              <a:buNone/>
            </a:pPr>
            <a:r>
              <a:t/>
            </a:r>
            <a:endParaRPr b="0" i="0" sz="2400" u="none" cap="none" strike="noStrike">
              <a:solidFill>
                <a:schemeClr val="lt1"/>
              </a:solidFill>
              <a:latin typeface="Courier"/>
              <a:ea typeface="Courier"/>
              <a:cs typeface="Courier"/>
              <a:sym typeface="Couri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A Tale of Two Loops...</a:t>
            </a:r>
            <a:endParaRPr/>
          </a:p>
        </p:txBody>
      </p:sp>
      <p:sp>
        <p:nvSpPr>
          <p:cNvPr id="98" name="Google Shape;98;p15"/>
          <p:cNvSpPr txBox="1"/>
          <p:nvPr/>
        </p:nvSpPr>
        <p:spPr>
          <a:xfrm>
            <a:off x="584950" y="3118399"/>
            <a:ext cx="7175700" cy="485402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00"/>
              <a:buFont typeface="Cabin"/>
              <a:buNone/>
            </a:pPr>
            <a:r>
              <a:rPr b="0" i="0" lang="en-US" sz="2400" u="none" cap="none" strike="noStrike">
                <a:solidFill>
                  <a:srgbClr val="00FF00"/>
                </a:solidFill>
                <a:latin typeface="Courier"/>
                <a:ea typeface="Courier"/>
                <a:cs typeface="Courier"/>
                <a:sym typeface="Courier"/>
              </a:rPr>
              <a:t>friends</a:t>
            </a:r>
            <a:r>
              <a:rPr b="0" i="0" lang="en-US" sz="2400" u="none" cap="none" strike="noStrike">
                <a:solidFill>
                  <a:schemeClr val="lt1"/>
                </a:solidFill>
                <a:latin typeface="Courier"/>
                <a:ea typeface="Courier"/>
                <a:cs typeface="Courier"/>
                <a:sym typeface="Courier"/>
              </a:rPr>
              <a:t> = ['Joseph', 'Glenn', 'Sally']</a:t>
            </a:r>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for</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7F00"/>
                </a:solidFill>
                <a:latin typeface="Courier"/>
                <a:ea typeface="Courier"/>
                <a:cs typeface="Courier"/>
                <a:sym typeface="Courier"/>
              </a:rPr>
              <a:t>friend</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friends </a:t>
            </a:r>
            <a:r>
              <a:rPr b="0" i="0" lang="en-US" sz="24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print(</a:t>
            </a:r>
            <a:r>
              <a:rPr b="0" i="0" lang="en-US" sz="2400" u="none" cap="none" strike="noStrike">
                <a:solidFill>
                  <a:schemeClr val="lt1"/>
                </a:solidFill>
                <a:latin typeface="Courier"/>
                <a:ea typeface="Courier"/>
                <a:cs typeface="Courier"/>
                <a:sym typeface="Courier"/>
              </a:rPr>
              <a:t>'Happy New Year:',  </a:t>
            </a:r>
            <a:r>
              <a:rPr b="0" i="0" lang="en-US" sz="2400" u="none" cap="none" strike="noStrike">
                <a:solidFill>
                  <a:srgbClr val="FF7F00"/>
                </a:solidFill>
                <a:latin typeface="Courier"/>
                <a:ea typeface="Courier"/>
                <a:cs typeface="Courier"/>
                <a:sym typeface="Courier"/>
              </a:rPr>
              <a:t>friend</a:t>
            </a:r>
            <a:r>
              <a:rPr b="0" i="0" lang="en-US" sz="24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00"/>
              <a:buFont typeface="Arial"/>
              <a:buNone/>
            </a:pPr>
            <a:r>
              <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Arial"/>
              <a:buNone/>
            </a:pPr>
            <a:r>
              <a:t/>
            </a:r>
            <a:endParaRPr b="0" i="0" sz="2400" u="none" cap="none" strike="noStrike">
              <a:solidFill>
                <a:srgbClr val="FF7F00"/>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for</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i</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00FF"/>
                </a:solidFill>
                <a:latin typeface="Courier"/>
                <a:ea typeface="Courier"/>
                <a:cs typeface="Courier"/>
                <a:sym typeface="Courier"/>
              </a:rPr>
              <a:t>range</a:t>
            </a:r>
            <a:r>
              <a:rPr b="0" i="0" lang="en-US" sz="2400" u="none" cap="none" strike="noStrike">
                <a:solidFill>
                  <a:schemeClr val="lt1"/>
                </a:solidFill>
                <a:latin typeface="Courier"/>
                <a:ea typeface="Courier"/>
                <a:cs typeface="Courier"/>
                <a:sym typeface="Courier"/>
              </a:rPr>
              <a:t>(len(</a:t>
            </a:r>
            <a:r>
              <a:rPr b="0" i="0" lang="en-US" sz="2400" u="none" cap="none" strike="noStrike">
                <a:solidFill>
                  <a:srgbClr val="00FF00"/>
                </a:solidFill>
                <a:latin typeface="Courier"/>
                <a:ea typeface="Courier"/>
                <a:cs typeface="Courier"/>
                <a:sym typeface="Courier"/>
              </a:rPr>
              <a:t>friends)</a:t>
            </a:r>
            <a:r>
              <a:rPr b="0" i="0" lang="en-US" sz="24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7F00"/>
                </a:solidFill>
                <a:latin typeface="Courier"/>
                <a:ea typeface="Courier"/>
                <a:cs typeface="Courier"/>
                <a:sym typeface="Courier"/>
              </a:rPr>
              <a:t>friend</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00FF00"/>
                </a:solidFill>
                <a:latin typeface="Courier"/>
                <a:ea typeface="Courier"/>
                <a:cs typeface="Courier"/>
                <a:sym typeface="Courier"/>
              </a:rPr>
              <a:t>friends</a:t>
            </a:r>
            <a:r>
              <a:rPr b="0" i="0" lang="en-US" sz="2400" u="none" cap="none" strike="noStrike">
                <a:solidFill>
                  <a:schemeClr val="lt1"/>
                </a:solidFill>
                <a:latin typeface="Courier"/>
                <a:ea typeface="Courier"/>
                <a:cs typeface="Courier"/>
                <a:sym typeface="Courier"/>
              </a:rPr>
              <a:t>[i]</a:t>
            </a:r>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print</a:t>
            </a:r>
            <a:r>
              <a:rPr b="0" i="0" lang="en-US" sz="2400" u="none" cap="none" strike="noStrike">
                <a:solidFill>
                  <a:schemeClr val="lt1"/>
                </a:solidFill>
                <a:latin typeface="Courier"/>
                <a:ea typeface="Courier"/>
                <a:cs typeface="Courier"/>
                <a:sym typeface="Courier"/>
              </a:rPr>
              <a:t>('Happy New Year:',  </a:t>
            </a:r>
            <a:r>
              <a:rPr b="0" i="0" lang="en-US" sz="2400" u="none" cap="none" strike="noStrike">
                <a:solidFill>
                  <a:srgbClr val="FF7F00"/>
                </a:solidFill>
                <a:latin typeface="Courier"/>
                <a:ea typeface="Courier"/>
                <a:cs typeface="Courier"/>
                <a:sym typeface="Courier"/>
              </a:rPr>
              <a:t>friend</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FF7F00"/>
              </a:solidFill>
              <a:latin typeface="Courier"/>
              <a:ea typeface="Courier"/>
              <a:cs typeface="Courier"/>
              <a:sym typeface="Courier"/>
            </a:endParaRPr>
          </a:p>
        </p:txBody>
      </p:sp>
      <p:sp>
        <p:nvSpPr>
          <p:cNvPr id="99" name="Google Shape;99;p15"/>
          <p:cNvSpPr txBox="1"/>
          <p:nvPr/>
        </p:nvSpPr>
        <p:spPr>
          <a:xfrm>
            <a:off x="9495901" y="3489874"/>
            <a:ext cx="5591699" cy="2139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00"/>
              </a:buClr>
              <a:buSzPts val="750"/>
              <a:buFont typeface="Cabin"/>
              <a:buNone/>
            </a:pPr>
            <a:r>
              <a:rPr b="0" i="0" lang="en-US" sz="3000" u="none" cap="none" strike="noStrike">
                <a:solidFill>
                  <a:srgbClr val="FFFF00"/>
                </a:solidFill>
                <a:latin typeface="Arial"/>
                <a:ea typeface="Arial"/>
                <a:cs typeface="Arial"/>
                <a:sym typeface="Arial"/>
              </a:rPr>
              <a:t>Happy New Year: Joseph</a:t>
            </a:r>
            <a:endParaRPr/>
          </a:p>
          <a:p>
            <a:pPr indent="0" lvl="0" marL="0" marR="0" rtl="0" algn="l">
              <a:lnSpc>
                <a:spcPct val="115000"/>
              </a:lnSpc>
              <a:spcBef>
                <a:spcPts val="0"/>
              </a:spcBef>
              <a:spcAft>
                <a:spcPts val="0"/>
              </a:spcAft>
              <a:buClr>
                <a:srgbClr val="FFFF00"/>
              </a:buClr>
              <a:buSzPts val="750"/>
              <a:buFont typeface="Cabin"/>
              <a:buNone/>
            </a:pPr>
            <a:r>
              <a:rPr b="0" i="0" lang="en-US" sz="3000" u="none" cap="none" strike="noStrike">
                <a:solidFill>
                  <a:srgbClr val="FFFF00"/>
                </a:solidFill>
                <a:latin typeface="Arial"/>
                <a:ea typeface="Arial"/>
                <a:cs typeface="Arial"/>
                <a:sym typeface="Arial"/>
              </a:rPr>
              <a:t>Happy New Year: Glenn</a:t>
            </a:r>
            <a:endParaRPr/>
          </a:p>
          <a:p>
            <a:pPr indent="0" lvl="0" marL="0" marR="0" rtl="0" algn="l">
              <a:lnSpc>
                <a:spcPct val="115000"/>
              </a:lnSpc>
              <a:spcBef>
                <a:spcPts val="0"/>
              </a:spcBef>
              <a:spcAft>
                <a:spcPts val="0"/>
              </a:spcAft>
              <a:buClr>
                <a:srgbClr val="FFFF00"/>
              </a:buClr>
              <a:buSzPts val="750"/>
              <a:buFont typeface="Cabin"/>
              <a:buNone/>
            </a:pPr>
            <a:r>
              <a:rPr b="0" i="0" lang="en-US" sz="3000" u="none" cap="none" strike="noStrike">
                <a:solidFill>
                  <a:srgbClr val="FFFF00"/>
                </a:solidFill>
                <a:latin typeface="Arial"/>
                <a:ea typeface="Arial"/>
                <a:cs typeface="Arial"/>
                <a:sym typeface="Arial"/>
              </a:rPr>
              <a:t>Happy New Year: Sally</a:t>
            </a:r>
            <a:endParaRPr/>
          </a:p>
        </p:txBody>
      </p:sp>
      <p:sp>
        <p:nvSpPr>
          <p:cNvPr id="100" name="Google Shape;100;p15"/>
          <p:cNvSpPr txBox="1"/>
          <p:nvPr/>
        </p:nvSpPr>
        <p:spPr>
          <a:xfrm>
            <a:off x="9495900" y="5750374"/>
            <a:ext cx="5591699" cy="2139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00"/>
              </a:buClr>
              <a:buSzPts val="750"/>
              <a:buFont typeface="Cabin"/>
              <a:buNone/>
            </a:pPr>
            <a:r>
              <a:rPr b="0" i="0" lang="en-US" sz="3000" u="none" cap="none" strike="noStrike">
                <a:solidFill>
                  <a:srgbClr val="FFFF00"/>
                </a:solidFill>
                <a:latin typeface="Arial"/>
                <a:ea typeface="Arial"/>
                <a:cs typeface="Arial"/>
                <a:sym typeface="Arial"/>
              </a:rPr>
              <a:t>Happy New Year: Joseph</a:t>
            </a:r>
            <a:endParaRPr/>
          </a:p>
          <a:p>
            <a:pPr indent="0" lvl="0" marL="0" marR="0" rtl="0" algn="l">
              <a:lnSpc>
                <a:spcPct val="115000"/>
              </a:lnSpc>
              <a:spcBef>
                <a:spcPts val="0"/>
              </a:spcBef>
              <a:spcAft>
                <a:spcPts val="0"/>
              </a:spcAft>
              <a:buClr>
                <a:srgbClr val="FFFF00"/>
              </a:buClr>
              <a:buSzPts val="750"/>
              <a:buFont typeface="Cabin"/>
              <a:buNone/>
            </a:pPr>
            <a:r>
              <a:rPr b="0" i="0" lang="en-US" sz="3000" u="none" cap="none" strike="noStrike">
                <a:solidFill>
                  <a:srgbClr val="FFFF00"/>
                </a:solidFill>
                <a:latin typeface="Arial"/>
                <a:ea typeface="Arial"/>
                <a:cs typeface="Arial"/>
                <a:sym typeface="Arial"/>
              </a:rPr>
              <a:t>Happy New Year: Glenn</a:t>
            </a:r>
            <a:endParaRPr/>
          </a:p>
          <a:p>
            <a:pPr indent="0" lvl="0" marL="0" marR="0" rtl="0" algn="l">
              <a:lnSpc>
                <a:spcPct val="115000"/>
              </a:lnSpc>
              <a:spcBef>
                <a:spcPts val="0"/>
              </a:spcBef>
              <a:spcAft>
                <a:spcPts val="0"/>
              </a:spcAft>
              <a:buClr>
                <a:srgbClr val="FFFF00"/>
              </a:buClr>
              <a:buSzPts val="750"/>
              <a:buFont typeface="Cabin"/>
              <a:buNone/>
            </a:pPr>
            <a:r>
              <a:rPr b="0" i="0" lang="en-US" sz="3000" u="none" cap="none" strike="noStrike">
                <a:solidFill>
                  <a:srgbClr val="FFFF00"/>
                </a:solidFill>
                <a:latin typeface="Arial"/>
                <a:ea typeface="Arial"/>
                <a:cs typeface="Arial"/>
                <a:sym typeface="Arial"/>
              </a:rPr>
              <a:t>Happy New Year: Sally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FF"/>
              </a:buClr>
              <a:buSzPts val="1900"/>
              <a:buFont typeface="Cabin"/>
              <a:buNone/>
            </a:pPr>
            <a:r>
              <a:rPr lang="en-US" sz="7600" u="none" cap="none" strike="noStrike">
                <a:solidFill>
                  <a:srgbClr val="00FFFF"/>
                </a:solidFill>
                <a:latin typeface="Arial"/>
                <a:ea typeface="Arial"/>
                <a:cs typeface="Arial"/>
                <a:sym typeface="Arial"/>
              </a:rPr>
              <a:t>Concatenating</a:t>
            </a:r>
            <a:r>
              <a:rPr lang="en-US" sz="7600" u="none" cap="none" strike="noStrike">
                <a:solidFill>
                  <a:schemeClr val="lt1"/>
                </a:solidFill>
                <a:latin typeface="Arial"/>
                <a:ea typeface="Arial"/>
                <a:cs typeface="Arial"/>
                <a:sym typeface="Arial"/>
              </a:rPr>
              <a:t> </a:t>
            </a:r>
            <a:r>
              <a:rPr lang="en-US" sz="7600" u="none" cap="none" strike="noStrike">
                <a:solidFill>
                  <a:srgbClr val="FFD966"/>
                </a:solidFill>
                <a:latin typeface="Arial"/>
                <a:ea typeface="Arial"/>
                <a:cs typeface="Arial"/>
                <a:sym typeface="Arial"/>
              </a:rPr>
              <a:t>Lists Using </a:t>
            </a:r>
            <a:r>
              <a:rPr lang="en-US" sz="7600" u="none" cap="none" strike="noStrike">
                <a:solidFill>
                  <a:srgbClr val="00FFFF"/>
                </a:solidFill>
                <a:latin typeface="Arial"/>
                <a:ea typeface="Arial"/>
                <a:cs typeface="Arial"/>
                <a:sym typeface="Arial"/>
              </a:rPr>
              <a:t>+</a:t>
            </a:r>
            <a:endParaRPr/>
          </a:p>
        </p:txBody>
      </p:sp>
      <p:sp>
        <p:nvSpPr>
          <p:cNvPr id="106" name="Google Shape;106;p16"/>
          <p:cNvSpPr txBox="1"/>
          <p:nvPr>
            <p:ph idx="1" type="body"/>
          </p:nvPr>
        </p:nvSpPr>
        <p:spPr>
          <a:xfrm>
            <a:off x="1778000" y="2933702"/>
            <a:ext cx="5410200" cy="2603499"/>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600"/>
              <a:buNone/>
            </a:pPr>
            <a:r>
              <a:rPr lang="en-US" sz="3600" u="none" cap="none" strike="noStrike">
                <a:solidFill>
                  <a:schemeClr val="lt1"/>
                </a:solidFill>
                <a:latin typeface="Arial"/>
                <a:ea typeface="Arial"/>
                <a:cs typeface="Arial"/>
                <a:sym typeface="Arial"/>
              </a:rPr>
              <a:t>We can create a new list by adding two ex</a:t>
            </a:r>
            <a:r>
              <a:rPr lang="en-US" sz="3600">
                <a:solidFill>
                  <a:schemeClr val="lt1"/>
                </a:solidFill>
                <a:latin typeface="Arial"/>
                <a:ea typeface="Arial"/>
                <a:cs typeface="Arial"/>
                <a:sym typeface="Arial"/>
              </a:rPr>
              <a:t>is</a:t>
            </a:r>
            <a:r>
              <a:rPr lang="en-US" sz="3600" u="none" cap="none" strike="noStrike">
                <a:solidFill>
                  <a:schemeClr val="lt1"/>
                </a:solidFill>
                <a:latin typeface="Arial"/>
                <a:ea typeface="Arial"/>
                <a:cs typeface="Arial"/>
                <a:sym typeface="Arial"/>
              </a:rPr>
              <a:t>ting lists together</a:t>
            </a:r>
            <a:endParaRPr/>
          </a:p>
        </p:txBody>
      </p:sp>
      <p:sp>
        <p:nvSpPr>
          <p:cNvPr id="107" name="Google Shape;107;p16"/>
          <p:cNvSpPr txBox="1"/>
          <p:nvPr/>
        </p:nvSpPr>
        <p:spPr>
          <a:xfrm>
            <a:off x="9714275" y="2714100"/>
            <a:ext cx="4965900" cy="597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a</a:t>
            </a:r>
            <a:r>
              <a:rPr b="0" i="0" lang="en-US" sz="3000" u="none" cap="none" strike="noStrike">
                <a:solidFill>
                  <a:schemeClr val="lt1"/>
                </a:solidFill>
                <a:latin typeface="Courier"/>
                <a:ea typeface="Courier"/>
                <a:cs typeface="Courier"/>
                <a:sym typeface="Courier"/>
              </a:rPr>
              <a:t> = [1, 2, 3]</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b</a:t>
            </a:r>
            <a:r>
              <a:rPr b="0" i="0" lang="en-US" sz="3000" u="none" cap="none" strike="noStrike">
                <a:solidFill>
                  <a:schemeClr val="lt1"/>
                </a:solidFill>
                <a:latin typeface="Courier"/>
                <a:ea typeface="Courier"/>
                <a:cs typeface="Courier"/>
                <a:sym typeface="Courier"/>
              </a:rPr>
              <a:t> = [4, 5, 6]</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c</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a </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 b</a:t>
            </a: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c</a:t>
            </a:r>
            <a:r>
              <a:rPr b="0" i="0" lang="en-US" sz="32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[1, 2, 3, 4, 5, 6]</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Lists Can Be </a:t>
            </a:r>
            <a:r>
              <a:rPr lang="en-US" sz="7600" u="none" cap="none" strike="noStrike">
                <a:solidFill>
                  <a:srgbClr val="00FFFF"/>
                </a:solidFill>
                <a:latin typeface="Arial"/>
                <a:ea typeface="Arial"/>
                <a:cs typeface="Arial"/>
                <a:sym typeface="Arial"/>
              </a:rPr>
              <a:t>Sliced</a:t>
            </a:r>
            <a:r>
              <a:rPr lang="en-US" sz="7600" u="none" cap="none" strike="noStrike">
                <a:solidFill>
                  <a:srgbClr val="FFFF00"/>
                </a:solidFill>
                <a:latin typeface="Arial"/>
                <a:ea typeface="Arial"/>
                <a:cs typeface="Arial"/>
                <a:sym typeface="Arial"/>
              </a:rPr>
              <a:t> </a:t>
            </a:r>
            <a:r>
              <a:rPr lang="en-US" sz="7600" u="none" cap="none" strike="noStrike">
                <a:solidFill>
                  <a:srgbClr val="FFD966"/>
                </a:solidFill>
                <a:latin typeface="Arial"/>
                <a:ea typeface="Arial"/>
                <a:cs typeface="Arial"/>
                <a:sym typeface="Arial"/>
              </a:rPr>
              <a:t>Using</a:t>
            </a:r>
            <a:r>
              <a:rPr lang="en-US" sz="7600" u="none" cap="none" strike="noStrike">
                <a:solidFill>
                  <a:schemeClr val="lt1"/>
                </a:solidFill>
                <a:latin typeface="Arial"/>
                <a:ea typeface="Arial"/>
                <a:cs typeface="Arial"/>
                <a:sym typeface="Arial"/>
              </a:rPr>
              <a:t> </a:t>
            </a:r>
            <a:r>
              <a:rPr lang="en-US" sz="7600" u="none" cap="none" strike="noStrike">
                <a:solidFill>
                  <a:srgbClr val="00FFFF"/>
                </a:solidFill>
                <a:latin typeface="Arial"/>
                <a:ea typeface="Arial"/>
                <a:cs typeface="Arial"/>
                <a:sym typeface="Arial"/>
              </a:rPr>
              <a:t>:</a:t>
            </a:r>
            <a:endParaRPr/>
          </a:p>
        </p:txBody>
      </p:sp>
      <p:sp>
        <p:nvSpPr>
          <p:cNvPr id="113" name="Google Shape;113;p17"/>
          <p:cNvSpPr txBox="1"/>
          <p:nvPr/>
        </p:nvSpPr>
        <p:spPr>
          <a:xfrm>
            <a:off x="962200" y="2539999"/>
            <a:ext cx="6941699" cy="63754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t</a:t>
            </a:r>
            <a:r>
              <a:rPr b="0" i="0" lang="en-US" sz="3000" u="none" cap="none" strike="noStrike">
                <a:solidFill>
                  <a:schemeClr val="lt1"/>
                </a:solidFill>
                <a:latin typeface="Courier"/>
                <a:ea typeface="Courier"/>
                <a:cs typeface="Courier"/>
                <a:sym typeface="Courier"/>
              </a:rPr>
              <a:t> = [9, 41, 12, 3, 74, 15]</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t</a:t>
            </a:r>
            <a:r>
              <a:rPr b="0" i="0" lang="en-US" sz="3000" u="none" cap="none" strike="noStrike">
                <a:solidFill>
                  <a:schemeClr val="lt1"/>
                </a:solidFill>
                <a:latin typeface="Courier"/>
                <a:ea typeface="Courier"/>
                <a:cs typeface="Courier"/>
                <a:sym typeface="Courier"/>
              </a:rPr>
              <a:t>[1</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00FF"/>
                </a:solidFill>
                <a:latin typeface="Courier"/>
                <a:ea typeface="Courier"/>
                <a:cs typeface="Courier"/>
                <a:sym typeface="Courier"/>
              </a:rPr>
              <a:t>3</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[41,12]</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00FF"/>
                </a:solidFill>
                <a:latin typeface="Courier"/>
                <a:ea typeface="Courier"/>
                <a:cs typeface="Courier"/>
                <a:sym typeface="Courier"/>
              </a:rPr>
              <a:t>4</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[9, 41, 12, 3]</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t</a:t>
            </a:r>
            <a:r>
              <a:rPr b="0" i="0" lang="en-US" sz="3000" u="none" cap="none" strike="noStrike">
                <a:solidFill>
                  <a:schemeClr val="lt1"/>
                </a:solidFill>
                <a:latin typeface="Courier"/>
                <a:ea typeface="Courier"/>
                <a:cs typeface="Courier"/>
                <a:sym typeface="Courier"/>
              </a:rPr>
              <a:t>[3</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[3, 74, 15]</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[9, 41, 12, 3, 74, 15]</a:t>
            </a:r>
            <a:endParaRPr/>
          </a:p>
        </p:txBody>
      </p:sp>
      <p:sp>
        <p:nvSpPr>
          <p:cNvPr id="114" name="Google Shape;114;p17"/>
          <p:cNvSpPr txBox="1"/>
          <p:nvPr/>
        </p:nvSpPr>
        <p:spPr>
          <a:xfrm>
            <a:off x="8506725" y="4033425"/>
            <a:ext cx="5465399" cy="219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Remember</a:t>
            </a:r>
            <a:r>
              <a:rPr b="0" i="0" lang="en-US" sz="3600" u="none" cap="none" strike="noStrike">
                <a:solidFill>
                  <a:schemeClr val="lt1"/>
                </a:solidFill>
                <a:latin typeface="Arial"/>
                <a:ea typeface="Arial"/>
                <a:cs typeface="Arial"/>
                <a:sym typeface="Arial"/>
              </a:rPr>
              <a:t>:  Just like in strings, the second number is “</a:t>
            </a:r>
            <a:r>
              <a:rPr b="0" i="0" lang="en-US" sz="3600" u="none" cap="none" strike="noStrike">
                <a:solidFill>
                  <a:srgbClr val="FF00FF"/>
                </a:solidFill>
                <a:latin typeface="Arial"/>
                <a:ea typeface="Arial"/>
                <a:cs typeface="Arial"/>
                <a:sym typeface="Arial"/>
              </a:rPr>
              <a:t>up to but not including</a:t>
            </a:r>
            <a:r>
              <a:rPr b="0" i="0" lang="en-US" sz="3600" u="none" cap="none" strike="noStrike">
                <a:solidFill>
                  <a:schemeClr val="lt1"/>
                </a:solidFill>
                <a:latin typeface="Arial"/>
                <a:ea typeface="Arial"/>
                <a:cs typeface="Arial"/>
                <a:sym typeface="Arial"/>
              </a:rP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List Methods</a:t>
            </a:r>
            <a:endParaRPr/>
          </a:p>
        </p:txBody>
      </p:sp>
      <p:sp>
        <p:nvSpPr>
          <p:cNvPr id="120" name="Google Shape;120;p18"/>
          <p:cNvSpPr txBox="1"/>
          <p:nvPr/>
        </p:nvSpPr>
        <p:spPr>
          <a:xfrm>
            <a:off x="1918550" y="3110400"/>
            <a:ext cx="12042900" cy="32258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list</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00FF"/>
                </a:solidFill>
                <a:latin typeface="Courier"/>
                <a:ea typeface="Courier"/>
                <a:cs typeface="Courier"/>
                <a:sym typeface="Courier"/>
              </a:rPr>
              <a:t>type</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&lt;type 'list'&gt;</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00FF"/>
                </a:solidFill>
                <a:latin typeface="Courier"/>
                <a:ea typeface="Courier"/>
                <a:cs typeface="Courier"/>
                <a:sym typeface="Courier"/>
              </a:rPr>
              <a:t>dir</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['append', 'count', 'extend', 'index', 'insert', 'pop', 'remove', 'reverse', 'sort']</a:t>
            </a: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 </a:t>
            </a:r>
            <a:endParaRPr b="0" i="0" sz="3600" u="none" cap="none" strike="noStrike">
              <a:solidFill>
                <a:schemeClr val="lt1"/>
              </a:solidFill>
              <a:latin typeface="Courier"/>
              <a:ea typeface="Courier"/>
              <a:cs typeface="Courier"/>
              <a:sym typeface="Courier"/>
            </a:endParaRPr>
          </a:p>
        </p:txBody>
      </p:sp>
      <p:sp>
        <p:nvSpPr>
          <p:cNvPr id="121" name="Google Shape;121;p18"/>
          <p:cNvSpPr txBox="1"/>
          <p:nvPr/>
        </p:nvSpPr>
        <p:spPr>
          <a:xfrm>
            <a:off x="2913200" y="7123112"/>
            <a:ext cx="104169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750"/>
              <a:buFont typeface="Cabin"/>
              <a:buNone/>
            </a:pPr>
            <a:r>
              <a:rPr b="0" i="0" lang="en-US" sz="3000" u="sng" cap="none" strike="noStrike">
                <a:solidFill>
                  <a:srgbClr val="FFFF00"/>
                </a:solidFill>
                <a:latin typeface="Arial"/>
                <a:ea typeface="Arial"/>
                <a:cs typeface="Arial"/>
                <a:sym typeface="Arial"/>
                <a:hlinkClick r:id="rId3">
                  <a:extLst>
                    <a:ext uri="{A12FA001-AC4F-418D-AE19-62706E023703}">
                      <ahyp:hlinkClr val="tx"/>
                    </a:ext>
                  </a:extLst>
                </a:hlinkClick>
              </a:rPr>
              <a:t>http://docs.python.org/tutorial/datastructures.html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Building a </a:t>
            </a:r>
            <a:r>
              <a:rPr lang="en-US" sz="7600">
                <a:solidFill>
                  <a:srgbClr val="FFD966"/>
                </a:solidFill>
                <a:latin typeface="Arial"/>
                <a:ea typeface="Arial"/>
                <a:cs typeface="Arial"/>
                <a:sym typeface="Arial"/>
              </a:rPr>
              <a:t>L</a:t>
            </a:r>
            <a:r>
              <a:rPr lang="en-US" sz="7600" u="none" cap="none" strike="noStrike">
                <a:solidFill>
                  <a:srgbClr val="FFD966"/>
                </a:solidFill>
                <a:latin typeface="Arial"/>
                <a:ea typeface="Arial"/>
                <a:cs typeface="Arial"/>
                <a:sym typeface="Arial"/>
              </a:rPr>
              <a:t>ist from </a:t>
            </a:r>
            <a:r>
              <a:rPr lang="en-US" sz="7600">
                <a:solidFill>
                  <a:srgbClr val="FFD966"/>
                </a:solidFill>
                <a:latin typeface="Arial"/>
                <a:ea typeface="Arial"/>
                <a:cs typeface="Arial"/>
                <a:sym typeface="Arial"/>
              </a:rPr>
              <a:t>S</a:t>
            </a:r>
            <a:r>
              <a:rPr lang="en-US" sz="7600" u="none" cap="none" strike="noStrike">
                <a:solidFill>
                  <a:srgbClr val="FFD966"/>
                </a:solidFill>
                <a:latin typeface="Arial"/>
                <a:ea typeface="Arial"/>
                <a:cs typeface="Arial"/>
                <a:sym typeface="Arial"/>
              </a:rPr>
              <a:t>cratch</a:t>
            </a:r>
            <a:endParaRPr/>
          </a:p>
        </p:txBody>
      </p:sp>
      <p:sp>
        <p:nvSpPr>
          <p:cNvPr id="127" name="Google Shape;127;p19"/>
          <p:cNvSpPr txBox="1"/>
          <p:nvPr>
            <p:ph idx="1" type="body"/>
          </p:nvPr>
        </p:nvSpPr>
        <p:spPr>
          <a:xfrm>
            <a:off x="1155700" y="2603500"/>
            <a:ext cx="6302375" cy="5702299"/>
          </a:xfrm>
          <a:prstGeom prst="rect">
            <a:avLst/>
          </a:prstGeom>
          <a:noFill/>
          <a:ln>
            <a:noFill/>
          </a:ln>
        </p:spPr>
        <p:txBody>
          <a:bodyPr anchorCtr="0" anchor="ctr" bIns="38100" lIns="38100" spcFirstLastPara="1" rIns="38100" wrap="square" tIns="38100">
            <a:noAutofit/>
          </a:bodyPr>
          <a:lstStyle/>
          <a:p>
            <a:pPr indent="-444500" lvl="0" marL="457200" marR="0" rtl="0" algn="l">
              <a:lnSpc>
                <a:spcPct val="100000"/>
              </a:lnSpc>
              <a:spcBef>
                <a:spcPts val="0"/>
              </a:spcBef>
              <a:spcAft>
                <a:spcPts val="0"/>
              </a:spcAft>
              <a:buSzPts val="3400"/>
              <a:buFont typeface="Cabin"/>
              <a:buChar char="•"/>
            </a:pPr>
            <a:r>
              <a:rPr lang="en-US" sz="3400" u="none" cap="none" strike="noStrike">
                <a:solidFill>
                  <a:schemeClr val="lt1"/>
                </a:solidFill>
                <a:latin typeface="Arial"/>
                <a:ea typeface="Arial"/>
                <a:cs typeface="Arial"/>
                <a:sym typeface="Arial"/>
              </a:rPr>
              <a:t>We can create an empty </a:t>
            </a:r>
            <a:r>
              <a:rPr lang="en-US" sz="3400" u="none" cap="none" strike="noStrike">
                <a:solidFill>
                  <a:srgbClr val="00FF00"/>
                </a:solidFill>
                <a:latin typeface="Arial"/>
                <a:ea typeface="Arial"/>
                <a:cs typeface="Arial"/>
                <a:sym typeface="Arial"/>
              </a:rPr>
              <a:t>list</a:t>
            </a:r>
            <a:r>
              <a:rPr lang="en-US" sz="3400" u="none" cap="none" strike="noStrike">
                <a:solidFill>
                  <a:schemeClr val="lt1"/>
                </a:solidFill>
                <a:latin typeface="Arial"/>
                <a:ea typeface="Arial"/>
                <a:cs typeface="Arial"/>
                <a:sym typeface="Arial"/>
              </a:rPr>
              <a:t> and then add elements using the </a:t>
            </a:r>
            <a:r>
              <a:rPr lang="en-US" sz="3400" u="none" cap="none" strike="noStrike">
                <a:solidFill>
                  <a:srgbClr val="FF00FF"/>
                </a:solidFill>
                <a:latin typeface="Arial"/>
                <a:ea typeface="Arial"/>
                <a:cs typeface="Arial"/>
                <a:sym typeface="Arial"/>
              </a:rPr>
              <a:t>append</a:t>
            </a:r>
            <a:r>
              <a:rPr lang="en-US" sz="3400" u="none" cap="none" strike="noStrike">
                <a:solidFill>
                  <a:schemeClr val="lt1"/>
                </a:solidFill>
                <a:latin typeface="Arial"/>
                <a:ea typeface="Arial"/>
                <a:cs typeface="Arial"/>
                <a:sym typeface="Arial"/>
              </a:rPr>
              <a:t> method</a:t>
            </a:r>
            <a:endParaRPr/>
          </a:p>
          <a:p>
            <a:pPr indent="-444500" lvl="0" marL="457200" marR="0" rtl="0" algn="l">
              <a:lnSpc>
                <a:spcPct val="100000"/>
              </a:lnSpc>
              <a:spcBef>
                <a:spcPts val="4500"/>
              </a:spcBef>
              <a:spcAft>
                <a:spcPts val="0"/>
              </a:spcAft>
              <a:buSzPts val="3400"/>
              <a:buFont typeface="Cabin"/>
              <a:buChar char="•"/>
            </a:pPr>
            <a:r>
              <a:rPr lang="en-US" sz="3400" u="none" cap="none" strike="noStrike">
                <a:solidFill>
                  <a:schemeClr val="lt1"/>
                </a:solidFill>
                <a:latin typeface="Arial"/>
                <a:ea typeface="Arial"/>
                <a:cs typeface="Arial"/>
                <a:sym typeface="Arial"/>
              </a:rPr>
              <a:t>The </a:t>
            </a:r>
            <a:r>
              <a:rPr lang="en-US" sz="3400" u="none" cap="none" strike="noStrike">
                <a:solidFill>
                  <a:srgbClr val="00FF00"/>
                </a:solidFill>
                <a:latin typeface="Arial"/>
                <a:ea typeface="Arial"/>
                <a:cs typeface="Arial"/>
                <a:sym typeface="Arial"/>
              </a:rPr>
              <a:t>list</a:t>
            </a:r>
            <a:r>
              <a:rPr lang="en-US" sz="3400" u="none" cap="none" strike="noStrike">
                <a:solidFill>
                  <a:schemeClr val="lt1"/>
                </a:solidFill>
                <a:latin typeface="Arial"/>
                <a:ea typeface="Arial"/>
                <a:cs typeface="Arial"/>
                <a:sym typeface="Arial"/>
              </a:rPr>
              <a:t> stays in order and new elements are </a:t>
            </a:r>
            <a:r>
              <a:rPr lang="en-US" sz="3400" u="none" cap="none" strike="noStrike">
                <a:solidFill>
                  <a:srgbClr val="FF00FF"/>
                </a:solidFill>
                <a:latin typeface="Arial"/>
                <a:ea typeface="Arial"/>
                <a:cs typeface="Arial"/>
                <a:sym typeface="Arial"/>
              </a:rPr>
              <a:t>added</a:t>
            </a:r>
            <a:r>
              <a:rPr lang="en-US" sz="3400" u="none" cap="none" strike="noStrike">
                <a:solidFill>
                  <a:schemeClr val="lt1"/>
                </a:solidFill>
                <a:latin typeface="Arial"/>
                <a:ea typeface="Arial"/>
                <a:cs typeface="Arial"/>
                <a:sym typeface="Arial"/>
              </a:rPr>
              <a:t> at the end of the </a:t>
            </a:r>
            <a:r>
              <a:rPr lang="en-US" sz="3400" u="none" cap="none" strike="noStrike">
                <a:solidFill>
                  <a:srgbClr val="00FF00"/>
                </a:solidFill>
                <a:latin typeface="Arial"/>
                <a:ea typeface="Arial"/>
                <a:cs typeface="Arial"/>
                <a:sym typeface="Arial"/>
              </a:rPr>
              <a:t>list</a:t>
            </a:r>
            <a:endParaRPr/>
          </a:p>
        </p:txBody>
      </p:sp>
      <p:sp>
        <p:nvSpPr>
          <p:cNvPr id="128" name="Google Shape;128;p19"/>
          <p:cNvSpPr txBox="1"/>
          <p:nvPr/>
        </p:nvSpPr>
        <p:spPr>
          <a:xfrm>
            <a:off x="8424325" y="2819400"/>
            <a:ext cx="7455599" cy="55816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stuff</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list</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stuff</a:t>
            </a:r>
            <a:r>
              <a:rPr b="0" i="0" lang="en-US" sz="3000" u="none" cap="none" strike="noStrike">
                <a:solidFill>
                  <a:srgbClr val="FF00FF"/>
                </a:solidFill>
                <a:latin typeface="Courier"/>
                <a:ea typeface="Courier"/>
                <a:cs typeface="Courier"/>
                <a:sym typeface="Courier"/>
              </a:rPr>
              <a:t>.append</a:t>
            </a:r>
            <a:r>
              <a:rPr b="0" i="0" lang="en-US" sz="3000" u="none" cap="none" strike="noStrike">
                <a:solidFill>
                  <a:schemeClr val="lt1"/>
                </a:solidFill>
                <a:latin typeface="Courier"/>
                <a:ea typeface="Courier"/>
                <a:cs typeface="Courier"/>
                <a:sym typeface="Courier"/>
              </a:rPr>
              <a:t>('book')</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stuff</a:t>
            </a:r>
            <a:r>
              <a:rPr b="0" i="0" lang="en-US" sz="3000" u="none" cap="none" strike="noStrike">
                <a:solidFill>
                  <a:srgbClr val="FF00FF"/>
                </a:solidFill>
                <a:latin typeface="Courier"/>
                <a:ea typeface="Courier"/>
                <a:cs typeface="Courier"/>
                <a:sym typeface="Courier"/>
              </a:rPr>
              <a:t>.append</a:t>
            </a:r>
            <a:r>
              <a:rPr b="0" i="0" lang="en-US" sz="3000" u="none" cap="none" strike="noStrike">
                <a:solidFill>
                  <a:schemeClr val="lt1"/>
                </a:solidFill>
                <a:latin typeface="Courier"/>
                <a:ea typeface="Courier"/>
                <a:cs typeface="Courier"/>
                <a:sym typeface="Courier"/>
              </a:rPr>
              <a:t>(99)</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stuff</a:t>
            </a:r>
            <a:r>
              <a:rPr b="0" i="0" lang="en-US" sz="30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['book', 99]</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stuff</a:t>
            </a:r>
            <a:r>
              <a:rPr b="0" i="0" lang="en-US" sz="3000" u="none" cap="none" strike="noStrike">
                <a:solidFill>
                  <a:srgbClr val="FF00FF"/>
                </a:solidFill>
                <a:latin typeface="Courier"/>
                <a:ea typeface="Courier"/>
                <a:cs typeface="Courier"/>
                <a:sym typeface="Courier"/>
              </a:rPr>
              <a:t>.append</a:t>
            </a:r>
            <a:r>
              <a:rPr b="0" i="0" lang="en-US" sz="3000" u="none" cap="none" strike="noStrike">
                <a:solidFill>
                  <a:schemeClr val="lt1"/>
                </a:solidFill>
                <a:latin typeface="Courier"/>
                <a:ea typeface="Courier"/>
                <a:cs typeface="Courier"/>
                <a:sym typeface="Courier"/>
              </a:rPr>
              <a:t>('cookie')</a:t>
            </a: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stuff</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['book', 99, 'cookie']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Is Something in a List?</a:t>
            </a:r>
            <a:endParaRPr/>
          </a:p>
        </p:txBody>
      </p:sp>
      <p:sp>
        <p:nvSpPr>
          <p:cNvPr id="134" name="Google Shape;134;p20"/>
          <p:cNvSpPr txBox="1"/>
          <p:nvPr>
            <p:ph idx="1" type="body"/>
          </p:nvPr>
        </p:nvSpPr>
        <p:spPr>
          <a:xfrm>
            <a:off x="1155700" y="2603500"/>
            <a:ext cx="6573838" cy="5702299"/>
          </a:xfrm>
          <a:prstGeom prst="rect">
            <a:avLst/>
          </a:prstGeom>
          <a:noFill/>
          <a:ln>
            <a:noFill/>
          </a:ln>
        </p:spPr>
        <p:txBody>
          <a:bodyPr anchorCtr="0" anchor="ctr" bIns="38100" lIns="38100" spcFirstLastPara="1" rIns="38100" wrap="square" tIns="38100">
            <a:noAutofit/>
          </a:bodyPr>
          <a:lstStyle/>
          <a:p>
            <a:pPr indent="-444500" lvl="0" marL="457200" marR="0" rtl="0" algn="l">
              <a:lnSpc>
                <a:spcPct val="100000"/>
              </a:lnSpc>
              <a:spcBef>
                <a:spcPts val="0"/>
              </a:spcBef>
              <a:spcAft>
                <a:spcPts val="0"/>
              </a:spcAft>
              <a:buSzPts val="3400"/>
              <a:buFont typeface="Cabin"/>
              <a:buChar char="•"/>
            </a:pPr>
            <a:r>
              <a:rPr lang="en-US" sz="3400" u="none" cap="none" strike="noStrike">
                <a:solidFill>
                  <a:schemeClr val="lt1"/>
                </a:solidFill>
                <a:latin typeface="Arial"/>
                <a:ea typeface="Arial"/>
                <a:cs typeface="Arial"/>
                <a:sym typeface="Arial"/>
              </a:rPr>
              <a:t>Python provides two </a:t>
            </a:r>
            <a:r>
              <a:rPr lang="en-US" sz="3400" u="none" cap="none" strike="noStrike">
                <a:solidFill>
                  <a:srgbClr val="FFFF00"/>
                </a:solidFill>
                <a:latin typeface="Arial"/>
                <a:ea typeface="Arial"/>
                <a:cs typeface="Arial"/>
                <a:sym typeface="Arial"/>
              </a:rPr>
              <a:t>operators</a:t>
            </a:r>
            <a:r>
              <a:rPr lang="en-US" sz="3400" u="none" cap="none" strike="noStrike">
                <a:solidFill>
                  <a:schemeClr val="lt1"/>
                </a:solidFill>
                <a:latin typeface="Arial"/>
                <a:ea typeface="Arial"/>
                <a:cs typeface="Arial"/>
                <a:sym typeface="Arial"/>
              </a:rPr>
              <a:t> that let you check if an item is in a list</a:t>
            </a:r>
            <a:endParaRPr/>
          </a:p>
          <a:p>
            <a:pPr indent="-444500" lvl="0" marL="457200" marR="0" rtl="0" algn="l">
              <a:lnSpc>
                <a:spcPct val="100000"/>
              </a:lnSpc>
              <a:spcBef>
                <a:spcPts val="4500"/>
              </a:spcBef>
              <a:spcAft>
                <a:spcPts val="0"/>
              </a:spcAft>
              <a:buSzPts val="3400"/>
              <a:buFont typeface="Cabin"/>
              <a:buChar char="•"/>
            </a:pPr>
            <a:r>
              <a:rPr lang="en-US" sz="3400" u="none" cap="none" strike="noStrike">
                <a:solidFill>
                  <a:schemeClr val="lt1"/>
                </a:solidFill>
                <a:latin typeface="Arial"/>
                <a:ea typeface="Arial"/>
                <a:cs typeface="Arial"/>
                <a:sym typeface="Arial"/>
              </a:rPr>
              <a:t>These are logical operators that return </a:t>
            </a:r>
            <a:r>
              <a:rPr lang="en-US" sz="3400" u="none" cap="none" strike="noStrike">
                <a:solidFill>
                  <a:srgbClr val="FF00FF"/>
                </a:solidFill>
                <a:latin typeface="Arial"/>
                <a:ea typeface="Arial"/>
                <a:cs typeface="Arial"/>
                <a:sym typeface="Arial"/>
              </a:rPr>
              <a:t>True</a:t>
            </a:r>
            <a:r>
              <a:rPr lang="en-US" sz="3400" u="none" cap="none" strike="noStrike">
                <a:solidFill>
                  <a:schemeClr val="lt1"/>
                </a:solidFill>
                <a:latin typeface="Arial"/>
                <a:ea typeface="Arial"/>
                <a:cs typeface="Arial"/>
                <a:sym typeface="Arial"/>
              </a:rPr>
              <a:t> or </a:t>
            </a:r>
            <a:r>
              <a:rPr lang="en-US" sz="3400" u="none" cap="none" strike="noStrike">
                <a:solidFill>
                  <a:srgbClr val="FF00FF"/>
                </a:solidFill>
                <a:latin typeface="Arial"/>
                <a:ea typeface="Arial"/>
                <a:cs typeface="Arial"/>
                <a:sym typeface="Arial"/>
              </a:rPr>
              <a:t>False</a:t>
            </a:r>
            <a:endParaRPr/>
          </a:p>
          <a:p>
            <a:pPr indent="-444500" lvl="0" marL="457200" marR="0" rtl="0" algn="l">
              <a:lnSpc>
                <a:spcPct val="100000"/>
              </a:lnSpc>
              <a:spcBef>
                <a:spcPts val="4500"/>
              </a:spcBef>
              <a:spcAft>
                <a:spcPts val="0"/>
              </a:spcAft>
              <a:buSzPts val="3400"/>
              <a:buFont typeface="Cabin"/>
              <a:buChar char="•"/>
            </a:pPr>
            <a:r>
              <a:rPr lang="en-US" sz="3400" u="none" cap="none" strike="noStrike">
                <a:solidFill>
                  <a:schemeClr val="lt1"/>
                </a:solidFill>
                <a:latin typeface="Arial"/>
                <a:ea typeface="Arial"/>
                <a:cs typeface="Arial"/>
                <a:sym typeface="Arial"/>
              </a:rPr>
              <a:t>They do not modify the list</a:t>
            </a:r>
            <a:endParaRPr/>
          </a:p>
        </p:txBody>
      </p:sp>
      <p:sp>
        <p:nvSpPr>
          <p:cNvPr id="135" name="Google Shape;135;p20"/>
          <p:cNvSpPr txBox="1"/>
          <p:nvPr/>
        </p:nvSpPr>
        <p:spPr>
          <a:xfrm>
            <a:off x="8585238" y="2940050"/>
            <a:ext cx="7131013" cy="566102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some</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[1, 9, 21, 10, 16]</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7F00"/>
                </a:solidFill>
                <a:latin typeface="Courier"/>
                <a:ea typeface="Courier"/>
                <a:cs typeface="Courier"/>
                <a:sym typeface="Courier"/>
              </a:rPr>
              <a:t>9</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some</a:t>
            </a:r>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True</a:t>
            </a:r>
            <a:endParaRPr/>
          </a:p>
          <a:p>
            <a:pPr indent="0" lvl="0" marL="0" marR="0" rtl="0" algn="l">
              <a:lnSpc>
                <a:spcPct val="100000"/>
              </a:lnSpc>
              <a:spcBef>
                <a:spcPts val="0"/>
              </a:spcBef>
              <a:spcAft>
                <a:spcPts val="0"/>
              </a:spcAft>
              <a:buClr>
                <a:srgbClr val="FF00FF"/>
              </a:buClr>
              <a:buSzPts val="750"/>
              <a:buFont typeface="Cabin"/>
              <a:buNone/>
            </a:pPr>
            <a:r>
              <a:t/>
            </a:r>
            <a:endParaRPr b="0" i="0" sz="30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7F00"/>
                </a:solidFill>
                <a:latin typeface="Courier"/>
                <a:ea typeface="Courier"/>
                <a:cs typeface="Courier"/>
                <a:sym typeface="Courier"/>
              </a:rPr>
              <a:t>15</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some</a:t>
            </a:r>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False</a:t>
            </a:r>
            <a:endParaRPr/>
          </a:p>
          <a:p>
            <a:pPr indent="0" lvl="0" marL="0" marR="0" rtl="0" algn="l">
              <a:lnSpc>
                <a:spcPct val="100000"/>
              </a:lnSpc>
              <a:spcBef>
                <a:spcPts val="0"/>
              </a:spcBef>
              <a:spcAft>
                <a:spcPts val="0"/>
              </a:spcAft>
              <a:buClr>
                <a:srgbClr val="00FF00"/>
              </a:buClr>
              <a:buSzPts val="750"/>
              <a:buFont typeface="Cabin"/>
              <a:buNone/>
            </a:pPr>
            <a:r>
              <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7F00"/>
                </a:solidFill>
                <a:latin typeface="Courier"/>
                <a:ea typeface="Courier"/>
                <a:cs typeface="Courier"/>
                <a:sym typeface="Courier"/>
              </a:rPr>
              <a:t>20</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not 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some</a:t>
            </a:r>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True</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1155700" y="789709"/>
            <a:ext cx="13931900" cy="175029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lt1"/>
              </a:buClr>
              <a:buSzPts val="1950"/>
              <a:buFont typeface="Cabin"/>
              <a:buNone/>
            </a:pPr>
            <a:r>
              <a:rPr lang="en-US" sz="7800" u="none" cap="none" strike="noStrike">
                <a:solidFill>
                  <a:srgbClr val="FFD966"/>
                </a:solidFill>
                <a:latin typeface="Arial"/>
                <a:ea typeface="Arial"/>
                <a:cs typeface="Arial"/>
                <a:sym typeface="Arial"/>
              </a:rPr>
              <a:t>Lists are in Order</a:t>
            </a:r>
            <a:endParaRPr sz="7800" u="none" cap="none" strike="noStrike">
              <a:solidFill>
                <a:srgbClr val="FFD966"/>
              </a:solidFill>
              <a:latin typeface="Arial"/>
              <a:ea typeface="Arial"/>
              <a:cs typeface="Arial"/>
              <a:sym typeface="Arial"/>
            </a:endParaRPr>
          </a:p>
        </p:txBody>
      </p:sp>
      <p:sp>
        <p:nvSpPr>
          <p:cNvPr id="141" name="Google Shape;141;p21"/>
          <p:cNvSpPr txBox="1"/>
          <p:nvPr>
            <p:ph idx="1" type="body"/>
          </p:nvPr>
        </p:nvSpPr>
        <p:spPr>
          <a:xfrm>
            <a:off x="622301" y="2603500"/>
            <a:ext cx="5524500" cy="5702299"/>
          </a:xfrm>
          <a:prstGeom prst="rect">
            <a:avLst/>
          </a:prstGeom>
          <a:noFill/>
          <a:ln>
            <a:noFill/>
          </a:ln>
        </p:spPr>
        <p:txBody>
          <a:bodyPr anchorCtr="0" anchor="ctr" bIns="50800" lIns="50800" spcFirstLastPara="1" rIns="50800" wrap="square" tIns="50800">
            <a:noAutofit/>
          </a:bodyPr>
          <a:lstStyle/>
          <a:p>
            <a:pPr indent="-590677" lvl="0" marL="1104900" marR="0" rtl="0" algn="l">
              <a:lnSpc>
                <a:spcPct val="100000"/>
              </a:lnSpc>
              <a:spcBef>
                <a:spcPts val="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A </a:t>
            </a:r>
            <a:r>
              <a:rPr lang="en-US" sz="3400" u="none" cap="none" strike="noStrike">
                <a:solidFill>
                  <a:srgbClr val="FF7F00"/>
                </a:solidFill>
                <a:latin typeface="Arial"/>
                <a:ea typeface="Arial"/>
                <a:cs typeface="Arial"/>
                <a:sym typeface="Arial"/>
              </a:rPr>
              <a:t>list</a:t>
            </a:r>
            <a:r>
              <a:rPr lang="en-US" sz="3400" u="none" cap="none" strike="noStrike">
                <a:solidFill>
                  <a:schemeClr val="lt1"/>
                </a:solidFill>
                <a:latin typeface="Arial"/>
                <a:ea typeface="Arial"/>
                <a:cs typeface="Arial"/>
                <a:sym typeface="Arial"/>
              </a:rPr>
              <a:t> can hold many items and keeps those items in the order until we do something to change the order</a:t>
            </a:r>
            <a:endParaRPr/>
          </a:p>
          <a:p>
            <a:pPr indent="-590677" lvl="0" marL="1104900" marR="0" rtl="0" algn="l">
              <a:lnSpc>
                <a:spcPct val="100000"/>
              </a:lnSpc>
              <a:spcBef>
                <a:spcPts val="230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A </a:t>
            </a:r>
            <a:r>
              <a:rPr lang="en-US" sz="3400" u="none" cap="none" strike="noStrike">
                <a:solidFill>
                  <a:srgbClr val="FF7F00"/>
                </a:solidFill>
                <a:latin typeface="Arial"/>
                <a:ea typeface="Arial"/>
                <a:cs typeface="Arial"/>
                <a:sym typeface="Arial"/>
              </a:rPr>
              <a:t>list</a:t>
            </a:r>
            <a:r>
              <a:rPr lang="en-US" sz="3400" u="none" cap="none" strike="noStrike">
                <a:solidFill>
                  <a:schemeClr val="lt1"/>
                </a:solidFill>
                <a:latin typeface="Arial"/>
                <a:ea typeface="Arial"/>
                <a:cs typeface="Arial"/>
                <a:sym typeface="Arial"/>
              </a:rPr>
              <a:t> can be </a:t>
            </a:r>
            <a:r>
              <a:rPr lang="en-US" sz="3400" u="none" cap="none" strike="noStrike">
                <a:solidFill>
                  <a:srgbClr val="FF00FF"/>
                </a:solidFill>
                <a:latin typeface="Arial"/>
                <a:ea typeface="Arial"/>
                <a:cs typeface="Arial"/>
                <a:sym typeface="Arial"/>
              </a:rPr>
              <a:t>sorted</a:t>
            </a:r>
            <a:r>
              <a:rPr lang="en-US" sz="3400" u="none" cap="none" strike="noStrike">
                <a:solidFill>
                  <a:schemeClr val="lt1"/>
                </a:solidFill>
                <a:latin typeface="Arial"/>
                <a:ea typeface="Arial"/>
                <a:cs typeface="Arial"/>
                <a:sym typeface="Arial"/>
              </a:rPr>
              <a:t> </a:t>
            </a:r>
            <a:br>
              <a:rPr lang="en-US" sz="3400" u="none" cap="none" strike="noStrike">
                <a:solidFill>
                  <a:schemeClr val="lt1"/>
                </a:solidFill>
                <a:latin typeface="Arial"/>
                <a:ea typeface="Arial"/>
                <a:cs typeface="Arial"/>
                <a:sym typeface="Arial"/>
              </a:rPr>
            </a:br>
            <a:r>
              <a:rPr lang="en-US" sz="3400" u="none" cap="none" strike="noStrike">
                <a:solidFill>
                  <a:schemeClr val="lt1"/>
                </a:solidFill>
                <a:latin typeface="Arial"/>
                <a:ea typeface="Arial"/>
                <a:cs typeface="Arial"/>
                <a:sym typeface="Arial"/>
              </a:rPr>
              <a:t>(i.e., change its order)</a:t>
            </a:r>
            <a:endParaRPr/>
          </a:p>
          <a:p>
            <a:pPr indent="-590677" lvl="0" marL="1104900" marR="0" rtl="0" algn="l">
              <a:lnSpc>
                <a:spcPct val="100000"/>
              </a:lnSpc>
              <a:spcBef>
                <a:spcPts val="230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The </a:t>
            </a:r>
            <a:r>
              <a:rPr lang="en-US" sz="3400" u="none" cap="none" strike="noStrike">
                <a:solidFill>
                  <a:srgbClr val="FF00FF"/>
                </a:solidFill>
                <a:latin typeface="Arial"/>
                <a:ea typeface="Arial"/>
                <a:cs typeface="Arial"/>
                <a:sym typeface="Arial"/>
              </a:rPr>
              <a:t>sort</a:t>
            </a:r>
            <a:r>
              <a:rPr lang="en-US" sz="3400" u="none" cap="none" strike="noStrike">
                <a:solidFill>
                  <a:schemeClr val="lt1"/>
                </a:solidFill>
                <a:latin typeface="Arial"/>
                <a:ea typeface="Arial"/>
                <a:cs typeface="Arial"/>
                <a:sym typeface="Arial"/>
              </a:rPr>
              <a:t> method (unlike in strings) means </a:t>
            </a:r>
            <a:r>
              <a:rPr lang="en-US" sz="3400">
                <a:solidFill>
                  <a:schemeClr val="lt1"/>
                </a:solidFill>
                <a:latin typeface="Arial"/>
                <a:ea typeface="Arial"/>
                <a:cs typeface="Arial"/>
                <a:sym typeface="Arial"/>
              </a:rPr>
              <a:t>“</a:t>
            </a:r>
            <a:r>
              <a:rPr lang="en-US" sz="3400" u="none" cap="none" strike="noStrike">
                <a:solidFill>
                  <a:srgbClr val="FF00FF"/>
                </a:solidFill>
                <a:latin typeface="Arial"/>
                <a:ea typeface="Arial"/>
                <a:cs typeface="Arial"/>
                <a:sym typeface="Arial"/>
              </a:rPr>
              <a:t>sort yourself</a:t>
            </a:r>
            <a:r>
              <a:rPr lang="en-US" sz="3400">
                <a:solidFill>
                  <a:schemeClr val="lt1"/>
                </a:solidFill>
                <a:latin typeface="Arial"/>
                <a:ea typeface="Arial"/>
                <a:cs typeface="Arial"/>
                <a:sym typeface="Arial"/>
              </a:rPr>
              <a:t>”</a:t>
            </a:r>
            <a:endParaRPr/>
          </a:p>
        </p:txBody>
      </p:sp>
      <p:sp>
        <p:nvSpPr>
          <p:cNvPr id="142" name="Google Shape;142;p21"/>
          <p:cNvSpPr txBox="1"/>
          <p:nvPr/>
        </p:nvSpPr>
        <p:spPr>
          <a:xfrm>
            <a:off x="6771475" y="3041075"/>
            <a:ext cx="8976525" cy="556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rgbClr val="00FF00"/>
                </a:solidFill>
                <a:latin typeface="Courier"/>
                <a:ea typeface="Courier"/>
                <a:cs typeface="Courier"/>
                <a:sym typeface="Courier"/>
              </a:rPr>
              <a:t>friends</a:t>
            </a:r>
            <a:r>
              <a:rPr b="0" i="0" lang="en-US" sz="2600" u="none" cap="none" strike="noStrike">
                <a:solidFill>
                  <a:schemeClr val="lt1"/>
                </a:solidFill>
                <a:latin typeface="Courier"/>
                <a:ea typeface="Courier"/>
                <a:cs typeface="Courier"/>
                <a:sym typeface="Courier"/>
              </a:rPr>
              <a:t> = </a:t>
            </a:r>
            <a:r>
              <a:rPr b="0" i="0" lang="en-US" sz="2600" u="none" cap="none" strike="noStrike">
                <a:solidFill>
                  <a:srgbClr val="FF7F00"/>
                </a:solidFill>
                <a:latin typeface="Courier"/>
                <a:ea typeface="Courier"/>
                <a:cs typeface="Courier"/>
                <a:sym typeface="Courier"/>
              </a:rPr>
              <a:t>[ 'Joseph', 'Glenn', 'Sally' ]</a:t>
            </a:r>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rgbClr val="00FF00"/>
                </a:solidFill>
                <a:latin typeface="Courier"/>
                <a:ea typeface="Courier"/>
                <a:cs typeface="Courier"/>
                <a:sym typeface="Courier"/>
              </a:rPr>
              <a:t>friends</a:t>
            </a:r>
            <a:r>
              <a:rPr b="0" i="0" lang="en-US" sz="2600" u="none" cap="none" strike="noStrike">
                <a:solidFill>
                  <a:srgbClr val="FF00FF"/>
                </a:solidFill>
                <a:latin typeface="Courier"/>
                <a:ea typeface="Courier"/>
                <a:cs typeface="Courier"/>
                <a:sym typeface="Courier"/>
              </a:rPr>
              <a:t>.sort</a:t>
            </a:r>
            <a:r>
              <a:rPr b="0" i="0" lang="en-US" sz="26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50"/>
              <a:buFont typeface="Courier"/>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rgbClr val="00FF00"/>
                </a:solidFill>
                <a:latin typeface="Courier"/>
                <a:ea typeface="Courier"/>
                <a:cs typeface="Courier"/>
                <a:sym typeface="Courier"/>
              </a:rPr>
              <a:t>friends</a:t>
            </a:r>
            <a:r>
              <a:rPr b="0" i="0" lang="en-US" sz="2600" u="none" cap="none" strike="noStrike">
                <a:solidFill>
                  <a:srgbClr val="FFFF00"/>
                </a:solidFill>
                <a:latin typeface="Courier"/>
                <a:ea typeface="Courier"/>
                <a:cs typeface="Courier"/>
                <a:sym typeface="Courier"/>
              </a:rPr>
              <a:t>)</a:t>
            </a:r>
            <a:endParaRPr b="0" i="0" sz="26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['Glenn', 'Joseph', 'Sally']</a:t>
            </a:r>
            <a:endParaRPr/>
          </a:p>
          <a:p>
            <a:pPr indent="0" lvl="0" marL="0" marR="0" rtl="0" algn="l">
              <a:lnSpc>
                <a:spcPct val="100000"/>
              </a:lnSpc>
              <a:spcBef>
                <a:spcPts val="0"/>
              </a:spcBef>
              <a:spcAft>
                <a:spcPts val="0"/>
              </a:spcAft>
              <a:buClr>
                <a:schemeClr val="lt1"/>
              </a:buClr>
              <a:buSzPts val="650"/>
              <a:buFont typeface="Cabin"/>
              <a:buNone/>
            </a:pPr>
            <a:r>
              <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abin"/>
              <a:buNone/>
            </a:pPr>
            <a:r>
              <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a:buNone/>
            </a:pPr>
            <a:r>
              <a:rPr b="0" i="0" lang="en-US" sz="2600" u="none" cap="none" strike="noStrike">
                <a:solidFill>
                  <a:srgbClr val="00FF00"/>
                </a:solidFill>
                <a:latin typeface="Courier"/>
                <a:ea typeface="Courier"/>
                <a:cs typeface="Courier"/>
                <a:sym typeface="Courier"/>
              </a:rPr>
              <a:t>friends</a:t>
            </a:r>
            <a:r>
              <a:rPr b="0" i="0" lang="en-US" sz="2600" u="none" cap="none" strike="noStrike">
                <a:solidFill>
                  <a:schemeClr val="lt1"/>
                </a:solidFill>
                <a:latin typeface="Courier"/>
                <a:ea typeface="Courier"/>
                <a:cs typeface="Courier"/>
                <a:sym typeface="Courier"/>
              </a:rPr>
              <a:t> = </a:t>
            </a:r>
            <a:r>
              <a:rPr b="0" i="0" lang="en-US" sz="2600" u="none" cap="none" strike="noStrike">
                <a:solidFill>
                  <a:srgbClr val="FF7F00"/>
                </a:solidFill>
                <a:latin typeface="Courier"/>
                <a:ea typeface="Courier"/>
                <a:cs typeface="Courier"/>
                <a:sym typeface="Courier"/>
              </a:rPr>
              <a:t>[ 'Joseph', 'Glenn', 'Sally' ]</a:t>
            </a:r>
            <a:endParaRPr/>
          </a:p>
          <a:p>
            <a:pPr indent="0" lvl="0" marL="0" marR="0" rtl="0" algn="l">
              <a:lnSpc>
                <a:spcPct val="100000"/>
              </a:lnSpc>
              <a:spcBef>
                <a:spcPts val="0"/>
              </a:spcBef>
              <a:spcAft>
                <a:spcPts val="0"/>
              </a:spcAft>
              <a:buClr>
                <a:schemeClr val="lt1"/>
              </a:buClr>
              <a:buSzPts val="650"/>
              <a:buFont typeface="Courier"/>
              <a:buNone/>
            </a:pPr>
            <a:r>
              <a:rPr b="0" i="0" lang="en-US" sz="2600" u="none" cap="none" strike="noStrike">
                <a:solidFill>
                  <a:srgbClr val="00FF00"/>
                </a:solidFill>
                <a:latin typeface="Courier"/>
                <a:ea typeface="Courier"/>
                <a:cs typeface="Courier"/>
                <a:sym typeface="Courier"/>
              </a:rPr>
              <a:t>friends</a:t>
            </a:r>
            <a:r>
              <a:rPr b="0" i="0" lang="en-US" sz="2600" u="none" cap="none" strike="noStrike">
                <a:solidFill>
                  <a:srgbClr val="FF00FF"/>
                </a:solidFill>
                <a:latin typeface="Courier"/>
                <a:ea typeface="Courier"/>
                <a:cs typeface="Courier"/>
                <a:sym typeface="Courier"/>
              </a:rPr>
              <a:t>.sort</a:t>
            </a:r>
            <a:r>
              <a:rPr b="0" i="0" lang="en-US" sz="2600" u="none" cap="none" strike="noStrike">
                <a:solidFill>
                  <a:schemeClr val="lt1"/>
                </a:solidFill>
                <a:latin typeface="Courier"/>
                <a:ea typeface="Courier"/>
                <a:cs typeface="Courier"/>
                <a:sym typeface="Courier"/>
              </a:rPr>
              <a:t>(reverse=True)</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rgbClr val="00FF00"/>
                </a:solidFill>
                <a:latin typeface="Courier"/>
                <a:ea typeface="Courier"/>
                <a:cs typeface="Courier"/>
                <a:sym typeface="Courier"/>
              </a:rPr>
              <a:t>friends</a:t>
            </a:r>
            <a:r>
              <a:rPr b="0" i="0" lang="en-US" sz="2600" u="none" cap="none" strike="noStrike">
                <a:solidFill>
                  <a:srgbClr val="FFFF00"/>
                </a:solidFill>
                <a:latin typeface="Courier"/>
                <a:ea typeface="Courier"/>
                <a:cs typeface="Courier"/>
                <a:sym typeface="Courier"/>
              </a:rPr>
              <a:t>)</a:t>
            </a:r>
            <a:endParaRPr b="0" i="0" sz="26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a:buNone/>
            </a:pPr>
            <a:r>
              <a:rPr b="0" i="0" lang="en-US" sz="2600" u="none" cap="none" strike="noStrike">
                <a:solidFill>
                  <a:schemeClr val="lt1"/>
                </a:solidFill>
                <a:latin typeface="Courier"/>
                <a:ea typeface="Courier"/>
                <a:cs typeface="Courier"/>
                <a:sym typeface="Courier"/>
              </a:rPr>
              <a:t>['Sally’, ’Joseph’, ‘Glenn’]</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abin"/>
              <a:buNone/>
            </a:pPr>
            <a:r>
              <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abin"/>
              <a:buNone/>
            </a:pPr>
            <a:r>
              <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abin"/>
              <a:buNone/>
            </a:pPr>
            <a:r>
              <a:t/>
            </a:r>
            <a:endParaRPr b="0" i="0" sz="2600" u="none" cap="none" strike="noStrike">
              <a:solidFill>
                <a:schemeClr val="lt1"/>
              </a:solidFill>
              <a:latin typeface="Courier"/>
              <a:ea typeface="Courier"/>
              <a:cs typeface="Courier"/>
              <a:sym typeface="Couri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1155700" y="3325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Built</a:t>
            </a:r>
            <a:r>
              <a:rPr lang="en-US" sz="7600">
                <a:solidFill>
                  <a:srgbClr val="FFD966"/>
                </a:solidFill>
                <a:latin typeface="Arial"/>
                <a:ea typeface="Arial"/>
                <a:cs typeface="Arial"/>
                <a:sym typeface="Arial"/>
              </a:rPr>
              <a:t>-</a:t>
            </a:r>
            <a:r>
              <a:rPr lang="en-US" sz="7600" u="none" cap="none" strike="noStrike">
                <a:solidFill>
                  <a:srgbClr val="FFD966"/>
                </a:solidFill>
                <a:latin typeface="Arial"/>
                <a:ea typeface="Arial"/>
                <a:cs typeface="Arial"/>
                <a:sym typeface="Arial"/>
              </a:rPr>
              <a:t>in Functions and Lists</a:t>
            </a:r>
            <a:endParaRPr/>
          </a:p>
        </p:txBody>
      </p:sp>
      <p:sp>
        <p:nvSpPr>
          <p:cNvPr id="148" name="Google Shape;148;p22"/>
          <p:cNvSpPr txBox="1"/>
          <p:nvPr>
            <p:ph idx="1" type="body"/>
          </p:nvPr>
        </p:nvSpPr>
        <p:spPr>
          <a:xfrm>
            <a:off x="1155700" y="2603501"/>
            <a:ext cx="5802313" cy="4940300"/>
          </a:xfrm>
          <a:prstGeom prst="rect">
            <a:avLst/>
          </a:prstGeom>
          <a:noFill/>
          <a:ln>
            <a:noFill/>
          </a:ln>
        </p:spPr>
        <p:txBody>
          <a:bodyPr anchorCtr="0" anchor="ctr" bIns="38100" lIns="38100" spcFirstLastPara="1" rIns="38100" wrap="square" tIns="38100">
            <a:noAutofit/>
          </a:bodyPr>
          <a:lstStyle/>
          <a:p>
            <a:pPr indent="-444500" lvl="0" marL="457200" marR="0" rtl="0" algn="l">
              <a:lnSpc>
                <a:spcPct val="100000"/>
              </a:lnSpc>
              <a:spcBef>
                <a:spcPts val="0"/>
              </a:spcBef>
              <a:spcAft>
                <a:spcPts val="0"/>
              </a:spcAft>
              <a:buSzPts val="3400"/>
              <a:buFont typeface="Cabin"/>
              <a:buChar char="•"/>
            </a:pPr>
            <a:r>
              <a:rPr lang="en-US" sz="3400" u="none" cap="none" strike="noStrike">
                <a:solidFill>
                  <a:schemeClr val="lt1"/>
                </a:solidFill>
                <a:latin typeface="Arial"/>
                <a:ea typeface="Arial"/>
                <a:cs typeface="Arial"/>
                <a:sym typeface="Arial"/>
              </a:rPr>
              <a:t>There are a number of </a:t>
            </a:r>
            <a:r>
              <a:rPr lang="en-US" sz="3400" u="none" cap="none" strike="noStrike">
                <a:solidFill>
                  <a:srgbClr val="FF00FF"/>
                </a:solidFill>
                <a:latin typeface="Arial"/>
                <a:ea typeface="Arial"/>
                <a:cs typeface="Arial"/>
                <a:sym typeface="Arial"/>
              </a:rPr>
              <a:t>functions</a:t>
            </a:r>
            <a:r>
              <a:rPr lang="en-US" sz="3400" u="none" cap="none" strike="noStrike">
                <a:solidFill>
                  <a:schemeClr val="lt1"/>
                </a:solidFill>
                <a:latin typeface="Arial"/>
                <a:ea typeface="Arial"/>
                <a:cs typeface="Arial"/>
                <a:sym typeface="Arial"/>
              </a:rPr>
              <a:t> built into </a:t>
            </a:r>
            <a:r>
              <a:rPr lang="en-US" sz="3400" u="none" cap="none" strike="noStrike">
                <a:solidFill>
                  <a:srgbClr val="FFFF00"/>
                </a:solidFill>
                <a:latin typeface="Arial"/>
                <a:ea typeface="Arial"/>
                <a:cs typeface="Arial"/>
                <a:sym typeface="Arial"/>
              </a:rPr>
              <a:t>Python</a:t>
            </a:r>
            <a:r>
              <a:rPr lang="en-US" sz="3400" u="none" cap="none" strike="noStrike">
                <a:solidFill>
                  <a:schemeClr val="lt1"/>
                </a:solidFill>
                <a:latin typeface="Arial"/>
                <a:ea typeface="Arial"/>
                <a:cs typeface="Arial"/>
                <a:sym typeface="Arial"/>
              </a:rPr>
              <a:t> that take </a:t>
            </a:r>
            <a:r>
              <a:rPr lang="en-US" sz="3400" u="none" cap="none" strike="noStrike">
                <a:solidFill>
                  <a:srgbClr val="00FF00"/>
                </a:solidFill>
                <a:latin typeface="Arial"/>
                <a:ea typeface="Arial"/>
                <a:cs typeface="Arial"/>
                <a:sym typeface="Arial"/>
              </a:rPr>
              <a:t>lists</a:t>
            </a:r>
            <a:r>
              <a:rPr lang="en-US" sz="3400" u="none" cap="none" strike="noStrike">
                <a:solidFill>
                  <a:schemeClr val="lt1"/>
                </a:solidFill>
                <a:latin typeface="Arial"/>
                <a:ea typeface="Arial"/>
                <a:cs typeface="Arial"/>
                <a:sym typeface="Arial"/>
              </a:rPr>
              <a:t> as parameters</a:t>
            </a:r>
            <a:endParaRPr/>
          </a:p>
          <a:p>
            <a:pPr indent="-444500" lvl="0" marL="457200" marR="0" rtl="0" algn="l">
              <a:lnSpc>
                <a:spcPct val="100000"/>
              </a:lnSpc>
              <a:spcBef>
                <a:spcPts val="4500"/>
              </a:spcBef>
              <a:spcAft>
                <a:spcPts val="0"/>
              </a:spcAft>
              <a:buSzPts val="3400"/>
              <a:buFont typeface="Cabin"/>
              <a:buChar char="•"/>
            </a:pPr>
            <a:r>
              <a:rPr lang="en-US" sz="3400" u="none" cap="none" strike="noStrike">
                <a:solidFill>
                  <a:schemeClr val="lt1"/>
                </a:solidFill>
                <a:latin typeface="Arial"/>
                <a:ea typeface="Arial"/>
                <a:cs typeface="Arial"/>
                <a:sym typeface="Arial"/>
              </a:rPr>
              <a:t>Remember the loops we built?  These are much simpler.</a:t>
            </a:r>
            <a:endParaRPr/>
          </a:p>
        </p:txBody>
      </p:sp>
      <p:sp>
        <p:nvSpPr>
          <p:cNvPr id="149" name="Google Shape;149;p22"/>
          <p:cNvSpPr txBox="1"/>
          <p:nvPr/>
        </p:nvSpPr>
        <p:spPr>
          <a:xfrm>
            <a:off x="7929600" y="2028825"/>
            <a:ext cx="7885799" cy="67722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nums</a:t>
            </a:r>
            <a:r>
              <a:rPr b="0" i="0" lang="en-US" sz="3000" u="none" cap="none" strike="noStrike">
                <a:solidFill>
                  <a:schemeClr val="lt1"/>
                </a:solidFill>
                <a:latin typeface="Courier"/>
                <a:ea typeface="Courier"/>
                <a:cs typeface="Courier"/>
                <a:sym typeface="Courier"/>
              </a:rPr>
              <a:t> = [3, 41, 12, 9, 74, 15]</a:t>
            </a: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00FF"/>
                </a:solidFill>
                <a:latin typeface="Courier"/>
                <a:ea typeface="Courier"/>
                <a:cs typeface="Courier"/>
                <a:sym typeface="Courier"/>
              </a:rPr>
              <a:t>len</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nums</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6</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00FF"/>
                </a:solidFill>
                <a:latin typeface="Courier"/>
                <a:ea typeface="Courier"/>
                <a:cs typeface="Courier"/>
                <a:sym typeface="Courier"/>
              </a:rPr>
              <a:t>max</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nums</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74</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00FF"/>
                </a:solidFill>
                <a:latin typeface="Courier"/>
                <a:ea typeface="Courier"/>
                <a:cs typeface="Courier"/>
                <a:sym typeface="Courier"/>
              </a:rPr>
              <a:t>min</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nums</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3</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00FF"/>
                </a:solidFill>
                <a:latin typeface="Courier"/>
                <a:ea typeface="Courier"/>
                <a:cs typeface="Courier"/>
                <a:sym typeface="Courier"/>
              </a:rPr>
              <a:t>sum</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nums</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154</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00FF"/>
                </a:solidFill>
                <a:latin typeface="Courier"/>
                <a:ea typeface="Courier"/>
                <a:cs typeface="Courier"/>
                <a:sym typeface="Courier"/>
              </a:rPr>
              <a:t>sum</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nums</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00FF"/>
                </a:solidFill>
                <a:latin typeface="Courier"/>
                <a:ea typeface="Courier"/>
                <a:cs typeface="Courier"/>
                <a:sym typeface="Courier"/>
              </a:rPr>
              <a:t>len</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nums</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25.6</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nvSpPr>
        <p:spPr>
          <a:xfrm>
            <a:off x="1180825" y="1697050"/>
            <a:ext cx="8127900" cy="3987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FF00"/>
              </a:buClr>
              <a:buSzPts val="650"/>
              <a:buFont typeface="Courier New"/>
              <a:buNone/>
            </a:pPr>
            <a:r>
              <a:rPr b="0" i="0" lang="en-US" sz="2600" u="none" cap="none" strike="noStrike">
                <a:solidFill>
                  <a:srgbClr val="00FF00"/>
                </a:solidFill>
                <a:latin typeface="Courier"/>
                <a:ea typeface="Courier"/>
                <a:cs typeface="Courier"/>
                <a:sym typeface="Courier"/>
              </a:rPr>
              <a:t>numlist = list()</a:t>
            </a:r>
            <a:endParaRPr/>
          </a:p>
          <a:p>
            <a:pPr indent="0" lvl="0" marL="0" marR="0" rtl="0" algn="l">
              <a:lnSpc>
                <a:spcPct val="100000"/>
              </a:lnSpc>
              <a:spcBef>
                <a:spcPts val="0"/>
              </a:spcBef>
              <a:spcAft>
                <a:spcPts val="0"/>
              </a:spcAft>
              <a:buClr>
                <a:srgbClr val="FFFFFF"/>
              </a:buClr>
              <a:buSzPts val="650"/>
              <a:buFont typeface="Courier New"/>
              <a:buNone/>
            </a:pPr>
            <a:r>
              <a:rPr b="0" i="0" lang="en-US" sz="2600" u="none" cap="none" strike="noStrike">
                <a:solidFill>
                  <a:srgbClr val="FFFFFF"/>
                </a:solidFill>
                <a:latin typeface="Courier"/>
                <a:ea typeface="Courier"/>
                <a:cs typeface="Courier"/>
                <a:sym typeface="Courier"/>
              </a:rPr>
              <a:t>while True :</a:t>
            </a:r>
            <a:endParaRPr/>
          </a:p>
          <a:p>
            <a:pPr indent="0" lvl="0" marL="0" marR="0" rtl="0" algn="l">
              <a:lnSpc>
                <a:spcPct val="100000"/>
              </a:lnSpc>
              <a:spcBef>
                <a:spcPts val="0"/>
              </a:spcBef>
              <a:spcAft>
                <a:spcPts val="0"/>
              </a:spcAft>
              <a:buClr>
                <a:srgbClr val="FFFFFF"/>
              </a:buClr>
              <a:buSzPts val="650"/>
              <a:buFont typeface="Courier New"/>
              <a:buNone/>
            </a:pPr>
            <a:r>
              <a:rPr b="0" i="0" lang="en-US" sz="2600" u="none" cap="none" strike="noStrike">
                <a:solidFill>
                  <a:srgbClr val="FFFFFF"/>
                </a:solidFill>
                <a:latin typeface="Courier"/>
                <a:ea typeface="Courier"/>
                <a:cs typeface="Courier"/>
                <a:sym typeface="Courier"/>
              </a:rPr>
              <a:t>    inp = input('Enter a number: ')</a:t>
            </a:r>
            <a:endParaRPr/>
          </a:p>
          <a:p>
            <a:pPr indent="0" lvl="0" marL="0" marR="0" rtl="0" algn="l">
              <a:lnSpc>
                <a:spcPct val="100000"/>
              </a:lnSpc>
              <a:spcBef>
                <a:spcPts val="0"/>
              </a:spcBef>
              <a:spcAft>
                <a:spcPts val="0"/>
              </a:spcAft>
              <a:buClr>
                <a:srgbClr val="FFFFFF"/>
              </a:buClr>
              <a:buSzPts val="650"/>
              <a:buFont typeface="Courier New"/>
              <a:buNone/>
            </a:pPr>
            <a:r>
              <a:rPr b="0" i="0" lang="en-US" sz="2600" u="none" cap="none" strike="noStrike">
                <a:solidFill>
                  <a:srgbClr val="FFFFFF"/>
                </a:solidFill>
                <a:latin typeface="Courier"/>
                <a:ea typeface="Courier"/>
                <a:cs typeface="Courier"/>
                <a:sym typeface="Courier"/>
              </a:rPr>
              <a:t>    if inp == 'done' : break</a:t>
            </a:r>
            <a:endParaRPr/>
          </a:p>
          <a:p>
            <a:pPr indent="0" lvl="0" marL="0" marR="0" rtl="0" algn="l">
              <a:lnSpc>
                <a:spcPct val="100000"/>
              </a:lnSpc>
              <a:spcBef>
                <a:spcPts val="0"/>
              </a:spcBef>
              <a:spcAft>
                <a:spcPts val="0"/>
              </a:spcAft>
              <a:buClr>
                <a:srgbClr val="FFFFFF"/>
              </a:buClr>
              <a:buSzPts val="650"/>
              <a:buFont typeface="Courier New"/>
              <a:buNone/>
            </a:pPr>
            <a:r>
              <a:rPr b="0" i="0" lang="en-US" sz="2600" u="none" cap="none" strike="noStrike">
                <a:solidFill>
                  <a:srgbClr val="FFFFFF"/>
                </a:solidFill>
                <a:latin typeface="Courier"/>
                <a:ea typeface="Courier"/>
                <a:cs typeface="Courier"/>
                <a:sym typeface="Courier"/>
              </a:rPr>
              <a:t>    value = float(inp)</a:t>
            </a:r>
            <a:endParaRPr/>
          </a:p>
          <a:p>
            <a:pPr indent="0" lvl="0" marL="0" marR="0" rtl="0" algn="l">
              <a:lnSpc>
                <a:spcPct val="100000"/>
              </a:lnSpc>
              <a:spcBef>
                <a:spcPts val="0"/>
              </a:spcBef>
              <a:spcAft>
                <a:spcPts val="0"/>
              </a:spcAft>
              <a:buClr>
                <a:srgbClr val="00FF00"/>
              </a:buClr>
              <a:buSzPts val="650"/>
              <a:buFont typeface="Courier New"/>
              <a:buNone/>
            </a:pPr>
            <a:r>
              <a:rPr b="0" i="0" lang="en-US" sz="2600" u="none" cap="none" strike="noStrike">
                <a:solidFill>
                  <a:srgbClr val="00FF00"/>
                </a:solidFill>
                <a:latin typeface="Courier"/>
                <a:ea typeface="Courier"/>
                <a:cs typeface="Courier"/>
                <a:sym typeface="Courier"/>
              </a:rPr>
              <a:t>    numlist.append(value)</a:t>
            </a:r>
            <a:endParaRPr/>
          </a:p>
          <a:p>
            <a:pPr indent="0" lvl="0" marL="0" marR="0" rtl="0" algn="ctr">
              <a:lnSpc>
                <a:spcPct val="100000"/>
              </a:lnSpc>
              <a:spcBef>
                <a:spcPts val="0"/>
              </a:spcBef>
              <a:spcAft>
                <a:spcPts val="0"/>
              </a:spcAft>
              <a:buClr>
                <a:srgbClr val="000000"/>
              </a:buClr>
              <a:buSzPts val="2600"/>
              <a:buFont typeface="Arial"/>
              <a:buNone/>
            </a:pPr>
            <a:r>
              <a:t/>
            </a:r>
            <a:endParaRPr b="0" i="0" sz="2600" u="none" cap="none" strike="noStrike">
              <a:solidFill>
                <a:srgbClr val="FFFFFF"/>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650"/>
              <a:buFont typeface="Courier New"/>
              <a:buNone/>
            </a:pPr>
            <a:r>
              <a:rPr b="0" i="0" lang="en-US" sz="2600" u="none" cap="none" strike="noStrike">
                <a:solidFill>
                  <a:srgbClr val="00FF00"/>
                </a:solidFill>
                <a:latin typeface="Courier"/>
                <a:ea typeface="Courier"/>
                <a:cs typeface="Courier"/>
                <a:sym typeface="Courier"/>
              </a:rPr>
              <a:t>average = sum(numlist) / len(numlist)</a:t>
            </a:r>
            <a:endParaRPr/>
          </a:p>
          <a:p>
            <a:pPr indent="0" lvl="0" marL="0" marR="0" rtl="0" algn="l">
              <a:lnSpc>
                <a:spcPct val="100000"/>
              </a:lnSpc>
              <a:spcBef>
                <a:spcPts val="0"/>
              </a:spcBef>
              <a:spcAft>
                <a:spcPts val="0"/>
              </a:spcAft>
              <a:buClr>
                <a:srgbClr val="FFFFFF"/>
              </a:buClr>
              <a:buSzPts val="650"/>
              <a:buFont typeface="Courier New"/>
              <a:buNone/>
            </a:pPr>
            <a:r>
              <a:rPr b="0" i="0" lang="en-US" sz="2600" u="none" cap="none" strike="noStrike">
                <a:solidFill>
                  <a:srgbClr val="FFFFFF"/>
                </a:solidFill>
                <a:latin typeface="Courier"/>
                <a:ea typeface="Courier"/>
                <a:cs typeface="Courier"/>
                <a:sym typeface="Courier"/>
              </a:rPr>
              <a:t>print('Average:', average)</a:t>
            </a:r>
            <a:endParaRPr b="0" i="0" sz="2600" u="none" cap="none" strike="noStrike">
              <a:solidFill>
                <a:srgbClr val="FFFFFF"/>
              </a:solidFill>
              <a:latin typeface="Courier"/>
              <a:ea typeface="Courier"/>
              <a:cs typeface="Courier"/>
              <a:sym typeface="Courier"/>
            </a:endParaRPr>
          </a:p>
        </p:txBody>
      </p:sp>
      <p:sp>
        <p:nvSpPr>
          <p:cNvPr id="155" name="Google Shape;155;p23"/>
          <p:cNvSpPr txBox="1"/>
          <p:nvPr/>
        </p:nvSpPr>
        <p:spPr>
          <a:xfrm>
            <a:off x="10137400" y="1697050"/>
            <a:ext cx="5521700" cy="333215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Enter a number: </a:t>
            </a:r>
            <a:r>
              <a:rPr b="0" i="0" lang="en-US" sz="3600" u="none" cap="none" strike="noStrike">
                <a:solidFill>
                  <a:srgbClr val="00FFFF"/>
                </a:solidFill>
                <a:latin typeface="Arial"/>
                <a:ea typeface="Arial"/>
                <a:cs typeface="Arial"/>
                <a:sym typeface="Arial"/>
              </a:rPr>
              <a:t>3</a:t>
            </a:r>
            <a:endParaRPr/>
          </a:p>
          <a:p>
            <a:pPr indent="0" lvl="0" marL="0" marR="0" rtl="0" algn="l">
              <a:lnSpc>
                <a:spcPct val="115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Enter a number: </a:t>
            </a:r>
            <a:r>
              <a:rPr b="0" i="0" lang="en-US" sz="3600" u="none" cap="none" strike="noStrike">
                <a:solidFill>
                  <a:srgbClr val="00FFFF"/>
                </a:solidFill>
                <a:latin typeface="Arial"/>
                <a:ea typeface="Arial"/>
                <a:cs typeface="Arial"/>
                <a:sym typeface="Arial"/>
              </a:rPr>
              <a:t>9</a:t>
            </a:r>
            <a:endParaRPr/>
          </a:p>
          <a:p>
            <a:pPr indent="0" lvl="0" marL="0" marR="0" rtl="0" algn="l">
              <a:lnSpc>
                <a:spcPct val="115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Enter a number: </a:t>
            </a:r>
            <a:r>
              <a:rPr b="0" i="0" lang="en-US" sz="3600" u="none" cap="none" strike="noStrike">
                <a:solidFill>
                  <a:srgbClr val="00FFFF"/>
                </a:solidFill>
                <a:latin typeface="Arial"/>
                <a:ea typeface="Arial"/>
                <a:cs typeface="Arial"/>
                <a:sym typeface="Arial"/>
              </a:rPr>
              <a:t>5</a:t>
            </a:r>
            <a:endParaRPr/>
          </a:p>
          <a:p>
            <a:pPr indent="0" lvl="0" marL="0" marR="0" rtl="0" algn="l">
              <a:lnSpc>
                <a:spcPct val="115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Enter a number: </a:t>
            </a:r>
            <a:r>
              <a:rPr b="0" i="0" lang="en-US" sz="3600" u="none" cap="none" strike="noStrike">
                <a:solidFill>
                  <a:srgbClr val="00FFFF"/>
                </a:solidFill>
                <a:latin typeface="Arial"/>
                <a:ea typeface="Arial"/>
                <a:cs typeface="Arial"/>
                <a:sym typeface="Arial"/>
              </a:rPr>
              <a:t>done</a:t>
            </a:r>
            <a:endParaRPr/>
          </a:p>
          <a:p>
            <a:pPr indent="0" lvl="0" marL="0" marR="0" rtl="0" algn="l">
              <a:lnSpc>
                <a:spcPct val="115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Average: 5.66666666667</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Best Friends: Strings and Lists</a:t>
            </a:r>
            <a:endParaRPr/>
          </a:p>
        </p:txBody>
      </p:sp>
      <p:sp>
        <p:nvSpPr>
          <p:cNvPr id="161" name="Google Shape;161;p24"/>
          <p:cNvSpPr txBox="1"/>
          <p:nvPr/>
        </p:nvSpPr>
        <p:spPr>
          <a:xfrm>
            <a:off x="1498600" y="2349500"/>
            <a:ext cx="6749100" cy="4432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abc</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'With three words'</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stuff</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 abc</a:t>
            </a:r>
            <a:r>
              <a:rPr b="0" i="0" lang="en-US" sz="3000" u="none" cap="none" strike="noStrike">
                <a:solidFill>
                  <a:srgbClr val="FF00FF"/>
                </a:solidFill>
                <a:latin typeface="Courier"/>
                <a:ea typeface="Courier"/>
                <a:cs typeface="Courier"/>
                <a:sym typeface="Courier"/>
              </a:rPr>
              <a:t>.split</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stuff</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['With', 'three', 'words']</a:t>
            </a:r>
            <a:endParaRPr/>
          </a:p>
          <a:p>
            <a:pPr indent="0" lvl="0" marL="0" marR="0" rtl="0" algn="l">
              <a:lnSpc>
                <a:spcPct val="100000"/>
              </a:lnSpc>
              <a:spcBef>
                <a:spcPts val="0"/>
              </a:spcBef>
              <a:spcAft>
                <a:spcPts val="0"/>
              </a:spcAft>
              <a:buClr>
                <a:schemeClr val="lt1"/>
              </a:buClr>
              <a:buSzPts val="75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stuff</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0</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With</a:t>
            </a:r>
            <a:endParaRPr/>
          </a:p>
        </p:txBody>
      </p:sp>
      <p:sp>
        <p:nvSpPr>
          <p:cNvPr id="162" name="Google Shape;162;p24"/>
          <p:cNvSpPr txBox="1"/>
          <p:nvPr/>
        </p:nvSpPr>
        <p:spPr>
          <a:xfrm>
            <a:off x="9398000" y="2292351"/>
            <a:ext cx="6450900" cy="39941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w</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stuff </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    print(</a:t>
            </a:r>
            <a:r>
              <a:rPr b="0" i="0" lang="en-US" sz="3000" u="none" cap="none" strike="noStrike">
                <a:solidFill>
                  <a:srgbClr val="00FF00"/>
                </a:solidFill>
                <a:latin typeface="Courier"/>
                <a:ea typeface="Courier"/>
                <a:cs typeface="Courier"/>
                <a:sym typeface="Courier"/>
              </a:rPr>
              <a:t>w</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With</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Three</a:t>
            </a: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Words</a:t>
            </a: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p:txBody>
      </p:sp>
      <p:sp>
        <p:nvSpPr>
          <p:cNvPr id="163" name="Google Shape;163;p24"/>
          <p:cNvSpPr txBox="1"/>
          <p:nvPr/>
        </p:nvSpPr>
        <p:spPr>
          <a:xfrm>
            <a:off x="457200" y="7194550"/>
            <a:ext cx="15125699" cy="114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850"/>
              <a:buFont typeface="Cabin"/>
              <a:buNone/>
            </a:pPr>
            <a:r>
              <a:rPr b="0" i="0" lang="en-US" sz="3400" u="none" cap="none" strike="noStrike">
                <a:solidFill>
                  <a:srgbClr val="FF00FF"/>
                </a:solidFill>
                <a:latin typeface="Arial"/>
                <a:ea typeface="Arial"/>
                <a:cs typeface="Arial"/>
                <a:sym typeface="Arial"/>
              </a:rPr>
              <a:t>Split</a:t>
            </a:r>
            <a:r>
              <a:rPr b="0" i="0" lang="en-US" sz="3400" u="none" cap="none" strike="noStrike">
                <a:solidFill>
                  <a:schemeClr val="lt1"/>
                </a:solidFill>
                <a:latin typeface="Arial"/>
                <a:ea typeface="Arial"/>
                <a:cs typeface="Arial"/>
                <a:sym typeface="Arial"/>
              </a:rPr>
              <a:t> breaks a string into parts and produces a list of strings.  We think of these as words.  We can </a:t>
            </a:r>
            <a:r>
              <a:rPr b="0" i="0" lang="en-US" sz="3400" u="none" cap="none" strike="noStrike">
                <a:solidFill>
                  <a:srgbClr val="00FFFF"/>
                </a:solidFill>
                <a:latin typeface="Arial"/>
                <a:ea typeface="Arial"/>
                <a:cs typeface="Arial"/>
                <a:sym typeface="Arial"/>
              </a:rPr>
              <a:t>access</a:t>
            </a:r>
            <a:r>
              <a:rPr b="0" i="0" lang="en-US" sz="3400" u="none" cap="none" strike="noStrike">
                <a:solidFill>
                  <a:schemeClr val="lt1"/>
                </a:solidFill>
                <a:latin typeface="Arial"/>
                <a:ea typeface="Arial"/>
                <a:cs typeface="Arial"/>
                <a:sym typeface="Arial"/>
              </a:rPr>
              <a:t> a particular word or </a:t>
            </a:r>
            <a:r>
              <a:rPr b="0" i="0" lang="en-US" sz="3400" u="none" cap="none" strike="noStrike">
                <a:solidFill>
                  <a:srgbClr val="FFFF00"/>
                </a:solidFill>
                <a:latin typeface="Arial"/>
                <a:ea typeface="Arial"/>
                <a:cs typeface="Arial"/>
                <a:sym typeface="Arial"/>
              </a:rPr>
              <a:t>loop</a:t>
            </a:r>
            <a:r>
              <a:rPr b="0" i="0" lang="en-US" sz="3400" u="none" cap="none" strike="noStrike">
                <a:solidFill>
                  <a:schemeClr val="lt1"/>
                </a:solidFill>
                <a:latin typeface="Arial"/>
                <a:ea typeface="Arial"/>
                <a:cs typeface="Arial"/>
                <a:sym typeface="Arial"/>
              </a:rPr>
              <a:t> through all the words.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nvSpPr>
        <p:spPr>
          <a:xfrm>
            <a:off x="965199" y="1085851"/>
            <a:ext cx="9364664" cy="702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rgbClr val="00FF00"/>
                </a:solidFill>
                <a:latin typeface="Courier"/>
                <a:ea typeface="Courier"/>
                <a:cs typeface="Courier"/>
                <a:sym typeface="Courier"/>
              </a:rPr>
              <a:t>line</a:t>
            </a:r>
            <a:r>
              <a:rPr b="0" i="0" lang="en-US" sz="2600" u="none" cap="none" strike="noStrike">
                <a:solidFill>
                  <a:srgbClr val="FF7F00"/>
                </a:solidFill>
                <a:latin typeface="Courier"/>
                <a:ea typeface="Courier"/>
                <a:cs typeface="Courier"/>
                <a:sym typeface="Courier"/>
              </a:rPr>
              <a:t> </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 'A lot               of spaces'</a:t>
            </a:r>
            <a:endParaRPr b="0" i="0" sz="26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rgbClr val="00FF00"/>
                </a:solidFill>
                <a:latin typeface="Courier"/>
                <a:ea typeface="Courier"/>
                <a:cs typeface="Courier"/>
                <a:sym typeface="Courier"/>
              </a:rPr>
              <a:t>etc</a:t>
            </a:r>
            <a:r>
              <a:rPr b="0" i="0" lang="en-US" sz="2600" u="none" cap="none" strike="noStrike">
                <a:solidFill>
                  <a:srgbClr val="FF7F00"/>
                </a:solidFill>
                <a:latin typeface="Courier"/>
                <a:ea typeface="Courier"/>
                <a:cs typeface="Courier"/>
                <a:sym typeface="Courier"/>
              </a:rPr>
              <a:t> </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line.</a:t>
            </a:r>
            <a:r>
              <a:rPr b="0" i="0" lang="en-US" sz="2600" u="none" cap="none" strike="noStrike">
                <a:solidFill>
                  <a:srgbClr val="FF00FF"/>
                </a:solidFill>
                <a:latin typeface="Courier"/>
                <a:ea typeface="Courier"/>
                <a:cs typeface="Courier"/>
                <a:sym typeface="Courier"/>
              </a:rPr>
              <a:t>split</a:t>
            </a:r>
            <a:r>
              <a:rPr b="0" i="0" lang="en-US" sz="26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rgbClr val="00FF00"/>
                </a:solidFill>
                <a:latin typeface="Courier"/>
                <a:ea typeface="Courier"/>
                <a:cs typeface="Courier"/>
                <a:sym typeface="Courier"/>
              </a:rPr>
              <a:t>etc</a:t>
            </a:r>
            <a:r>
              <a:rPr b="0" i="0" lang="en-US" sz="2600" u="none" cap="none" strike="noStrike">
                <a:solidFill>
                  <a:srgbClr val="FFFF00"/>
                </a:solidFill>
                <a:latin typeface="Courier"/>
                <a:ea typeface="Courier"/>
                <a:cs typeface="Courier"/>
                <a:sym typeface="Courier"/>
              </a:rPr>
              <a:t>)</a:t>
            </a:r>
            <a:endParaRPr b="0" i="0" sz="26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['A', 'lot', 'of', 'spaces']</a:t>
            </a:r>
            <a:endParaRPr/>
          </a:p>
          <a:p>
            <a:pPr indent="0" lvl="0" marL="0" marR="0" rtl="0" algn="l">
              <a:lnSpc>
                <a:spcPct val="100000"/>
              </a:lnSpc>
              <a:spcBef>
                <a:spcPts val="0"/>
              </a:spcBef>
              <a:spcAft>
                <a:spcPts val="0"/>
              </a:spcAft>
              <a:buClr>
                <a:schemeClr val="lt1"/>
              </a:buClr>
              <a:buSzPts val="650"/>
              <a:buFont typeface="Courier New"/>
              <a:buNone/>
            </a:pPr>
            <a:r>
              <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rgbClr val="00FF00"/>
                </a:solidFill>
                <a:latin typeface="Courier"/>
                <a:ea typeface="Courier"/>
                <a:cs typeface="Courier"/>
                <a:sym typeface="Courier"/>
              </a:rPr>
              <a:t>line</a:t>
            </a:r>
            <a:r>
              <a:rPr b="0" i="0" lang="en-US" sz="2600" u="none" cap="none" strike="noStrike">
                <a:solidFill>
                  <a:srgbClr val="FF7F00"/>
                </a:solidFill>
                <a:latin typeface="Courier"/>
                <a:ea typeface="Courier"/>
                <a:cs typeface="Courier"/>
                <a:sym typeface="Courier"/>
              </a:rPr>
              <a:t> </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 'first</a:t>
            </a:r>
            <a:r>
              <a:rPr b="0" i="0" lang="en-US" sz="2600" u="none" cap="none" strike="noStrike">
                <a:solidFill>
                  <a:srgbClr val="00FFFF"/>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second</a:t>
            </a:r>
            <a:r>
              <a:rPr b="0" i="0" lang="en-US" sz="2600" u="none" cap="none" strike="noStrike">
                <a:solidFill>
                  <a:srgbClr val="00FFFF"/>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third'</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rgbClr val="00FF00"/>
                </a:solidFill>
                <a:latin typeface="Courier"/>
                <a:ea typeface="Courier"/>
                <a:cs typeface="Courier"/>
                <a:sym typeface="Courier"/>
              </a:rPr>
              <a:t>thing</a:t>
            </a:r>
            <a:r>
              <a:rPr b="0" i="0" lang="en-US" sz="2600" u="none" cap="none" strike="noStrike">
                <a:solidFill>
                  <a:srgbClr val="FF7F00"/>
                </a:solidFill>
                <a:latin typeface="Courier"/>
                <a:ea typeface="Courier"/>
                <a:cs typeface="Courier"/>
                <a:sym typeface="Courier"/>
              </a:rPr>
              <a:t> </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 line</a:t>
            </a:r>
            <a:r>
              <a:rPr b="0" i="0" lang="en-US" sz="2600" u="none" cap="none" strike="noStrike">
                <a:solidFill>
                  <a:srgbClr val="FF00FF"/>
                </a:solidFill>
                <a:latin typeface="Courier"/>
                <a:ea typeface="Courier"/>
                <a:cs typeface="Courier"/>
                <a:sym typeface="Courier"/>
              </a:rPr>
              <a:t>.split</a:t>
            </a:r>
            <a:r>
              <a:rPr b="0" i="0" lang="en-US" sz="26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50"/>
              <a:buFont typeface="Courier"/>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rgbClr val="00FF00"/>
                </a:solidFill>
                <a:latin typeface="Courier"/>
                <a:ea typeface="Courier"/>
                <a:cs typeface="Courier"/>
                <a:sym typeface="Courier"/>
              </a:rPr>
              <a:t>thing</a:t>
            </a:r>
            <a:r>
              <a:rPr b="0" i="0" lang="en-US" sz="2600" u="none" cap="none" strike="noStrike">
                <a:solidFill>
                  <a:srgbClr val="FFFF00"/>
                </a:solidFill>
                <a:latin typeface="Courier"/>
                <a:ea typeface="Courier"/>
                <a:cs typeface="Courier"/>
                <a:sym typeface="Courier"/>
              </a:rPr>
              <a:t>)</a:t>
            </a:r>
            <a:endParaRPr b="0" i="0" sz="26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['first;second;third']</a:t>
            </a:r>
            <a:endParaRPr/>
          </a:p>
          <a:p>
            <a:pPr indent="0" lvl="0" marL="0" marR="0" rtl="0" algn="l">
              <a:lnSpc>
                <a:spcPct val="100000"/>
              </a:lnSpc>
              <a:spcBef>
                <a:spcPts val="0"/>
              </a:spcBef>
              <a:spcAft>
                <a:spcPts val="0"/>
              </a:spcAft>
              <a:buClr>
                <a:schemeClr val="lt1"/>
              </a:buClr>
              <a:buSzPts val="650"/>
              <a:buFont typeface="Courier"/>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rgbClr val="FF00FF"/>
                </a:solidFill>
                <a:latin typeface="Courier"/>
                <a:ea typeface="Courier"/>
                <a:cs typeface="Courier"/>
                <a:sym typeface="Courier"/>
              </a:rPr>
              <a:t>len</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thing</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FF00"/>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1</a:t>
            </a:r>
            <a:endParaRPr/>
          </a:p>
          <a:p>
            <a:pPr indent="0" lvl="0" marL="0" marR="0" rtl="0" algn="l">
              <a:lnSpc>
                <a:spcPct val="100000"/>
              </a:lnSpc>
              <a:spcBef>
                <a:spcPts val="0"/>
              </a:spcBef>
              <a:spcAft>
                <a:spcPts val="0"/>
              </a:spcAft>
              <a:buClr>
                <a:schemeClr val="lt1"/>
              </a:buClr>
              <a:buSzPts val="650"/>
              <a:buFont typeface="Courier New"/>
              <a:buNone/>
            </a:pPr>
            <a:r>
              <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rgbClr val="00FF00"/>
                </a:solidFill>
                <a:latin typeface="Courier"/>
                <a:ea typeface="Courier"/>
                <a:cs typeface="Courier"/>
                <a:sym typeface="Courier"/>
              </a:rPr>
              <a:t>thing</a:t>
            </a:r>
            <a:r>
              <a:rPr b="0" i="0" lang="en-US" sz="2600" u="none" cap="none" strike="noStrike">
                <a:solidFill>
                  <a:srgbClr val="FF7F00"/>
                </a:solidFill>
                <a:latin typeface="Courier"/>
                <a:ea typeface="Courier"/>
                <a:cs typeface="Courier"/>
                <a:sym typeface="Courier"/>
              </a:rPr>
              <a:t> </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line</a:t>
            </a:r>
            <a:r>
              <a:rPr b="0" i="0" lang="en-US" sz="2600" u="none" cap="none" strike="noStrike">
                <a:solidFill>
                  <a:srgbClr val="FF00FF"/>
                </a:solidFill>
                <a:latin typeface="Courier"/>
                <a:ea typeface="Courier"/>
                <a:cs typeface="Courier"/>
                <a:sym typeface="Courier"/>
              </a:rPr>
              <a:t>.split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FF"/>
                </a:solidFill>
                <a:latin typeface="Courier"/>
                <a:ea typeface="Courier"/>
                <a:cs typeface="Courier"/>
                <a:sym typeface="Courier"/>
              </a:rPr>
              <a:t>';'</a:t>
            </a:r>
            <a:r>
              <a:rPr b="0" i="0" lang="en-US" sz="26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50"/>
              <a:buFont typeface="Courier"/>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rgbClr val="00FF00"/>
                </a:solidFill>
                <a:latin typeface="Courier"/>
                <a:ea typeface="Courier"/>
                <a:cs typeface="Courier"/>
                <a:sym typeface="Courier"/>
              </a:rPr>
              <a:t>thing</a:t>
            </a:r>
            <a:r>
              <a:rPr b="0" i="0" lang="en-US" sz="2600" u="none" cap="none" strike="noStrike">
                <a:solidFill>
                  <a:srgbClr val="FFFF00"/>
                </a:solidFill>
                <a:latin typeface="Courier"/>
                <a:ea typeface="Courier"/>
                <a:cs typeface="Courier"/>
                <a:sym typeface="Courier"/>
              </a:rPr>
              <a:t>)</a:t>
            </a:r>
            <a:endParaRPr b="0" i="0" sz="26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['first', 'second', 'third']</a:t>
            </a:r>
            <a:endParaRPr/>
          </a:p>
          <a:p>
            <a:pPr indent="0" lvl="0" marL="0" marR="0" rtl="0" algn="l">
              <a:lnSpc>
                <a:spcPct val="100000"/>
              </a:lnSpc>
              <a:spcBef>
                <a:spcPts val="0"/>
              </a:spcBef>
              <a:spcAft>
                <a:spcPts val="0"/>
              </a:spcAft>
              <a:buClr>
                <a:schemeClr val="lt1"/>
              </a:buClr>
              <a:buSzPts val="650"/>
              <a:buFont typeface="Courier"/>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rgbClr val="FF00FF"/>
                </a:solidFill>
                <a:latin typeface="Courier"/>
                <a:ea typeface="Courier"/>
                <a:cs typeface="Courier"/>
                <a:sym typeface="Courier"/>
              </a:rPr>
              <a:t>len</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thing</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FF00"/>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3</a:t>
            </a:r>
            <a:endParaRPr/>
          </a:p>
          <a:p>
            <a:pPr indent="0" lvl="0" marL="0" marR="0" rtl="0" algn="l">
              <a:lnSpc>
                <a:spcPct val="100000"/>
              </a:lnSpc>
              <a:spcBef>
                <a:spcPts val="0"/>
              </a:spcBef>
              <a:spcAft>
                <a:spcPts val="0"/>
              </a:spcAft>
              <a:buClr>
                <a:schemeClr val="lt1"/>
              </a:buClr>
              <a:buSzPts val="650"/>
              <a:buFont typeface="Courier New"/>
              <a:buNone/>
            </a:pPr>
            <a:r>
              <a:t/>
            </a:r>
            <a:endParaRPr b="0" i="0" sz="2600" u="none" cap="none" strike="noStrike">
              <a:solidFill>
                <a:schemeClr val="lt1"/>
              </a:solidFill>
              <a:latin typeface="Courier"/>
              <a:ea typeface="Courier"/>
              <a:cs typeface="Courier"/>
              <a:sym typeface="Courier"/>
            </a:endParaRPr>
          </a:p>
        </p:txBody>
      </p:sp>
      <p:sp>
        <p:nvSpPr>
          <p:cNvPr id="169" name="Google Shape;169;p25"/>
          <p:cNvSpPr txBox="1"/>
          <p:nvPr/>
        </p:nvSpPr>
        <p:spPr>
          <a:xfrm>
            <a:off x="9226644" y="2031185"/>
            <a:ext cx="6490311" cy="4676729"/>
          </a:xfrm>
          <a:prstGeom prst="rect">
            <a:avLst/>
          </a:prstGeom>
          <a:noFill/>
          <a:ln>
            <a:noFill/>
          </a:ln>
        </p:spPr>
        <p:txBody>
          <a:bodyPr anchorCtr="0" anchor="ctr" bIns="0" lIns="0" spcFirstLastPara="1" rIns="0" wrap="square" tIns="0">
            <a:noAutofit/>
          </a:bodyPr>
          <a:lstStyle/>
          <a:p>
            <a:pPr indent="-419100" lvl="0" marL="457200" marR="0" rtl="0" algn="l">
              <a:lnSpc>
                <a:spcPct val="150000"/>
              </a:lnSpc>
              <a:spcBef>
                <a:spcPts val="0"/>
              </a:spcBef>
              <a:spcAft>
                <a:spcPts val="0"/>
              </a:spcAft>
              <a:buClr>
                <a:schemeClr val="lt1"/>
              </a:buClr>
              <a:buSzPts val="3000"/>
              <a:buFont typeface="Cabin"/>
              <a:buChar char="●"/>
            </a:pPr>
            <a:r>
              <a:rPr b="0" i="0" lang="en-US" sz="3000" u="none" cap="none" strike="noStrike">
                <a:solidFill>
                  <a:schemeClr val="lt1"/>
                </a:solidFill>
                <a:latin typeface="Arial"/>
                <a:ea typeface="Arial"/>
                <a:cs typeface="Arial"/>
                <a:sym typeface="Arial"/>
              </a:rPr>
              <a:t>When you do not specify a </a:t>
            </a:r>
            <a:r>
              <a:rPr b="0" i="0" lang="en-US" sz="3000" u="none" cap="none" strike="noStrike">
                <a:solidFill>
                  <a:srgbClr val="00FFFF"/>
                </a:solidFill>
                <a:latin typeface="Arial"/>
                <a:ea typeface="Arial"/>
                <a:cs typeface="Arial"/>
                <a:sym typeface="Arial"/>
              </a:rPr>
              <a:t>delimiter</a:t>
            </a:r>
            <a:r>
              <a:rPr b="0" i="0" lang="en-US" sz="3000" u="none" cap="none" strike="noStrike">
                <a:solidFill>
                  <a:schemeClr val="lt1"/>
                </a:solidFill>
                <a:latin typeface="Arial"/>
                <a:ea typeface="Arial"/>
                <a:cs typeface="Arial"/>
                <a:sym typeface="Arial"/>
              </a:rPr>
              <a:t>, multiple spaces are treated like one delimiter</a:t>
            </a:r>
            <a:endParaRPr/>
          </a:p>
          <a:p>
            <a:pPr indent="-228600" lvl="0" marL="457200" marR="0" rtl="0" algn="l">
              <a:lnSpc>
                <a:spcPct val="150000"/>
              </a:lnSpc>
              <a:spcBef>
                <a:spcPts val="0"/>
              </a:spcBef>
              <a:spcAft>
                <a:spcPts val="0"/>
              </a:spcAft>
              <a:buClr>
                <a:schemeClr val="lt1"/>
              </a:buClr>
              <a:buSzPts val="3000"/>
              <a:buFont typeface="Cabin"/>
              <a:buNone/>
            </a:pPr>
            <a:r>
              <a:t/>
            </a:r>
            <a:endParaRPr b="0" i="0" sz="3000" u="none" cap="none" strike="noStrike">
              <a:solidFill>
                <a:schemeClr val="lt1"/>
              </a:solidFill>
              <a:latin typeface="Arial"/>
              <a:ea typeface="Arial"/>
              <a:cs typeface="Arial"/>
              <a:sym typeface="Arial"/>
            </a:endParaRPr>
          </a:p>
          <a:p>
            <a:pPr indent="-419100" lvl="0" marL="457200" marR="0" rtl="0" algn="l">
              <a:lnSpc>
                <a:spcPct val="150000"/>
              </a:lnSpc>
              <a:spcBef>
                <a:spcPts val="0"/>
              </a:spcBef>
              <a:spcAft>
                <a:spcPts val="0"/>
              </a:spcAft>
              <a:buClr>
                <a:schemeClr val="lt1"/>
              </a:buClr>
              <a:buSzPts val="3000"/>
              <a:buFont typeface="Cabin"/>
              <a:buChar char="●"/>
            </a:pPr>
            <a:r>
              <a:rPr b="0" i="0" lang="en-US" sz="3000" u="none" cap="none" strike="noStrike">
                <a:solidFill>
                  <a:schemeClr val="lt1"/>
                </a:solidFill>
                <a:latin typeface="Arial"/>
                <a:ea typeface="Arial"/>
                <a:cs typeface="Arial"/>
                <a:sym typeface="Arial"/>
              </a:rPr>
              <a:t>You can specify what </a:t>
            </a:r>
            <a:r>
              <a:rPr b="0" i="0" lang="en-US" sz="3000" u="none" cap="none" strike="noStrike">
                <a:solidFill>
                  <a:srgbClr val="00FFFF"/>
                </a:solidFill>
                <a:latin typeface="Arial"/>
                <a:ea typeface="Arial"/>
                <a:cs typeface="Arial"/>
                <a:sym typeface="Arial"/>
              </a:rPr>
              <a:t>delimiter</a:t>
            </a:r>
            <a:r>
              <a:rPr b="0" i="0" lang="en-US" sz="3000" u="none" cap="none" strike="noStrike">
                <a:solidFill>
                  <a:schemeClr val="lt1"/>
                </a:solidFill>
                <a:latin typeface="Arial"/>
                <a:ea typeface="Arial"/>
                <a:cs typeface="Arial"/>
                <a:sym typeface="Arial"/>
              </a:rPr>
              <a:t> character to use in the </a:t>
            </a:r>
            <a:r>
              <a:rPr b="0" i="0" lang="en-US" sz="3000" u="none" cap="none" strike="noStrike">
                <a:solidFill>
                  <a:srgbClr val="FF00FF"/>
                </a:solidFill>
                <a:latin typeface="Arial"/>
                <a:ea typeface="Arial"/>
                <a:cs typeface="Arial"/>
                <a:sym typeface="Arial"/>
              </a:rPr>
              <a:t>splitting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nvSpPr>
        <p:spPr>
          <a:xfrm>
            <a:off x="2526075" y="2058975"/>
            <a:ext cx="8889299" cy="3324300"/>
          </a:xfrm>
          <a:prstGeom prst="rect">
            <a:avLst/>
          </a:prstGeom>
          <a:noFill/>
          <a:ln cap="rnd" cmpd="sng" w="12700">
            <a:solidFill>
              <a:schemeClr val="lt1"/>
            </a:solidFill>
            <a:prstDash val="solid"/>
            <a:miter lim="8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00"/>
              <a:buFont typeface="Cabin"/>
              <a:buNone/>
            </a:pPr>
            <a:r>
              <a:rPr b="0" i="0" lang="en-US" sz="2400" u="none" cap="none" strike="noStrike">
                <a:solidFill>
                  <a:srgbClr val="00FF00"/>
                </a:solidFill>
                <a:latin typeface="Courier"/>
                <a:ea typeface="Courier"/>
                <a:cs typeface="Courier"/>
                <a:sym typeface="Courier"/>
              </a:rPr>
              <a:t> fhand</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FF00FF"/>
                </a:solidFill>
                <a:latin typeface="Courier"/>
                <a:ea typeface="Courier"/>
                <a:cs typeface="Courier"/>
                <a:sym typeface="Courier"/>
              </a:rPr>
              <a:t>open</a:t>
            </a:r>
            <a:r>
              <a:rPr b="0" i="0" lang="en-US" sz="2400" u="none" cap="none" strike="noStrike">
                <a:solidFill>
                  <a:schemeClr val="lt1"/>
                </a:solidFill>
                <a:latin typeface="Courier"/>
                <a:ea typeface="Courier"/>
                <a:cs typeface="Courier"/>
                <a:sym typeface="Courier"/>
              </a:rPr>
              <a:t>('mbox-short.txt')</a:t>
            </a:r>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for</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fhand</a:t>
            </a:r>
            <a:r>
              <a:rPr b="0" i="0" lang="en-US" sz="24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rgbClr val="FF00FF"/>
                </a:solidFill>
                <a:latin typeface="Courier"/>
                <a:ea typeface="Courier"/>
                <a:cs typeface="Courier"/>
                <a:sym typeface="Courier"/>
              </a:rPr>
              <a:t>.rstrip</a:t>
            </a:r>
            <a:r>
              <a:rPr b="0" i="0" lang="en-US" sz="24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if not</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rgbClr val="FF00FF"/>
                </a:solidFill>
                <a:latin typeface="Courier"/>
                <a:ea typeface="Courier"/>
                <a:cs typeface="Courier"/>
                <a:sym typeface="Courier"/>
              </a:rPr>
              <a:t>.startswith</a:t>
            </a:r>
            <a:r>
              <a:rPr b="0" i="0" lang="en-US" sz="2400" u="none" cap="none" strike="noStrike">
                <a:solidFill>
                  <a:schemeClr val="lt1"/>
                </a:solidFill>
                <a:latin typeface="Courier"/>
                <a:ea typeface="Courier"/>
                <a:cs typeface="Courier"/>
                <a:sym typeface="Courier"/>
              </a:rPr>
              <a:t>('From ') : </a:t>
            </a:r>
            <a:r>
              <a:rPr b="0" i="0" lang="en-US" sz="2400" u="none" cap="none" strike="noStrike">
                <a:solidFill>
                  <a:srgbClr val="FFFF00"/>
                </a:solidFill>
                <a:latin typeface="Courier"/>
                <a:ea typeface="Courier"/>
                <a:cs typeface="Courier"/>
                <a:sym typeface="Courier"/>
              </a:rPr>
              <a:t>continue</a:t>
            </a: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words</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rgbClr val="FF00FF"/>
                </a:solidFill>
                <a:latin typeface="Courier"/>
                <a:ea typeface="Courier"/>
                <a:cs typeface="Courier"/>
                <a:sym typeface="Courier"/>
              </a:rPr>
              <a:t>.split</a:t>
            </a:r>
            <a:r>
              <a:rPr b="0" i="0" lang="en-US" sz="24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print(</a:t>
            </a:r>
            <a:r>
              <a:rPr b="0" i="0" lang="en-US" sz="2400" u="none" cap="none" strike="noStrike">
                <a:solidFill>
                  <a:srgbClr val="00FF00"/>
                </a:solidFill>
                <a:latin typeface="Courier"/>
                <a:ea typeface="Courier"/>
                <a:cs typeface="Courier"/>
                <a:sym typeface="Courier"/>
              </a:rPr>
              <a:t>words</a:t>
            </a:r>
            <a:r>
              <a:rPr b="0" i="0" lang="en-US" sz="2400" u="none" cap="none" strike="noStrike">
                <a:solidFill>
                  <a:srgbClr val="00FFFF"/>
                </a:solidFill>
                <a:latin typeface="Courier"/>
                <a:ea typeface="Courier"/>
                <a:cs typeface="Courier"/>
                <a:sym typeface="Courier"/>
              </a:rPr>
              <a:t>[2]</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t/>
            </a:r>
            <a:endParaRPr b="1" i="0" sz="2400" u="none" cap="none" strike="noStrike">
              <a:solidFill>
                <a:srgbClr val="00FFFF"/>
              </a:solidFill>
              <a:latin typeface="Courier"/>
              <a:ea typeface="Courier"/>
              <a:cs typeface="Courier"/>
              <a:sym typeface="Courier"/>
            </a:endParaRPr>
          </a:p>
        </p:txBody>
      </p:sp>
      <p:sp>
        <p:nvSpPr>
          <p:cNvPr id="175" name="Google Shape;175;p26"/>
          <p:cNvSpPr txBox="1"/>
          <p:nvPr/>
        </p:nvSpPr>
        <p:spPr>
          <a:xfrm>
            <a:off x="13538200" y="2330450"/>
            <a:ext cx="816000" cy="27687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00FF"/>
              </a:buClr>
              <a:buSzPts val="750"/>
              <a:buFont typeface="Cabin"/>
              <a:buNone/>
            </a:pPr>
            <a:r>
              <a:rPr b="0" i="0" lang="en-US" sz="3000" u="none" cap="none" strike="noStrike">
                <a:solidFill>
                  <a:srgbClr val="FF00FF"/>
                </a:solidFill>
                <a:latin typeface="Arial"/>
                <a:ea typeface="Arial"/>
                <a:cs typeface="Arial"/>
                <a:sym typeface="Arial"/>
              </a:rPr>
              <a:t>Sat</a:t>
            </a:r>
            <a:endParaRPr/>
          </a:p>
          <a:p>
            <a:pPr indent="0" lvl="0" marL="0" marR="0" rtl="0" algn="l">
              <a:lnSpc>
                <a:spcPct val="115000"/>
              </a:lnSpc>
              <a:spcBef>
                <a:spcPts val="0"/>
              </a:spcBef>
              <a:spcAft>
                <a:spcPts val="0"/>
              </a:spcAft>
              <a:buClr>
                <a:srgbClr val="FF00FF"/>
              </a:buClr>
              <a:buSzPts val="750"/>
              <a:buFont typeface="Cabin"/>
              <a:buNone/>
            </a:pPr>
            <a:r>
              <a:rPr b="0" i="0" lang="en-US" sz="3000" u="none" cap="none" strike="noStrike">
                <a:solidFill>
                  <a:srgbClr val="FF00FF"/>
                </a:solidFill>
                <a:latin typeface="Arial"/>
                <a:ea typeface="Arial"/>
                <a:cs typeface="Arial"/>
                <a:sym typeface="Arial"/>
              </a:rPr>
              <a:t>Fri</a:t>
            </a:r>
            <a:endParaRPr/>
          </a:p>
          <a:p>
            <a:pPr indent="0" lvl="0" marL="0" marR="0" rtl="0" algn="l">
              <a:lnSpc>
                <a:spcPct val="115000"/>
              </a:lnSpc>
              <a:spcBef>
                <a:spcPts val="0"/>
              </a:spcBef>
              <a:spcAft>
                <a:spcPts val="0"/>
              </a:spcAft>
              <a:buClr>
                <a:srgbClr val="FF00FF"/>
              </a:buClr>
              <a:buSzPts val="750"/>
              <a:buFont typeface="Cabin"/>
              <a:buNone/>
            </a:pPr>
            <a:r>
              <a:rPr b="0" i="0" lang="en-US" sz="3000" u="none" cap="none" strike="noStrike">
                <a:solidFill>
                  <a:srgbClr val="FF00FF"/>
                </a:solidFill>
                <a:latin typeface="Arial"/>
                <a:ea typeface="Arial"/>
                <a:cs typeface="Arial"/>
                <a:sym typeface="Arial"/>
              </a:rPr>
              <a:t>Fri</a:t>
            </a:r>
            <a:endParaRPr/>
          </a:p>
          <a:p>
            <a:pPr indent="0" lvl="0" marL="0" marR="0" rtl="0" algn="l">
              <a:lnSpc>
                <a:spcPct val="115000"/>
              </a:lnSpc>
              <a:spcBef>
                <a:spcPts val="0"/>
              </a:spcBef>
              <a:spcAft>
                <a:spcPts val="0"/>
              </a:spcAft>
              <a:buClr>
                <a:srgbClr val="FF00FF"/>
              </a:buClr>
              <a:buSzPts val="750"/>
              <a:buFont typeface="Cabin"/>
              <a:buNone/>
            </a:pPr>
            <a:r>
              <a:rPr b="0" i="0" lang="en-US" sz="3000" u="none" cap="none" strike="noStrike">
                <a:solidFill>
                  <a:srgbClr val="FF00FF"/>
                </a:solidFill>
                <a:latin typeface="Arial"/>
                <a:ea typeface="Arial"/>
                <a:cs typeface="Arial"/>
                <a:sym typeface="Arial"/>
              </a:rPr>
              <a:t>Fri</a:t>
            </a:r>
            <a:endParaRPr/>
          </a:p>
          <a:p>
            <a:pPr indent="0" lvl="0" marL="0" marR="0" rtl="0" algn="l">
              <a:lnSpc>
                <a:spcPct val="115000"/>
              </a:lnSpc>
              <a:spcBef>
                <a:spcPts val="0"/>
              </a:spcBef>
              <a:spcAft>
                <a:spcPts val="0"/>
              </a:spcAft>
              <a:buClr>
                <a:srgbClr val="FF00FF"/>
              </a:buClr>
              <a:buSzPts val="750"/>
              <a:buFont typeface="Cabin"/>
              <a:buNone/>
            </a:pPr>
            <a:r>
              <a:rPr b="0" i="0" lang="en-US" sz="3000" u="none" cap="none" strike="noStrike">
                <a:solidFill>
                  <a:srgbClr val="FF00FF"/>
                </a:solidFill>
                <a:latin typeface="Arial"/>
                <a:ea typeface="Arial"/>
                <a:cs typeface="Arial"/>
                <a:sym typeface="Arial"/>
              </a:rPr>
              <a:t>    ...</a:t>
            </a:r>
            <a:endParaRPr/>
          </a:p>
        </p:txBody>
      </p:sp>
      <p:sp>
        <p:nvSpPr>
          <p:cNvPr id="176" name="Google Shape;176;p26"/>
          <p:cNvSpPr txBox="1"/>
          <p:nvPr/>
        </p:nvSpPr>
        <p:spPr>
          <a:xfrm>
            <a:off x="642650" y="945775"/>
            <a:ext cx="13070098" cy="673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Arial"/>
              <a:buNone/>
            </a:pPr>
            <a:r>
              <a:rPr b="0" i="0" lang="en-US" sz="3600" u="none" cap="none" strike="noStrike">
                <a:solidFill>
                  <a:schemeClr val="lt1"/>
                </a:solidFill>
                <a:latin typeface="Arial"/>
                <a:ea typeface="Arial"/>
                <a:cs typeface="Arial"/>
                <a:sym typeface="Arial"/>
              </a:rPr>
              <a:t>From stephen.marquard@uct.ac.za </a:t>
            </a:r>
            <a:r>
              <a:rPr b="0" i="0" lang="en-US" sz="3600" u="none" cap="none" strike="noStrike">
                <a:solidFill>
                  <a:srgbClr val="FF00FF"/>
                </a:solidFill>
                <a:latin typeface="Arial"/>
                <a:ea typeface="Arial"/>
                <a:cs typeface="Arial"/>
                <a:sym typeface="Arial"/>
              </a:rPr>
              <a:t>Sat</a:t>
            </a:r>
            <a:r>
              <a:rPr b="0" i="0" lang="en-US" sz="3600" u="none" cap="none" strike="noStrike">
                <a:solidFill>
                  <a:schemeClr val="lt1"/>
                </a:solidFill>
                <a:latin typeface="Arial"/>
                <a:ea typeface="Arial"/>
                <a:cs typeface="Arial"/>
                <a:sym typeface="Arial"/>
              </a:rPr>
              <a:t> Jan  5 09:14:16 2008</a:t>
            </a:r>
            <a:endParaRPr/>
          </a:p>
        </p:txBody>
      </p:sp>
      <p:sp>
        <p:nvSpPr>
          <p:cNvPr id="177" name="Google Shape;177;p26"/>
          <p:cNvSpPr txBox="1"/>
          <p:nvPr/>
        </p:nvSpPr>
        <p:spPr>
          <a:xfrm>
            <a:off x="1212375" y="6000750"/>
            <a:ext cx="14283299" cy="276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 = 'From stephen.marquard@uct.ac.za Sat Jan  5 09:14:16 2008'</a:t>
            </a: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rgbClr val="00FF00"/>
                </a:solidFill>
                <a:latin typeface="Courier"/>
                <a:ea typeface="Courier"/>
                <a:cs typeface="Courier"/>
                <a:sym typeface="Courier"/>
              </a:rPr>
              <a:t>words</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rgbClr val="FF00FF"/>
                </a:solidFill>
                <a:latin typeface="Courier"/>
                <a:ea typeface="Courier"/>
                <a:cs typeface="Courier"/>
                <a:sym typeface="Courier"/>
              </a:rPr>
              <a:t>.split</a:t>
            </a:r>
            <a:r>
              <a:rPr b="0" i="0" lang="en-US" sz="24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rgbClr val="00FF00"/>
                </a:solidFill>
                <a:latin typeface="Courier"/>
                <a:ea typeface="Courier"/>
                <a:cs typeface="Courier"/>
                <a:sym typeface="Courier"/>
              </a:rPr>
              <a:t>words</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['From', 'stephen.marquard@uct.ac.za', 'Sat', 'Jan', '5', '09:14:16', '2008']</a:t>
            </a:r>
            <a:endParaRPr/>
          </a:p>
          <a:p>
            <a:pPr indent="0" lvl="0" marL="0" marR="0" rtl="0" algn="l">
              <a:lnSpc>
                <a:spcPct val="100000"/>
              </a:lnSpc>
              <a:spcBef>
                <a:spcPts val="0"/>
              </a:spcBef>
              <a:spcAft>
                <a:spcPts val="0"/>
              </a:spcAft>
              <a:buClr>
                <a:schemeClr val="lt1"/>
              </a:buClr>
              <a:buSzPts val="600"/>
              <a:buFont typeface="Cabin"/>
              <a:buNone/>
            </a:pPr>
            <a:r>
              <a:t/>
            </a:r>
            <a:endParaRPr b="0" i="0" sz="2400" u="none" cap="none" strike="noStrike">
              <a:solidFill>
                <a:schemeClr val="lt1"/>
              </a:solidFill>
              <a:latin typeface="Courier"/>
              <a:ea typeface="Courier"/>
              <a:cs typeface="Courier"/>
              <a:sym typeface="Couri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The Double Split Pattern</a:t>
            </a:r>
            <a:endParaRPr/>
          </a:p>
        </p:txBody>
      </p:sp>
      <p:sp>
        <p:nvSpPr>
          <p:cNvPr id="183" name="Google Shape;183;p27"/>
          <p:cNvSpPr txBox="1"/>
          <p:nvPr/>
        </p:nvSpPr>
        <p:spPr>
          <a:xfrm>
            <a:off x="7321275" y="6326775"/>
            <a:ext cx="6981300" cy="4823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600"/>
              <a:buFont typeface="Arial"/>
              <a:buNone/>
            </a:pPr>
            <a:r>
              <a:rPr b="0" i="0" lang="en-US" sz="2400" u="none" cap="none" strike="noStrike">
                <a:solidFill>
                  <a:srgbClr val="FFFF00"/>
                </a:solidFill>
                <a:latin typeface="Courier"/>
                <a:ea typeface="Courier"/>
                <a:cs typeface="Courier"/>
                <a:sym typeface="Courier"/>
              </a:rPr>
              <a:t>['stephen.marquard', 'uct.ac.za']</a:t>
            </a:r>
            <a:endParaRPr/>
          </a:p>
        </p:txBody>
      </p:sp>
      <p:sp>
        <p:nvSpPr>
          <p:cNvPr id="184" name="Google Shape;184;p27"/>
          <p:cNvSpPr txBox="1"/>
          <p:nvPr/>
        </p:nvSpPr>
        <p:spPr>
          <a:xfrm>
            <a:off x="1155700" y="4526525"/>
            <a:ext cx="13342800" cy="673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750"/>
              <a:buFont typeface="Arial"/>
              <a:buNone/>
            </a:pPr>
            <a:r>
              <a:rPr b="0" i="0" lang="en-US" sz="3000" u="none" cap="none" strike="noStrike">
                <a:solidFill>
                  <a:srgbClr val="FF7F00"/>
                </a:solidFill>
                <a:latin typeface="Courier"/>
                <a:ea typeface="Courier"/>
                <a:cs typeface="Courier"/>
                <a:sym typeface="Courier"/>
              </a:rPr>
              <a:t>From </a:t>
            </a:r>
            <a:r>
              <a:rPr b="1" i="0" lang="en-US" sz="3000" u="none" cap="none" strike="noStrike">
                <a:solidFill>
                  <a:srgbClr val="FF7F00"/>
                </a:solidFill>
                <a:latin typeface="Courier"/>
                <a:ea typeface="Courier"/>
                <a:cs typeface="Courier"/>
                <a:sym typeface="Courier"/>
              </a:rPr>
              <a:t>stephen.marquard@</a:t>
            </a:r>
            <a:r>
              <a:rPr b="1" i="0" lang="en-US" sz="3000" u="none" cap="none" strike="noStrike">
                <a:solidFill>
                  <a:srgbClr val="FFFF00"/>
                </a:solidFill>
                <a:latin typeface="Courier"/>
                <a:ea typeface="Courier"/>
                <a:cs typeface="Courier"/>
                <a:sym typeface="Courier"/>
              </a:rPr>
              <a:t>uct.ac.za</a:t>
            </a:r>
            <a:r>
              <a:rPr b="0" i="0" lang="en-US" sz="3000" u="none" cap="none" strike="noStrike">
                <a:solidFill>
                  <a:srgbClr val="FF7F00"/>
                </a:solidFill>
                <a:latin typeface="Courier"/>
                <a:ea typeface="Courier"/>
                <a:cs typeface="Courier"/>
                <a:sym typeface="Courier"/>
              </a:rPr>
              <a:t> Sat Jan  5 09:14:16 2008</a:t>
            </a:r>
            <a:endParaRPr/>
          </a:p>
        </p:txBody>
      </p:sp>
      <p:sp>
        <p:nvSpPr>
          <p:cNvPr id="185" name="Google Shape;185;p27"/>
          <p:cNvSpPr txBox="1"/>
          <p:nvPr/>
        </p:nvSpPr>
        <p:spPr>
          <a:xfrm>
            <a:off x="1155700" y="5594000"/>
            <a:ext cx="6179100" cy="188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words = </a:t>
            </a:r>
            <a:r>
              <a:rPr b="0" i="0" lang="en-US" sz="2400" u="none" cap="none" strike="noStrike">
                <a:solidFill>
                  <a:srgbClr val="FF7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.split()</a:t>
            </a:r>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email</a:t>
            </a:r>
            <a:r>
              <a:rPr b="0" i="0" lang="en-US" sz="2400" u="none" cap="none" strike="noStrike">
                <a:solidFill>
                  <a:schemeClr val="lt1"/>
                </a:solidFill>
                <a:latin typeface="Courier"/>
                <a:ea typeface="Courier"/>
                <a:cs typeface="Courier"/>
                <a:sym typeface="Courier"/>
              </a:rPr>
              <a:t> = words[1]</a:t>
            </a:r>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FF00"/>
                </a:solidFill>
                <a:latin typeface="Courier"/>
                <a:ea typeface="Courier"/>
                <a:cs typeface="Courier"/>
                <a:sym typeface="Courier"/>
              </a:rPr>
              <a:t>pieces</a:t>
            </a:r>
            <a:r>
              <a:rPr b="0" i="0" lang="en-US" sz="2400" u="none" cap="none" strike="noStrike">
                <a:solidFill>
                  <a:schemeClr val="lt1"/>
                </a:solidFill>
                <a:latin typeface="Courier"/>
                <a:ea typeface="Courier"/>
                <a:cs typeface="Courier"/>
                <a:sym typeface="Courier"/>
              </a:rPr>
              <a:t> = email.split('@')</a:t>
            </a:r>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chemeClr val="lt1"/>
                </a:solidFill>
                <a:latin typeface="Courier"/>
                <a:ea typeface="Courier"/>
                <a:cs typeface="Courier"/>
                <a:sym typeface="Courier"/>
              </a:rPr>
              <a:t>print(</a:t>
            </a:r>
            <a:r>
              <a:rPr b="0" i="0" lang="en-US" sz="2400" u="none" cap="none" strike="noStrike">
                <a:solidFill>
                  <a:srgbClr val="00FF00"/>
                </a:solidFill>
                <a:latin typeface="Courier"/>
                <a:ea typeface="Courier"/>
                <a:cs typeface="Courier"/>
                <a:sym typeface="Courier"/>
              </a:rPr>
              <a:t>pieces[1]</a:t>
            </a:r>
            <a:r>
              <a:rPr b="0" i="0" lang="en-US" sz="24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00FF"/>
              </a:buClr>
              <a:buSzPts val="600"/>
              <a:buFont typeface="Cabin"/>
              <a:buNone/>
            </a:pPr>
            <a:r>
              <a:t/>
            </a:r>
            <a:endParaRPr b="1" i="0" sz="2400" u="none" cap="none" strike="noStrike">
              <a:solidFill>
                <a:schemeClr val="lt1"/>
              </a:solidFill>
              <a:latin typeface="Courier"/>
              <a:ea typeface="Courier"/>
              <a:cs typeface="Courier"/>
              <a:sym typeface="Courier"/>
            </a:endParaRPr>
          </a:p>
        </p:txBody>
      </p:sp>
      <p:sp>
        <p:nvSpPr>
          <p:cNvPr id="186" name="Google Shape;186;p27"/>
          <p:cNvSpPr txBox="1"/>
          <p:nvPr/>
        </p:nvSpPr>
        <p:spPr>
          <a:xfrm>
            <a:off x="7336425" y="5759525"/>
            <a:ext cx="6573899" cy="673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600"/>
              <a:buFont typeface="Arial"/>
              <a:buNone/>
            </a:pPr>
            <a:r>
              <a:rPr b="0" i="0" lang="en-US" sz="2400" u="none" cap="none" strike="noStrike">
                <a:solidFill>
                  <a:srgbClr val="FF00FF"/>
                </a:solidFill>
                <a:latin typeface="Courier"/>
                <a:ea typeface="Courier"/>
                <a:cs typeface="Courier"/>
                <a:sym typeface="Courier"/>
              </a:rPr>
              <a:t>stephen.marquard@uct.ac.za</a:t>
            </a:r>
            <a:endParaRPr b="0" i="0" sz="2400" u="none" cap="none" strike="noStrike">
              <a:solidFill>
                <a:srgbClr val="FF00FF"/>
              </a:solidFill>
              <a:latin typeface="Courier"/>
              <a:ea typeface="Courier"/>
              <a:cs typeface="Courier"/>
              <a:sym typeface="Courier"/>
            </a:endParaRPr>
          </a:p>
        </p:txBody>
      </p:sp>
      <p:sp>
        <p:nvSpPr>
          <p:cNvPr id="187" name="Google Shape;187;p27"/>
          <p:cNvSpPr txBox="1"/>
          <p:nvPr/>
        </p:nvSpPr>
        <p:spPr>
          <a:xfrm>
            <a:off x="7246300" y="6766900"/>
            <a:ext cx="2729099" cy="5483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00"/>
              <a:buFont typeface="Arial"/>
              <a:buNone/>
            </a:pPr>
            <a:r>
              <a:rPr b="1" i="0" lang="en-US" sz="2400" u="none" cap="none" strike="noStrike">
                <a:solidFill>
                  <a:srgbClr val="00FF00"/>
                </a:solidFill>
                <a:latin typeface="Courier"/>
                <a:ea typeface="Courier"/>
                <a:cs typeface="Courier"/>
                <a:sym typeface="Courier"/>
              </a:rPr>
              <a:t>'</a:t>
            </a:r>
            <a:r>
              <a:rPr b="0" i="0" lang="en-US" sz="2400" u="none" cap="none" strike="noStrike">
                <a:solidFill>
                  <a:srgbClr val="00FF00"/>
                </a:solidFill>
                <a:latin typeface="Courier"/>
                <a:ea typeface="Courier"/>
                <a:cs typeface="Courier"/>
                <a:sym typeface="Courier"/>
              </a:rPr>
              <a:t>uct.ac.za'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List Summary</a:t>
            </a:r>
            <a:endParaRPr/>
          </a:p>
        </p:txBody>
      </p:sp>
      <p:sp>
        <p:nvSpPr>
          <p:cNvPr id="193" name="Google Shape;193;p28"/>
          <p:cNvSpPr txBox="1"/>
          <p:nvPr/>
        </p:nvSpPr>
        <p:spPr>
          <a:xfrm>
            <a:off x="774275" y="2733900"/>
            <a:ext cx="7450500" cy="5110200"/>
          </a:xfrm>
          <a:prstGeom prst="rect">
            <a:avLst/>
          </a:prstGeom>
          <a:noFill/>
          <a:ln>
            <a:noFill/>
          </a:ln>
        </p:spPr>
        <p:txBody>
          <a:bodyPr anchorCtr="0" anchor="t" bIns="38100" lIns="38100" spcFirstLastPara="1" rIns="38100" wrap="square" tIns="38100">
            <a:noAutofit/>
          </a:bodyPr>
          <a:lstStyle/>
          <a:p>
            <a:pPr indent="-394461" lvl="0" marL="685800" marR="0" rtl="0" algn="l">
              <a:lnSpc>
                <a:spcPct val="100000"/>
              </a:lnSpc>
              <a:spcBef>
                <a:spcPts val="0"/>
              </a:spcBef>
              <a:spcAft>
                <a:spcPts val="0"/>
              </a:spcAft>
              <a:buClr>
                <a:srgbClr val="FFFFFF"/>
              </a:buClr>
              <a:buSzPts val="3600"/>
              <a:buFont typeface="Cabin"/>
              <a:buChar char="•"/>
            </a:pPr>
            <a:r>
              <a:rPr b="0" i="0" lang="en-US" sz="3600" u="none" cap="none" strike="noStrike">
                <a:solidFill>
                  <a:srgbClr val="FFFFFF"/>
                </a:solidFill>
                <a:latin typeface="Arial"/>
                <a:ea typeface="Arial"/>
                <a:cs typeface="Arial"/>
                <a:sym typeface="Arial"/>
              </a:rPr>
              <a:t>Concept of a collection</a:t>
            </a:r>
            <a:endParaRPr/>
          </a:p>
          <a:p>
            <a:pPr indent="-394461" lvl="0" marL="685800" marR="0" rtl="0" algn="l">
              <a:lnSpc>
                <a:spcPct val="100000"/>
              </a:lnSpc>
              <a:spcBef>
                <a:spcPts val="3500"/>
              </a:spcBef>
              <a:spcAft>
                <a:spcPts val="0"/>
              </a:spcAft>
              <a:buClr>
                <a:srgbClr val="FFFFFF"/>
              </a:buClr>
              <a:buSzPts val="3600"/>
              <a:buFont typeface="Cabin"/>
              <a:buChar char="•"/>
            </a:pPr>
            <a:r>
              <a:rPr b="0" i="0" lang="en-US" sz="3600" u="none" cap="none" strike="noStrike">
                <a:solidFill>
                  <a:srgbClr val="FFFFFF"/>
                </a:solidFill>
                <a:latin typeface="Arial"/>
                <a:ea typeface="Arial"/>
                <a:cs typeface="Arial"/>
                <a:sym typeface="Arial"/>
              </a:rPr>
              <a:t>Lists and definite loops</a:t>
            </a:r>
            <a:endParaRPr/>
          </a:p>
          <a:p>
            <a:pPr indent="-394461" lvl="0" marL="685800" marR="0" rtl="0" algn="l">
              <a:lnSpc>
                <a:spcPct val="100000"/>
              </a:lnSpc>
              <a:spcBef>
                <a:spcPts val="3500"/>
              </a:spcBef>
              <a:spcAft>
                <a:spcPts val="0"/>
              </a:spcAft>
              <a:buClr>
                <a:srgbClr val="FFFFFF"/>
              </a:buClr>
              <a:buSzPts val="3600"/>
              <a:buFont typeface="Cabin"/>
              <a:buChar char="•"/>
            </a:pPr>
            <a:r>
              <a:rPr b="0" i="0" lang="en-US" sz="3600" u="none" cap="none" strike="noStrike">
                <a:solidFill>
                  <a:srgbClr val="FFFFFF"/>
                </a:solidFill>
                <a:latin typeface="Arial"/>
                <a:ea typeface="Arial"/>
                <a:cs typeface="Arial"/>
                <a:sym typeface="Arial"/>
              </a:rPr>
              <a:t>Indexing and lookup</a:t>
            </a:r>
            <a:endParaRPr/>
          </a:p>
          <a:p>
            <a:pPr indent="-394461" lvl="0" marL="685800" marR="0" rtl="0" algn="l">
              <a:lnSpc>
                <a:spcPct val="100000"/>
              </a:lnSpc>
              <a:spcBef>
                <a:spcPts val="3500"/>
              </a:spcBef>
              <a:spcAft>
                <a:spcPts val="0"/>
              </a:spcAft>
              <a:buClr>
                <a:srgbClr val="FFFFFF"/>
              </a:buClr>
              <a:buSzPts val="3600"/>
              <a:buFont typeface="Cabin"/>
              <a:buChar char="•"/>
            </a:pPr>
            <a:r>
              <a:rPr b="0" i="0" lang="en-US" sz="3600" u="none" cap="none" strike="noStrike">
                <a:solidFill>
                  <a:srgbClr val="FFFFFF"/>
                </a:solidFill>
                <a:latin typeface="Arial"/>
                <a:ea typeface="Arial"/>
                <a:cs typeface="Arial"/>
                <a:sym typeface="Arial"/>
              </a:rPr>
              <a:t>List mutability</a:t>
            </a:r>
            <a:endParaRPr/>
          </a:p>
          <a:p>
            <a:pPr indent="-394461" lvl="0" marL="685800" marR="0" rtl="0" algn="l">
              <a:lnSpc>
                <a:spcPct val="100000"/>
              </a:lnSpc>
              <a:spcBef>
                <a:spcPts val="3500"/>
              </a:spcBef>
              <a:spcAft>
                <a:spcPts val="0"/>
              </a:spcAft>
              <a:buClr>
                <a:srgbClr val="FFFFFF"/>
              </a:buClr>
              <a:buSzPts val="3600"/>
              <a:buFont typeface="Cabin"/>
              <a:buChar char="•"/>
            </a:pPr>
            <a:r>
              <a:rPr b="0" i="0" lang="en-US" sz="3600" u="none" cap="none" strike="noStrike">
                <a:solidFill>
                  <a:srgbClr val="FFFFFF"/>
                </a:solidFill>
                <a:latin typeface="Arial"/>
                <a:ea typeface="Arial"/>
                <a:cs typeface="Arial"/>
                <a:sym typeface="Arial"/>
              </a:rPr>
              <a:t>Functions: len, min, max, sum</a:t>
            </a:r>
            <a:endParaRPr/>
          </a:p>
        </p:txBody>
      </p:sp>
      <p:sp>
        <p:nvSpPr>
          <p:cNvPr id="194" name="Google Shape;194;p28"/>
          <p:cNvSpPr txBox="1"/>
          <p:nvPr/>
        </p:nvSpPr>
        <p:spPr>
          <a:xfrm>
            <a:off x="7932975" y="2733900"/>
            <a:ext cx="7565400" cy="5110200"/>
          </a:xfrm>
          <a:prstGeom prst="rect">
            <a:avLst/>
          </a:prstGeom>
          <a:noFill/>
          <a:ln>
            <a:noFill/>
          </a:ln>
        </p:spPr>
        <p:txBody>
          <a:bodyPr anchorCtr="0" anchor="t" bIns="38100" lIns="38100" spcFirstLastPara="1" rIns="38100" wrap="square" tIns="38100">
            <a:noAutofit/>
          </a:bodyPr>
          <a:lstStyle/>
          <a:p>
            <a:pPr indent="-394461" lvl="0" marL="685800" marR="0" rtl="0" algn="l">
              <a:lnSpc>
                <a:spcPct val="100000"/>
              </a:lnSpc>
              <a:spcBef>
                <a:spcPts val="0"/>
              </a:spcBef>
              <a:spcAft>
                <a:spcPts val="0"/>
              </a:spcAft>
              <a:buClr>
                <a:srgbClr val="FFFFFF"/>
              </a:buClr>
              <a:buSzPts val="3600"/>
              <a:buFont typeface="Cabin"/>
              <a:buChar char="•"/>
            </a:pPr>
            <a:r>
              <a:rPr b="0" i="0" lang="en-US" sz="3600" u="none" cap="none" strike="noStrike">
                <a:solidFill>
                  <a:srgbClr val="FFFFFF"/>
                </a:solidFill>
                <a:latin typeface="Arial"/>
                <a:ea typeface="Arial"/>
                <a:cs typeface="Arial"/>
                <a:sym typeface="Arial"/>
              </a:rPr>
              <a:t>Slicing lists</a:t>
            </a:r>
            <a:endParaRPr/>
          </a:p>
          <a:p>
            <a:pPr indent="-394461" lvl="0" marL="685800" marR="0" rtl="0" algn="l">
              <a:lnSpc>
                <a:spcPct val="100000"/>
              </a:lnSpc>
              <a:spcBef>
                <a:spcPts val="3500"/>
              </a:spcBef>
              <a:spcAft>
                <a:spcPts val="0"/>
              </a:spcAft>
              <a:buClr>
                <a:srgbClr val="FFFFFF"/>
              </a:buClr>
              <a:buSzPts val="3600"/>
              <a:buFont typeface="Cabin"/>
              <a:buChar char="•"/>
            </a:pPr>
            <a:r>
              <a:rPr b="0" i="0" lang="en-US" sz="3600" u="none" cap="none" strike="noStrike">
                <a:solidFill>
                  <a:srgbClr val="FFFFFF"/>
                </a:solidFill>
                <a:latin typeface="Arial"/>
                <a:ea typeface="Arial"/>
                <a:cs typeface="Arial"/>
                <a:sym typeface="Arial"/>
              </a:rPr>
              <a:t>List methods: append</a:t>
            </a:r>
            <a:endParaRPr b="0" i="0" sz="3600" u="none" cap="none" strike="noStrike">
              <a:solidFill>
                <a:srgbClr val="FFFFFF"/>
              </a:solidFill>
              <a:latin typeface="Arial"/>
              <a:ea typeface="Arial"/>
              <a:cs typeface="Arial"/>
              <a:sym typeface="Arial"/>
            </a:endParaRPr>
          </a:p>
          <a:p>
            <a:pPr indent="-394461" lvl="0" marL="685800" marR="0" rtl="0" algn="l">
              <a:lnSpc>
                <a:spcPct val="100000"/>
              </a:lnSpc>
              <a:spcBef>
                <a:spcPts val="3500"/>
              </a:spcBef>
              <a:spcAft>
                <a:spcPts val="0"/>
              </a:spcAft>
              <a:buClr>
                <a:srgbClr val="FFFFFF"/>
              </a:buClr>
              <a:buSzPts val="3600"/>
              <a:buFont typeface="Cabin"/>
              <a:buChar char="•"/>
            </a:pPr>
            <a:r>
              <a:rPr b="0" i="0" lang="en-US" sz="3600" u="none" cap="none" strike="noStrike">
                <a:solidFill>
                  <a:srgbClr val="FFFFFF"/>
                </a:solidFill>
                <a:latin typeface="Arial"/>
                <a:ea typeface="Arial"/>
                <a:cs typeface="Arial"/>
                <a:sym typeface="Arial"/>
              </a:rPr>
              <a:t>Sorting lists</a:t>
            </a:r>
            <a:endParaRPr/>
          </a:p>
          <a:p>
            <a:pPr indent="-394461" lvl="0" marL="685800" marR="0" rtl="0" algn="l">
              <a:lnSpc>
                <a:spcPct val="100000"/>
              </a:lnSpc>
              <a:spcBef>
                <a:spcPts val="3500"/>
              </a:spcBef>
              <a:spcAft>
                <a:spcPts val="0"/>
              </a:spcAft>
              <a:buClr>
                <a:srgbClr val="FFFFFF"/>
              </a:buClr>
              <a:buSzPts val="3600"/>
              <a:buFont typeface="Cabin"/>
              <a:buChar char="•"/>
            </a:pPr>
            <a:r>
              <a:rPr b="0" i="0" lang="en-US" sz="3600" u="none" cap="none" strike="noStrike">
                <a:solidFill>
                  <a:srgbClr val="FFFFFF"/>
                </a:solidFill>
                <a:latin typeface="Arial"/>
                <a:ea typeface="Arial"/>
                <a:cs typeface="Arial"/>
                <a:sym typeface="Arial"/>
              </a:rPr>
              <a:t>Splitting strings into lists of words</a:t>
            </a:r>
            <a:endParaRPr/>
          </a:p>
          <a:p>
            <a:pPr indent="-394461" lvl="0" marL="685800" marR="0" rtl="0" algn="l">
              <a:lnSpc>
                <a:spcPct val="100000"/>
              </a:lnSpc>
              <a:spcBef>
                <a:spcPts val="3500"/>
              </a:spcBef>
              <a:spcAft>
                <a:spcPts val="0"/>
              </a:spcAft>
              <a:buClr>
                <a:srgbClr val="FFFFFF"/>
              </a:buClr>
              <a:buSzPts val="3600"/>
              <a:buFont typeface="Cabin"/>
              <a:buChar char="•"/>
            </a:pPr>
            <a:r>
              <a:rPr b="0" i="0" lang="en-US" sz="3600" u="none" cap="none" strike="noStrike">
                <a:solidFill>
                  <a:srgbClr val="FFFFFF"/>
                </a:solidFill>
                <a:latin typeface="Arial"/>
                <a:ea typeface="Arial"/>
                <a:cs typeface="Arial"/>
                <a:sym typeface="Arial"/>
              </a:rPr>
              <a:t>Using split to parse strings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nvSpPr>
        <p:spPr>
          <a:xfrm>
            <a:off x="1155700" y="1155705"/>
            <a:ext cx="13932000" cy="81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00"/>
              </a:buClr>
              <a:buSzPts val="3600"/>
              <a:buFont typeface="Arial"/>
              <a:buNone/>
            </a:pPr>
            <a:r>
              <a:rPr b="0" i="0" lang="en-US" sz="3600" u="none" cap="none" strike="noStrike">
                <a:solidFill>
                  <a:srgbClr val="FFFF00"/>
                </a:solidFill>
                <a:latin typeface="Arial"/>
                <a:ea typeface="Arial"/>
                <a:cs typeface="Arial"/>
                <a:sym typeface="Arial"/>
              </a:rPr>
              <a:t>Acknowledgements / Contributions</a:t>
            </a:r>
            <a:endParaRPr/>
          </a:p>
        </p:txBody>
      </p:sp>
      <p:sp>
        <p:nvSpPr>
          <p:cNvPr id="200" name="Google Shape;200;p29"/>
          <p:cNvSpPr txBox="1"/>
          <p:nvPr/>
        </p:nvSpPr>
        <p:spPr>
          <a:xfrm>
            <a:off x="1206100" y="2296131"/>
            <a:ext cx="6797699" cy="581917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These slides are Copyright 2010-  Charles R. Severance (</a:t>
            </a:r>
            <a:r>
              <a:rPr b="0" i="0" lang="en-US" sz="1800" u="sng" cap="none" strike="noStrike">
                <a:solidFill>
                  <a:srgbClr val="FFFF00"/>
                </a:solidFill>
                <a:latin typeface="Arial"/>
                <a:ea typeface="Arial"/>
                <a:cs typeface="Arial"/>
                <a:sym typeface="Arial"/>
                <a:hlinkClick r:id="rId3">
                  <a:extLst>
                    <a:ext uri="{A12FA001-AC4F-418D-AE19-62706E023703}">
                      <ahyp:hlinkClr val="tx"/>
                    </a:ext>
                  </a:extLst>
                </a:hlinkClick>
              </a:rPr>
              <a:t>www.dr-chuck.com</a:t>
            </a:r>
            <a:r>
              <a:rPr b="0" i="0" lang="en-US" sz="1800" u="none" cap="none" strike="noStrike">
                <a:solidFill>
                  <a:srgbClr val="FFFFFF"/>
                </a:solidFill>
                <a:latin typeface="Arial"/>
                <a:ea typeface="Arial"/>
                <a:cs typeface="Arial"/>
                <a:sym typeface="Arial"/>
              </a:rPr>
              <a:t>) of the University of Michigan School of Information and </a:t>
            </a:r>
            <a:r>
              <a:rPr b="0" i="0" lang="en-US" sz="1800" u="sng" cap="none" strike="noStrike">
                <a:solidFill>
                  <a:srgbClr val="FFFF00"/>
                </a:solidFill>
                <a:latin typeface="Arial"/>
                <a:ea typeface="Arial"/>
                <a:cs typeface="Arial"/>
                <a:sym typeface="Arial"/>
                <a:hlinkClick r:id="rId4">
                  <a:extLst>
                    <a:ext uri="{A12FA001-AC4F-418D-AE19-62706E023703}">
                      <ahyp:hlinkClr val="tx"/>
                    </a:ext>
                  </a:extLst>
                </a:hlinkClick>
              </a:rPr>
              <a:t>open.umich.edu</a:t>
            </a:r>
            <a:r>
              <a:rPr b="0" i="0" lang="en-US" sz="1800" u="none" cap="none" strike="noStrike">
                <a:solidFill>
                  <a:srgbClr val="FFFFFF"/>
                </a:solidFill>
                <a:latin typeface="Arial"/>
                <a:ea typeface="Arial"/>
                <a:cs typeface="Arial"/>
                <a:sym typeface="Aria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800" u="none" cap="none" strike="noStrike">
                <a:solidFill>
                  <a:srgbClr val="FFFFFF"/>
                </a:solidFill>
                <a:latin typeface="Arial"/>
                <a:ea typeface="Arial"/>
                <a:cs typeface="Arial"/>
                <a:sym typeface="Arial"/>
              </a:rPr>
              <a:t>… Insert new Contributors and Translators here</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201" name="Google Shape;201;p29"/>
          <p:cNvPicPr preferRelativeResize="0"/>
          <p:nvPr/>
        </p:nvPicPr>
        <p:blipFill rotWithShape="1">
          <a:blip r:embed="rId5">
            <a:alphaModFix/>
          </a:blip>
          <a:srcRect b="0" l="0" r="0" t="0"/>
          <a:stretch/>
        </p:blipFill>
        <p:spPr>
          <a:xfrm>
            <a:off x="13897688" y="1227255"/>
            <a:ext cx="1968599" cy="668400"/>
          </a:xfrm>
          <a:prstGeom prst="rect">
            <a:avLst/>
          </a:prstGeom>
          <a:noFill/>
          <a:ln>
            <a:noFill/>
          </a:ln>
        </p:spPr>
      </p:pic>
      <p:sp>
        <p:nvSpPr>
          <p:cNvPr id="202" name="Google Shape;202;p29"/>
          <p:cNvSpPr txBox="1"/>
          <p:nvPr/>
        </p:nvSpPr>
        <p:spPr>
          <a:xfrm>
            <a:off x="8704400" y="2426605"/>
            <a:ext cx="6797699" cy="5817283"/>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