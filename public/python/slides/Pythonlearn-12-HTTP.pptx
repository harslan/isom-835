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9144000" cx="16256000"/>
  <p:notesSz cx="6858000" cy="1562100"/>
  <p:embeddedFontLst>
    <p:embeddedFont>
      <p:font typeface="Gill Sans"/>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 uri="http://customooxmlschemas.google.com/">
      <go:slidesCustomData xmlns:go="http://customooxmlschemas.google.com/" r:id="rId33" roundtripDataSignature="AMtx7minj8RS4Sq4861z8bNg95hce57u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illSans-regular.fntdata"/><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GillSans-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1"/>
            <a:ext cx="2971799" cy="4572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1"/>
            <a:ext cx="2971799" cy="4572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3"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4"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5"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6"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7"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8"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solidFill>
                <a:schemeClr val="dk2"/>
              </a:solidFill>
            </a:endParaRPr>
          </a:p>
        </p:txBody>
      </p:sp>
      <p:sp>
        <p:nvSpPr>
          <p:cNvPr id="25" name="Google Shape;2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While many of the examples in this book have focused on reading files and looking for data in those files, there are many different sources of information when one considers the Internet. We will learn how to pretend to be a web browser in Python and retrieve web pages using the Hypertext Transfer Protocol (HTTP). Then we will read through the web page data and parse it.</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Transport Control Protocol (TCP) is built on top of Internet Protocol (IP). It assumes IP might lose some data. Therefore, it has the objective of providing a nice reliable pipe to store and retransmit data. It handles flow control of data using a transmit window.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33" name="Google Shape;3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200"/>
              <a:buFont typeface="Arial"/>
              <a:buNone/>
            </a:pPr>
            <a:r>
              <a:rPr lang="en-US" sz="1200" u="none" cap="none" strike="noStrike">
                <a:solidFill>
                  <a:schemeClr val="lt1"/>
                </a:solidFill>
                <a:latin typeface="Arial"/>
                <a:ea typeface="Arial"/>
                <a:cs typeface="Arial"/>
                <a:sym typeface="Arial"/>
              </a:rPr>
              <a:t>In computer networking, an Internet </a:t>
            </a:r>
            <a:r>
              <a:rPr lang="en-US" sz="1200" u="none" cap="none" strike="noStrike">
                <a:solidFill>
                  <a:srgbClr val="FFFF00"/>
                </a:solidFill>
                <a:latin typeface="Arial"/>
                <a:ea typeface="Arial"/>
                <a:cs typeface="Arial"/>
                <a:sym typeface="Arial"/>
              </a:rPr>
              <a:t>socket</a:t>
            </a:r>
            <a:r>
              <a:rPr lang="en-US" sz="1200" u="none" cap="none" strike="noStrike">
                <a:solidFill>
                  <a:schemeClr val="lt1"/>
                </a:solidFill>
                <a:latin typeface="Arial"/>
                <a:ea typeface="Arial"/>
                <a:cs typeface="Arial"/>
                <a:sym typeface="Arial"/>
              </a:rPr>
              <a:t> or network </a:t>
            </a:r>
            <a:r>
              <a:rPr lang="en-US" sz="1200" u="none" cap="none" strike="noStrike">
                <a:solidFill>
                  <a:srgbClr val="FFFF00"/>
                </a:solidFill>
                <a:latin typeface="Arial"/>
                <a:ea typeface="Arial"/>
                <a:cs typeface="Arial"/>
                <a:sym typeface="Arial"/>
              </a:rPr>
              <a:t>socket</a:t>
            </a:r>
            <a:r>
              <a:rPr lang="en-US" sz="1200" u="none" cap="none" strike="noStrike">
                <a:solidFill>
                  <a:schemeClr val="lt1"/>
                </a:solidFill>
                <a:latin typeface="Arial"/>
                <a:ea typeface="Arial"/>
                <a:cs typeface="Arial"/>
                <a:sym typeface="Arial"/>
              </a:rPr>
              <a:t> is an endpoint of a bidirectional </a:t>
            </a:r>
            <a:r>
              <a:rPr lang="en-US" sz="1200" u="none" cap="none" strike="noStrike">
                <a:solidFill>
                  <a:srgbClr val="00FFFF"/>
                </a:solidFill>
                <a:latin typeface="Arial"/>
                <a:ea typeface="Arial"/>
                <a:cs typeface="Arial"/>
                <a:sym typeface="Arial"/>
              </a:rPr>
              <a:t>inter-process </a:t>
            </a:r>
            <a:r>
              <a:rPr lang="en-US" sz="1200" u="none" cap="none" strike="noStrike">
                <a:solidFill>
                  <a:schemeClr val="lt1"/>
                </a:solidFill>
                <a:latin typeface="Arial"/>
                <a:ea typeface="Arial"/>
                <a:cs typeface="Arial"/>
                <a:sym typeface="Arial"/>
              </a:rPr>
              <a:t>communication flow across an </a:t>
            </a:r>
            <a:r>
              <a:rPr lang="en-US" sz="1200" u="none" cap="none" strike="noStrike">
                <a:solidFill>
                  <a:srgbClr val="E06666"/>
                </a:solidFill>
                <a:latin typeface="Arial"/>
                <a:ea typeface="Arial"/>
                <a:cs typeface="Arial"/>
                <a:sym typeface="Arial"/>
              </a:rPr>
              <a:t>Internet</a:t>
            </a:r>
            <a:r>
              <a:rPr lang="en-US" sz="1200" u="none" cap="none" strike="noStrike">
                <a:solidFill>
                  <a:schemeClr val="lt1"/>
                </a:solidFill>
                <a:latin typeface="Arial"/>
                <a:ea typeface="Arial"/>
                <a:cs typeface="Arial"/>
                <a:sym typeface="Arial"/>
              </a:rPr>
              <a:t> Protocol-based computer network, such as the </a:t>
            </a:r>
            <a:r>
              <a:rPr lang="en-US" sz="1200" u="none" cap="none" strike="noStrike">
                <a:solidFill>
                  <a:srgbClr val="E06666"/>
                </a:solidFill>
                <a:latin typeface="Arial"/>
                <a:ea typeface="Arial"/>
                <a:cs typeface="Arial"/>
                <a:sym typeface="Arial"/>
              </a:rPr>
              <a:t>Internet. A port, on the other hand, refers to an application (or process) specific software communications endpoint. A port allows multiple networked applications to coexist and communicate with each other on the same server. </a:t>
            </a:r>
            <a:endParaRPr/>
          </a:p>
        </p:txBody>
      </p:sp>
      <p:sp>
        <p:nvSpPr>
          <p:cNvPr id="42" name="Google Shape;4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Here is a list of some commonly used TCP port numbers. For example, Port 80 is the port number assigned to commonly used internet communication protocol, HTTP (HyperText Transfer Protocol). At Port 80, a computer sends and receives web client-based communication and messages from a web server and uses to send and receive HTML pages and data.</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49" name="Google Shape;4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The network protocol that powers the web is actually quite simple and there is built-in support in Python called socket which makes it very easy to make network connections and retrieve data over those sockets in a Python program. A socket is much like a file, except that a single socket provides a two-way connection between two programs.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You can both read from and write to the same socket. If you write something to a socket, it is sent to the application at the other end of the socket. If you read from the socket, you are given the data which the other application has sent. But if you try to read a socket when the program on the other end of the socket has not sent any data, you just sit and wait. If the programs on both ends of the socket simply wait for some data without sending anything, they will wait for a very long time, so an important part of programs that communicate over the Internet is to have some sort of protocol.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lang="en-US"/>
              <a:t>A protocol is a set of precise rules that determine who is to go first, what they are to do, and then what the responses are to that message, and who sends next, and so on. In a sense the two applications at either end of the socket are doing a dance and making sure not to step on each other’s toes.</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56" name="Google Shape;5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t>How does a computer get the data from a server? </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Each time the user clicks on an anchor tag with an href = value to switch to a new page, the browser makes a connection to the web server and issues a </a:t>
            </a:r>
            <a:r>
              <a:rPr lang="en-US" sz="1200">
                <a:latin typeface="Arial"/>
                <a:ea typeface="Arial"/>
                <a:cs typeface="Arial"/>
                <a:sym typeface="Arial"/>
              </a:rPr>
              <a:t>“</a:t>
            </a:r>
            <a:r>
              <a:rPr lang="en-US" sz="1200"/>
              <a:t>GET</a:t>
            </a:r>
            <a:r>
              <a:rPr lang="en-US" sz="1200">
                <a:latin typeface="Arial"/>
                <a:ea typeface="Arial"/>
                <a:cs typeface="Arial"/>
                <a:sym typeface="Arial"/>
              </a:rPr>
              <a:t>”</a:t>
            </a:r>
            <a:r>
              <a:rPr lang="en-US" sz="1200"/>
              <a:t> request - to GET the content of the page at the specified URL. The server returns the HTML document to the browser, which formats and displays the document to the user.</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88" name="Google Shape;8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The easiest way to show how the HTTP protocol works is to write a very simple Python program that makes a connection to a web server and follows the rules of the HTTP protocol to request a document and display what the server sends back. For example,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import socket</a:t>
            </a:r>
            <a:endParaRPr/>
          </a:p>
          <a:p>
            <a:pPr indent="0" lvl="0" marL="0" rtl="0" algn="l">
              <a:lnSpc>
                <a:spcPct val="100000"/>
              </a:lnSpc>
              <a:spcBef>
                <a:spcPts val="0"/>
              </a:spcBef>
              <a:spcAft>
                <a:spcPts val="0"/>
              </a:spcAft>
              <a:buSzPts val="1400"/>
              <a:buNone/>
            </a:pPr>
            <a:r>
              <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mysock = socket.socket(socket.AF_INET, socket.SOCK_STREAM)</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mysock.connect(('data.pr4e.org', 80))</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cmd = 'GET http://data.pr4e.org/romeo.txt HTTP/1.0\r\n\r\n'.encode()</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mysock.send(cmd)</a:t>
            </a:r>
            <a:endParaRPr/>
          </a:p>
          <a:p>
            <a:pPr indent="0" lvl="0" marL="0" rtl="0" algn="l">
              <a:lnSpc>
                <a:spcPct val="100000"/>
              </a:lnSpc>
              <a:spcBef>
                <a:spcPts val="0"/>
              </a:spcBef>
              <a:spcAft>
                <a:spcPts val="0"/>
              </a:spcAft>
              <a:buSzPts val="1400"/>
              <a:buNone/>
            </a:pPr>
            <a:r>
              <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while True:</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    data = mysock.recv(512)</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    if (len(data) &lt; 1):</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        break</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    print(data.</a:t>
            </a:r>
            <a:r>
              <a:rPr lang="en-US" sz="1200">
                <a:solidFill>
                  <a:srgbClr val="FF40FF"/>
                </a:solidFill>
                <a:latin typeface="Courier"/>
                <a:ea typeface="Courier"/>
                <a:cs typeface="Courier"/>
                <a:sym typeface="Courier"/>
              </a:rPr>
              <a:t>decode()</a:t>
            </a:r>
            <a:r>
              <a:rPr lang="en-US" sz="1200">
                <a:solidFill>
                  <a:schemeClr val="lt1"/>
                </a:solidFill>
                <a:latin typeface="Courier"/>
                <a:ea typeface="Courier"/>
                <a:cs typeface="Courier"/>
                <a:sym typeface="Courier"/>
              </a:rPr>
              <a:t>,end='')</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mysock.close()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First the program makes a connection to port 80 on the server www.py4e.com. Since our program is playing the role of the “web browser”, the HTTP protocol says we must send the GET command followed by a blank line. \r\n signifies an EOL (end of line), so \r\n\r\n signifies nothing between two EOL sequences. That is the equivalent of a blank line. Once we send that blank line, we write a loop that receives data in 512-character chunks from the socket and prints the data out until there is no more data to read (i.e., the recv() returns an empty string).</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93" name="Google Shape;9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The HTTP request program in Python produces the following output: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HTTP/1.1 200 OK</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Date: Sun, 14 Mar 2010 23:52:41 GMT</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Server: Apache</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Last-Modified: Tue, 29 Dec 2009 01:31:22 GMT</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ETag: "143c1b33-a7-4b395bea"</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Accept-Ranges: bytes</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Content-Length: 167</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Connection: close</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Content-Type: text/plain</a:t>
            </a:r>
            <a:endParaRPr/>
          </a:p>
          <a:p>
            <a:pPr indent="0" lvl="0" marL="0" marR="0" rtl="0" algn="ctr">
              <a:lnSpc>
                <a:spcPct val="100000"/>
              </a:lnSpc>
              <a:spcBef>
                <a:spcPts val="0"/>
              </a:spcBef>
              <a:spcAft>
                <a:spcPts val="0"/>
              </a:spcAft>
              <a:buClr>
                <a:schemeClr val="dk1"/>
              </a:buClr>
              <a:buSzPts val="1200"/>
              <a:buFont typeface="Arial"/>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But soft what light through yonder window breaks</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It is the east and Juliet is the sun</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Arise fair sun and kill the envious moon</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Who is already sick and pale with grief</a:t>
            </a: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The output starts with headers which the web server sends to describe the document. For example, the Content-Type: text/plain header indicates that the document is a plain text document. After the server sends us the headers, it adds a blank line to indicate the end of the headers, and then sends the actual data of the file romeo.txt.</a:t>
            </a: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This example shows how to make a low-level network connection with sockets in Python. Sockets can be used to communicate with a web server or with a mail server or many other kinds of servers. All that is needed is to find the document which describes the protocol and write the code to send and receive the data according to the protocol – the rules of the communication!</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p:txBody>
      </p:sp>
      <p:sp>
        <p:nvSpPr>
          <p:cNvPr id="100" name="Google Shape;10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
        <p:nvSpPr>
          <p:cNvPr id="108" name="Google Shape;108;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1" marL="0" marR="0" rtl="0" algn="l">
              <a:lnSpc>
                <a:spcPct val="100000"/>
              </a:lnSpc>
              <a:spcBef>
                <a:spcPts val="0"/>
              </a:spcBef>
              <a:spcAft>
                <a:spcPts val="0"/>
              </a:spcAft>
              <a:buClr>
                <a:schemeClr val="dk1"/>
              </a:buClr>
              <a:buSzPts val="1200"/>
              <a:buFont typeface="Arial"/>
              <a:buNone/>
            </a:pPr>
            <a:r>
              <a:rPr lang="en-US" sz="1200"/>
              <a:t>To represent the wide range of characters computers must handle, we represent characters with more than one byte. </a:t>
            </a:r>
            <a:r>
              <a:rPr lang="en-US" sz="2800">
                <a:solidFill>
                  <a:srgbClr val="00FA00"/>
                </a:solidFill>
              </a:rPr>
              <a:t>UTF-8 (8-bit Unicode Transformation Format) is a variable width character encoding mechanism using 1 to 4 8-bit bytes. </a:t>
            </a:r>
            <a:r>
              <a:rPr lang="en-US">
                <a:solidFill>
                  <a:srgbClr val="00FA00"/>
                </a:solidFill>
              </a:rPr>
              <a:t>UTF-8 is recommended practice for encoding data to be exchanged between systems in the Internet.</a:t>
            </a:r>
            <a:endParaRPr/>
          </a:p>
          <a:p>
            <a:pPr indent="0" lvl="1" marL="0" marR="0" rtl="0" algn="l">
              <a:lnSpc>
                <a:spcPct val="100000"/>
              </a:lnSpc>
              <a:spcBef>
                <a:spcPts val="0"/>
              </a:spcBef>
              <a:spcAft>
                <a:spcPts val="0"/>
              </a:spcAft>
              <a:buClr>
                <a:schemeClr val="dk1"/>
              </a:buClr>
              <a:buSzPts val="1200"/>
              <a:buFont typeface="Arial"/>
              <a:buNone/>
            </a:pPr>
            <a:r>
              <a:t/>
            </a:r>
            <a:endParaRPr>
              <a:solidFill>
                <a:srgbClr val="00FA00"/>
              </a:solidFill>
            </a:endParaRPr>
          </a:p>
          <a:p>
            <a:pPr indent="0" lvl="1" marL="0" marR="0" rtl="0" algn="l">
              <a:lnSpc>
                <a:spcPct val="100000"/>
              </a:lnSpc>
              <a:spcBef>
                <a:spcPts val="0"/>
              </a:spcBef>
              <a:spcAft>
                <a:spcPts val="0"/>
              </a:spcAft>
              <a:buClr>
                <a:schemeClr val="dk1"/>
              </a:buClr>
              <a:buSzPts val="1200"/>
              <a:buFont typeface="Arial"/>
              <a:buNone/>
            </a:pPr>
            <a:r>
              <a:rPr lang="en-US"/>
              <a:t>When we talk to an external resource like a network socket, we send bytes. Therefore, we need to encode Python 3 strings into a given character encoding (i.e., UTF-8 Unicode encoding). Similarly, when we read data from an external resource, we must decode it based on the character set so that it is properly represented in Python 3 as a string.</a:t>
            </a:r>
            <a:endParaRPr/>
          </a:p>
          <a:p>
            <a:pPr indent="0" lvl="1" marL="0" marR="0" rtl="0" algn="l">
              <a:lnSpc>
                <a:spcPct val="100000"/>
              </a:lnSpc>
              <a:spcBef>
                <a:spcPts val="0"/>
              </a:spcBef>
              <a:spcAft>
                <a:spcPts val="0"/>
              </a:spcAft>
              <a:buClr>
                <a:schemeClr val="dk1"/>
              </a:buClr>
              <a:buSzPts val="1200"/>
              <a:buFont typeface="Arial"/>
              <a:buNone/>
            </a:pPr>
            <a:r>
              <a:t/>
            </a:r>
            <a:endParaRPr/>
          </a:p>
          <a:p>
            <a:pPr indent="0" lvl="1" marL="0" marR="0" rtl="0" algn="l">
              <a:lnSpc>
                <a:spcPct val="100000"/>
              </a:lnSpc>
              <a:spcBef>
                <a:spcPts val="0"/>
              </a:spcBef>
              <a:spcAft>
                <a:spcPts val="0"/>
              </a:spcAft>
              <a:buClr>
                <a:schemeClr val="dk1"/>
              </a:buClr>
              <a:buSzPts val="1200"/>
              <a:buFont typeface="Arial"/>
              <a:buNone/>
            </a:pPr>
            <a:r>
              <a:t/>
            </a:r>
            <a:endParaRPr>
              <a:solidFill>
                <a:srgbClr val="00FA00"/>
              </a:solidFill>
            </a:endParaRPr>
          </a:p>
          <a:p>
            <a:pPr indent="0" lvl="1" marL="0" marR="0" rtl="0" algn="l">
              <a:lnSpc>
                <a:spcPct val="100000"/>
              </a:lnSpc>
              <a:spcBef>
                <a:spcPts val="0"/>
              </a:spcBef>
              <a:spcAft>
                <a:spcPts val="0"/>
              </a:spcAft>
              <a:buClr>
                <a:schemeClr val="dk1"/>
              </a:buClr>
              <a:buSzPts val="1200"/>
              <a:buFont typeface="Arial"/>
              <a:buNone/>
            </a:pPr>
            <a:r>
              <a:t/>
            </a:r>
            <a:endParaRPr/>
          </a:p>
        </p:txBody>
      </p:sp>
      <p:sp>
        <p:nvSpPr>
          <p:cNvPr id="109" name="Google Shape;109;p10:notes"/>
          <p:cNvSpPr txBox="1"/>
          <p:nvPr>
            <p:ph idx="12" type="sldNum"/>
          </p:nvPr>
        </p:nvSpPr>
        <p:spPr>
          <a:xfrm>
            <a:off x="3884612" y="8685211"/>
            <a:ext cx="2971799" cy="4572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a:p>
          <a:p>
            <a:pPr indent="0" lvl="1" marL="0" rtl="0" algn="l">
              <a:lnSpc>
                <a:spcPct val="100000"/>
              </a:lnSpc>
              <a:spcBef>
                <a:spcPts val="0"/>
              </a:spcBef>
              <a:spcAft>
                <a:spcPts val="0"/>
              </a:spcAft>
              <a:buClr>
                <a:srgbClr val="000000"/>
              </a:buClr>
              <a:buSzPts val="1400"/>
              <a:buFont typeface="Arial"/>
              <a:buNone/>
            </a:pPr>
            <a:r>
              <a:t/>
            </a:r>
            <a:endParaRPr/>
          </a:p>
          <a:p>
            <a:pPr indent="0" lvl="2" marL="0" rtl="0" algn="l">
              <a:lnSpc>
                <a:spcPct val="100000"/>
              </a:lnSpc>
              <a:spcBef>
                <a:spcPts val="0"/>
              </a:spcBef>
              <a:spcAft>
                <a:spcPts val="0"/>
              </a:spcAft>
              <a:buClr>
                <a:srgbClr val="000000"/>
              </a:buClr>
              <a:buSzPts val="1400"/>
              <a:buFont typeface="Arial"/>
              <a:buNone/>
            </a:pPr>
            <a:r>
              <a:t/>
            </a:r>
            <a:endParaRPr/>
          </a:p>
          <a:p>
            <a:pPr indent="0" lvl="3" marL="0" rtl="0" algn="l">
              <a:lnSpc>
                <a:spcPct val="100000"/>
              </a:lnSpc>
              <a:spcBef>
                <a:spcPts val="0"/>
              </a:spcBef>
              <a:spcAft>
                <a:spcPts val="0"/>
              </a:spcAft>
              <a:buClr>
                <a:srgbClr val="000000"/>
              </a:buClr>
              <a:buSzPts val="1400"/>
              <a:buFont typeface="Arial"/>
              <a:buNone/>
            </a:pPr>
            <a:r>
              <a:t/>
            </a:r>
            <a:endParaRPr/>
          </a:p>
          <a:p>
            <a:pPr indent="0" lvl="4" marL="0" rtl="0" algn="l">
              <a:lnSpc>
                <a:spcPct val="100000"/>
              </a:lnSpc>
              <a:spcBef>
                <a:spcPts val="0"/>
              </a:spcBef>
              <a:spcAft>
                <a:spcPts val="0"/>
              </a:spcAft>
              <a:buClr>
                <a:srgbClr val="000000"/>
              </a:buClr>
              <a:buSzPts val="1400"/>
              <a:buFont typeface="Arial"/>
              <a:buNone/>
            </a:pPr>
            <a:r>
              <a:t/>
            </a:r>
            <a:endParaRPr/>
          </a:p>
          <a:p>
            <a:pPr indent="0" lvl="5" marL="0" rtl="0" algn="l">
              <a:lnSpc>
                <a:spcPct val="100000"/>
              </a:lnSpc>
              <a:spcBef>
                <a:spcPts val="0"/>
              </a:spcBef>
              <a:spcAft>
                <a:spcPts val="0"/>
              </a:spcAft>
              <a:buClr>
                <a:srgbClr val="000000"/>
              </a:buClr>
              <a:buSzPts val="1400"/>
              <a:buFont typeface="Arial"/>
              <a:buNone/>
            </a:pPr>
            <a:r>
              <a:t/>
            </a:r>
            <a:endParaRPr/>
          </a:p>
          <a:p>
            <a:pPr indent="0" lvl="6" marL="0" rtl="0" algn="l">
              <a:lnSpc>
                <a:spcPct val="100000"/>
              </a:lnSpc>
              <a:spcBef>
                <a:spcPts val="0"/>
              </a:spcBef>
              <a:spcAft>
                <a:spcPts val="0"/>
              </a:spcAft>
              <a:buClr>
                <a:srgbClr val="000000"/>
              </a:buClr>
              <a:buSzPts val="1400"/>
              <a:buFont typeface="Arial"/>
              <a:buNone/>
            </a:pPr>
            <a:r>
              <a:t/>
            </a:r>
            <a:endParaRPr/>
          </a:p>
          <a:p>
            <a:pPr indent="0" lvl="7" marL="0" rtl="0" algn="l">
              <a:lnSpc>
                <a:spcPct val="100000"/>
              </a:lnSpc>
              <a:spcBef>
                <a:spcPts val="0"/>
              </a:spcBef>
              <a:spcAft>
                <a:spcPts val="0"/>
              </a:spcAft>
              <a:buClr>
                <a:srgbClr val="000000"/>
              </a:buClr>
              <a:buSzPts val="1400"/>
              <a:buFont typeface="Arial"/>
              <a:buNone/>
            </a:pPr>
            <a:r>
              <a:t/>
            </a:r>
            <a:endParaRPr/>
          </a:p>
          <a:p>
            <a:pPr indent="0" lvl="8" marL="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16" name="Google Shape;11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
        <p:nvSpPr>
          <p:cNvPr id="123" name="Google Shape;123;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a:t>Python has the following built-in methods: decode() and encode() for converting bytes into strings and vice versa. Specifically, </a:t>
            </a:r>
            <a:endParaRPr/>
          </a:p>
          <a:p>
            <a:pPr indent="0" lvl="0" marL="0" rtl="0" algn="l">
              <a:lnSpc>
                <a:spcPct val="100000"/>
              </a:lnSpc>
              <a:spcBef>
                <a:spcPts val="0"/>
              </a:spcBef>
              <a:spcAft>
                <a:spcPts val="0"/>
              </a:spcAft>
              <a:buSzPts val="1400"/>
              <a:buNone/>
            </a:pPr>
            <a:r>
              <a:rPr lang="en-US"/>
              <a:t>bytes.decode(): it is a method on bytes and byte array objects. It returns a string decoded from the given bytes. Default encoding is UTF-8.</a:t>
            </a:r>
            <a:endParaRPr/>
          </a:p>
          <a:p>
            <a:pPr indent="0" lvl="0" marL="0" rtl="0" algn="l">
              <a:lnSpc>
                <a:spcPct val="100000"/>
              </a:lnSpc>
              <a:spcBef>
                <a:spcPts val="0"/>
              </a:spcBef>
              <a:spcAft>
                <a:spcPts val="0"/>
              </a:spcAft>
              <a:buSzPts val="1400"/>
              <a:buNone/>
            </a:pPr>
            <a:r>
              <a:rPr lang="en-US"/>
              <a:t>str.encode(): it is a method on a string object. It returns an encoded version of the string as a bytes object. Default encoding is UTF-8.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You can get more information on Python documentation on these two methods:</a:t>
            </a:r>
            <a:endParaRPr/>
          </a:p>
          <a:p>
            <a:pPr indent="0" lvl="0" marL="0" rtl="0" algn="l">
              <a:lnSpc>
                <a:spcPct val="100000"/>
              </a:lnSpc>
              <a:spcBef>
                <a:spcPts val="0"/>
              </a:spcBef>
              <a:spcAft>
                <a:spcPts val="0"/>
              </a:spcAft>
              <a:buSzPts val="1400"/>
              <a:buNone/>
            </a:pPr>
            <a:r>
              <a:rPr lang="en-US" sz="1200">
                <a:solidFill>
                  <a:srgbClr val="FFFF00"/>
                </a:solidFill>
              </a:rPr>
              <a:t>https://docs.python.org/3/library/stdtypes.html#bytes.decode</a:t>
            </a:r>
            <a:endParaRPr sz="1200">
              <a:solidFill>
                <a:srgbClr val="FFFF00"/>
              </a:solidFill>
            </a:endParaRPr>
          </a:p>
          <a:p>
            <a:pPr indent="0" lvl="0" marL="0" rtl="0" algn="l">
              <a:lnSpc>
                <a:spcPct val="100000"/>
              </a:lnSpc>
              <a:spcBef>
                <a:spcPts val="0"/>
              </a:spcBef>
              <a:spcAft>
                <a:spcPts val="0"/>
              </a:spcAft>
              <a:buSzPts val="1400"/>
              <a:buNone/>
            </a:pPr>
            <a:r>
              <a:rPr lang="en-US" sz="1200">
                <a:solidFill>
                  <a:srgbClr val="FFFF00"/>
                </a:solidFill>
              </a:rPr>
              <a:t>https://docs.python.org/3/library/stdtypes.html#str.encode</a:t>
            </a:r>
            <a:endParaRPr sz="1200">
              <a:solidFill>
                <a:srgbClr val="FFFF00"/>
              </a:solidFill>
            </a:endParaRPr>
          </a:p>
          <a:p>
            <a:pPr indent="0" lvl="0" marL="0" rtl="0" algn="l">
              <a:lnSpc>
                <a:spcPct val="100000"/>
              </a:lnSpc>
              <a:spcBef>
                <a:spcPts val="0"/>
              </a:spcBef>
              <a:spcAft>
                <a:spcPts val="0"/>
              </a:spcAft>
              <a:buSzPts val="1400"/>
              <a:buNone/>
            </a:pPr>
            <a:r>
              <a:t/>
            </a:r>
            <a:endParaRPr/>
          </a:p>
        </p:txBody>
      </p:sp>
      <p:sp>
        <p:nvSpPr>
          <p:cNvPr id="124" name="Google Shape;124;p12:notes"/>
          <p:cNvSpPr txBox="1"/>
          <p:nvPr>
            <p:ph idx="12" type="sldNum"/>
          </p:nvPr>
        </p:nvSpPr>
        <p:spPr>
          <a:xfrm>
            <a:off x="3884612" y="8685211"/>
            <a:ext cx="2971799" cy="4572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a:p>
          <a:p>
            <a:pPr indent="0" lvl="1" marL="0" rtl="0" algn="l">
              <a:lnSpc>
                <a:spcPct val="100000"/>
              </a:lnSpc>
              <a:spcBef>
                <a:spcPts val="0"/>
              </a:spcBef>
              <a:spcAft>
                <a:spcPts val="0"/>
              </a:spcAft>
              <a:buClr>
                <a:srgbClr val="000000"/>
              </a:buClr>
              <a:buSzPts val="1400"/>
              <a:buFont typeface="Arial"/>
              <a:buNone/>
            </a:pPr>
            <a:r>
              <a:t/>
            </a:r>
            <a:endParaRPr/>
          </a:p>
          <a:p>
            <a:pPr indent="0" lvl="2" marL="0" rtl="0" algn="l">
              <a:lnSpc>
                <a:spcPct val="100000"/>
              </a:lnSpc>
              <a:spcBef>
                <a:spcPts val="0"/>
              </a:spcBef>
              <a:spcAft>
                <a:spcPts val="0"/>
              </a:spcAft>
              <a:buClr>
                <a:srgbClr val="000000"/>
              </a:buClr>
              <a:buSzPts val="1400"/>
              <a:buFont typeface="Arial"/>
              <a:buNone/>
            </a:pPr>
            <a:r>
              <a:t/>
            </a:r>
            <a:endParaRPr/>
          </a:p>
          <a:p>
            <a:pPr indent="0" lvl="3" marL="0" rtl="0" algn="l">
              <a:lnSpc>
                <a:spcPct val="100000"/>
              </a:lnSpc>
              <a:spcBef>
                <a:spcPts val="0"/>
              </a:spcBef>
              <a:spcAft>
                <a:spcPts val="0"/>
              </a:spcAft>
              <a:buClr>
                <a:srgbClr val="000000"/>
              </a:buClr>
              <a:buSzPts val="1400"/>
              <a:buFont typeface="Arial"/>
              <a:buNone/>
            </a:pPr>
            <a:r>
              <a:t/>
            </a:r>
            <a:endParaRPr/>
          </a:p>
          <a:p>
            <a:pPr indent="0" lvl="4" marL="0" rtl="0" algn="l">
              <a:lnSpc>
                <a:spcPct val="100000"/>
              </a:lnSpc>
              <a:spcBef>
                <a:spcPts val="0"/>
              </a:spcBef>
              <a:spcAft>
                <a:spcPts val="0"/>
              </a:spcAft>
              <a:buClr>
                <a:srgbClr val="000000"/>
              </a:buClr>
              <a:buSzPts val="1400"/>
              <a:buFont typeface="Arial"/>
              <a:buNone/>
            </a:pPr>
            <a:r>
              <a:t/>
            </a:r>
            <a:endParaRPr/>
          </a:p>
          <a:p>
            <a:pPr indent="0" lvl="5" marL="0" rtl="0" algn="l">
              <a:lnSpc>
                <a:spcPct val="100000"/>
              </a:lnSpc>
              <a:spcBef>
                <a:spcPts val="0"/>
              </a:spcBef>
              <a:spcAft>
                <a:spcPts val="0"/>
              </a:spcAft>
              <a:buClr>
                <a:srgbClr val="000000"/>
              </a:buClr>
              <a:buSzPts val="1400"/>
              <a:buFont typeface="Arial"/>
              <a:buNone/>
            </a:pPr>
            <a:r>
              <a:t/>
            </a:r>
            <a:endParaRPr/>
          </a:p>
          <a:p>
            <a:pPr indent="0" lvl="6" marL="0" rtl="0" algn="l">
              <a:lnSpc>
                <a:spcPct val="100000"/>
              </a:lnSpc>
              <a:spcBef>
                <a:spcPts val="0"/>
              </a:spcBef>
              <a:spcAft>
                <a:spcPts val="0"/>
              </a:spcAft>
              <a:buClr>
                <a:srgbClr val="000000"/>
              </a:buClr>
              <a:buSzPts val="1400"/>
              <a:buFont typeface="Arial"/>
              <a:buNone/>
            </a:pPr>
            <a:r>
              <a:t/>
            </a:r>
            <a:endParaRPr/>
          </a:p>
          <a:p>
            <a:pPr indent="0" lvl="7" marL="0" rtl="0" algn="l">
              <a:lnSpc>
                <a:spcPct val="100000"/>
              </a:lnSpc>
              <a:spcBef>
                <a:spcPts val="0"/>
              </a:spcBef>
              <a:spcAft>
                <a:spcPts val="0"/>
              </a:spcAft>
              <a:buClr>
                <a:srgbClr val="000000"/>
              </a:buClr>
              <a:buSzPts val="1400"/>
              <a:buFont typeface="Arial"/>
              <a:buNone/>
            </a:pPr>
            <a:r>
              <a:t/>
            </a:r>
            <a:endParaRPr/>
          </a:p>
          <a:p>
            <a:pPr indent="0" lvl="8" marL="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
        <p:nvSpPr>
          <p:cNvPr id="131" name="Google Shape;131;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a:t>A picture representation of how received bytes are decoded to turn into strings and how strings are encoded to bytes before sent.</a:t>
            </a:r>
            <a:endParaRPr/>
          </a:p>
        </p:txBody>
      </p:sp>
      <p:sp>
        <p:nvSpPr>
          <p:cNvPr id="132" name="Google Shape;132;p13:notes"/>
          <p:cNvSpPr txBox="1"/>
          <p:nvPr>
            <p:ph idx="12" type="sldNum"/>
          </p:nvPr>
        </p:nvSpPr>
        <p:spPr>
          <a:xfrm>
            <a:off x="3884612" y="8685211"/>
            <a:ext cx="2971799" cy="4572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a:p>
          <a:p>
            <a:pPr indent="0" lvl="1" marL="0" rtl="0" algn="l">
              <a:lnSpc>
                <a:spcPct val="100000"/>
              </a:lnSpc>
              <a:spcBef>
                <a:spcPts val="0"/>
              </a:spcBef>
              <a:spcAft>
                <a:spcPts val="0"/>
              </a:spcAft>
              <a:buClr>
                <a:srgbClr val="000000"/>
              </a:buClr>
              <a:buSzPts val="1400"/>
              <a:buFont typeface="Arial"/>
              <a:buNone/>
            </a:pPr>
            <a:r>
              <a:t/>
            </a:r>
            <a:endParaRPr/>
          </a:p>
          <a:p>
            <a:pPr indent="0" lvl="2" marL="0" rtl="0" algn="l">
              <a:lnSpc>
                <a:spcPct val="100000"/>
              </a:lnSpc>
              <a:spcBef>
                <a:spcPts val="0"/>
              </a:spcBef>
              <a:spcAft>
                <a:spcPts val="0"/>
              </a:spcAft>
              <a:buClr>
                <a:srgbClr val="000000"/>
              </a:buClr>
              <a:buSzPts val="1400"/>
              <a:buFont typeface="Arial"/>
              <a:buNone/>
            </a:pPr>
            <a:r>
              <a:t/>
            </a:r>
            <a:endParaRPr/>
          </a:p>
          <a:p>
            <a:pPr indent="0" lvl="3" marL="0" rtl="0" algn="l">
              <a:lnSpc>
                <a:spcPct val="100000"/>
              </a:lnSpc>
              <a:spcBef>
                <a:spcPts val="0"/>
              </a:spcBef>
              <a:spcAft>
                <a:spcPts val="0"/>
              </a:spcAft>
              <a:buClr>
                <a:srgbClr val="000000"/>
              </a:buClr>
              <a:buSzPts val="1400"/>
              <a:buFont typeface="Arial"/>
              <a:buNone/>
            </a:pPr>
            <a:r>
              <a:t/>
            </a:r>
            <a:endParaRPr/>
          </a:p>
          <a:p>
            <a:pPr indent="0" lvl="4" marL="0" rtl="0" algn="l">
              <a:lnSpc>
                <a:spcPct val="100000"/>
              </a:lnSpc>
              <a:spcBef>
                <a:spcPts val="0"/>
              </a:spcBef>
              <a:spcAft>
                <a:spcPts val="0"/>
              </a:spcAft>
              <a:buClr>
                <a:srgbClr val="000000"/>
              </a:buClr>
              <a:buSzPts val="1400"/>
              <a:buFont typeface="Arial"/>
              <a:buNone/>
            </a:pPr>
            <a:r>
              <a:t/>
            </a:r>
            <a:endParaRPr/>
          </a:p>
          <a:p>
            <a:pPr indent="0" lvl="5" marL="0" rtl="0" algn="l">
              <a:lnSpc>
                <a:spcPct val="100000"/>
              </a:lnSpc>
              <a:spcBef>
                <a:spcPts val="0"/>
              </a:spcBef>
              <a:spcAft>
                <a:spcPts val="0"/>
              </a:spcAft>
              <a:buClr>
                <a:srgbClr val="000000"/>
              </a:buClr>
              <a:buSzPts val="1400"/>
              <a:buFont typeface="Arial"/>
              <a:buNone/>
            </a:pPr>
            <a:r>
              <a:t/>
            </a:r>
            <a:endParaRPr/>
          </a:p>
          <a:p>
            <a:pPr indent="0" lvl="6" marL="0" rtl="0" algn="l">
              <a:lnSpc>
                <a:spcPct val="100000"/>
              </a:lnSpc>
              <a:spcBef>
                <a:spcPts val="0"/>
              </a:spcBef>
              <a:spcAft>
                <a:spcPts val="0"/>
              </a:spcAft>
              <a:buClr>
                <a:srgbClr val="000000"/>
              </a:buClr>
              <a:buSzPts val="1400"/>
              <a:buFont typeface="Arial"/>
              <a:buNone/>
            </a:pPr>
            <a:r>
              <a:t/>
            </a:r>
            <a:endParaRPr/>
          </a:p>
          <a:p>
            <a:pPr indent="0" lvl="7" marL="0" rtl="0" algn="l">
              <a:lnSpc>
                <a:spcPct val="100000"/>
              </a:lnSpc>
              <a:spcBef>
                <a:spcPts val="0"/>
              </a:spcBef>
              <a:spcAft>
                <a:spcPts val="0"/>
              </a:spcAft>
              <a:buClr>
                <a:srgbClr val="000000"/>
              </a:buClr>
              <a:buSzPts val="1400"/>
              <a:buFont typeface="Arial"/>
              <a:buNone/>
            </a:pPr>
            <a:r>
              <a:t/>
            </a:r>
            <a:endParaRPr/>
          </a:p>
          <a:p>
            <a:pPr indent="0" lvl="8" marL="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50" name="Google Shape;15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While we can manually send and receive data over HTTP using the socket library, there is a much simpler way to perform this common task in Python by using the urllib library.</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Using urllib, you can treat a web page as if it is a file. You simply indicate which web page you would like to retrieve and urllib handles all of the HTTP protocol and header details. The equivalent code to read the romeo.txt file from the web using urllib is as follows:</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import urllib.request, urllib.parse, urllib.error</a:t>
            </a:r>
            <a:endParaRPr sz="1200">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sz="1200">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fhand = urllib.request.urlopen('http://data.pr4e.org/romeo.txt')</a:t>
            </a: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for line in fhand:</a:t>
            </a: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    print(line.</a:t>
            </a:r>
            <a:r>
              <a:rPr lang="en-US" sz="1200">
                <a:solidFill>
                  <a:srgbClr val="FF40FF"/>
                </a:solidFill>
                <a:latin typeface="Courier"/>
                <a:ea typeface="Courier"/>
                <a:cs typeface="Courier"/>
                <a:sym typeface="Courier"/>
              </a:rPr>
              <a:t>decode()</a:t>
            </a:r>
            <a:r>
              <a:rPr lang="en-US" sz="1200">
                <a:solidFill>
                  <a:srgbClr val="FFFF00"/>
                </a:solidFill>
                <a:latin typeface="Courier"/>
                <a:ea typeface="Courier"/>
                <a:cs typeface="Courier"/>
                <a:sym typeface="Courier"/>
              </a:rPr>
              <a:t>.strip())</a:t>
            </a:r>
            <a:endParaRPr/>
          </a:p>
          <a:p>
            <a:pPr indent="0" lvl="0" marL="0" rtl="0" algn="l">
              <a:lnSpc>
                <a:spcPct val="100000"/>
              </a:lnSpc>
              <a:spcBef>
                <a:spcPts val="0"/>
              </a:spcBef>
              <a:spcAft>
                <a:spcPts val="0"/>
              </a:spcAft>
              <a:buSzPts val="1400"/>
              <a:buNone/>
            </a:pPr>
            <a:r>
              <a:t/>
            </a:r>
            <a:endParaRPr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u="none" cap="none" strike="noStrike">
                <a:solidFill>
                  <a:srgbClr val="FFFF00"/>
                </a:solidFill>
                <a:latin typeface="Courier"/>
                <a:ea typeface="Courier"/>
                <a:cs typeface="Courier"/>
                <a:sym typeface="Courier"/>
              </a:rPr>
              <a:t>Once the web page has been opened with urllib.urlopen, we can treat it like a file and read through it using a for loop. The general idea is: once we have opened the web page, we can read it like a local file.</a:t>
            </a:r>
            <a:endParaRPr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55" name="Google Shape;15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FFFF00"/>
              </a:buClr>
              <a:buSzPts val="1200"/>
              <a:buFont typeface="Courier"/>
              <a:buNone/>
            </a:pPr>
            <a:r>
              <a:rPr lang="en-US" sz="1200" u="none" cap="none" strike="noStrike">
                <a:solidFill>
                  <a:srgbClr val="FFFF00"/>
                </a:solidFill>
                <a:latin typeface="Courier"/>
                <a:ea typeface="Courier"/>
                <a:cs typeface="Courier"/>
                <a:sym typeface="Courier"/>
              </a:rPr>
              <a:t>After the program runs, we only see the output of the contents of the file. The headers are still sent, however, the urllib consumes the headers and only returns the data to us:</a:t>
            </a:r>
            <a:endParaRPr/>
          </a:p>
          <a:p>
            <a:pPr indent="0" lvl="0" marL="0" rtl="0" algn="l">
              <a:lnSpc>
                <a:spcPct val="100000"/>
              </a:lnSpc>
              <a:spcBef>
                <a:spcPts val="0"/>
              </a:spcBef>
              <a:spcAft>
                <a:spcPts val="0"/>
              </a:spcAft>
              <a:buClr>
                <a:schemeClr val="dk1"/>
              </a:buClr>
              <a:buSzPts val="1200"/>
              <a:buFont typeface="Arial"/>
              <a:buNone/>
            </a:pPr>
            <a:r>
              <a:t/>
            </a:r>
            <a:endParaRPr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300"/>
              <a:buFont typeface="Cabin"/>
              <a:buNone/>
            </a:pPr>
            <a:r>
              <a:rPr lang="en-US" sz="1200" u="none" cap="none" strike="noStrike">
                <a:solidFill>
                  <a:srgbClr val="FF00FF"/>
                </a:solidFill>
                <a:latin typeface="Arial"/>
                <a:ea typeface="Arial"/>
                <a:cs typeface="Arial"/>
                <a:sym typeface="Arial"/>
              </a:rPr>
              <a:t>But soft what light through yonder window breaks</a:t>
            </a:r>
            <a:endParaRPr/>
          </a:p>
          <a:p>
            <a:pPr indent="0" lvl="0" marL="0" marR="0" rtl="0" algn="l">
              <a:lnSpc>
                <a:spcPct val="100000"/>
              </a:lnSpc>
              <a:spcBef>
                <a:spcPts val="0"/>
              </a:spcBef>
              <a:spcAft>
                <a:spcPts val="0"/>
              </a:spcAft>
              <a:buClr>
                <a:srgbClr val="FF00FF"/>
              </a:buClr>
              <a:buSzPts val="300"/>
              <a:buFont typeface="Cabin"/>
              <a:buNone/>
            </a:pPr>
            <a:r>
              <a:rPr lang="en-US" sz="1200" u="none" cap="none" strike="noStrike">
                <a:solidFill>
                  <a:srgbClr val="FF00FF"/>
                </a:solidFill>
                <a:latin typeface="Arial"/>
                <a:ea typeface="Arial"/>
                <a:cs typeface="Arial"/>
                <a:sym typeface="Arial"/>
              </a:rPr>
              <a:t>It is the east and Juliet is the sun</a:t>
            </a:r>
            <a:endParaRPr/>
          </a:p>
          <a:p>
            <a:pPr indent="0" lvl="0" marL="0" marR="0" rtl="0" algn="l">
              <a:lnSpc>
                <a:spcPct val="100000"/>
              </a:lnSpc>
              <a:spcBef>
                <a:spcPts val="0"/>
              </a:spcBef>
              <a:spcAft>
                <a:spcPts val="0"/>
              </a:spcAft>
              <a:buClr>
                <a:srgbClr val="FF00FF"/>
              </a:buClr>
              <a:buSzPts val="300"/>
              <a:buFont typeface="Cabin"/>
              <a:buNone/>
            </a:pPr>
            <a:r>
              <a:rPr lang="en-US" sz="1200" u="none" cap="none" strike="noStrike">
                <a:solidFill>
                  <a:srgbClr val="FF00FF"/>
                </a:solidFill>
                <a:latin typeface="Arial"/>
                <a:ea typeface="Arial"/>
                <a:cs typeface="Arial"/>
                <a:sym typeface="Arial"/>
              </a:rPr>
              <a:t>Arise fair sun and kill the envious moon</a:t>
            </a:r>
            <a:endParaRPr/>
          </a:p>
          <a:p>
            <a:pPr indent="0" lvl="0" marL="0" marR="0" rtl="0" algn="l">
              <a:lnSpc>
                <a:spcPct val="100000"/>
              </a:lnSpc>
              <a:spcBef>
                <a:spcPts val="0"/>
              </a:spcBef>
              <a:spcAft>
                <a:spcPts val="0"/>
              </a:spcAft>
              <a:buClr>
                <a:srgbClr val="FF00FF"/>
              </a:buClr>
              <a:buSzPts val="300"/>
              <a:buFont typeface="Cabin"/>
              <a:buNone/>
            </a:pPr>
            <a:r>
              <a:rPr lang="en-US" sz="1200" u="none" cap="none" strike="noStrike">
                <a:solidFill>
                  <a:srgbClr val="FF00FF"/>
                </a:solidFill>
                <a:latin typeface="Arial"/>
                <a:ea typeface="Arial"/>
                <a:cs typeface="Arial"/>
                <a:sym typeface="Arial"/>
              </a:rPr>
              <a:t>Who is already sick and pale with grief</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62" name="Google Shape;16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Another example to show the use of urllib library would be to write a Python program to retrieve the data from romeo.txt and calculate the frequency of each word in the file and store the results in a dictionary with keys as the words and the corresponding frequencies as the values as follows:</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SzPts val="1400"/>
              <a:buNone/>
            </a:pPr>
            <a:r>
              <a:rPr lang="en-US" sz="1200">
                <a:solidFill>
                  <a:srgbClr val="FF40FF"/>
                </a:solidFill>
                <a:latin typeface="Courier"/>
                <a:ea typeface="Courier"/>
                <a:cs typeface="Courier"/>
                <a:sym typeface="Courier"/>
              </a:rPr>
              <a:t>import urllib.request, urllib.parse, urllib.error</a:t>
            </a:r>
            <a:endParaRPr sz="1200">
              <a:solidFill>
                <a:srgbClr val="FF40FF"/>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sz="1200">
              <a:solidFill>
                <a:srgbClr val="FF40FF"/>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fhand = urllib.request.urlopen('http://data.pr4e.org/romeo.txt')</a:t>
            </a:r>
            <a:endParaRPr/>
          </a:p>
          <a:p>
            <a:pPr indent="0" lvl="0" marL="0" rtl="0" algn="l">
              <a:lnSpc>
                <a:spcPct val="100000"/>
              </a:lnSpc>
              <a:spcBef>
                <a:spcPts val="0"/>
              </a:spcBef>
              <a:spcAft>
                <a:spcPts val="0"/>
              </a:spcAft>
              <a:buSzPts val="1400"/>
              <a:buNone/>
            </a:pPr>
            <a:r>
              <a:t/>
            </a:r>
            <a:endParaRPr sz="1200">
              <a:solidFill>
                <a:srgbClr val="FF40FF"/>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rgbClr val="FF40FF"/>
                </a:solidFill>
                <a:latin typeface="Courier"/>
                <a:ea typeface="Courier"/>
                <a:cs typeface="Courier"/>
                <a:sym typeface="Courier"/>
              </a:rPr>
              <a:t>counts = dict()</a:t>
            </a:r>
            <a:endParaRPr/>
          </a:p>
          <a:p>
            <a:pPr indent="0" lvl="0" marL="0" rtl="0" algn="l">
              <a:lnSpc>
                <a:spcPct val="100000"/>
              </a:lnSpc>
              <a:spcBef>
                <a:spcPts val="0"/>
              </a:spcBef>
              <a:spcAft>
                <a:spcPts val="0"/>
              </a:spcAft>
              <a:buSzPts val="1400"/>
              <a:buNone/>
            </a:pPr>
            <a:r>
              <a:rPr lang="en-US" sz="1200">
                <a:solidFill>
                  <a:srgbClr val="FF40FF"/>
                </a:solidFill>
                <a:latin typeface="Courier"/>
                <a:ea typeface="Courier"/>
                <a:cs typeface="Courier"/>
                <a:sym typeface="Courier"/>
              </a:rPr>
              <a:t>for line in fhand:</a:t>
            </a:r>
            <a:endParaRPr/>
          </a:p>
          <a:p>
            <a:pPr indent="0" lvl="0" marL="0" rtl="0" algn="l">
              <a:lnSpc>
                <a:spcPct val="100000"/>
              </a:lnSpc>
              <a:spcBef>
                <a:spcPts val="0"/>
              </a:spcBef>
              <a:spcAft>
                <a:spcPts val="0"/>
              </a:spcAft>
              <a:buSzPts val="1400"/>
              <a:buNone/>
            </a:pPr>
            <a:r>
              <a:rPr lang="en-US" sz="1200">
                <a:solidFill>
                  <a:srgbClr val="FF40FF"/>
                </a:solidFill>
                <a:latin typeface="Courier"/>
                <a:ea typeface="Courier"/>
                <a:cs typeface="Courier"/>
                <a:sym typeface="Courier"/>
              </a:rPr>
              <a:t>    words = line.</a:t>
            </a:r>
            <a:r>
              <a:rPr lang="en-US" sz="1200">
                <a:solidFill>
                  <a:srgbClr val="FFFF00"/>
                </a:solidFill>
                <a:latin typeface="Courier"/>
                <a:ea typeface="Courier"/>
                <a:cs typeface="Courier"/>
                <a:sym typeface="Courier"/>
              </a:rPr>
              <a:t>decode()</a:t>
            </a:r>
            <a:r>
              <a:rPr lang="en-US" sz="1200">
                <a:solidFill>
                  <a:srgbClr val="FF40FF"/>
                </a:solidFill>
                <a:latin typeface="Courier"/>
                <a:ea typeface="Courier"/>
                <a:cs typeface="Courier"/>
                <a:sym typeface="Courier"/>
              </a:rPr>
              <a:t>.split()</a:t>
            </a:r>
            <a:endParaRPr/>
          </a:p>
          <a:p>
            <a:pPr indent="0" lvl="0" marL="0" rtl="0" algn="l">
              <a:lnSpc>
                <a:spcPct val="100000"/>
              </a:lnSpc>
              <a:spcBef>
                <a:spcPts val="0"/>
              </a:spcBef>
              <a:spcAft>
                <a:spcPts val="0"/>
              </a:spcAft>
              <a:buSzPts val="1400"/>
              <a:buNone/>
            </a:pPr>
            <a:r>
              <a:rPr lang="en-US" sz="1200">
                <a:solidFill>
                  <a:srgbClr val="FF40FF"/>
                </a:solidFill>
                <a:latin typeface="Courier"/>
                <a:ea typeface="Courier"/>
                <a:cs typeface="Courier"/>
                <a:sym typeface="Courier"/>
              </a:rPr>
              <a:t>    for word in words:</a:t>
            </a:r>
            <a:endParaRPr/>
          </a:p>
          <a:p>
            <a:pPr indent="0" lvl="0" marL="0" rtl="0" algn="l">
              <a:lnSpc>
                <a:spcPct val="100000"/>
              </a:lnSpc>
              <a:spcBef>
                <a:spcPts val="0"/>
              </a:spcBef>
              <a:spcAft>
                <a:spcPts val="0"/>
              </a:spcAft>
              <a:buSzPts val="1400"/>
              <a:buNone/>
            </a:pPr>
            <a:r>
              <a:rPr lang="en-US" sz="1200">
                <a:solidFill>
                  <a:srgbClr val="FF40FF"/>
                </a:solidFill>
                <a:latin typeface="Courier"/>
                <a:ea typeface="Courier"/>
                <a:cs typeface="Courier"/>
                <a:sym typeface="Courier"/>
              </a:rPr>
              <a:t>        counts[word] = counts.get(word, 0) + 1</a:t>
            </a:r>
            <a:endParaRPr/>
          </a:p>
          <a:p>
            <a:pPr indent="0" lvl="0" marL="0" rtl="0" algn="l">
              <a:lnSpc>
                <a:spcPct val="100000"/>
              </a:lnSpc>
              <a:spcBef>
                <a:spcPts val="0"/>
              </a:spcBef>
              <a:spcAft>
                <a:spcPts val="0"/>
              </a:spcAft>
              <a:buSzPts val="1400"/>
              <a:buNone/>
            </a:pPr>
            <a:r>
              <a:rPr lang="en-US" sz="1200">
                <a:solidFill>
                  <a:srgbClr val="FF40FF"/>
                </a:solidFill>
                <a:latin typeface="Courier"/>
                <a:ea typeface="Courier"/>
                <a:cs typeface="Courier"/>
                <a:sym typeface="Courier"/>
              </a:rPr>
              <a:t>print(counts)</a:t>
            </a:r>
            <a:endParaRPr sz="1200" u="none" cap="none" strike="noStrike">
              <a:solidFill>
                <a:srgbClr val="FF40FF"/>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68" name="Google Shape;16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We can also read the contents of a web page that is in htm format. The received output will be in the form of html language. For example,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import urllib.request, urllib.parse, urllib.error</a:t>
            </a:r>
            <a:endParaRPr sz="1200">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sz="1200">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fhand = urllib.request.urlopen('http://www.dr-chuck.com/page1.htm')</a:t>
            </a: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for line in fhand:</a:t>
            </a: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    print(line.</a:t>
            </a:r>
            <a:r>
              <a:rPr lang="en-US" sz="1200">
                <a:solidFill>
                  <a:srgbClr val="FF40FF"/>
                </a:solidFill>
                <a:latin typeface="Courier"/>
                <a:ea typeface="Courier"/>
                <a:cs typeface="Courier"/>
                <a:sym typeface="Courier"/>
              </a:rPr>
              <a:t>decode()</a:t>
            </a:r>
            <a:r>
              <a:rPr lang="en-US" sz="1200">
                <a:solidFill>
                  <a:srgbClr val="FFFF00"/>
                </a:solidFill>
                <a:latin typeface="Courier"/>
                <a:ea typeface="Courier"/>
                <a:cs typeface="Courier"/>
                <a:sym typeface="Courier"/>
              </a:rPr>
              <a:t>.strip())</a:t>
            </a:r>
            <a:endParaRPr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The corresponding output becomes:</a:t>
            </a:r>
            <a:endParaRPr/>
          </a:p>
          <a:p>
            <a:pPr indent="0" lvl="0" marL="0" marR="0" rtl="0" algn="l">
              <a:lnSpc>
                <a:spcPct val="100000"/>
              </a:lnSpc>
              <a:spcBef>
                <a:spcPts val="0"/>
              </a:spcBef>
              <a:spcAft>
                <a:spcPts val="0"/>
              </a:spcAft>
              <a:buClr>
                <a:srgbClr val="00FF00"/>
              </a:buClr>
              <a:buSzPts val="300"/>
              <a:buFont typeface="Courier New"/>
              <a:buNone/>
            </a:pPr>
            <a:r>
              <a:rPr i="0" lang="en-US" sz="1200" u="none" cap="none" strike="noStrike">
                <a:solidFill>
                  <a:srgbClr val="00FF00"/>
                </a:solidFill>
                <a:latin typeface="Courier"/>
                <a:ea typeface="Courier"/>
                <a:cs typeface="Courier"/>
                <a:sym typeface="Courier"/>
              </a:rPr>
              <a:t>&lt;h1&gt;The First Page&lt;/h1&gt;</a:t>
            </a:r>
            <a:endParaRPr/>
          </a:p>
          <a:p>
            <a:pPr indent="0" lvl="0" marL="0" marR="0" rtl="0" algn="l">
              <a:lnSpc>
                <a:spcPct val="100000"/>
              </a:lnSpc>
              <a:spcBef>
                <a:spcPts val="0"/>
              </a:spcBef>
              <a:spcAft>
                <a:spcPts val="0"/>
              </a:spcAft>
              <a:buClr>
                <a:srgbClr val="00FF00"/>
              </a:buClr>
              <a:buSzPts val="300"/>
              <a:buFont typeface="Courier New"/>
              <a:buNone/>
            </a:pPr>
            <a:r>
              <a:rPr i="0" lang="en-US" sz="1200" u="none" cap="none" strike="noStrike">
                <a:solidFill>
                  <a:srgbClr val="00FF00"/>
                </a:solidFill>
                <a:latin typeface="Courier"/>
                <a:ea typeface="Courier"/>
                <a:cs typeface="Courier"/>
                <a:sym typeface="Courier"/>
              </a:rPr>
              <a:t>&lt;p&gt;If you like, you can switch to the &lt;a href="http://www.dr-chuck.com/page2.htm"&gt;Second Page&lt;/a&gt;.</a:t>
            </a:r>
            <a:endParaRPr/>
          </a:p>
          <a:p>
            <a:pPr indent="0" lvl="0" marL="0" marR="0" rtl="0" algn="l">
              <a:lnSpc>
                <a:spcPct val="100000"/>
              </a:lnSpc>
              <a:spcBef>
                <a:spcPts val="0"/>
              </a:spcBef>
              <a:spcAft>
                <a:spcPts val="0"/>
              </a:spcAft>
              <a:buClr>
                <a:srgbClr val="00FF00"/>
              </a:buClr>
              <a:buSzPts val="300"/>
              <a:buFont typeface="Courier New"/>
              <a:buNone/>
            </a:pPr>
            <a:r>
              <a:rPr i="0" lang="en-US" sz="1200" u="none" cap="none" strike="noStrike">
                <a:solidFill>
                  <a:srgbClr val="00FF00"/>
                </a:solidFill>
                <a:latin typeface="Courier"/>
                <a:ea typeface="Courier"/>
                <a:cs typeface="Courier"/>
                <a:sym typeface="Courier"/>
              </a:rPr>
              <a:t>&lt;/p&gt;</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74" name="Google Shape;17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81" name="Google Shape;18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One of the common uses of the urllib capability in Python is to scrape the web. Web scraping is when we write a program that pretends to be a web browser and retrieves pages, then examines the data in those pages looking for patterns.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As an example, a search engine such as Google will look at the source of one web page and extract the links to other pages and retrieve those pages, extracting links, and so on. Using this technique, Google spiders its way through nearly all of the pages on the web – web crawling. Google also uses the frequency of links from pages it finds to a particular page as one measure of how important a page is and how high the page should appear in its search results – page ranking method.</a:t>
            </a:r>
            <a:endParaRPr/>
          </a:p>
        </p:txBody>
      </p:sp>
      <p:sp>
        <p:nvSpPr>
          <p:cNvPr id="186" name="Google Shape;18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200"/>
              <a:buFont typeface="Arial"/>
              <a:buNone/>
            </a:pPr>
            <a:r>
              <a:rPr lang="en-US" sz="1200" u="none" cap="none" strike="noStrike">
                <a:solidFill>
                  <a:schemeClr val="lt1"/>
                </a:solidFill>
                <a:latin typeface="Arial"/>
                <a:ea typeface="Arial"/>
                <a:cs typeface="Arial"/>
                <a:sym typeface="Arial"/>
              </a:rPr>
              <a:t>We have to be careful about scraping web content. There is some controversy about web page scraping, whether it is illegal or not. Some web sites are a bit snippy about it. Als, republishing copyrighted information is not allowed. You should always look for terms of service on a website before scraping content from it.</a:t>
            </a:r>
            <a:endParaRPr sz="1200" u="none" cap="none" strike="noStrike">
              <a:solidFill>
                <a:schemeClr val="lt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93" name="Google Shape;19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There are a number of Python libraries which can help you parse HTML and extract data from the pages. Each of the libraries has its strengths and weaknesses and you can pick one based on your needs. Among them, we are going to focus on Beautiful Soup. Beautiful Soup is a robust HTML parsing library.</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We will parse some HTML input and extract links using the BeautifulSoup library. BeautifulSoup tolerates highly flawed HTML and still lets you easily extract the data you need. For example,</a:t>
            </a:r>
            <a:endParaRPr/>
          </a:p>
          <a:p>
            <a:pPr indent="0" lvl="0" marL="0" rtl="0" algn="l">
              <a:lnSpc>
                <a:spcPct val="100000"/>
              </a:lnSpc>
              <a:spcBef>
                <a:spcPts val="0"/>
              </a:spcBef>
              <a:spcAft>
                <a:spcPts val="0"/>
              </a:spcAft>
              <a:buClr>
                <a:schemeClr val="dk1"/>
              </a:buClr>
              <a:buSzPts val="1200"/>
              <a:buFont typeface="Arial"/>
              <a:buNone/>
            </a:pPr>
            <a:r>
              <a:rPr lang="en-US"/>
              <a:t>we will use urllib to read the page and then use BeautifulSoup to extract the href attributes from the anchor (a) tags.</a:t>
            </a:r>
            <a:endParaRPr/>
          </a:p>
        </p:txBody>
      </p:sp>
      <p:sp>
        <p:nvSpPr>
          <p:cNvPr id="199" name="Google Shape;19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The following Python program prompts for a web address from the user. It then opens the imputed web page. It reads the data as an html format and passes the data to the BeautifulSoup parser. We note that html.parser is the HTML parser included in the standard Python 3 library.  It then retrieves all of the anchor tags and prints out the href attribute for each tag.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import urllib.request, urllib.parse, urllib.error</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from bs4 import BeautifulSoup</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url = input('Enter - ')</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html = urllib.request.urlopen(url).read()</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soup = BeautifulSoup(html, 'html.parser')</a:t>
            </a:r>
            <a:endParaRPr/>
          </a:p>
          <a:p>
            <a:pPr indent="0" lvl="0" marL="0" rtl="0" algn="l">
              <a:lnSpc>
                <a:spcPct val="100000"/>
              </a:lnSpc>
              <a:spcBef>
                <a:spcPts val="0"/>
              </a:spcBef>
              <a:spcAft>
                <a:spcPts val="0"/>
              </a:spcAft>
              <a:buSzPts val="1400"/>
              <a:buNone/>
            </a:pPr>
            <a:r>
              <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 Retrieve all of the anchor tags</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tags = soup('a')</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for tag in tags:</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    print(tag.get('href', None))</a:t>
            </a:r>
            <a:endParaRPr sz="12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When the Python program runs, it produces the following output:</a:t>
            </a:r>
            <a:endParaRPr/>
          </a:p>
          <a:p>
            <a:pPr indent="0" lvl="0" marL="0" marR="0" rtl="0" algn="l">
              <a:lnSpc>
                <a:spcPct val="100000"/>
              </a:lnSpc>
              <a:spcBef>
                <a:spcPts val="0"/>
              </a:spcBef>
              <a:spcAft>
                <a:spcPts val="0"/>
              </a:spcAft>
              <a:buClr>
                <a:schemeClr val="lt1"/>
              </a:buClr>
              <a:buSzPts val="300"/>
              <a:buFont typeface="Cabin"/>
              <a:buNone/>
            </a:pPr>
            <a:r>
              <a:rPr lang="en-US" sz="1200" u="none" cap="none" strike="noStrike">
                <a:solidFill>
                  <a:schemeClr val="lt1"/>
                </a:solidFill>
                <a:latin typeface="Arial"/>
                <a:ea typeface="Arial"/>
                <a:cs typeface="Arial"/>
                <a:sym typeface="Arial"/>
              </a:rPr>
              <a:t>Enter</a:t>
            </a:r>
            <a:r>
              <a:rPr lang="en-US" sz="1200">
                <a:solidFill>
                  <a:schemeClr val="lt1"/>
                </a:solidFill>
                <a:latin typeface="Arial"/>
                <a:ea typeface="Arial"/>
                <a:cs typeface="Arial"/>
                <a:sym typeface="Arial"/>
              </a:rPr>
              <a:t> - </a:t>
            </a:r>
            <a:r>
              <a:rPr lang="en-US" sz="1200" u="none" cap="none" strike="noStrike">
                <a:solidFill>
                  <a:srgbClr val="FFFF00"/>
                </a:solidFill>
                <a:latin typeface="Arial"/>
                <a:ea typeface="Arial"/>
                <a:cs typeface="Arial"/>
                <a:sym typeface="Arial"/>
              </a:rPr>
              <a:t>http://www.dr-chuck.com/page1.htm</a:t>
            </a:r>
            <a:endParaRPr/>
          </a:p>
          <a:p>
            <a:pPr indent="0" lvl="0" marL="0" marR="0" rtl="0" algn="l">
              <a:lnSpc>
                <a:spcPct val="100000"/>
              </a:lnSpc>
              <a:spcBef>
                <a:spcPts val="0"/>
              </a:spcBef>
              <a:spcAft>
                <a:spcPts val="0"/>
              </a:spcAft>
              <a:buClr>
                <a:srgbClr val="00FFFF"/>
              </a:buClr>
              <a:buSzPts val="300"/>
              <a:buFont typeface="Cabin"/>
              <a:buNone/>
            </a:pPr>
            <a:r>
              <a:rPr lang="en-US" sz="1200" u="none" cap="none" strike="noStrike">
                <a:solidFill>
                  <a:srgbClr val="00FFFF"/>
                </a:solidFill>
                <a:latin typeface="Arial"/>
                <a:ea typeface="Arial"/>
                <a:cs typeface="Arial"/>
                <a:sym typeface="Arial"/>
              </a:rPr>
              <a:t>http://www.dr-chuck.com/page2.htm</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07" name="Google Shape;20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213" name="Google Shape;21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12700">
            <a:solidFill>
              <a:srgbClr val="000000"/>
            </a:solidFill>
            <a:prstDash val="solid"/>
            <a:miter lim="8000"/>
            <a:headEnd len="sm" w="sm" type="none"/>
            <a:tailEnd len="sm" w="sm" type="none"/>
          </a:ln>
        </p:spPr>
      </p:sp>
      <p:sp>
        <p:nvSpPr>
          <p:cNvPr id="219" name="Google Shape;219;p2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Titlle" type="obj">
  <p:cSld name="OBJECT">
    <p:spTree>
      <p:nvGrpSpPr>
        <p:cNvPr id="14" name="Shape 14"/>
        <p:cNvGrpSpPr/>
        <p:nvPr/>
      </p:nvGrpSpPr>
      <p:grpSpPr>
        <a:xfrm>
          <a:off x="0" y="0"/>
          <a:ext cx="0" cy="0"/>
          <a:chOff x="0" y="0"/>
          <a:chExt cx="0" cy="0"/>
        </a:xfrm>
      </p:grpSpPr>
      <p:sp>
        <p:nvSpPr>
          <p:cNvPr id="15" name="Google Shape;15;p27"/>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00"/>
              </a:buClr>
              <a:buSzPts val="72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 name="Google Shape;16;p27"/>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chemeClr val="lt1"/>
              </a:buClr>
              <a:buSzPts val="3200"/>
              <a:buFont typeface="Arial"/>
              <a:buNone/>
              <a:defRPr/>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sp>
        <p:nvSpPr>
          <p:cNvPr id="18" name="Google Shape;18;p28"/>
          <p:cNvSpPr txBox="1"/>
          <p:nvPr>
            <p:ph type="title"/>
          </p:nvPr>
        </p:nvSpPr>
        <p:spPr>
          <a:xfrm>
            <a:off x="1155700" y="847164"/>
            <a:ext cx="13932000" cy="1692735"/>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00"/>
              </a:buClr>
              <a:buSzPts val="72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 name="Google Shape;19;p28"/>
          <p:cNvSpPr txBox="1"/>
          <p:nvPr>
            <p:ph idx="1" type="body"/>
          </p:nvPr>
        </p:nvSpPr>
        <p:spPr>
          <a:xfrm>
            <a:off x="1155700" y="2603500"/>
            <a:ext cx="13932000" cy="5702399"/>
          </a:xfrm>
          <a:prstGeom prst="rect">
            <a:avLst/>
          </a:prstGeom>
          <a:noFill/>
          <a:ln>
            <a:noFill/>
          </a:ln>
        </p:spPr>
        <p:txBody>
          <a:bodyPr anchorCtr="0" anchor="t" bIns="0" lIns="91425" spcFirstLastPara="1" rIns="91425" wrap="square" tIns="0">
            <a:noAutofit/>
          </a:bodyPr>
          <a:lstStyle>
            <a:lvl1pPr indent="-431800" lvl="0" marL="457200" algn="l">
              <a:lnSpc>
                <a:spcPct val="100000"/>
              </a:lnSpc>
              <a:spcBef>
                <a:spcPts val="3500"/>
              </a:spcBef>
              <a:spcAft>
                <a:spcPts val="0"/>
              </a:spcAft>
              <a:buClr>
                <a:schemeClr val="lt1"/>
              </a:buClr>
              <a:buSzPts val="3200"/>
              <a:buFont typeface="Arial"/>
              <a:buChar char="•"/>
              <a:defRPr sz="3200">
                <a:solidFill>
                  <a:schemeClr val="lt1"/>
                </a:solidFill>
              </a:defRPr>
            </a:lvl1pPr>
            <a:lvl2pPr indent="-431800" lvl="1" marL="914400" algn="l">
              <a:lnSpc>
                <a:spcPct val="100000"/>
              </a:lnSpc>
              <a:spcBef>
                <a:spcPts val="3500"/>
              </a:spcBef>
              <a:spcAft>
                <a:spcPts val="0"/>
              </a:spcAft>
              <a:buClr>
                <a:schemeClr val="lt1"/>
              </a:buClr>
              <a:buSzPts val="3200"/>
              <a:buFont typeface="Arial"/>
              <a:buChar char="•"/>
              <a:defRPr sz="3200">
                <a:solidFill>
                  <a:schemeClr val="lt1"/>
                </a:solidFill>
              </a:defRPr>
            </a:lvl2pPr>
            <a:lvl3pPr indent="-406400" lvl="2" marL="1371600" algn="l">
              <a:lnSpc>
                <a:spcPct val="100000"/>
              </a:lnSpc>
              <a:spcBef>
                <a:spcPts val="3500"/>
              </a:spcBef>
              <a:spcAft>
                <a:spcPts val="0"/>
              </a:spcAft>
              <a:buClr>
                <a:schemeClr val="lt1"/>
              </a:buClr>
              <a:buSzPts val="2800"/>
              <a:buFont typeface="Cabin"/>
              <a:buChar char="•"/>
              <a:defRPr sz="2800">
                <a:solidFill>
                  <a:schemeClr val="lt1"/>
                </a:solidFill>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0" name="Shape 20"/>
        <p:cNvGrpSpPr/>
        <p:nvPr/>
      </p:nvGrpSpPr>
      <p:grpSpPr>
        <a:xfrm>
          <a:off x="0" y="0"/>
          <a:ext cx="0" cy="0"/>
          <a:chOff x="0" y="0"/>
          <a:chExt cx="0" cy="0"/>
        </a:xfrm>
      </p:grpSpPr>
      <p:sp>
        <p:nvSpPr>
          <p:cNvPr id="21" name="Google Shape;21;p29"/>
          <p:cNvSpPr txBox="1"/>
          <p:nvPr>
            <p:ph type="title"/>
          </p:nvPr>
        </p:nvSpPr>
        <p:spPr>
          <a:xfrm>
            <a:off x="1155700" y="847164"/>
            <a:ext cx="13932000" cy="1692735"/>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00"/>
              </a:buClr>
              <a:buSzPts val="72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FFFF00"/>
              </a:buClr>
              <a:buSzPts val="7200"/>
              <a:buFont typeface="Arial"/>
              <a:buNone/>
              <a:defRPr b="0" i="0" sz="7200" u="none" cap="none" strike="noStrike">
                <a:solidFill>
                  <a:srgbClr val="FFFF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6"/>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 name="Google Shape;12;p26"/>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13" name="Google Shape;13;p26"/>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hyperlink" Target="http://en.wikipedia.org/wiki/Internet_Protocol_Suit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en.wikipedia.org/wiki/TCP_and_UDP_por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hyperlink" Target="http://en.wikipedia.org/wiki/List_of_TCP_and_UDP_port_number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docs.python.org/library/socket.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en.wikipedia.org/wiki/Web_scraping" TargetMode="External"/><Relationship Id="rId4" Type="http://schemas.openxmlformats.org/officeDocument/2006/relationships/hyperlink" Target="http://en.wikipedia.org/wiki/Web_crawler"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hyperlink" Target="http://www.dr-chuck.com" TargetMode="External"/><Relationship Id="rId4" Type="http://schemas.openxmlformats.org/officeDocument/2006/relationships/hyperlink" Target="http://open.umich.edu/" TargetMode="External"/><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Networked Programs</a:t>
            </a:r>
            <a:endParaRPr/>
          </a:p>
        </p:txBody>
      </p:sp>
      <p:sp>
        <p:nvSpPr>
          <p:cNvPr id="28" name="Google Shape;28;p1"/>
          <p:cNvSpPr txBox="1"/>
          <p:nvPr>
            <p:ph idx="1" type="body"/>
          </p:nvPr>
        </p:nvSpPr>
        <p:spPr>
          <a:xfrm>
            <a:off x="1155700" y="4711700"/>
            <a:ext cx="13931900" cy="15494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12</a:t>
            </a:r>
            <a:endParaRPr/>
          </a:p>
        </p:txBody>
      </p:sp>
      <p:sp>
        <p:nvSpPr>
          <p:cNvPr id="29" name="Google Shape;29;p1"/>
          <p:cNvSpPr txBox="1"/>
          <p:nvPr/>
        </p:nvSpPr>
        <p:spPr>
          <a:xfrm>
            <a:off x="2990025" y="6988169"/>
            <a:ext cx="9985799"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www.py4e.com</a:t>
            </a:r>
            <a:endParaRPr b="0" i="0" sz="3200" u="none" cap="none" strike="noStrike">
              <a:solidFill>
                <a:srgbClr val="FFFF00"/>
              </a:solidFill>
              <a:latin typeface="Arial"/>
              <a:ea typeface="Arial"/>
              <a:cs typeface="Arial"/>
              <a:sym typeface="Arial"/>
            </a:endParaRPr>
          </a:p>
        </p:txBody>
      </p:sp>
      <p:pic>
        <p:nvPicPr>
          <p:cNvPr id="30" name="Google Shape;30;p1"/>
          <p:cNvPicPr preferRelativeResize="0"/>
          <p:nvPr/>
        </p:nvPicPr>
        <p:blipFill rotWithShape="1">
          <a:blip r:embed="rId3">
            <a:alphaModFix/>
          </a:blip>
          <a:srcRect b="0" l="0" r="0" t="0"/>
          <a:stretch/>
        </p:blipFill>
        <p:spPr>
          <a:xfrm>
            <a:off x="13130213" y="7346944"/>
            <a:ext cx="1968500" cy="668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2"/>
          <p:cNvSpPr txBox="1"/>
          <p:nvPr>
            <p:ph type="title"/>
          </p:nvPr>
        </p:nvSpPr>
        <p:spPr>
          <a:xfrm>
            <a:off x="1155700" y="847164"/>
            <a:ext cx="13932000" cy="169273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650"/>
              <a:buFont typeface="Cabin"/>
              <a:buNone/>
            </a:pPr>
            <a:r>
              <a:rPr lang="en-US" sz="6600" u="none" cap="none" strike="noStrike">
                <a:solidFill>
                  <a:srgbClr val="FFD966"/>
                </a:solidFill>
                <a:latin typeface="Arial"/>
                <a:ea typeface="Arial"/>
                <a:cs typeface="Arial"/>
                <a:sym typeface="Arial"/>
              </a:rPr>
              <a:t>Transport Control Protocol (TCP)</a:t>
            </a:r>
            <a:endParaRPr/>
          </a:p>
        </p:txBody>
      </p:sp>
      <p:sp>
        <p:nvSpPr>
          <p:cNvPr id="36" name="Google Shape;36;p2"/>
          <p:cNvSpPr txBox="1"/>
          <p:nvPr>
            <p:ph idx="1" type="body"/>
          </p:nvPr>
        </p:nvSpPr>
        <p:spPr>
          <a:xfrm>
            <a:off x="1155700" y="2603500"/>
            <a:ext cx="7688263" cy="5702399"/>
          </a:xfrm>
          <a:prstGeom prst="rect">
            <a:avLst/>
          </a:prstGeom>
          <a:noFill/>
          <a:ln>
            <a:noFill/>
          </a:ln>
        </p:spPr>
        <p:txBody>
          <a:bodyPr anchorCtr="0" anchor="ctr" bIns="38100" lIns="38100" spcFirstLastPara="1" rIns="38100" wrap="square" tIns="38100">
            <a:noAutofit/>
          </a:bodyPr>
          <a:lstStyle/>
          <a:p>
            <a:pPr indent="-457200" lvl="0" marL="457200" marR="0" rtl="0" algn="l">
              <a:lnSpc>
                <a:spcPct val="100000"/>
              </a:lnSpc>
              <a:spcBef>
                <a:spcPts val="0"/>
              </a:spcBef>
              <a:spcAft>
                <a:spcPts val="0"/>
              </a:spcAft>
              <a:buSzPts val="3600"/>
              <a:buFont typeface="Cabin"/>
              <a:buChar char="•"/>
            </a:pPr>
            <a:r>
              <a:rPr lang="en-US" sz="3600" u="none" cap="none" strike="noStrike">
                <a:solidFill>
                  <a:schemeClr val="lt1"/>
                </a:solidFill>
                <a:latin typeface="Arial"/>
                <a:ea typeface="Arial"/>
                <a:cs typeface="Arial"/>
                <a:sym typeface="Arial"/>
              </a:rPr>
              <a:t>Built on top of IP (Internet Protocol)</a:t>
            </a:r>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Assumes IP might lose some data - stores and retransmits data if it seems to be lost</a:t>
            </a:r>
            <a:endParaRPr/>
          </a:p>
          <a:p>
            <a:pPr indent="-457200" lvl="0" marL="457200" marR="0" rtl="0" algn="l">
              <a:lnSpc>
                <a:spcPct val="100000"/>
              </a:lnSpc>
              <a:spcBef>
                <a:spcPts val="4500"/>
              </a:spcBef>
              <a:spcAft>
                <a:spcPts val="0"/>
              </a:spcAft>
              <a:buSzPts val="3600"/>
              <a:buChar char="•"/>
            </a:pPr>
            <a:r>
              <a:rPr lang="en-US" sz="3600" u="none" cap="none" strike="noStrike">
                <a:solidFill>
                  <a:schemeClr val="lt1"/>
                </a:solidFill>
                <a:latin typeface="Arial"/>
                <a:ea typeface="Arial"/>
                <a:cs typeface="Arial"/>
                <a:sym typeface="Arial"/>
              </a:rPr>
              <a:t>Handles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flow control</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using a transmit window</a:t>
            </a:r>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Provides a nice reliable </a:t>
            </a:r>
            <a:r>
              <a:rPr lang="en-US" sz="3600" u="none" cap="none" strike="noStrike">
                <a:solidFill>
                  <a:srgbClr val="FFFF00"/>
                </a:solidFill>
                <a:latin typeface="Arial"/>
                <a:ea typeface="Arial"/>
                <a:cs typeface="Arial"/>
                <a:sym typeface="Arial"/>
              </a:rPr>
              <a:t>pipe</a:t>
            </a:r>
            <a:endParaRPr/>
          </a:p>
        </p:txBody>
      </p:sp>
      <p:pic>
        <p:nvPicPr>
          <p:cNvPr id="37" name="Google Shape;37;p2"/>
          <p:cNvPicPr preferRelativeResize="0"/>
          <p:nvPr/>
        </p:nvPicPr>
        <p:blipFill rotWithShape="1">
          <a:blip r:embed="rId3">
            <a:alphaModFix/>
          </a:blip>
          <a:srcRect b="0" l="0" r="0" t="0"/>
          <a:stretch/>
        </p:blipFill>
        <p:spPr>
          <a:xfrm>
            <a:off x="9309100" y="2501900"/>
            <a:ext cx="6007199" cy="4698900"/>
          </a:xfrm>
          <a:prstGeom prst="rect">
            <a:avLst/>
          </a:prstGeom>
          <a:noFill/>
          <a:ln>
            <a:noFill/>
          </a:ln>
        </p:spPr>
      </p:pic>
      <p:sp>
        <p:nvSpPr>
          <p:cNvPr id="38" name="Google Shape;38;p2"/>
          <p:cNvSpPr txBox="1"/>
          <p:nvPr/>
        </p:nvSpPr>
        <p:spPr>
          <a:xfrm>
            <a:off x="9607600" y="3826250"/>
            <a:ext cx="5410200" cy="673199"/>
          </a:xfrm>
          <a:prstGeom prst="rect">
            <a:avLst/>
          </a:prstGeom>
          <a:noFill/>
          <a:ln cap="rnd" cmpd="sng" w="25400">
            <a:solidFill>
              <a:srgbClr val="00FF00"/>
            </a:solidFill>
            <a:prstDash val="solid"/>
            <a:miter lim="8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txBox="1"/>
          <p:nvPr/>
        </p:nvSpPr>
        <p:spPr>
          <a:xfrm>
            <a:off x="8686825" y="7562850"/>
            <a:ext cx="7264499" cy="838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500"/>
              <a:buFont typeface="Cabin"/>
              <a:buNone/>
            </a:pPr>
            <a:r>
              <a:rPr b="0" i="0" lang="en-US" sz="2000" u="none" cap="none" strike="noStrike">
                <a:solidFill>
                  <a:schemeClr val="lt1"/>
                </a:solidFill>
                <a:latin typeface="Arial"/>
                <a:ea typeface="Arial"/>
                <a:cs typeface="Arial"/>
                <a:sym typeface="Arial"/>
              </a:rPr>
              <a:t>Source: </a:t>
            </a:r>
            <a:r>
              <a:rPr b="0" i="0" lang="en-US" sz="2000" u="sng" cap="none" strike="noStrike">
                <a:solidFill>
                  <a:srgbClr val="FFFF00"/>
                </a:solidFill>
                <a:latin typeface="Arial"/>
                <a:ea typeface="Arial"/>
                <a:cs typeface="Arial"/>
                <a:sym typeface="Arial"/>
                <a:hlinkClick r:id="rId4">
                  <a:extLst>
                    <a:ext uri="{A12FA001-AC4F-418D-AE19-62706E023703}">
                      <ahyp:hlinkClr val="tx"/>
                    </a:ext>
                  </a:extLst>
                </a:hlinkClick>
              </a:rPr>
              <a:t>http://en.wikipedia.org/wiki/Internet_Protocol_Suite</a:t>
            </a:r>
            <a:r>
              <a:rPr b="0" i="0" lang="en-US" sz="2000" u="none" cap="none" strike="noStrike">
                <a:solidFill>
                  <a:srgbClr val="FFFF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3"/>
          <p:cNvSpPr txBox="1"/>
          <p:nvPr>
            <p:ph type="title"/>
          </p:nvPr>
        </p:nvSpPr>
        <p:spPr>
          <a:xfrm>
            <a:off x="1155700" y="847164"/>
            <a:ext cx="13932000" cy="1692735"/>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lt1"/>
              </a:buClr>
              <a:buSzPts val="1950"/>
              <a:buFont typeface="Cabin"/>
              <a:buNone/>
            </a:pPr>
            <a:r>
              <a:rPr lang="en-US" sz="7800" u="none" cap="none" strike="noStrike">
                <a:solidFill>
                  <a:srgbClr val="FFFFFF"/>
                </a:solidFill>
                <a:latin typeface="Arial"/>
                <a:ea typeface="Arial"/>
                <a:cs typeface="Arial"/>
                <a:sym typeface="Arial"/>
              </a:rPr>
              <a:t>TCP</a:t>
            </a:r>
            <a:r>
              <a:rPr lang="en-US" sz="7800" u="none" cap="none" strike="noStrike">
                <a:solidFill>
                  <a:srgbClr val="FFD966"/>
                </a:solidFill>
                <a:latin typeface="Arial"/>
                <a:ea typeface="Arial"/>
                <a:cs typeface="Arial"/>
                <a:sym typeface="Arial"/>
              </a:rPr>
              <a:t> Sockets &amp; Port Numbers</a:t>
            </a:r>
            <a:endParaRPr/>
          </a:p>
        </p:txBody>
      </p:sp>
      <p:sp>
        <p:nvSpPr>
          <p:cNvPr id="45" name="Google Shape;45;p3"/>
          <p:cNvSpPr txBox="1"/>
          <p:nvPr>
            <p:ph idx="1" type="body"/>
          </p:nvPr>
        </p:nvSpPr>
        <p:spPr>
          <a:xfrm>
            <a:off x="1155700" y="2603501"/>
            <a:ext cx="13932000" cy="4121150"/>
          </a:xfrm>
          <a:prstGeom prst="rect">
            <a:avLst/>
          </a:prstGeom>
          <a:noFill/>
          <a:ln>
            <a:noFill/>
          </a:ln>
        </p:spPr>
        <p:txBody>
          <a:bodyPr anchorCtr="0" anchor="t" bIns="50800" lIns="50800" spcFirstLastPara="1" rIns="50800" wrap="square" tIns="50800">
            <a:noAutofit/>
          </a:bodyPr>
          <a:lstStyle/>
          <a:p>
            <a:pPr indent="-787400" lvl="0" marL="1104900" marR="0" rtl="0" algn="l">
              <a:lnSpc>
                <a:spcPct val="100000"/>
              </a:lnSpc>
              <a:spcBef>
                <a:spcPts val="0"/>
              </a:spcBef>
              <a:spcAft>
                <a:spcPts val="0"/>
              </a:spcAft>
              <a:buClr>
                <a:schemeClr val="lt1"/>
              </a:buClr>
              <a:buSzPts val="6498"/>
              <a:buFont typeface="Cabin"/>
              <a:buChar char="•"/>
            </a:pPr>
            <a:r>
              <a:rPr lang="en-US" sz="3800" u="none" cap="none" strike="noStrike">
                <a:solidFill>
                  <a:schemeClr val="lt1"/>
                </a:solidFill>
                <a:latin typeface="Arial"/>
                <a:ea typeface="Arial"/>
                <a:cs typeface="Arial"/>
                <a:sym typeface="Arial"/>
              </a:rPr>
              <a:t>A</a:t>
            </a:r>
            <a:r>
              <a:rPr lang="en-US" sz="3800" u="none" cap="none" strike="noStrike">
                <a:solidFill>
                  <a:srgbClr val="FFFFFF"/>
                </a:solidFill>
                <a:latin typeface="Arial"/>
                <a:ea typeface="Arial"/>
                <a:cs typeface="Arial"/>
                <a:sym typeface="Arial"/>
              </a:rPr>
              <a:t> port</a:t>
            </a:r>
            <a:r>
              <a:rPr lang="en-US" sz="3800" u="none" cap="none" strike="noStrike">
                <a:solidFill>
                  <a:schemeClr val="lt1"/>
                </a:solidFill>
                <a:latin typeface="Arial"/>
                <a:ea typeface="Arial"/>
                <a:cs typeface="Arial"/>
                <a:sym typeface="Arial"/>
              </a:rPr>
              <a:t> is an </a:t>
            </a:r>
            <a:r>
              <a:rPr lang="en-US" sz="3800" u="none" cap="none" strike="noStrike">
                <a:solidFill>
                  <a:srgbClr val="00FF00"/>
                </a:solidFill>
                <a:latin typeface="Arial"/>
                <a:ea typeface="Arial"/>
                <a:cs typeface="Arial"/>
                <a:sym typeface="Arial"/>
              </a:rPr>
              <a:t>application-specific</a:t>
            </a:r>
            <a:r>
              <a:rPr lang="en-US" sz="3800" u="none" cap="none" strike="noStrike">
                <a:solidFill>
                  <a:schemeClr val="lt1"/>
                </a:solidFill>
                <a:latin typeface="Arial"/>
                <a:ea typeface="Arial"/>
                <a:cs typeface="Arial"/>
                <a:sym typeface="Arial"/>
              </a:rPr>
              <a:t> or process-specific software communications endpoint</a:t>
            </a:r>
            <a:endParaRPr/>
          </a:p>
          <a:p>
            <a:pPr indent="-787400" lvl="0" marL="1104900" marR="0" rtl="0" algn="l">
              <a:lnSpc>
                <a:spcPct val="100000"/>
              </a:lnSpc>
              <a:spcBef>
                <a:spcPts val="2300"/>
              </a:spcBef>
              <a:spcAft>
                <a:spcPts val="0"/>
              </a:spcAft>
              <a:buClr>
                <a:schemeClr val="lt1"/>
              </a:buClr>
              <a:buSzPts val="6498"/>
              <a:buFont typeface="Cabin"/>
              <a:buChar char="•"/>
            </a:pPr>
            <a:r>
              <a:rPr lang="en-US" sz="3800" u="none" cap="none" strike="noStrike">
                <a:solidFill>
                  <a:schemeClr val="lt1"/>
                </a:solidFill>
                <a:latin typeface="Arial"/>
                <a:ea typeface="Arial"/>
                <a:cs typeface="Arial"/>
                <a:sym typeface="Arial"/>
              </a:rPr>
              <a:t>It allows multiple networked applications to coexist on the same server</a:t>
            </a:r>
            <a:endParaRPr/>
          </a:p>
        </p:txBody>
      </p:sp>
      <p:sp>
        <p:nvSpPr>
          <p:cNvPr id="46" name="Google Shape;46;p3"/>
          <p:cNvSpPr txBox="1"/>
          <p:nvPr/>
        </p:nvSpPr>
        <p:spPr>
          <a:xfrm>
            <a:off x="2373298" y="6927850"/>
            <a:ext cx="10902000" cy="622199"/>
          </a:xfrm>
          <a:prstGeom prst="rect">
            <a:avLst/>
          </a:prstGeom>
          <a:noFill/>
          <a:ln>
            <a:noFill/>
          </a:ln>
        </p:spPr>
        <p:txBody>
          <a:bodyPr anchorCtr="0" anchor="ctr" bIns="0" lIns="0" spcFirstLastPara="1" rIns="0" wrap="square" tIns="0">
            <a:noAutofit/>
          </a:bodyPr>
          <a:lstStyle/>
          <a:p>
            <a:pPr indent="0" lvl="0" marL="228600" marR="0" rtl="0" algn="ctr">
              <a:lnSpc>
                <a:spcPct val="100000"/>
              </a:lnSpc>
              <a:spcBef>
                <a:spcPts val="0"/>
              </a:spcBef>
              <a:spcAft>
                <a:spcPts val="0"/>
              </a:spcAft>
              <a:buClr>
                <a:srgbClr val="FFFF00"/>
              </a:buClr>
              <a:buSzPts val="750"/>
              <a:buFont typeface="Cabin"/>
              <a:buNone/>
            </a:pPr>
            <a:r>
              <a:rPr b="0" i="0" lang="en-US" sz="3000" u="sng" cap="none" strike="noStrike">
                <a:solidFill>
                  <a:srgbClr val="FFFF00"/>
                </a:solidFill>
                <a:latin typeface="Arial"/>
                <a:ea typeface="Arial"/>
                <a:cs typeface="Arial"/>
                <a:sym typeface="Arial"/>
                <a:hlinkClick r:id="rId3">
                  <a:extLst>
                    <a:ext uri="{A12FA001-AC4F-418D-AE19-62706E023703}">
                      <ahyp:hlinkClr val="tx"/>
                    </a:ext>
                  </a:extLst>
                </a:hlinkClick>
              </a:rPr>
              <a:t>http://en.wikipedia.org/wiki/TCP_and_UDP_port</a:t>
            </a:r>
            <a:r>
              <a:rPr b="0" i="0" lang="en-US" sz="3000" u="none" cap="none" strike="noStrike">
                <a:solidFill>
                  <a:srgbClr val="FFFF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p4"/>
          <p:cNvPicPr preferRelativeResize="0"/>
          <p:nvPr/>
        </p:nvPicPr>
        <p:blipFill rotWithShape="1">
          <a:blip r:embed="rId3">
            <a:alphaModFix/>
          </a:blip>
          <a:srcRect b="0" l="0" r="0" t="0"/>
          <a:stretch/>
        </p:blipFill>
        <p:spPr>
          <a:xfrm>
            <a:off x="1152525" y="2322511"/>
            <a:ext cx="13934999" cy="5430839"/>
          </a:xfrm>
          <a:prstGeom prst="rect">
            <a:avLst/>
          </a:prstGeom>
          <a:noFill/>
          <a:ln>
            <a:noFill/>
          </a:ln>
        </p:spPr>
      </p:pic>
      <p:sp>
        <p:nvSpPr>
          <p:cNvPr id="52" name="Google Shape;52;p4"/>
          <p:cNvSpPr txBox="1"/>
          <p:nvPr>
            <p:ph type="title"/>
          </p:nvPr>
        </p:nvSpPr>
        <p:spPr>
          <a:xfrm>
            <a:off x="1155700" y="847164"/>
            <a:ext cx="13084537" cy="169273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Common TCP Ports</a:t>
            </a:r>
            <a:endParaRPr/>
          </a:p>
        </p:txBody>
      </p:sp>
      <p:sp>
        <p:nvSpPr>
          <p:cNvPr id="53" name="Google Shape;53;p4"/>
          <p:cNvSpPr txBox="1"/>
          <p:nvPr/>
        </p:nvSpPr>
        <p:spPr>
          <a:xfrm>
            <a:off x="1405425" y="7423200"/>
            <a:ext cx="13682098" cy="660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750"/>
              <a:buFont typeface="Cabin"/>
              <a:buNone/>
            </a:pPr>
            <a:r>
              <a:rPr b="0" i="0" lang="en-US" sz="3000" u="sng" cap="none" strike="noStrike">
                <a:solidFill>
                  <a:srgbClr val="FFFF00"/>
                </a:solidFill>
                <a:latin typeface="Arial"/>
                <a:ea typeface="Arial"/>
                <a:cs typeface="Arial"/>
                <a:sym typeface="Arial"/>
                <a:hlinkClick r:id="rId4">
                  <a:extLst>
                    <a:ext uri="{A12FA001-AC4F-418D-AE19-62706E023703}">
                      <ahyp:hlinkClr val="tx"/>
                    </a:ext>
                  </a:extLst>
                </a:hlinkClick>
              </a:rPr>
              <a:t>http://en.wikipedia.org/wiki/List_of_TCP_and_UDP_port_numbers</a:t>
            </a:r>
            <a:r>
              <a:rPr b="0" i="0" lang="en-US" sz="3000" u="none" cap="none" strike="noStrike">
                <a:solidFill>
                  <a:srgbClr val="FFFF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5"/>
          <p:cNvSpPr txBox="1"/>
          <p:nvPr>
            <p:ph type="title"/>
          </p:nvPr>
        </p:nvSpPr>
        <p:spPr>
          <a:xfrm>
            <a:off x="1155700" y="847164"/>
            <a:ext cx="13932000" cy="1692735"/>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FFFF"/>
              </a:buClr>
              <a:buSzPts val="1950"/>
              <a:buFont typeface="Cabin"/>
              <a:buNone/>
            </a:pPr>
            <a:r>
              <a:rPr lang="en-US" sz="7800" u="none" cap="none" strike="noStrike">
                <a:solidFill>
                  <a:srgbClr val="FFD966"/>
                </a:solidFill>
                <a:latin typeface="Arial"/>
                <a:ea typeface="Arial"/>
                <a:cs typeface="Arial"/>
                <a:sym typeface="Arial"/>
              </a:rPr>
              <a:t>Sockets in Python</a:t>
            </a:r>
            <a:endParaRPr/>
          </a:p>
        </p:txBody>
      </p:sp>
      <p:sp>
        <p:nvSpPr>
          <p:cNvPr id="59" name="Google Shape;59;p5"/>
          <p:cNvSpPr txBox="1"/>
          <p:nvPr>
            <p:ph idx="1" type="body"/>
          </p:nvPr>
        </p:nvSpPr>
        <p:spPr>
          <a:xfrm>
            <a:off x="1155700" y="2905299"/>
            <a:ext cx="13932000" cy="1334125"/>
          </a:xfrm>
          <a:prstGeom prst="rect">
            <a:avLst/>
          </a:prstGeom>
          <a:noFill/>
          <a:ln>
            <a:noFill/>
          </a:ln>
        </p:spPr>
        <p:txBody>
          <a:bodyPr anchorCtr="0" anchor="t" bIns="50800" lIns="50800" spcFirstLastPara="1" rIns="50800" wrap="square" tIns="50800">
            <a:noAutofit/>
          </a:bodyPr>
          <a:lstStyle/>
          <a:p>
            <a:pPr indent="0" lvl="0" marL="0" marR="0" rtl="0" algn="l">
              <a:lnSpc>
                <a:spcPct val="100000"/>
              </a:lnSpc>
              <a:spcBef>
                <a:spcPts val="0"/>
              </a:spcBef>
              <a:spcAft>
                <a:spcPts val="0"/>
              </a:spcAft>
              <a:buSzPts val="3800"/>
              <a:buNone/>
            </a:pPr>
            <a:r>
              <a:rPr lang="en-US" sz="3800" u="none" cap="none" strike="noStrike">
                <a:solidFill>
                  <a:schemeClr val="lt1"/>
                </a:solidFill>
                <a:latin typeface="Arial"/>
                <a:ea typeface="Arial"/>
                <a:cs typeface="Arial"/>
                <a:sym typeface="Arial"/>
              </a:rPr>
              <a:t>Python has built-in support for TCP Sockets</a:t>
            </a:r>
            <a:endParaRPr/>
          </a:p>
        </p:txBody>
      </p:sp>
      <p:sp>
        <p:nvSpPr>
          <p:cNvPr id="60" name="Google Shape;60;p5"/>
          <p:cNvSpPr txBox="1"/>
          <p:nvPr/>
        </p:nvSpPr>
        <p:spPr>
          <a:xfrm>
            <a:off x="1574800" y="3897300"/>
            <a:ext cx="14092800" cy="17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import socket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mysock = socket.socket(socket.AF_INET, socket.SOCK_STREAM)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mysock.connect( ('</a:t>
            </a:r>
            <a:r>
              <a:rPr b="0" i="0" lang="en-US" sz="3000" u="none" cap="none" strike="noStrike">
                <a:solidFill>
                  <a:srgbClr val="FF00FF"/>
                </a:solidFill>
                <a:latin typeface="Courier"/>
                <a:ea typeface="Courier"/>
                <a:cs typeface="Courier"/>
                <a:sym typeface="Courier"/>
              </a:rPr>
              <a:t>data.pr4e.org</a:t>
            </a:r>
            <a:r>
              <a:rPr b="0" i="0" lang="en-US" sz="3000" u="none" cap="none" strike="noStrike">
                <a:solidFill>
                  <a:srgbClr val="FFFF00"/>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 80</a:t>
            </a:r>
            <a:r>
              <a:rPr b="0" i="0" lang="en-US" sz="3000" u="none" cap="none" strike="noStrike">
                <a:solidFill>
                  <a:srgbClr val="FFFF00"/>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p:txBody>
      </p:sp>
      <p:sp>
        <p:nvSpPr>
          <p:cNvPr id="61" name="Google Shape;61;p5"/>
          <p:cNvSpPr txBox="1"/>
          <p:nvPr/>
        </p:nvSpPr>
        <p:spPr>
          <a:xfrm>
            <a:off x="3212625" y="7430175"/>
            <a:ext cx="8963999" cy="66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750"/>
              <a:buFont typeface="Cabin"/>
              <a:buNone/>
            </a:pPr>
            <a:r>
              <a:rPr b="0" i="0" lang="en-US" sz="3000" u="sng" cap="none" strike="noStrike">
                <a:solidFill>
                  <a:srgbClr val="FFFF00"/>
                </a:solidFill>
                <a:latin typeface="Arial"/>
                <a:ea typeface="Arial"/>
                <a:cs typeface="Arial"/>
                <a:sym typeface="Arial"/>
                <a:hlinkClick r:id="rId3">
                  <a:extLst>
                    <a:ext uri="{A12FA001-AC4F-418D-AE19-62706E023703}">
                      <ahyp:hlinkClr val="tx"/>
                    </a:ext>
                  </a:extLst>
                </a:hlinkClick>
              </a:rPr>
              <a:t>http://docs.python.org/library/socket.html</a:t>
            </a:r>
            <a:endParaRPr b="0" i="0" sz="1400" u="none" cap="none" strike="noStrike">
              <a:solidFill>
                <a:srgbClr val="000000"/>
              </a:solidFill>
              <a:latin typeface="Arial"/>
              <a:ea typeface="Arial"/>
              <a:cs typeface="Arial"/>
              <a:sym typeface="Arial"/>
            </a:endParaRPr>
          </a:p>
        </p:txBody>
      </p:sp>
      <p:sp>
        <p:nvSpPr>
          <p:cNvPr id="62" name="Google Shape;62;p5"/>
          <p:cNvSpPr txBox="1"/>
          <p:nvPr/>
        </p:nvSpPr>
        <p:spPr>
          <a:xfrm>
            <a:off x="3117850" y="6388100"/>
            <a:ext cx="1079400" cy="66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950"/>
              <a:buFont typeface="Cabin"/>
              <a:buNone/>
            </a:pPr>
            <a:r>
              <a:rPr b="0" i="0" lang="en-US" sz="3800" u="none" cap="none" strike="noStrike">
                <a:solidFill>
                  <a:srgbClr val="FF00FF"/>
                </a:solidFill>
                <a:latin typeface="Arial"/>
                <a:ea typeface="Arial"/>
                <a:cs typeface="Arial"/>
                <a:sym typeface="Arial"/>
              </a:rPr>
              <a:t>Host</a:t>
            </a:r>
            <a:endParaRPr b="0" i="0" sz="1400" u="none" cap="none" strike="noStrike">
              <a:solidFill>
                <a:srgbClr val="000000"/>
              </a:solidFill>
              <a:latin typeface="Arial"/>
              <a:ea typeface="Arial"/>
              <a:cs typeface="Arial"/>
              <a:sym typeface="Arial"/>
            </a:endParaRPr>
          </a:p>
        </p:txBody>
      </p:sp>
      <p:sp>
        <p:nvSpPr>
          <p:cNvPr id="63" name="Google Shape;63;p5"/>
          <p:cNvSpPr txBox="1"/>
          <p:nvPr/>
        </p:nvSpPr>
        <p:spPr>
          <a:xfrm>
            <a:off x="10909300" y="6388100"/>
            <a:ext cx="976199" cy="66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950"/>
              <a:buFont typeface="Cabin"/>
              <a:buNone/>
            </a:pPr>
            <a:r>
              <a:rPr b="0" i="0" lang="en-US" sz="3800" u="none" cap="none" strike="noStrike">
                <a:solidFill>
                  <a:srgbClr val="00FF00"/>
                </a:solidFill>
                <a:latin typeface="Arial"/>
                <a:ea typeface="Arial"/>
                <a:cs typeface="Arial"/>
                <a:sym typeface="Arial"/>
              </a:rPr>
              <a:t>Port</a:t>
            </a:r>
            <a:endParaRPr b="0" i="0" sz="1400" u="none" cap="none" strike="noStrike">
              <a:solidFill>
                <a:srgbClr val="000000"/>
              </a:solidFill>
              <a:latin typeface="Arial"/>
              <a:ea typeface="Arial"/>
              <a:cs typeface="Arial"/>
              <a:sym typeface="Arial"/>
            </a:endParaRPr>
          </a:p>
        </p:txBody>
      </p:sp>
      <p:cxnSp>
        <p:nvCxnSpPr>
          <p:cNvPr id="64" name="Google Shape;64;p5"/>
          <p:cNvCxnSpPr/>
          <p:nvPr/>
        </p:nvCxnSpPr>
        <p:spPr>
          <a:xfrm flipH="1">
            <a:off x="4404840" y="5653200"/>
            <a:ext cx="2089198" cy="991985"/>
          </a:xfrm>
          <a:prstGeom prst="straightConnector1">
            <a:avLst/>
          </a:prstGeom>
          <a:noFill/>
          <a:ln cap="rnd" cmpd="sng" w="101600">
            <a:solidFill>
              <a:srgbClr val="FF00FF"/>
            </a:solidFill>
            <a:prstDash val="solid"/>
            <a:miter lim="8000"/>
            <a:headEnd len="med" w="med" type="stealth"/>
            <a:tailEnd len="sm" w="sm" type="none"/>
          </a:ln>
        </p:spPr>
      </p:cxnSp>
      <p:cxnSp>
        <p:nvCxnSpPr>
          <p:cNvPr id="65" name="Google Shape;65;p5"/>
          <p:cNvCxnSpPr/>
          <p:nvPr/>
        </p:nvCxnSpPr>
        <p:spPr>
          <a:xfrm>
            <a:off x="9714530" y="5647015"/>
            <a:ext cx="988949" cy="998170"/>
          </a:xfrm>
          <a:prstGeom prst="straightConnector1">
            <a:avLst/>
          </a:prstGeom>
          <a:noFill/>
          <a:ln cap="rnd" cmpd="sng" w="101600">
            <a:solidFill>
              <a:srgbClr val="00FF00"/>
            </a:solidFill>
            <a:prstDash val="solid"/>
            <a:miter lim="8000"/>
            <a:headEnd len="med" w="med" type="stealth"/>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6"/>
          <p:cNvSpPr/>
          <p:nvPr/>
        </p:nvSpPr>
        <p:spPr>
          <a:xfrm>
            <a:off x="355600" y="4608690"/>
            <a:ext cx="15544800" cy="39624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FF"/>
              </a:buClr>
              <a:buSzPts val="5401"/>
              <a:buFont typeface="Gill Sans"/>
              <a:buNone/>
            </a:pPr>
            <a:r>
              <a:rPr b="0" i="0" lang="en-US" sz="5401" u="none" cap="none" strike="noStrike">
                <a:solidFill>
                  <a:srgbClr val="0000FF"/>
                </a:solidFill>
                <a:latin typeface="Gill Sans"/>
                <a:ea typeface="Gill Sans"/>
                <a:cs typeface="Gill Sans"/>
                <a:sym typeface="Gill Sans"/>
              </a:rPr>
              <a:t>Browser</a:t>
            </a:r>
            <a:endParaRPr b="0" i="0" sz="5401" u="none" cap="none" strike="noStrike">
              <a:solidFill>
                <a:srgbClr val="FFFFFF"/>
              </a:solidFill>
              <a:latin typeface="Gill Sans"/>
              <a:ea typeface="Gill Sans"/>
              <a:cs typeface="Gill Sans"/>
              <a:sym typeface="Gill Sans"/>
            </a:endParaRPr>
          </a:p>
        </p:txBody>
      </p:sp>
      <p:pic>
        <p:nvPicPr>
          <p:cNvPr id="71" name="Google Shape;71;p6"/>
          <p:cNvPicPr preferRelativeResize="0"/>
          <p:nvPr/>
        </p:nvPicPr>
        <p:blipFill rotWithShape="1">
          <a:blip r:embed="rId3">
            <a:alphaModFix/>
          </a:blip>
          <a:srcRect b="0" l="0" r="0" t="0"/>
          <a:stretch/>
        </p:blipFill>
        <p:spPr>
          <a:xfrm>
            <a:off x="7128934" y="2853269"/>
            <a:ext cx="1645356" cy="1244599"/>
          </a:xfrm>
          <a:prstGeom prst="rect">
            <a:avLst/>
          </a:prstGeom>
          <a:noFill/>
          <a:ln>
            <a:noFill/>
          </a:ln>
        </p:spPr>
      </p:pic>
      <p:sp>
        <p:nvSpPr>
          <p:cNvPr id="72" name="Google Shape;72;p6"/>
          <p:cNvSpPr/>
          <p:nvPr/>
        </p:nvSpPr>
        <p:spPr>
          <a:xfrm>
            <a:off x="6297280" y="702614"/>
            <a:ext cx="3297377" cy="1600438"/>
          </a:xfrm>
          <a:prstGeom prst="rect">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FF"/>
              </a:buClr>
              <a:buSzPts val="5200"/>
              <a:buFont typeface="Gill Sans"/>
              <a:buNone/>
            </a:pPr>
            <a:r>
              <a:rPr b="0" i="0" lang="en-US" sz="5200" u="none" cap="none" strike="noStrike">
                <a:solidFill>
                  <a:srgbClr val="0000FF"/>
                </a:solidFill>
                <a:latin typeface="Gill Sans"/>
                <a:ea typeface="Gill Sans"/>
                <a:cs typeface="Gill Sans"/>
                <a:sym typeface="Gill Sans"/>
              </a:rPr>
              <a:t>Web Server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5200"/>
              <a:buFont typeface="Gill Sans"/>
              <a:buNone/>
            </a:pPr>
            <a:r>
              <a:t/>
            </a:r>
            <a:endParaRPr b="0" i="0" sz="5200" u="none" cap="none" strike="noStrike">
              <a:solidFill>
                <a:srgbClr val="0000FF"/>
              </a:solidFill>
              <a:latin typeface="Gill Sans"/>
              <a:ea typeface="Gill Sans"/>
              <a:cs typeface="Gill Sans"/>
              <a:sym typeface="Gill Sans"/>
            </a:endParaRPr>
          </a:p>
        </p:txBody>
      </p:sp>
      <p:cxnSp>
        <p:nvCxnSpPr>
          <p:cNvPr id="73" name="Google Shape;73;p6"/>
          <p:cNvCxnSpPr/>
          <p:nvPr/>
        </p:nvCxnSpPr>
        <p:spPr>
          <a:xfrm flipH="1">
            <a:off x="7560734" y="2404533"/>
            <a:ext cx="22578" cy="2065867"/>
          </a:xfrm>
          <a:prstGeom prst="straightConnector1">
            <a:avLst/>
          </a:prstGeom>
          <a:noFill/>
          <a:ln cap="flat" cmpd="sng" w="114300">
            <a:solidFill>
              <a:srgbClr val="FFFF00"/>
            </a:solidFill>
            <a:prstDash val="solid"/>
            <a:miter lim="800000"/>
            <a:headEnd len="med" w="med" type="stealth"/>
            <a:tailEnd len="sm" w="sm" type="none"/>
          </a:ln>
        </p:spPr>
      </p:cxnSp>
      <p:cxnSp>
        <p:nvCxnSpPr>
          <p:cNvPr id="74" name="Google Shape;74;p6"/>
          <p:cNvCxnSpPr/>
          <p:nvPr/>
        </p:nvCxnSpPr>
        <p:spPr>
          <a:xfrm flipH="1" rot="10800000">
            <a:off x="8308622" y="2427112"/>
            <a:ext cx="22578" cy="2108201"/>
          </a:xfrm>
          <a:prstGeom prst="straightConnector1">
            <a:avLst/>
          </a:prstGeom>
          <a:noFill/>
          <a:ln cap="flat" cmpd="sng" w="114300">
            <a:solidFill>
              <a:srgbClr val="00FF00"/>
            </a:solidFill>
            <a:prstDash val="solid"/>
            <a:miter lim="800000"/>
            <a:headEnd len="med" w="med" type="stealth"/>
            <a:tailEnd len="sm" w="sm" type="none"/>
          </a:ln>
        </p:spPr>
      </p:cxnSp>
      <p:pic>
        <p:nvPicPr>
          <p:cNvPr id="75" name="Google Shape;75;p6"/>
          <p:cNvPicPr preferRelativeResize="0"/>
          <p:nvPr/>
        </p:nvPicPr>
        <p:blipFill rotWithShape="1">
          <a:blip r:embed="rId4">
            <a:alphaModFix/>
          </a:blip>
          <a:srcRect b="0" l="0" r="0" t="0"/>
          <a:stretch/>
        </p:blipFill>
        <p:spPr>
          <a:xfrm>
            <a:off x="544690" y="5243689"/>
            <a:ext cx="4978400" cy="2946400"/>
          </a:xfrm>
          <a:prstGeom prst="rect">
            <a:avLst/>
          </a:prstGeom>
          <a:noFill/>
          <a:ln cap="flat" cmpd="sng" w="12700">
            <a:solidFill>
              <a:srgbClr val="000000"/>
            </a:solidFill>
            <a:prstDash val="solid"/>
            <a:miter lim="800000"/>
            <a:headEnd len="sm" w="sm" type="none"/>
            <a:tailEnd len="sm" w="sm" type="none"/>
          </a:ln>
        </p:spPr>
      </p:pic>
      <p:pic>
        <p:nvPicPr>
          <p:cNvPr id="76" name="Google Shape;76;p6"/>
          <p:cNvPicPr preferRelativeResize="0"/>
          <p:nvPr/>
        </p:nvPicPr>
        <p:blipFill rotWithShape="1">
          <a:blip r:embed="rId5">
            <a:alphaModFix/>
          </a:blip>
          <a:srcRect b="0" l="0" r="0" t="0"/>
          <a:stretch/>
        </p:blipFill>
        <p:spPr>
          <a:xfrm>
            <a:off x="10795001" y="5142089"/>
            <a:ext cx="4978400" cy="2946400"/>
          </a:xfrm>
          <a:prstGeom prst="rect">
            <a:avLst/>
          </a:prstGeom>
          <a:noFill/>
          <a:ln cap="flat" cmpd="sng" w="12700">
            <a:solidFill>
              <a:srgbClr val="000000"/>
            </a:solidFill>
            <a:prstDash val="solid"/>
            <a:miter lim="800000"/>
            <a:headEnd len="sm" w="sm" type="none"/>
            <a:tailEnd len="sm" w="sm" type="none"/>
          </a:ln>
        </p:spPr>
      </p:pic>
      <p:cxnSp>
        <p:nvCxnSpPr>
          <p:cNvPr id="77" name="Google Shape;77;p6"/>
          <p:cNvCxnSpPr/>
          <p:nvPr/>
        </p:nvCxnSpPr>
        <p:spPr>
          <a:xfrm flipH="1">
            <a:off x="4363156" y="5294490"/>
            <a:ext cx="2393244" cy="1349022"/>
          </a:xfrm>
          <a:prstGeom prst="straightConnector1">
            <a:avLst/>
          </a:prstGeom>
          <a:noFill/>
          <a:ln cap="flat" cmpd="sng" w="114300">
            <a:solidFill>
              <a:srgbClr val="3C8C92"/>
            </a:solidFill>
            <a:prstDash val="solid"/>
            <a:miter lim="800000"/>
            <a:headEnd len="med" w="med" type="stealth"/>
            <a:tailEnd len="sm" w="sm" type="none"/>
          </a:ln>
        </p:spPr>
      </p:cxnSp>
      <p:cxnSp>
        <p:nvCxnSpPr>
          <p:cNvPr id="78" name="Google Shape;78;p6"/>
          <p:cNvCxnSpPr/>
          <p:nvPr/>
        </p:nvCxnSpPr>
        <p:spPr>
          <a:xfrm rot="10800000">
            <a:off x="9194801" y="5446890"/>
            <a:ext cx="1600201" cy="990601"/>
          </a:xfrm>
          <a:prstGeom prst="straightConnector1">
            <a:avLst/>
          </a:prstGeom>
          <a:noFill/>
          <a:ln cap="flat" cmpd="sng" w="114300">
            <a:solidFill>
              <a:schemeClr val="lt1"/>
            </a:solidFill>
            <a:prstDash val="solid"/>
            <a:miter lim="800000"/>
            <a:headEnd len="med" w="med" type="stealth"/>
            <a:tailEnd len="sm" w="sm" type="none"/>
          </a:ln>
        </p:spPr>
      </p:cxnSp>
      <p:sp>
        <p:nvSpPr>
          <p:cNvPr id="79" name="Google Shape;79;p6"/>
          <p:cNvSpPr/>
          <p:nvPr/>
        </p:nvSpPr>
        <p:spPr>
          <a:xfrm>
            <a:off x="10986912" y="1586090"/>
            <a:ext cx="4967111" cy="321168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3100"/>
              <a:buFont typeface="Gill Sans"/>
              <a:buNone/>
            </a:pPr>
            <a:r>
              <a:rPr b="0" i="0" lang="en-US" sz="3100" u="none" cap="none" strike="noStrike">
                <a:solidFill>
                  <a:srgbClr val="00FF00"/>
                </a:solidFill>
                <a:latin typeface="Gill Sans"/>
                <a:ea typeface="Gill Sans"/>
                <a:cs typeface="Gill Sans"/>
                <a:sym typeface="Gill Sans"/>
              </a:rPr>
              <a:t>&lt;h1&gt;The Second Page&lt;/h1&gt;&lt;p&gt;If you like, you can switch back to the &lt;a href="page1.htm"&gt;First Page&lt;/a&gt;.&lt;/p&gt;</a:t>
            </a:r>
            <a:endParaRPr b="0" i="0" sz="1400" u="none" cap="none" strike="noStrike">
              <a:solidFill>
                <a:srgbClr val="000000"/>
              </a:solidFill>
              <a:latin typeface="Arial"/>
              <a:ea typeface="Arial"/>
              <a:cs typeface="Arial"/>
              <a:sym typeface="Arial"/>
            </a:endParaRPr>
          </a:p>
        </p:txBody>
      </p:sp>
      <p:sp>
        <p:nvSpPr>
          <p:cNvPr id="80" name="Google Shape;80;p6"/>
          <p:cNvSpPr/>
          <p:nvPr/>
        </p:nvSpPr>
        <p:spPr>
          <a:xfrm>
            <a:off x="7315201" y="1763891"/>
            <a:ext cx="1270000" cy="544688"/>
          </a:xfrm>
          <a:prstGeom prst="rect">
            <a:avLst/>
          </a:prstGeom>
          <a:solidFill>
            <a:srgbClr val="0000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4000"/>
              <a:buFont typeface="Gill Sans"/>
              <a:buNone/>
            </a:pPr>
            <a:r>
              <a:rPr b="0" i="0" lang="en-US" sz="4000" u="none" cap="none" strike="noStrike">
                <a:solidFill>
                  <a:srgbClr val="FF0000"/>
                </a:solidFill>
                <a:latin typeface="Gill Sans"/>
                <a:ea typeface="Gill Sans"/>
                <a:cs typeface="Gill Sans"/>
                <a:sym typeface="Gill Sans"/>
              </a:rPr>
              <a:t>80</a:t>
            </a:r>
            <a:endParaRPr b="0" i="0" sz="1400" u="none" cap="none" strike="noStrike">
              <a:solidFill>
                <a:srgbClr val="000000"/>
              </a:solidFill>
              <a:latin typeface="Arial"/>
              <a:ea typeface="Arial"/>
              <a:cs typeface="Arial"/>
              <a:sym typeface="Arial"/>
            </a:endParaRPr>
          </a:p>
        </p:txBody>
      </p:sp>
      <p:sp>
        <p:nvSpPr>
          <p:cNvPr id="81" name="Google Shape;81;p6"/>
          <p:cNvSpPr txBox="1"/>
          <p:nvPr/>
        </p:nvSpPr>
        <p:spPr>
          <a:xfrm>
            <a:off x="1803139" y="685802"/>
            <a:ext cx="1699503" cy="64633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00"/>
              </a:buClr>
              <a:buSzPts val="3600"/>
              <a:buFont typeface="Gill Sans"/>
              <a:buNone/>
            </a:pPr>
            <a:r>
              <a:rPr b="0" i="0" lang="en-US" sz="3600" u="none" cap="none" strike="noStrike">
                <a:solidFill>
                  <a:srgbClr val="FFFF00"/>
                </a:solidFill>
                <a:latin typeface="Gill Sans"/>
                <a:ea typeface="Gill Sans"/>
                <a:cs typeface="Gill Sans"/>
                <a:sym typeface="Gill Sans"/>
              </a:rPr>
              <a:t>Request</a:t>
            </a:r>
            <a:endParaRPr b="0" i="0" sz="1400" u="none" cap="none" strike="noStrike">
              <a:solidFill>
                <a:srgbClr val="000000"/>
              </a:solidFill>
              <a:latin typeface="Arial"/>
              <a:ea typeface="Arial"/>
              <a:cs typeface="Arial"/>
              <a:sym typeface="Arial"/>
            </a:endParaRPr>
          </a:p>
        </p:txBody>
      </p:sp>
      <p:sp>
        <p:nvSpPr>
          <p:cNvPr id="82" name="Google Shape;82;p6"/>
          <p:cNvSpPr txBox="1"/>
          <p:nvPr/>
        </p:nvSpPr>
        <p:spPr>
          <a:xfrm>
            <a:off x="11887177" y="685802"/>
            <a:ext cx="1978427" cy="64633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FF00"/>
              </a:buClr>
              <a:buSzPts val="3600"/>
              <a:buFont typeface="Gill Sans"/>
              <a:buNone/>
            </a:pPr>
            <a:r>
              <a:rPr b="0" i="0" lang="en-US" sz="3600" u="none" cap="none" strike="noStrike">
                <a:solidFill>
                  <a:srgbClr val="00FF00"/>
                </a:solidFill>
                <a:latin typeface="Gill Sans"/>
                <a:ea typeface="Gill Sans"/>
                <a:cs typeface="Gill Sans"/>
                <a:sym typeface="Gill Sans"/>
              </a:rPr>
              <a:t>Response</a:t>
            </a:r>
            <a:endParaRPr b="0" i="0" sz="1400" u="none" cap="none" strike="noStrike">
              <a:solidFill>
                <a:srgbClr val="000000"/>
              </a:solidFill>
              <a:latin typeface="Arial"/>
              <a:ea typeface="Arial"/>
              <a:cs typeface="Arial"/>
              <a:sym typeface="Arial"/>
            </a:endParaRPr>
          </a:p>
        </p:txBody>
      </p:sp>
      <p:sp>
        <p:nvSpPr>
          <p:cNvPr id="83" name="Google Shape;83;p6"/>
          <p:cNvSpPr txBox="1"/>
          <p:nvPr/>
        </p:nvSpPr>
        <p:spPr>
          <a:xfrm>
            <a:off x="8432707" y="5827891"/>
            <a:ext cx="1555233" cy="120032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Gill Sans"/>
              <a:buNone/>
            </a:pPr>
            <a:r>
              <a:rPr b="0" i="0" lang="en-US" sz="3600" u="none" cap="none" strike="noStrike">
                <a:solidFill>
                  <a:schemeClr val="lt1"/>
                </a:solidFill>
                <a:latin typeface="Gill Sans"/>
                <a:ea typeface="Gill Sans"/>
                <a:cs typeface="Gill Sans"/>
                <a:sym typeface="Gill Sans"/>
              </a:rPr>
              <a:t>Parse/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3600"/>
              <a:buFont typeface="Gill Sans"/>
              <a:buNone/>
            </a:pPr>
            <a:r>
              <a:rPr b="0" i="0" lang="en-US" sz="3600" u="none" cap="none" strike="noStrike">
                <a:solidFill>
                  <a:schemeClr val="lt1"/>
                </a:solidFill>
                <a:latin typeface="Gill Sans"/>
                <a:ea typeface="Gill Sans"/>
                <a:cs typeface="Gill Sans"/>
                <a:sym typeface="Gill Sans"/>
              </a:rPr>
              <a:t>Render</a:t>
            </a:r>
            <a:endParaRPr b="0" i="0" sz="1400" u="none" cap="none" strike="noStrike">
              <a:solidFill>
                <a:srgbClr val="000000"/>
              </a:solidFill>
              <a:latin typeface="Arial"/>
              <a:ea typeface="Arial"/>
              <a:cs typeface="Arial"/>
              <a:sym typeface="Arial"/>
            </a:endParaRPr>
          </a:p>
        </p:txBody>
      </p:sp>
      <p:sp>
        <p:nvSpPr>
          <p:cNvPr id="84" name="Google Shape;84;p6"/>
          <p:cNvSpPr/>
          <p:nvPr/>
        </p:nvSpPr>
        <p:spPr>
          <a:xfrm>
            <a:off x="533401" y="3874913"/>
            <a:ext cx="6984999" cy="5446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3100"/>
              <a:buFont typeface="Gill Sans"/>
              <a:buNone/>
            </a:pPr>
            <a:r>
              <a:rPr b="0" i="0" lang="en-US" sz="3100" u="none" cap="none" strike="noStrike">
                <a:solidFill>
                  <a:srgbClr val="FFFF00"/>
                </a:solidFill>
                <a:latin typeface="Gill Sans"/>
                <a:ea typeface="Gill Sans"/>
                <a:cs typeface="Gill Sans"/>
                <a:sym typeface="Gill Sans"/>
              </a:rPr>
              <a:t>GET http://www.dr-chuck.com/page2.htm</a:t>
            </a:r>
            <a:endParaRPr b="0" i="0" sz="1400" u="none" cap="none" strike="noStrike">
              <a:solidFill>
                <a:srgbClr val="000000"/>
              </a:solidFill>
              <a:latin typeface="Arial"/>
              <a:ea typeface="Arial"/>
              <a:cs typeface="Arial"/>
              <a:sym typeface="Arial"/>
            </a:endParaRPr>
          </a:p>
        </p:txBody>
      </p:sp>
      <p:sp>
        <p:nvSpPr>
          <p:cNvPr id="85" name="Google Shape;85;p6"/>
          <p:cNvSpPr txBox="1"/>
          <p:nvPr/>
        </p:nvSpPr>
        <p:spPr>
          <a:xfrm>
            <a:off x="5649146" y="5980291"/>
            <a:ext cx="1074333" cy="5847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Arial"/>
              <a:buNone/>
            </a:pPr>
            <a:r>
              <a:rPr b="0" i="0" lang="en-US" sz="3200" u="none" cap="none" strike="noStrike">
                <a:solidFill>
                  <a:schemeClr val="lt1"/>
                </a:solidFill>
                <a:latin typeface="Arial"/>
                <a:ea typeface="Arial"/>
                <a:cs typeface="Arial"/>
                <a:sym typeface="Arial"/>
              </a:rPr>
              <a:t>Click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7"/>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Let</a:t>
            </a:r>
            <a:r>
              <a:rPr lang="en-US" sz="7600">
                <a:solidFill>
                  <a:srgbClr val="FFD966"/>
                </a:solidFill>
                <a:latin typeface="Arial"/>
                <a:ea typeface="Arial"/>
                <a:cs typeface="Arial"/>
                <a:sym typeface="Arial"/>
              </a:rPr>
              <a:t>’</a:t>
            </a:r>
            <a:r>
              <a:rPr lang="en-US" sz="7600" u="none" cap="none" strike="noStrike">
                <a:solidFill>
                  <a:srgbClr val="FFD966"/>
                </a:solidFill>
                <a:latin typeface="Arial"/>
                <a:ea typeface="Arial"/>
                <a:cs typeface="Arial"/>
                <a:sym typeface="Arial"/>
              </a:rPr>
              <a:t>s Write a Web Browser!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8"/>
          <p:cNvSpPr txBox="1"/>
          <p:nvPr>
            <p:ph type="title"/>
          </p:nvPr>
        </p:nvSpPr>
        <p:spPr>
          <a:xfrm>
            <a:off x="1155700" y="440764"/>
            <a:ext cx="13932000" cy="169273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An HTTP Request in Python</a:t>
            </a:r>
            <a:endParaRPr/>
          </a:p>
        </p:txBody>
      </p:sp>
      <p:pic>
        <p:nvPicPr>
          <p:cNvPr id="96" name="Google Shape;96;p8"/>
          <p:cNvPicPr preferRelativeResize="0"/>
          <p:nvPr/>
        </p:nvPicPr>
        <p:blipFill rotWithShape="1">
          <a:blip r:embed="rId3">
            <a:alphaModFix/>
          </a:blip>
          <a:srcRect b="0" l="0" r="0" t="0"/>
          <a:stretch/>
        </p:blipFill>
        <p:spPr>
          <a:xfrm>
            <a:off x="10306050" y="5327650"/>
            <a:ext cx="4965700" cy="2565400"/>
          </a:xfrm>
          <a:prstGeom prst="rect">
            <a:avLst/>
          </a:prstGeom>
          <a:noFill/>
          <a:ln>
            <a:noFill/>
          </a:ln>
        </p:spPr>
      </p:pic>
      <p:sp>
        <p:nvSpPr>
          <p:cNvPr id="97" name="Google Shape;97;p8"/>
          <p:cNvSpPr txBox="1"/>
          <p:nvPr/>
        </p:nvSpPr>
        <p:spPr>
          <a:xfrm>
            <a:off x="1339731" y="2539899"/>
            <a:ext cx="14791228" cy="56938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import socket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mysock = socket.socket(socket.AF_INET, socket.SOCK_STREAM)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mysock.connect(('data.pr4e.org', 80))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cmd = 'GET http://data.pr4e.org/romeo.txt HTTP/1.0\r\n\r\n'.encode()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mysock.send(cmd)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while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    data = mysock.recv(512)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    if (len(data) &lt;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        break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    print(data.</a:t>
            </a:r>
            <a:r>
              <a:rPr b="0" i="0" lang="en-US" sz="2800" u="none" cap="none" strike="noStrike">
                <a:solidFill>
                  <a:srgbClr val="FF40FF"/>
                </a:solidFill>
                <a:latin typeface="Courier"/>
                <a:ea typeface="Courier"/>
                <a:cs typeface="Courier"/>
                <a:sym typeface="Courier"/>
              </a:rPr>
              <a:t>decode()</a:t>
            </a:r>
            <a:r>
              <a:rPr b="0" i="0" lang="en-US" sz="2800" u="none" cap="none" strike="noStrike">
                <a:solidFill>
                  <a:schemeClr val="lt1"/>
                </a:solidFill>
                <a:latin typeface="Courier"/>
                <a:ea typeface="Courier"/>
                <a:cs typeface="Courier"/>
                <a:sym typeface="Courier"/>
              </a:rPr>
              <a:t>,end='')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mysock.close()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9"/>
          <p:cNvSpPr txBox="1"/>
          <p:nvPr/>
        </p:nvSpPr>
        <p:spPr>
          <a:xfrm>
            <a:off x="438150" y="1768476"/>
            <a:ext cx="9431337" cy="5643562"/>
          </a:xfrm>
          <a:prstGeom prst="rect">
            <a:avLst/>
          </a:prstGeom>
          <a:noFill/>
          <a:ln cap="rnd" cmpd="sng" w="12700">
            <a:solidFill>
              <a:schemeClr val="lt1"/>
            </a:solidFill>
            <a:prstDash val="solid"/>
            <a:miter lim="8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HTTP/1.1 200 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Date: Sun, 14 Mar 2010 23:52:41 GMT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Server: Apache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Last-Modified: Tue, 29 Dec 2009 01:31:22 GMT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ETag: "143c1b33-a7-4b395bea"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Accept-Ranges: bytes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Content-Length: 167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Connection: close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Content-Type: text/plain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But soft what light through yonder window breaks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It is the east and Juliet is the sun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Arise fair sun and kill the envious moon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Who is already sick and pale with grief</a:t>
            </a:r>
            <a:endParaRPr b="0" i="0" sz="1400" u="none" cap="none" strike="noStrike">
              <a:solidFill>
                <a:srgbClr val="000000"/>
              </a:solidFill>
              <a:latin typeface="Arial"/>
              <a:ea typeface="Arial"/>
              <a:cs typeface="Arial"/>
              <a:sym typeface="Arial"/>
            </a:endParaRPr>
          </a:p>
        </p:txBody>
      </p:sp>
      <p:sp>
        <p:nvSpPr>
          <p:cNvPr id="103" name="Google Shape;103;p9"/>
          <p:cNvSpPr txBox="1"/>
          <p:nvPr/>
        </p:nvSpPr>
        <p:spPr>
          <a:xfrm>
            <a:off x="10566400" y="2971800"/>
            <a:ext cx="5111750" cy="27685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while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data = mysock.recv(512)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if ( len(data) &lt; 1 )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break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print(data.</a:t>
            </a:r>
            <a:r>
              <a:rPr b="0" i="0" lang="en-US" sz="2400" u="none" cap="none" strike="noStrike">
                <a:solidFill>
                  <a:srgbClr val="00FA00"/>
                </a:solidFill>
                <a:latin typeface="Courier"/>
                <a:ea typeface="Courier"/>
                <a:cs typeface="Courier"/>
                <a:sym typeface="Courier"/>
              </a:rPr>
              <a:t>decode()</a:t>
            </a:r>
            <a:r>
              <a:rPr b="0" i="0" lang="en-US" sz="24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p:txBody>
      </p:sp>
      <p:sp>
        <p:nvSpPr>
          <p:cNvPr id="104" name="Google Shape;104;p9"/>
          <p:cNvSpPr txBox="1"/>
          <p:nvPr/>
        </p:nvSpPr>
        <p:spPr>
          <a:xfrm>
            <a:off x="10158411" y="1959514"/>
            <a:ext cx="3233739"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HTTP Header</a:t>
            </a:r>
            <a:endParaRPr b="0" i="0" sz="1400" u="none" cap="none" strike="noStrike">
              <a:solidFill>
                <a:srgbClr val="000000"/>
              </a:solidFill>
              <a:latin typeface="Arial"/>
              <a:ea typeface="Arial"/>
              <a:cs typeface="Arial"/>
              <a:sym typeface="Arial"/>
            </a:endParaRPr>
          </a:p>
        </p:txBody>
      </p:sp>
      <p:sp>
        <p:nvSpPr>
          <p:cNvPr id="105" name="Google Shape;105;p9"/>
          <p:cNvSpPr txBox="1"/>
          <p:nvPr/>
        </p:nvSpPr>
        <p:spPr>
          <a:xfrm>
            <a:off x="10158411" y="6424179"/>
            <a:ext cx="2963864"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HTTP Body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0"/>
          <p:cNvSpPr txBox="1"/>
          <p:nvPr>
            <p:ph type="title"/>
          </p:nvPr>
        </p:nvSpPr>
        <p:spPr>
          <a:xfrm>
            <a:off x="1155700" y="847164"/>
            <a:ext cx="13932000" cy="1692735"/>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D966"/>
              </a:buClr>
              <a:buSzPts val="7200"/>
              <a:buFont typeface="Arial"/>
              <a:buNone/>
            </a:pPr>
            <a:r>
              <a:rPr lang="en-US">
                <a:solidFill>
                  <a:srgbClr val="FFD966"/>
                </a:solidFill>
              </a:rPr>
              <a:t>Python Strings to Bytes</a:t>
            </a:r>
            <a:endParaRPr/>
          </a:p>
        </p:txBody>
      </p:sp>
      <p:sp>
        <p:nvSpPr>
          <p:cNvPr id="112" name="Google Shape;112;p10"/>
          <p:cNvSpPr txBox="1"/>
          <p:nvPr>
            <p:ph idx="1" type="body"/>
          </p:nvPr>
        </p:nvSpPr>
        <p:spPr>
          <a:xfrm>
            <a:off x="1155699" y="2603500"/>
            <a:ext cx="14856933" cy="5702399"/>
          </a:xfrm>
          <a:prstGeom prst="rect">
            <a:avLst/>
          </a:prstGeom>
          <a:noFill/>
          <a:ln>
            <a:noFill/>
          </a:ln>
        </p:spPr>
        <p:txBody>
          <a:bodyPr anchorCtr="0" anchor="t" bIns="0" lIns="91425" spcFirstLastPara="1" rIns="91425" wrap="square" tIns="0">
            <a:noAutofit/>
          </a:bodyPr>
          <a:lstStyle/>
          <a:p>
            <a:pPr indent="-301625" lvl="0" marL="871538" rtl="0" algn="l">
              <a:lnSpc>
                <a:spcPct val="100000"/>
              </a:lnSpc>
              <a:spcBef>
                <a:spcPts val="0"/>
              </a:spcBef>
              <a:spcAft>
                <a:spcPts val="0"/>
              </a:spcAft>
              <a:buClr>
                <a:schemeClr val="lt1"/>
              </a:buClr>
              <a:buSzPts val="3200"/>
              <a:buFont typeface="Arial"/>
              <a:buChar char="•"/>
            </a:pPr>
            <a:r>
              <a:rPr lang="en-US"/>
              <a:t>When we talk to an external resource like a network socket we send bytes, so we need to encode Python 3 strings into a given character encoding</a:t>
            </a:r>
            <a:endParaRPr/>
          </a:p>
          <a:p>
            <a:pPr indent="-301625" lvl="0" marL="871538" rtl="0" algn="l">
              <a:lnSpc>
                <a:spcPct val="100000"/>
              </a:lnSpc>
              <a:spcBef>
                <a:spcPts val="3500"/>
              </a:spcBef>
              <a:spcAft>
                <a:spcPts val="0"/>
              </a:spcAft>
              <a:buClr>
                <a:schemeClr val="lt1"/>
              </a:buClr>
              <a:buSzPts val="3200"/>
              <a:buFont typeface="Arial"/>
              <a:buChar char="•"/>
            </a:pPr>
            <a:r>
              <a:rPr lang="en-US"/>
              <a:t>When we read data from an external resource, we must decode it based on the character set so it is properly represented in Python 3 as a string</a:t>
            </a:r>
            <a:endParaRPr/>
          </a:p>
        </p:txBody>
      </p:sp>
      <p:sp>
        <p:nvSpPr>
          <p:cNvPr id="113" name="Google Shape;113;p10"/>
          <p:cNvSpPr txBox="1"/>
          <p:nvPr/>
        </p:nvSpPr>
        <p:spPr>
          <a:xfrm>
            <a:off x="4656942" y="5284578"/>
            <a:ext cx="7447259" cy="320043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while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    </a:t>
            </a:r>
            <a:r>
              <a:rPr b="0" i="0" lang="en-US" sz="2800" u="none" cap="none" strike="noStrike">
                <a:solidFill>
                  <a:srgbClr val="FFC000"/>
                </a:solidFill>
                <a:latin typeface="Courier"/>
                <a:ea typeface="Courier"/>
                <a:cs typeface="Courier"/>
                <a:sym typeface="Courier"/>
              </a:rPr>
              <a:t>data</a:t>
            </a:r>
            <a:r>
              <a:rPr b="0" i="0" lang="en-US" sz="2800" u="none" cap="none" strike="noStrike">
                <a:solidFill>
                  <a:srgbClr val="FFFF00"/>
                </a:solidFill>
                <a:latin typeface="Courier"/>
                <a:ea typeface="Courier"/>
                <a:cs typeface="Courier"/>
                <a:sym typeface="Courier"/>
              </a:rPr>
              <a:t> = mysock.recv(512)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    if ( len(</a:t>
            </a:r>
            <a:r>
              <a:rPr b="0" i="0" lang="en-US" sz="2800" u="none" cap="none" strike="noStrike">
                <a:solidFill>
                  <a:srgbClr val="FFC000"/>
                </a:solidFill>
                <a:latin typeface="Courier"/>
                <a:ea typeface="Courier"/>
                <a:cs typeface="Courier"/>
                <a:sym typeface="Courier"/>
              </a:rPr>
              <a:t>data</a:t>
            </a:r>
            <a:r>
              <a:rPr b="0" i="0" lang="en-US" sz="2800" u="none" cap="none" strike="noStrike">
                <a:solidFill>
                  <a:srgbClr val="FFFF00"/>
                </a:solidFill>
                <a:latin typeface="Courier"/>
                <a:ea typeface="Courier"/>
                <a:cs typeface="Courier"/>
                <a:sym typeface="Courier"/>
              </a:rPr>
              <a:t>) &lt; 1 )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        break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    mystring = </a:t>
            </a:r>
            <a:r>
              <a:rPr b="0" i="0" lang="en-US" sz="2800" u="none" cap="none" strike="noStrike">
                <a:solidFill>
                  <a:srgbClr val="FFC000"/>
                </a:solidFill>
                <a:latin typeface="Courier"/>
                <a:ea typeface="Courier"/>
                <a:cs typeface="Courier"/>
                <a:sym typeface="Courier"/>
              </a:rPr>
              <a:t>data</a:t>
            </a:r>
            <a:r>
              <a:rPr b="0" i="0" lang="en-US" sz="2800" u="none" cap="none" strike="noStrike">
                <a:solidFill>
                  <a:srgbClr val="FFFF00"/>
                </a:solidFill>
                <a:latin typeface="Courier"/>
                <a:ea typeface="Courier"/>
                <a:cs typeface="Courier"/>
                <a:sym typeface="Courier"/>
              </a:rPr>
              <a:t>.</a:t>
            </a:r>
            <a:r>
              <a:rPr b="0" i="0" lang="en-US" sz="2800" u="none" cap="none" strike="noStrike">
                <a:solidFill>
                  <a:srgbClr val="00FA00"/>
                </a:solidFill>
                <a:latin typeface="Courier"/>
                <a:ea typeface="Courier"/>
                <a:cs typeface="Courier"/>
                <a:sym typeface="Courier"/>
              </a:rPr>
              <a:t>decode()</a:t>
            </a:r>
            <a:endParaRPr b="0" i="0" sz="28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    print(mystring)</a:t>
            </a:r>
            <a:endParaRPr b="0" i="0" sz="2800" u="none" cap="none" strike="noStrike">
              <a:solidFill>
                <a:srgbClr val="FFFF00"/>
              </a:solidFill>
              <a:latin typeface="Courier"/>
              <a:ea typeface="Courier"/>
              <a:cs typeface="Courier"/>
              <a:sym typeface="Couri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1"/>
          <p:cNvSpPr txBox="1"/>
          <p:nvPr>
            <p:ph type="title"/>
          </p:nvPr>
        </p:nvSpPr>
        <p:spPr>
          <a:xfrm>
            <a:off x="1155700" y="847164"/>
            <a:ext cx="13932000" cy="169273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An HTTP Request in Python</a:t>
            </a:r>
            <a:endParaRPr/>
          </a:p>
        </p:txBody>
      </p:sp>
      <p:pic>
        <p:nvPicPr>
          <p:cNvPr id="119" name="Google Shape;119;p11"/>
          <p:cNvPicPr preferRelativeResize="0"/>
          <p:nvPr/>
        </p:nvPicPr>
        <p:blipFill rotWithShape="1">
          <a:blip r:embed="rId3">
            <a:alphaModFix/>
          </a:blip>
          <a:srcRect b="0" l="0" r="0" t="0"/>
          <a:stretch/>
        </p:blipFill>
        <p:spPr>
          <a:xfrm>
            <a:off x="10306050" y="5327650"/>
            <a:ext cx="4965700" cy="2565400"/>
          </a:xfrm>
          <a:prstGeom prst="rect">
            <a:avLst/>
          </a:prstGeom>
          <a:noFill/>
          <a:ln>
            <a:noFill/>
          </a:ln>
        </p:spPr>
      </p:pic>
      <p:sp>
        <p:nvSpPr>
          <p:cNvPr id="120" name="Google Shape;120;p11"/>
          <p:cNvSpPr txBox="1"/>
          <p:nvPr/>
        </p:nvSpPr>
        <p:spPr>
          <a:xfrm>
            <a:off x="1339731" y="2539899"/>
            <a:ext cx="13932019" cy="56938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import socket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mysock = socket.socket(socket.AF_INET, socket.SOCK_STREAM)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mysock.connect(('data.pr4e.org', 80))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cmd = 'GET http://data.pr4e.org/romeo.txt HTTP/1.0\n\n'.</a:t>
            </a:r>
            <a:r>
              <a:rPr b="0" i="0" lang="en-US" sz="2800" u="none" cap="none" strike="noStrike">
                <a:solidFill>
                  <a:srgbClr val="00FA00"/>
                </a:solidFill>
                <a:latin typeface="Courier"/>
                <a:ea typeface="Courier"/>
                <a:cs typeface="Courier"/>
                <a:sym typeface="Courier"/>
              </a:rPr>
              <a:t>encode()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mysock.send(cmd)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while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    data = mysock.recv(512)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    if (len(data) &lt;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        break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    print(</a:t>
            </a:r>
            <a:r>
              <a:rPr b="0" i="0" lang="en-US" sz="2800" u="none" cap="none" strike="noStrike">
                <a:solidFill>
                  <a:srgbClr val="00FA00"/>
                </a:solidFill>
                <a:latin typeface="Courier"/>
                <a:ea typeface="Courier"/>
                <a:cs typeface="Courier"/>
                <a:sym typeface="Courier"/>
              </a:rPr>
              <a:t>data.decode()</a:t>
            </a:r>
            <a:r>
              <a:rPr b="0" i="0" lang="en-US" sz="28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800"/>
              <a:buFont typeface="Courier"/>
              <a:buNone/>
            </a:pPr>
            <a:r>
              <a:rPr b="0" i="0" lang="en-US" sz="2800" u="none" cap="none" strike="noStrike">
                <a:solidFill>
                  <a:schemeClr val="lt1"/>
                </a:solidFill>
                <a:latin typeface="Courier"/>
                <a:ea typeface="Courier"/>
                <a:cs typeface="Courier"/>
                <a:sym typeface="Courier"/>
              </a:rPr>
              <a:t>mysock.close()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2"/>
          <p:cNvSpPr/>
          <p:nvPr/>
        </p:nvSpPr>
        <p:spPr>
          <a:xfrm>
            <a:off x="535825" y="7548248"/>
            <a:ext cx="975940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00"/>
              </a:buClr>
              <a:buSzPts val="2800"/>
              <a:buFont typeface="Arial"/>
              <a:buNone/>
            </a:pPr>
            <a:r>
              <a:rPr b="0" i="0" lang="en-US" sz="2800" u="none" cap="none" strike="noStrike">
                <a:solidFill>
                  <a:srgbClr val="FFFF00"/>
                </a:solidFill>
                <a:latin typeface="Arial"/>
                <a:ea typeface="Arial"/>
                <a:cs typeface="Arial"/>
                <a:sym typeface="Arial"/>
              </a:rPr>
              <a:t>https://docs.python.org/3/library/stdtypes.html#bytes.decode</a:t>
            </a:r>
            <a:endParaRPr b="0" i="0" sz="28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2800"/>
              <a:buFont typeface="Arial"/>
              <a:buNone/>
            </a:pPr>
            <a:r>
              <a:rPr b="0" i="0" lang="en-US" sz="2800" u="none" cap="none" strike="noStrike">
                <a:solidFill>
                  <a:srgbClr val="FFFF00"/>
                </a:solidFill>
                <a:latin typeface="Arial"/>
                <a:ea typeface="Arial"/>
                <a:cs typeface="Arial"/>
                <a:sym typeface="Arial"/>
              </a:rPr>
              <a:t>https://docs.python.org/3/library/stdtypes.html#str.encode</a:t>
            </a:r>
            <a:endParaRPr b="0" i="0" sz="2800" u="none" cap="none" strike="noStrike">
              <a:solidFill>
                <a:srgbClr val="FFFF00"/>
              </a:solidFill>
              <a:latin typeface="Arial"/>
              <a:ea typeface="Arial"/>
              <a:cs typeface="Arial"/>
              <a:sym typeface="Arial"/>
            </a:endParaRPr>
          </a:p>
        </p:txBody>
      </p:sp>
      <p:pic>
        <p:nvPicPr>
          <p:cNvPr id="127" name="Google Shape;127;p12"/>
          <p:cNvPicPr preferRelativeResize="0"/>
          <p:nvPr/>
        </p:nvPicPr>
        <p:blipFill rotWithShape="1">
          <a:blip r:embed="rId3">
            <a:alphaModFix/>
          </a:blip>
          <a:srcRect b="0" l="0" r="0" t="0"/>
          <a:stretch/>
        </p:blipFill>
        <p:spPr>
          <a:xfrm>
            <a:off x="1820531" y="1442189"/>
            <a:ext cx="12700000" cy="2006600"/>
          </a:xfrm>
          <a:prstGeom prst="rect">
            <a:avLst/>
          </a:prstGeom>
          <a:noFill/>
          <a:ln>
            <a:noFill/>
          </a:ln>
        </p:spPr>
      </p:pic>
      <p:pic>
        <p:nvPicPr>
          <p:cNvPr id="128" name="Google Shape;128;p12"/>
          <p:cNvPicPr preferRelativeResize="0"/>
          <p:nvPr/>
        </p:nvPicPr>
        <p:blipFill rotWithShape="1">
          <a:blip r:embed="rId4">
            <a:alphaModFix/>
          </a:blip>
          <a:srcRect b="0" l="0" r="0" t="0"/>
          <a:stretch/>
        </p:blipFill>
        <p:spPr>
          <a:xfrm>
            <a:off x="1820531" y="4308549"/>
            <a:ext cx="12636500" cy="1930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p:nvPr/>
        </p:nvSpPr>
        <p:spPr>
          <a:xfrm>
            <a:off x="12439944" y="1001670"/>
            <a:ext cx="3019796" cy="2921751"/>
          </a:xfrm>
          <a:prstGeom prst="cloud">
            <a:avLst/>
          </a:prstGeom>
          <a:solidFill>
            <a:schemeClr val="accent1"/>
          </a:solidFill>
          <a:ln cap="flat" cmpd="sng" w="25400">
            <a:solidFill>
              <a:srgbClr val="88A3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2400"/>
              <a:buFont typeface="Arial"/>
              <a:buNone/>
            </a:pPr>
            <a:r>
              <a:rPr b="0" i="0" lang="en-US" sz="2400" u="none" cap="none" strike="noStrike">
                <a:solidFill>
                  <a:schemeClr val="accent6"/>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p:txBody>
      </p:sp>
      <p:sp>
        <p:nvSpPr>
          <p:cNvPr id="135" name="Google Shape;135;p13"/>
          <p:cNvSpPr/>
          <p:nvPr/>
        </p:nvSpPr>
        <p:spPr>
          <a:xfrm>
            <a:off x="11126135" y="1874273"/>
            <a:ext cx="1647161" cy="1176544"/>
          </a:xfrm>
          <a:prstGeom prst="rect">
            <a:avLst/>
          </a:prstGeom>
          <a:solidFill>
            <a:schemeClr val="accent1"/>
          </a:solid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2400"/>
              <a:buFont typeface="Arial"/>
              <a:buNone/>
            </a:pPr>
            <a:r>
              <a:rPr b="0" i="0" lang="en-US" sz="2400" u="none" cap="none" strike="noStrike">
                <a:solidFill>
                  <a:schemeClr val="accent6"/>
                </a:solidFill>
                <a:latin typeface="Arial"/>
                <a:ea typeface="Arial"/>
                <a:cs typeface="Arial"/>
                <a:sym typeface="Arial"/>
              </a:rPr>
              <a:t>Socket</a:t>
            </a:r>
            <a:endParaRPr b="0" i="0" sz="1400" u="none" cap="none" strike="noStrike">
              <a:solidFill>
                <a:srgbClr val="000000"/>
              </a:solidFill>
              <a:latin typeface="Arial"/>
              <a:ea typeface="Arial"/>
              <a:cs typeface="Arial"/>
              <a:sym typeface="Arial"/>
            </a:endParaRPr>
          </a:p>
        </p:txBody>
      </p:sp>
      <p:sp>
        <p:nvSpPr>
          <p:cNvPr id="136" name="Google Shape;136;p13"/>
          <p:cNvSpPr/>
          <p:nvPr/>
        </p:nvSpPr>
        <p:spPr>
          <a:xfrm>
            <a:off x="7875932" y="1364434"/>
            <a:ext cx="1647161" cy="1176544"/>
          </a:xfrm>
          <a:prstGeom prst="rect">
            <a:avLst/>
          </a:prstGeom>
          <a:solidFill>
            <a:schemeClr val="accent1"/>
          </a:solid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2400"/>
              <a:buFont typeface="Arial"/>
              <a:buNone/>
            </a:pPr>
            <a:r>
              <a:rPr b="0" i="0" lang="en-US" sz="2400" u="none" cap="none" strike="noStrike">
                <a:solidFill>
                  <a:schemeClr val="accent6"/>
                </a:solidFill>
                <a:latin typeface="Arial"/>
                <a:ea typeface="Arial"/>
                <a:cs typeface="Arial"/>
                <a:sym typeface="Arial"/>
              </a:rPr>
              <a:t>Bytes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accent6"/>
              </a:buClr>
              <a:buSzPts val="2400"/>
              <a:buFont typeface="Arial"/>
              <a:buNone/>
            </a:pPr>
            <a:r>
              <a:rPr b="0" i="0" lang="en-US" sz="2400" u="none" cap="none" strike="noStrike">
                <a:solidFill>
                  <a:schemeClr val="accent6"/>
                </a:solidFill>
                <a:latin typeface="Arial"/>
                <a:ea typeface="Arial"/>
                <a:cs typeface="Arial"/>
                <a:sym typeface="Arial"/>
              </a:rPr>
              <a:t>UTF-8</a:t>
            </a:r>
            <a:endParaRPr b="0" i="0" sz="1400" u="none" cap="none" strike="noStrike">
              <a:solidFill>
                <a:srgbClr val="000000"/>
              </a:solidFill>
              <a:latin typeface="Arial"/>
              <a:ea typeface="Arial"/>
              <a:cs typeface="Arial"/>
              <a:sym typeface="Arial"/>
            </a:endParaRPr>
          </a:p>
        </p:txBody>
      </p:sp>
      <p:sp>
        <p:nvSpPr>
          <p:cNvPr id="137" name="Google Shape;137;p13"/>
          <p:cNvSpPr/>
          <p:nvPr/>
        </p:nvSpPr>
        <p:spPr>
          <a:xfrm>
            <a:off x="4380615" y="2060560"/>
            <a:ext cx="1647161" cy="1176544"/>
          </a:xfrm>
          <a:prstGeom prst="rect">
            <a:avLst/>
          </a:prstGeom>
          <a:solidFill>
            <a:schemeClr val="accent1"/>
          </a:solid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2400"/>
              <a:buFont typeface="Arial"/>
              <a:buNone/>
            </a:pPr>
            <a:r>
              <a:rPr b="0" i="0" lang="en-US" sz="2400" u="none" cap="none" strike="noStrike">
                <a:solidFill>
                  <a:schemeClr val="accent6"/>
                </a:solidFill>
                <a:latin typeface="Arial"/>
                <a:ea typeface="Arial"/>
                <a:cs typeface="Arial"/>
                <a:sym typeface="Arial"/>
              </a:rPr>
              <a:t>String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accent6"/>
              </a:buClr>
              <a:buSzPts val="2400"/>
              <a:buFont typeface="Arial"/>
              <a:buNone/>
            </a:pPr>
            <a:r>
              <a:rPr b="0" i="0" lang="en-US" sz="2400" u="none" cap="none" strike="noStrike">
                <a:solidFill>
                  <a:schemeClr val="accent6"/>
                </a:solidFill>
                <a:latin typeface="Arial"/>
                <a:ea typeface="Arial"/>
                <a:cs typeface="Arial"/>
                <a:sym typeface="Arial"/>
              </a:rPr>
              <a:t>Unicode</a:t>
            </a:r>
            <a:endParaRPr b="0" i="0" sz="1400" u="none" cap="none" strike="noStrike">
              <a:solidFill>
                <a:srgbClr val="000000"/>
              </a:solidFill>
              <a:latin typeface="Arial"/>
              <a:ea typeface="Arial"/>
              <a:cs typeface="Arial"/>
              <a:sym typeface="Arial"/>
            </a:endParaRPr>
          </a:p>
        </p:txBody>
      </p:sp>
      <p:sp>
        <p:nvSpPr>
          <p:cNvPr id="138" name="Google Shape;138;p13"/>
          <p:cNvSpPr/>
          <p:nvPr/>
        </p:nvSpPr>
        <p:spPr>
          <a:xfrm>
            <a:off x="7920051" y="2746880"/>
            <a:ext cx="1647161" cy="1176544"/>
          </a:xfrm>
          <a:prstGeom prst="rect">
            <a:avLst/>
          </a:prstGeom>
          <a:solidFill>
            <a:schemeClr val="accent1"/>
          </a:solidFill>
          <a:ln cap="flat" cmpd="sng" w="381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2400"/>
              <a:buFont typeface="Arial"/>
              <a:buNone/>
            </a:pPr>
            <a:r>
              <a:rPr b="0" i="0" lang="en-US" sz="2400" u="none" cap="none" strike="noStrike">
                <a:solidFill>
                  <a:schemeClr val="accent6"/>
                </a:solidFill>
                <a:latin typeface="Arial"/>
                <a:ea typeface="Arial"/>
                <a:cs typeface="Arial"/>
                <a:sym typeface="Arial"/>
              </a:rPr>
              <a:t>Bytes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accent6"/>
              </a:buClr>
              <a:buSzPts val="2400"/>
              <a:buFont typeface="Arial"/>
              <a:buNone/>
            </a:pPr>
            <a:r>
              <a:rPr b="0" i="0" lang="en-US" sz="2400" u="none" cap="none" strike="noStrike">
                <a:solidFill>
                  <a:schemeClr val="accent6"/>
                </a:solidFill>
                <a:latin typeface="Arial"/>
                <a:ea typeface="Arial"/>
                <a:cs typeface="Arial"/>
                <a:sym typeface="Arial"/>
              </a:rPr>
              <a:t>UTF-8</a:t>
            </a:r>
            <a:endParaRPr b="0" i="0" sz="1400" u="none" cap="none" strike="noStrike">
              <a:solidFill>
                <a:srgbClr val="000000"/>
              </a:solidFill>
              <a:latin typeface="Arial"/>
              <a:ea typeface="Arial"/>
              <a:cs typeface="Arial"/>
              <a:sym typeface="Arial"/>
            </a:endParaRPr>
          </a:p>
        </p:txBody>
      </p:sp>
      <p:cxnSp>
        <p:nvCxnSpPr>
          <p:cNvPr id="139" name="Google Shape;139;p13"/>
          <p:cNvCxnSpPr>
            <a:stCxn id="137" idx="3"/>
            <a:endCxn id="138" idx="1"/>
          </p:cNvCxnSpPr>
          <p:nvPr/>
        </p:nvCxnSpPr>
        <p:spPr>
          <a:xfrm>
            <a:off x="6027776" y="2648832"/>
            <a:ext cx="1892400" cy="686400"/>
          </a:xfrm>
          <a:prstGeom prst="straightConnector1">
            <a:avLst/>
          </a:prstGeom>
          <a:noFill/>
          <a:ln cap="flat" cmpd="sng" w="57150">
            <a:solidFill>
              <a:srgbClr val="92D050"/>
            </a:solidFill>
            <a:prstDash val="solid"/>
            <a:round/>
            <a:headEnd len="sm" w="sm" type="none"/>
            <a:tailEnd len="med" w="med" type="triangle"/>
          </a:ln>
        </p:spPr>
      </p:cxnSp>
      <p:cxnSp>
        <p:nvCxnSpPr>
          <p:cNvPr id="140" name="Google Shape;140;p13"/>
          <p:cNvCxnSpPr>
            <a:stCxn id="135" idx="1"/>
            <a:endCxn id="136" idx="3"/>
          </p:cNvCxnSpPr>
          <p:nvPr/>
        </p:nvCxnSpPr>
        <p:spPr>
          <a:xfrm rot="10800000">
            <a:off x="9523235" y="1952845"/>
            <a:ext cx="1602900" cy="509700"/>
          </a:xfrm>
          <a:prstGeom prst="straightConnector1">
            <a:avLst/>
          </a:prstGeom>
          <a:noFill/>
          <a:ln cap="flat" cmpd="sng" w="57150">
            <a:solidFill>
              <a:srgbClr val="92D050"/>
            </a:solidFill>
            <a:prstDash val="solid"/>
            <a:round/>
            <a:headEnd len="sm" w="sm" type="none"/>
            <a:tailEnd len="med" w="med" type="triangle"/>
          </a:ln>
        </p:spPr>
      </p:cxnSp>
      <p:cxnSp>
        <p:nvCxnSpPr>
          <p:cNvPr id="141" name="Google Shape;141;p13"/>
          <p:cNvCxnSpPr>
            <a:stCxn id="138" idx="3"/>
            <a:endCxn id="135" idx="1"/>
          </p:cNvCxnSpPr>
          <p:nvPr/>
        </p:nvCxnSpPr>
        <p:spPr>
          <a:xfrm flipH="1" rot="10800000">
            <a:off x="9567212" y="2462452"/>
            <a:ext cx="1558800" cy="872700"/>
          </a:xfrm>
          <a:prstGeom prst="straightConnector1">
            <a:avLst/>
          </a:prstGeom>
          <a:noFill/>
          <a:ln cap="flat" cmpd="sng" w="57150">
            <a:solidFill>
              <a:srgbClr val="92D050"/>
            </a:solidFill>
            <a:prstDash val="solid"/>
            <a:round/>
            <a:headEnd len="sm" w="sm" type="none"/>
            <a:tailEnd len="med" w="med" type="triangle"/>
          </a:ln>
        </p:spPr>
      </p:cxnSp>
      <p:cxnSp>
        <p:nvCxnSpPr>
          <p:cNvPr id="142" name="Google Shape;142;p13"/>
          <p:cNvCxnSpPr>
            <a:stCxn id="136" idx="1"/>
            <a:endCxn id="137" idx="3"/>
          </p:cNvCxnSpPr>
          <p:nvPr/>
        </p:nvCxnSpPr>
        <p:spPr>
          <a:xfrm flipH="1">
            <a:off x="6027632" y="1952706"/>
            <a:ext cx="1848300" cy="696000"/>
          </a:xfrm>
          <a:prstGeom prst="straightConnector1">
            <a:avLst/>
          </a:prstGeom>
          <a:noFill/>
          <a:ln cap="flat" cmpd="sng" w="57150">
            <a:solidFill>
              <a:srgbClr val="92D050"/>
            </a:solidFill>
            <a:prstDash val="solid"/>
            <a:round/>
            <a:headEnd len="sm" w="sm" type="none"/>
            <a:tailEnd len="med" w="med" type="triangle"/>
          </a:ln>
        </p:spPr>
      </p:cxnSp>
      <p:sp>
        <p:nvSpPr>
          <p:cNvPr id="143" name="Google Shape;143;p13"/>
          <p:cNvSpPr txBox="1"/>
          <p:nvPr/>
        </p:nvSpPr>
        <p:spPr>
          <a:xfrm>
            <a:off x="9988823" y="1568276"/>
            <a:ext cx="971741"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recv()</a:t>
            </a:r>
            <a:endParaRPr b="0" i="0" sz="1400" u="none" cap="none" strike="noStrike">
              <a:solidFill>
                <a:srgbClr val="000000"/>
              </a:solidFill>
              <a:latin typeface="Arial"/>
              <a:ea typeface="Arial"/>
              <a:cs typeface="Arial"/>
              <a:sym typeface="Arial"/>
            </a:endParaRPr>
          </a:p>
        </p:txBody>
      </p:sp>
      <p:sp>
        <p:nvSpPr>
          <p:cNvPr id="144" name="Google Shape;144;p13"/>
          <p:cNvSpPr txBox="1"/>
          <p:nvPr/>
        </p:nvSpPr>
        <p:spPr>
          <a:xfrm>
            <a:off x="6216272" y="1445721"/>
            <a:ext cx="1401346"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decode()</a:t>
            </a:r>
            <a:endParaRPr b="0" i="0" sz="1400" u="none" cap="none" strike="noStrike">
              <a:solidFill>
                <a:srgbClr val="000000"/>
              </a:solidFill>
              <a:latin typeface="Arial"/>
              <a:ea typeface="Arial"/>
              <a:cs typeface="Arial"/>
              <a:sym typeface="Arial"/>
            </a:endParaRPr>
          </a:p>
        </p:txBody>
      </p:sp>
      <p:sp>
        <p:nvSpPr>
          <p:cNvPr id="145" name="Google Shape;145;p13"/>
          <p:cNvSpPr txBox="1"/>
          <p:nvPr/>
        </p:nvSpPr>
        <p:spPr>
          <a:xfrm>
            <a:off x="6216272" y="3201771"/>
            <a:ext cx="1401346"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encode()</a:t>
            </a:r>
            <a:endParaRPr b="0" i="0" sz="1400" u="none" cap="none" strike="noStrike">
              <a:solidFill>
                <a:srgbClr val="000000"/>
              </a:solidFill>
              <a:latin typeface="Arial"/>
              <a:ea typeface="Arial"/>
              <a:cs typeface="Arial"/>
              <a:sym typeface="Arial"/>
            </a:endParaRPr>
          </a:p>
        </p:txBody>
      </p:sp>
      <p:sp>
        <p:nvSpPr>
          <p:cNvPr id="146" name="Google Shape;146;p13"/>
          <p:cNvSpPr txBox="1"/>
          <p:nvPr/>
        </p:nvSpPr>
        <p:spPr>
          <a:xfrm>
            <a:off x="9945542" y="3075223"/>
            <a:ext cx="1058303"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send()</a:t>
            </a:r>
            <a:endParaRPr b="0" i="0" sz="1400" u="none" cap="none" strike="noStrike">
              <a:solidFill>
                <a:srgbClr val="000000"/>
              </a:solidFill>
              <a:latin typeface="Arial"/>
              <a:ea typeface="Arial"/>
              <a:cs typeface="Arial"/>
              <a:sym typeface="Arial"/>
            </a:endParaRPr>
          </a:p>
        </p:txBody>
      </p:sp>
      <p:sp>
        <p:nvSpPr>
          <p:cNvPr id="147" name="Google Shape;147;p13"/>
          <p:cNvSpPr txBox="1"/>
          <p:nvPr/>
        </p:nvSpPr>
        <p:spPr>
          <a:xfrm>
            <a:off x="460341" y="4096180"/>
            <a:ext cx="11374449" cy="44935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import socket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mysock = socket.socket(socket.AF_INET, socket.SOCK_STREAM)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mysock.connect(('data.pr4e.org', 80))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cmd = 'GET http://data.pr4e.org/romeo.txt HTTP/1.0\n\n'.</a:t>
            </a:r>
            <a:r>
              <a:rPr b="0" i="0" lang="en-US" sz="2200" u="none" cap="none" strike="noStrike">
                <a:solidFill>
                  <a:srgbClr val="00FA00"/>
                </a:solidFill>
                <a:latin typeface="Courier"/>
                <a:ea typeface="Courier"/>
                <a:cs typeface="Courier"/>
                <a:sym typeface="Courier"/>
              </a:rPr>
              <a:t>encode()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mysock.send(cmd)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while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    data = mysock.recv(512)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    if (len(data) &lt;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        break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    print(</a:t>
            </a:r>
            <a:r>
              <a:rPr b="0" i="0" lang="en-US" sz="2200" u="none" cap="none" strike="noStrike">
                <a:solidFill>
                  <a:srgbClr val="00FA00"/>
                </a:solidFill>
                <a:latin typeface="Courier"/>
                <a:ea typeface="Courier"/>
                <a:cs typeface="Courier"/>
                <a:sym typeface="Courier"/>
              </a:rPr>
              <a:t>data.decode()</a:t>
            </a:r>
            <a:r>
              <a:rPr b="0" i="0" lang="en-US" sz="22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200"/>
              <a:buFont typeface="Courier"/>
              <a:buNone/>
            </a:pPr>
            <a:r>
              <a:rPr b="0" i="0" lang="en-US" sz="2200" u="none" cap="none" strike="noStrike">
                <a:solidFill>
                  <a:schemeClr val="lt1"/>
                </a:solidFill>
                <a:latin typeface="Courier"/>
                <a:ea typeface="Courier"/>
                <a:cs typeface="Courier"/>
                <a:sym typeface="Courier"/>
              </a:rPr>
              <a:t>mysock.close()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4"/>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Making HTTP Easier With urllib</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5"/>
          <p:cNvSpPr txBox="1"/>
          <p:nvPr>
            <p:ph idx="1" type="body"/>
          </p:nvPr>
        </p:nvSpPr>
        <p:spPr>
          <a:xfrm>
            <a:off x="1155700" y="2603500"/>
            <a:ext cx="13932000" cy="5702399"/>
          </a:xfrm>
          <a:prstGeom prst="rect">
            <a:avLst/>
          </a:prstGeom>
          <a:noFill/>
          <a:ln>
            <a:noFill/>
          </a:ln>
        </p:spPr>
        <p:txBody>
          <a:bodyPr anchorCtr="0" anchor="t"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Since HTTP is so common, we have a library that does all the socket work for us and makes web pages look like a file</a:t>
            </a:r>
            <a:endParaRPr/>
          </a:p>
        </p:txBody>
      </p:sp>
      <p:sp>
        <p:nvSpPr>
          <p:cNvPr id="158" name="Google Shape;158;p15"/>
          <p:cNvSpPr txBox="1"/>
          <p:nvPr/>
        </p:nvSpPr>
        <p:spPr>
          <a:xfrm>
            <a:off x="654280" y="4768850"/>
            <a:ext cx="15462019" cy="276859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00"/>
              </a:buClr>
              <a:buSzPts val="3000"/>
              <a:buFont typeface="Courier"/>
              <a:buNone/>
            </a:pPr>
            <a:r>
              <a:rPr b="0" i="0" lang="en-US" sz="3000" u="none" cap="none" strike="noStrike">
                <a:solidFill>
                  <a:srgbClr val="FFFF00"/>
                </a:solidFill>
                <a:latin typeface="Courier"/>
                <a:ea typeface="Courier"/>
                <a:cs typeface="Courier"/>
                <a:sym typeface="Courier"/>
              </a:rPr>
              <a:t>import urllib.request, urllib.parse, urllib.error</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0"/>
              <a:buFont typeface="Courier"/>
              <a:buNone/>
            </a:pPr>
            <a:r>
              <a:rPr b="0" i="0" lang="en-US" sz="3000" u="none" cap="none" strike="noStrike">
                <a:solidFill>
                  <a:srgbClr val="FFFF00"/>
                </a:solidFill>
                <a:latin typeface="Courier"/>
                <a:ea typeface="Courier"/>
                <a:cs typeface="Courier"/>
                <a:sym typeface="Courier"/>
              </a:rPr>
              <a:t>fhand = urllib.request.urlopen('http://data.pr4e.org/romeo.txt')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3000"/>
              <a:buFont typeface="Courier"/>
              <a:buNone/>
            </a:pPr>
            <a:r>
              <a:rPr b="0" i="0" lang="en-US" sz="3000" u="none" cap="none" strike="noStrike">
                <a:solidFill>
                  <a:srgbClr val="FFFF00"/>
                </a:solidFill>
                <a:latin typeface="Courier"/>
                <a:ea typeface="Courier"/>
                <a:cs typeface="Courier"/>
                <a:sym typeface="Courier"/>
              </a:rPr>
              <a:t>for line in fhand: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3000"/>
              <a:buFont typeface="Courier"/>
              <a:buNone/>
            </a:pPr>
            <a:r>
              <a:rPr b="0" i="0" lang="en-US" sz="3000" u="none" cap="none" strike="noStrike">
                <a:solidFill>
                  <a:srgbClr val="FFFF00"/>
                </a:solidFill>
                <a:latin typeface="Courier"/>
                <a:ea typeface="Courier"/>
                <a:cs typeface="Courier"/>
                <a:sym typeface="Courier"/>
              </a:rPr>
              <a:t>    print(line.</a:t>
            </a:r>
            <a:r>
              <a:rPr b="0" i="0" lang="en-US" sz="3000" u="none" cap="none" strike="noStrike">
                <a:solidFill>
                  <a:srgbClr val="FF40FF"/>
                </a:solidFill>
                <a:latin typeface="Courier"/>
                <a:ea typeface="Courier"/>
                <a:cs typeface="Courier"/>
                <a:sym typeface="Courier"/>
              </a:rPr>
              <a:t>decode()</a:t>
            </a:r>
            <a:r>
              <a:rPr b="0" i="0" lang="en-US" sz="3000" u="none" cap="none" strike="noStrike">
                <a:solidFill>
                  <a:srgbClr val="FFFF00"/>
                </a:solidFill>
                <a:latin typeface="Courier"/>
                <a:ea typeface="Courier"/>
                <a:cs typeface="Courier"/>
                <a:sym typeface="Courier"/>
              </a:rPr>
              <a:t>.strip())</a:t>
            </a:r>
            <a:endParaRPr b="0" i="0" sz="3000" u="none" cap="none" strike="noStrike">
              <a:solidFill>
                <a:srgbClr val="FFFF00"/>
              </a:solidFill>
              <a:latin typeface="Courier"/>
              <a:ea typeface="Courier"/>
              <a:cs typeface="Courier"/>
              <a:sym typeface="Courier"/>
            </a:endParaRPr>
          </a:p>
        </p:txBody>
      </p:sp>
      <p:sp>
        <p:nvSpPr>
          <p:cNvPr id="159" name="Google Shape;159;p15"/>
          <p:cNvSpPr txBox="1"/>
          <p:nvPr>
            <p:ph type="title"/>
          </p:nvPr>
        </p:nvSpPr>
        <p:spPr>
          <a:xfrm>
            <a:off x="1155700" y="847164"/>
            <a:ext cx="13932000" cy="169273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chemeClr val="lt1"/>
                </a:solidFill>
                <a:latin typeface="Arial"/>
                <a:ea typeface="Arial"/>
                <a:cs typeface="Arial"/>
                <a:sym typeface="Arial"/>
              </a:rPr>
              <a:t>Using </a:t>
            </a:r>
            <a:r>
              <a:rPr lang="en-US" sz="7600" u="none" cap="none" strike="noStrike">
                <a:solidFill>
                  <a:srgbClr val="00FF00"/>
                </a:solidFill>
                <a:latin typeface="Arial"/>
                <a:ea typeface="Arial"/>
                <a:cs typeface="Arial"/>
                <a:sym typeface="Arial"/>
              </a:rPr>
              <a:t>urllib</a:t>
            </a:r>
            <a:r>
              <a:rPr lang="en-US" sz="7600" u="none" cap="none" strike="noStrike">
                <a:solidFill>
                  <a:schemeClr val="lt1"/>
                </a:solidFill>
                <a:latin typeface="Arial"/>
                <a:ea typeface="Arial"/>
                <a:cs typeface="Arial"/>
                <a:sym typeface="Arial"/>
              </a:rPr>
              <a:t> in Python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6"/>
          <p:cNvSpPr txBox="1"/>
          <p:nvPr/>
        </p:nvSpPr>
        <p:spPr>
          <a:xfrm>
            <a:off x="3238500" y="4930775"/>
            <a:ext cx="10239000" cy="23543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But soft what light through yonder window breaks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It is the east and Juliet is the sun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Arise fair sun and kill the envious moon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Who is already sick and pale with grief</a:t>
            </a:r>
            <a:endParaRPr b="0" i="0" sz="1400" u="none" cap="none" strike="noStrike">
              <a:solidFill>
                <a:srgbClr val="000000"/>
              </a:solidFill>
              <a:latin typeface="Arial"/>
              <a:ea typeface="Arial"/>
              <a:cs typeface="Arial"/>
              <a:sym typeface="Arial"/>
            </a:endParaRPr>
          </a:p>
        </p:txBody>
      </p:sp>
      <p:sp>
        <p:nvSpPr>
          <p:cNvPr id="165" name="Google Shape;165;p16"/>
          <p:cNvSpPr txBox="1"/>
          <p:nvPr/>
        </p:nvSpPr>
        <p:spPr>
          <a:xfrm>
            <a:off x="692772" y="1301750"/>
            <a:ext cx="15425467" cy="276859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00"/>
              </a:buClr>
              <a:buSzPts val="3000"/>
              <a:buFont typeface="Courier"/>
              <a:buNone/>
            </a:pPr>
            <a:r>
              <a:rPr b="0" i="0" lang="en-US" sz="3000" u="none" cap="none" strike="noStrike">
                <a:solidFill>
                  <a:srgbClr val="FFFF00"/>
                </a:solidFill>
                <a:latin typeface="Courier"/>
                <a:ea typeface="Courier"/>
                <a:cs typeface="Courier"/>
                <a:sym typeface="Courier"/>
              </a:rPr>
              <a:t>import urllib.request, urllib.parse, urllib.error</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0"/>
              <a:buFont typeface="Courier"/>
              <a:buNone/>
            </a:pPr>
            <a:r>
              <a:rPr b="0" i="0" lang="en-US" sz="3000" u="none" cap="none" strike="noStrike">
                <a:solidFill>
                  <a:srgbClr val="FFFF00"/>
                </a:solidFill>
                <a:latin typeface="Courier"/>
                <a:ea typeface="Courier"/>
                <a:cs typeface="Courier"/>
                <a:sym typeface="Courier"/>
              </a:rPr>
              <a:t>fhand = urllib.request.urlopen('http://data.pr4e.org/romeo.txt')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3000"/>
              <a:buFont typeface="Courier"/>
              <a:buNone/>
            </a:pPr>
            <a:r>
              <a:rPr b="0" i="0" lang="en-US" sz="3000" u="none" cap="none" strike="noStrike">
                <a:solidFill>
                  <a:srgbClr val="FFFF00"/>
                </a:solidFill>
                <a:latin typeface="Courier"/>
                <a:ea typeface="Courier"/>
                <a:cs typeface="Courier"/>
                <a:sym typeface="Courier"/>
              </a:rPr>
              <a:t>for line in fhand: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3000"/>
              <a:buFont typeface="Courier"/>
              <a:buNone/>
            </a:pPr>
            <a:r>
              <a:rPr b="0" i="0" lang="en-US" sz="3000" u="none" cap="none" strike="noStrike">
                <a:solidFill>
                  <a:srgbClr val="FFFF00"/>
                </a:solidFill>
                <a:latin typeface="Courier"/>
                <a:ea typeface="Courier"/>
                <a:cs typeface="Courier"/>
                <a:sym typeface="Courier"/>
              </a:rPr>
              <a:t>    print(line.</a:t>
            </a:r>
            <a:r>
              <a:rPr b="0" i="0" lang="en-US" sz="3000" u="none" cap="none" strike="noStrike">
                <a:solidFill>
                  <a:srgbClr val="FF40FF"/>
                </a:solidFill>
                <a:latin typeface="Courier"/>
                <a:ea typeface="Courier"/>
                <a:cs typeface="Courier"/>
                <a:sym typeface="Courier"/>
              </a:rPr>
              <a:t>decode()</a:t>
            </a:r>
            <a:r>
              <a:rPr b="0" i="0" lang="en-US" sz="3000" u="none" cap="none" strike="noStrike">
                <a:solidFill>
                  <a:srgbClr val="FFFF00"/>
                </a:solidFill>
                <a:latin typeface="Courier"/>
                <a:ea typeface="Courier"/>
                <a:cs typeface="Courier"/>
                <a:sym typeface="Courier"/>
              </a:rPr>
              <a:t>.strip())</a:t>
            </a:r>
            <a:endParaRPr b="0" i="0" sz="3000" u="none" cap="none" strike="noStrike">
              <a:solidFill>
                <a:srgbClr val="FFFF00"/>
              </a:solidFill>
              <a:latin typeface="Courier"/>
              <a:ea typeface="Courier"/>
              <a:cs typeface="Courier"/>
              <a:sym typeface="Couri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1155700" y="847164"/>
            <a:ext cx="13932000" cy="169273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Treat a Webpage Like a File...</a:t>
            </a:r>
            <a:endParaRPr/>
          </a:p>
        </p:txBody>
      </p:sp>
      <p:sp>
        <p:nvSpPr>
          <p:cNvPr id="171" name="Google Shape;171;p17"/>
          <p:cNvSpPr txBox="1"/>
          <p:nvPr/>
        </p:nvSpPr>
        <p:spPr>
          <a:xfrm>
            <a:off x="577306" y="2901950"/>
            <a:ext cx="15678693" cy="494813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40FF"/>
              </a:buClr>
              <a:buSzPts val="3000"/>
              <a:buFont typeface="Courier"/>
              <a:buNone/>
            </a:pPr>
            <a:r>
              <a:rPr b="0" i="0" lang="en-US" sz="3000" u="none" cap="none" strike="noStrike">
                <a:solidFill>
                  <a:srgbClr val="FF40FF"/>
                </a:solidFill>
                <a:latin typeface="Courier"/>
                <a:ea typeface="Courier"/>
                <a:cs typeface="Courier"/>
                <a:sym typeface="Courier"/>
              </a:rPr>
              <a:t>import urllib.request, urllib.parse, urllib.error</a:t>
            </a:r>
            <a:endParaRPr b="0" i="0" sz="3000" u="none" cap="none" strike="noStrike">
              <a:solidFill>
                <a:srgbClr val="FF4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FF4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0"/>
              <a:buFont typeface="Courier"/>
              <a:buNone/>
            </a:pPr>
            <a:r>
              <a:rPr b="0" i="0" lang="en-US" sz="3000" u="none" cap="none" strike="noStrike">
                <a:solidFill>
                  <a:schemeClr val="lt1"/>
                </a:solidFill>
                <a:latin typeface="Courier"/>
                <a:ea typeface="Courier"/>
                <a:cs typeface="Courier"/>
                <a:sym typeface="Courier"/>
              </a:rPr>
              <a:t>fhand = urllib.request.urlopen('http://data.pr4e.org/romeo.txt')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FF40FF"/>
              </a:solidFill>
              <a:latin typeface="Courier"/>
              <a:ea typeface="Courier"/>
              <a:cs typeface="Courier"/>
              <a:sym typeface="Courier"/>
            </a:endParaRPr>
          </a:p>
          <a:p>
            <a:pPr indent="0" lvl="0" marL="0" marR="0" rtl="0" algn="l">
              <a:lnSpc>
                <a:spcPct val="100000"/>
              </a:lnSpc>
              <a:spcBef>
                <a:spcPts val="0"/>
              </a:spcBef>
              <a:spcAft>
                <a:spcPts val="0"/>
              </a:spcAft>
              <a:buClr>
                <a:srgbClr val="FF40FF"/>
              </a:buClr>
              <a:buSzPts val="3000"/>
              <a:buFont typeface="Courier"/>
              <a:buNone/>
            </a:pPr>
            <a:r>
              <a:rPr b="0" i="0" lang="en-US" sz="3000" u="none" cap="none" strike="noStrike">
                <a:solidFill>
                  <a:srgbClr val="FF40FF"/>
                </a:solidFill>
                <a:latin typeface="Courier"/>
                <a:ea typeface="Courier"/>
                <a:cs typeface="Courier"/>
                <a:sym typeface="Courier"/>
              </a:rPr>
              <a:t>counts = dict()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40FF"/>
              </a:buClr>
              <a:buSzPts val="3000"/>
              <a:buFont typeface="Courier"/>
              <a:buNone/>
            </a:pPr>
            <a:r>
              <a:rPr b="0" i="0" lang="en-US" sz="3000" u="none" cap="none" strike="noStrike">
                <a:solidFill>
                  <a:srgbClr val="FF40FF"/>
                </a:solidFill>
                <a:latin typeface="Courier"/>
                <a:ea typeface="Courier"/>
                <a:cs typeface="Courier"/>
                <a:sym typeface="Courier"/>
              </a:rPr>
              <a:t>for line in fhand: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40FF"/>
              </a:buClr>
              <a:buSzPts val="3000"/>
              <a:buFont typeface="Courier"/>
              <a:buNone/>
            </a:pPr>
            <a:r>
              <a:rPr b="0" i="0" lang="en-US" sz="3000" u="none" cap="none" strike="noStrike">
                <a:solidFill>
                  <a:srgbClr val="FF40FF"/>
                </a:solidFill>
                <a:latin typeface="Courier"/>
                <a:ea typeface="Courier"/>
                <a:cs typeface="Courier"/>
                <a:sym typeface="Courier"/>
              </a:rPr>
              <a:t>    words = line.</a:t>
            </a:r>
            <a:r>
              <a:rPr b="0" i="0" lang="en-US" sz="3000" u="none" cap="none" strike="noStrike">
                <a:solidFill>
                  <a:srgbClr val="FFFF00"/>
                </a:solidFill>
                <a:latin typeface="Courier"/>
                <a:ea typeface="Courier"/>
                <a:cs typeface="Courier"/>
                <a:sym typeface="Courier"/>
              </a:rPr>
              <a:t>decode()</a:t>
            </a:r>
            <a:r>
              <a:rPr b="0" i="0" lang="en-US" sz="3000" u="none" cap="none" strike="noStrike">
                <a:solidFill>
                  <a:srgbClr val="FF40FF"/>
                </a:solidFill>
                <a:latin typeface="Courier"/>
                <a:ea typeface="Courier"/>
                <a:cs typeface="Courier"/>
                <a:sym typeface="Courier"/>
              </a:rPr>
              <a:t>.split()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40FF"/>
              </a:buClr>
              <a:buSzPts val="3000"/>
              <a:buFont typeface="Courier"/>
              <a:buNone/>
            </a:pPr>
            <a:r>
              <a:rPr b="0" i="0" lang="en-US" sz="3000" u="none" cap="none" strike="noStrike">
                <a:solidFill>
                  <a:srgbClr val="FF40FF"/>
                </a:solidFill>
                <a:latin typeface="Courier"/>
                <a:ea typeface="Courier"/>
                <a:cs typeface="Courier"/>
                <a:sym typeface="Courier"/>
              </a:rPr>
              <a:t>    for word in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40FF"/>
              </a:buClr>
              <a:buSzPts val="3000"/>
              <a:buFont typeface="Courier"/>
              <a:buNone/>
            </a:pPr>
            <a:r>
              <a:rPr b="0" i="0" lang="en-US" sz="3000" u="none" cap="none" strike="noStrike">
                <a:solidFill>
                  <a:srgbClr val="FF40FF"/>
                </a:solidFill>
                <a:latin typeface="Courier"/>
                <a:ea typeface="Courier"/>
                <a:cs typeface="Courier"/>
                <a:sym typeface="Courier"/>
              </a:rPr>
              <a:t>        counts[word] = counts.get(word, 0)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40FF"/>
              </a:buClr>
              <a:buSzPts val="3000"/>
              <a:buFont typeface="Courier"/>
              <a:buNone/>
            </a:pPr>
            <a:r>
              <a:rPr b="0" i="0" lang="en-US" sz="3000" u="none" cap="none" strike="noStrike">
                <a:solidFill>
                  <a:srgbClr val="FF40FF"/>
                </a:solidFill>
                <a:latin typeface="Courier"/>
                <a:ea typeface="Courier"/>
                <a:cs typeface="Courier"/>
                <a:sym typeface="Courier"/>
              </a:rPr>
              <a:t>print(counts)</a:t>
            </a:r>
            <a:endParaRPr b="0" i="0" sz="3000" u="none" cap="none" strike="noStrike">
              <a:solidFill>
                <a:srgbClr val="FF40FF"/>
              </a:solidFill>
              <a:latin typeface="Courier"/>
              <a:ea typeface="Courier"/>
              <a:cs typeface="Courier"/>
              <a:sym typeface="Couri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1155700" y="847164"/>
            <a:ext cx="13932000" cy="169273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Reading Web Pages</a:t>
            </a:r>
            <a:endParaRPr/>
          </a:p>
        </p:txBody>
      </p:sp>
      <p:sp>
        <p:nvSpPr>
          <p:cNvPr id="177" name="Google Shape;177;p18"/>
          <p:cNvSpPr txBox="1"/>
          <p:nvPr/>
        </p:nvSpPr>
        <p:spPr>
          <a:xfrm>
            <a:off x="546100" y="2539899"/>
            <a:ext cx="15557500" cy="245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2800"/>
              <a:buFont typeface="Courier"/>
              <a:buNone/>
            </a:pPr>
            <a:r>
              <a:rPr b="0" i="0" lang="en-US" sz="2800" u="none" cap="none" strike="noStrike">
                <a:solidFill>
                  <a:srgbClr val="FFFF00"/>
                </a:solidFill>
                <a:latin typeface="Courier"/>
                <a:ea typeface="Courier"/>
                <a:cs typeface="Courier"/>
                <a:sym typeface="Courier"/>
              </a:rPr>
              <a:t>import urllib.request, urllib.parse, urllib.error</a:t>
            </a:r>
            <a:endParaRPr b="0" i="0" sz="28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800"/>
              <a:buFont typeface="Courier"/>
              <a:buNone/>
            </a:pPr>
            <a:r>
              <a:rPr b="0" i="0" lang="en-US" sz="2800" u="none" cap="none" strike="noStrike">
                <a:solidFill>
                  <a:srgbClr val="FFFF00"/>
                </a:solidFill>
                <a:latin typeface="Courier"/>
                <a:ea typeface="Courier"/>
                <a:cs typeface="Courier"/>
                <a:sym typeface="Courier"/>
              </a:rPr>
              <a:t>fhand = urllib.request.urlopen('http://www.dr-chuck.com/page1.htm')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2800"/>
              <a:buFont typeface="Courier"/>
              <a:buNone/>
            </a:pPr>
            <a:r>
              <a:rPr b="0" i="0" lang="en-US" sz="2800" u="none" cap="none" strike="noStrike">
                <a:solidFill>
                  <a:srgbClr val="FFFF00"/>
                </a:solidFill>
                <a:latin typeface="Courier"/>
                <a:ea typeface="Courier"/>
                <a:cs typeface="Courier"/>
                <a:sym typeface="Courier"/>
              </a:rPr>
              <a:t>for line in fhand: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2800"/>
              <a:buFont typeface="Courier"/>
              <a:buNone/>
            </a:pPr>
            <a:r>
              <a:rPr b="0" i="0" lang="en-US" sz="2800" u="none" cap="none" strike="noStrike">
                <a:solidFill>
                  <a:srgbClr val="FFFF00"/>
                </a:solidFill>
                <a:latin typeface="Courier"/>
                <a:ea typeface="Courier"/>
                <a:cs typeface="Courier"/>
                <a:sym typeface="Courier"/>
              </a:rPr>
              <a:t>    print(line.</a:t>
            </a:r>
            <a:r>
              <a:rPr b="0" i="0" lang="en-US" sz="2800" u="none" cap="none" strike="noStrike">
                <a:solidFill>
                  <a:srgbClr val="FF40FF"/>
                </a:solidFill>
                <a:latin typeface="Courier"/>
                <a:ea typeface="Courier"/>
                <a:cs typeface="Courier"/>
                <a:sym typeface="Courier"/>
              </a:rPr>
              <a:t>decode()</a:t>
            </a:r>
            <a:r>
              <a:rPr b="0" i="0" lang="en-US" sz="2800" u="none" cap="none" strike="noStrike">
                <a:solidFill>
                  <a:srgbClr val="FFFF00"/>
                </a:solidFill>
                <a:latin typeface="Courier"/>
                <a:ea typeface="Courier"/>
                <a:cs typeface="Courier"/>
                <a:sym typeface="Courier"/>
              </a:rPr>
              <a:t>.strip())</a:t>
            </a:r>
            <a:endParaRPr b="0" i="0" sz="2800" u="none" cap="none" strike="noStrike">
              <a:solidFill>
                <a:srgbClr val="FFFF00"/>
              </a:solidFill>
              <a:latin typeface="Courier"/>
              <a:ea typeface="Courier"/>
              <a:cs typeface="Courier"/>
              <a:sym typeface="Courier"/>
            </a:endParaRPr>
          </a:p>
        </p:txBody>
      </p:sp>
      <p:sp>
        <p:nvSpPr>
          <p:cNvPr id="178" name="Google Shape;178;p18"/>
          <p:cNvSpPr txBox="1"/>
          <p:nvPr/>
        </p:nvSpPr>
        <p:spPr>
          <a:xfrm>
            <a:off x="2740165" y="5397499"/>
            <a:ext cx="12055500" cy="25400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825"/>
              <a:buFont typeface="Courier New"/>
              <a:buNone/>
            </a:pPr>
            <a:r>
              <a:rPr b="0" i="0" lang="en-US" sz="3300" u="none" cap="none" strike="noStrike">
                <a:solidFill>
                  <a:srgbClr val="00FF00"/>
                </a:solidFill>
                <a:latin typeface="Courier"/>
                <a:ea typeface="Courier"/>
                <a:cs typeface="Courier"/>
                <a:sym typeface="Courier"/>
              </a:rPr>
              <a:t>&lt;h1&gt;The First Page&lt;/h1&gt;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825"/>
              <a:buFont typeface="Courier New"/>
              <a:buNone/>
            </a:pPr>
            <a:r>
              <a:rPr b="0" i="0" lang="en-US" sz="3300" u="none" cap="none" strike="noStrike">
                <a:solidFill>
                  <a:srgbClr val="00FF00"/>
                </a:solidFill>
                <a:latin typeface="Courier"/>
                <a:ea typeface="Courier"/>
                <a:cs typeface="Courier"/>
                <a:sym typeface="Courier"/>
              </a:rPr>
              <a:t>&lt;p&gt;If you like, you can switch to the &lt;a href="http://www.dr-chuck.com/page2.htm"&gt;Second Page&lt;/a&gt;.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825"/>
              <a:buFont typeface="Courier New"/>
              <a:buNone/>
            </a:pPr>
            <a:r>
              <a:rPr b="0" i="0" lang="en-US" sz="3300" u="none" cap="none" strike="noStrike">
                <a:solidFill>
                  <a:srgbClr val="00FF00"/>
                </a:solidFill>
                <a:latin typeface="Courier"/>
                <a:ea typeface="Courier"/>
                <a:cs typeface="Courier"/>
                <a:sym typeface="Courier"/>
              </a:rPr>
              <a:t>&lt;/p&gt;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9"/>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Parsing HTML </a:t>
            </a:r>
            <a:br>
              <a:rPr lang="en-US" sz="7600" u="none" cap="none" strike="noStrike">
                <a:solidFill>
                  <a:srgbClr val="FFD966"/>
                </a:solidFill>
                <a:latin typeface="Arial"/>
                <a:ea typeface="Arial"/>
                <a:cs typeface="Arial"/>
                <a:sym typeface="Arial"/>
              </a:rPr>
            </a:br>
            <a:r>
              <a:rPr lang="en-US" sz="7600" u="none" cap="none" strike="noStrike">
                <a:solidFill>
                  <a:srgbClr val="FFD966"/>
                </a:solidFill>
                <a:latin typeface="Arial"/>
                <a:ea typeface="Arial"/>
                <a:cs typeface="Arial"/>
                <a:sym typeface="Arial"/>
              </a:rPr>
              <a:t>(a.k.a. Web Scraping)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txBox="1"/>
          <p:nvPr>
            <p:ph type="title"/>
          </p:nvPr>
        </p:nvSpPr>
        <p:spPr>
          <a:xfrm>
            <a:off x="1155700" y="847164"/>
            <a:ext cx="13932000" cy="169273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What is Web Scraping?</a:t>
            </a:r>
            <a:endParaRPr/>
          </a:p>
        </p:txBody>
      </p:sp>
      <p:sp>
        <p:nvSpPr>
          <p:cNvPr id="189" name="Google Shape;189;p20"/>
          <p:cNvSpPr txBox="1"/>
          <p:nvPr>
            <p:ph idx="1" type="body"/>
          </p:nvPr>
        </p:nvSpPr>
        <p:spPr>
          <a:xfrm>
            <a:off x="1155700" y="2866820"/>
            <a:ext cx="13932000" cy="5439079"/>
          </a:xfrm>
          <a:prstGeom prst="rect">
            <a:avLst/>
          </a:prstGeom>
          <a:noFill/>
          <a:ln>
            <a:noFill/>
          </a:ln>
        </p:spPr>
        <p:txBody>
          <a:bodyPr anchorCtr="0" anchor="t"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When a program or script pretends to be a browser and retrieves web pages, looks at those web pages, extracts information, and then looks at more web pages</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Search engines scrape web pages - we call this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spidering the web</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or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web crawling</a:t>
            </a:r>
            <a:r>
              <a:rPr b="0" i="0" lang="en-US" sz="3600" u="none" cap="none" strike="noStrike">
                <a:solidFill>
                  <a:schemeClr val="lt1"/>
                </a:solidFill>
                <a:latin typeface="Arial"/>
                <a:ea typeface="Arial"/>
                <a:cs typeface="Arial"/>
                <a:sym typeface="Arial"/>
              </a:rPr>
              <a:t>”</a:t>
            </a:r>
            <a:endParaRPr/>
          </a:p>
        </p:txBody>
      </p:sp>
      <p:sp>
        <p:nvSpPr>
          <p:cNvPr id="190" name="Google Shape;190;p20"/>
          <p:cNvSpPr txBox="1"/>
          <p:nvPr/>
        </p:nvSpPr>
        <p:spPr>
          <a:xfrm>
            <a:off x="3801908" y="7151886"/>
            <a:ext cx="8852999" cy="114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sng" cap="none" strike="noStrike">
                <a:solidFill>
                  <a:srgbClr val="FFFF00"/>
                </a:solidFill>
                <a:latin typeface="Arial"/>
                <a:ea typeface="Arial"/>
                <a:cs typeface="Arial"/>
                <a:sym typeface="Arial"/>
                <a:hlinkClick r:id="rId3">
                  <a:extLst>
                    <a:ext uri="{A12FA001-AC4F-418D-AE19-62706E023703}">
                      <ahyp:hlinkClr val="tx"/>
                    </a:ext>
                  </a:extLst>
                </a:hlinkClick>
              </a:rPr>
              <a:t>http://en.wikipedia.org/wiki/Web_scraping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750"/>
              <a:buFont typeface="Cabin"/>
              <a:buNone/>
            </a:pPr>
            <a:r>
              <a:rPr b="0" i="0" lang="en-US" sz="3000" u="sng" cap="none" strike="noStrike">
                <a:solidFill>
                  <a:srgbClr val="FFFF00"/>
                </a:solidFill>
                <a:latin typeface="Arial"/>
                <a:ea typeface="Arial"/>
                <a:cs typeface="Arial"/>
                <a:sym typeface="Arial"/>
                <a:hlinkClick r:id="rId4">
                  <a:extLst>
                    <a:ext uri="{A12FA001-AC4F-418D-AE19-62706E023703}">
                      <ahyp:hlinkClr val="tx"/>
                    </a:ext>
                  </a:extLst>
                </a:hlinkClick>
              </a:rPr>
              <a:t>http://en.wikipedia.org/wiki/Web_crawler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1"/>
          <p:cNvSpPr txBox="1"/>
          <p:nvPr>
            <p:ph type="title"/>
          </p:nvPr>
        </p:nvSpPr>
        <p:spPr>
          <a:xfrm>
            <a:off x="1155700" y="847164"/>
            <a:ext cx="13932000" cy="169273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Scraping Web Pages</a:t>
            </a:r>
            <a:endParaRPr/>
          </a:p>
        </p:txBody>
      </p:sp>
      <p:sp>
        <p:nvSpPr>
          <p:cNvPr id="196" name="Google Shape;196;p21"/>
          <p:cNvSpPr txBox="1"/>
          <p:nvPr>
            <p:ph idx="1" type="body"/>
          </p:nvPr>
        </p:nvSpPr>
        <p:spPr>
          <a:xfrm>
            <a:off x="1155700" y="3078464"/>
            <a:ext cx="13932000" cy="5227435"/>
          </a:xfrm>
          <a:prstGeom prst="rect">
            <a:avLst/>
          </a:prstGeom>
          <a:noFill/>
          <a:ln>
            <a:noFill/>
          </a:ln>
        </p:spPr>
        <p:txBody>
          <a:bodyPr anchorCtr="0" anchor="t"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There is some controversy about web page scraping and some sites are a bit snippy about it.</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Republishing copyrighted information is not allowed</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Violating terms of service is not allowed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2"/>
          <p:cNvSpPr txBox="1"/>
          <p:nvPr>
            <p:ph type="title"/>
          </p:nvPr>
        </p:nvSpPr>
        <p:spPr>
          <a:xfrm>
            <a:off x="1155700" y="847164"/>
            <a:ext cx="13932000" cy="1692735"/>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lt1"/>
              </a:buClr>
              <a:buSzPts val="1950"/>
              <a:buFont typeface="Cabin"/>
              <a:buNone/>
            </a:pPr>
            <a:r>
              <a:rPr lang="en-US" sz="7800" u="none" cap="none" strike="noStrike">
                <a:solidFill>
                  <a:schemeClr val="lt1"/>
                </a:solidFill>
                <a:latin typeface="Arial"/>
                <a:ea typeface="Arial"/>
                <a:cs typeface="Arial"/>
                <a:sym typeface="Arial"/>
              </a:rPr>
              <a:t>The Easy Way - </a:t>
            </a:r>
            <a:r>
              <a:rPr lang="en-US" sz="7800" u="none" cap="none" strike="noStrike">
                <a:solidFill>
                  <a:srgbClr val="FFD966"/>
                </a:solidFill>
                <a:latin typeface="Arial"/>
                <a:ea typeface="Arial"/>
                <a:cs typeface="Arial"/>
                <a:sym typeface="Arial"/>
              </a:rPr>
              <a:t>Beautiful Soup</a:t>
            </a:r>
            <a:endParaRPr/>
          </a:p>
        </p:txBody>
      </p:sp>
      <p:sp>
        <p:nvSpPr>
          <p:cNvPr id="202" name="Google Shape;202;p22"/>
          <p:cNvSpPr txBox="1"/>
          <p:nvPr>
            <p:ph idx="1" type="body"/>
          </p:nvPr>
        </p:nvSpPr>
        <p:spPr>
          <a:xfrm>
            <a:off x="1155700" y="2603500"/>
            <a:ext cx="13932000" cy="5702399"/>
          </a:xfrm>
          <a:prstGeom prst="rect">
            <a:avLst/>
          </a:prstGeom>
          <a:noFill/>
          <a:ln>
            <a:noFill/>
          </a:ln>
        </p:spPr>
        <p:txBody>
          <a:bodyPr anchorCtr="0" anchor="t" bIns="50800" lIns="50800" spcFirstLastPara="1" rIns="50800" wrap="square" tIns="50800">
            <a:noAutofit/>
          </a:bodyPr>
          <a:lstStyle/>
          <a:p>
            <a:pPr indent="-787400" lvl="0" marL="1104900" marR="0" rtl="0" algn="l">
              <a:lnSpc>
                <a:spcPct val="100000"/>
              </a:lnSpc>
              <a:spcBef>
                <a:spcPts val="0"/>
              </a:spcBef>
              <a:spcAft>
                <a:spcPts val="0"/>
              </a:spcAft>
              <a:buClr>
                <a:schemeClr val="lt1"/>
              </a:buClr>
              <a:buSzPts val="6498"/>
              <a:buFont typeface="Cabin"/>
              <a:buChar char="•"/>
            </a:pPr>
            <a:r>
              <a:rPr lang="en-US" sz="3800" u="none" cap="none" strike="noStrike">
                <a:solidFill>
                  <a:schemeClr val="lt1"/>
                </a:solidFill>
                <a:latin typeface="Arial"/>
                <a:ea typeface="Arial"/>
                <a:cs typeface="Arial"/>
                <a:sym typeface="Arial"/>
              </a:rPr>
              <a:t>You could do string searches the hard way</a:t>
            </a:r>
            <a:endParaRPr/>
          </a:p>
          <a:p>
            <a:pPr indent="-787400" lvl="0" marL="1104900" marR="0" rtl="0" algn="l">
              <a:lnSpc>
                <a:spcPct val="100000"/>
              </a:lnSpc>
              <a:spcBef>
                <a:spcPts val="2300"/>
              </a:spcBef>
              <a:spcAft>
                <a:spcPts val="0"/>
              </a:spcAft>
              <a:buClr>
                <a:schemeClr val="lt1"/>
              </a:buClr>
              <a:buSzPts val="6498"/>
              <a:buFont typeface="Cabin"/>
              <a:buChar char="•"/>
            </a:pPr>
            <a:r>
              <a:rPr lang="en-US" sz="3800" u="none" cap="none" strike="noStrike">
                <a:solidFill>
                  <a:schemeClr val="lt1"/>
                </a:solidFill>
                <a:latin typeface="Arial"/>
                <a:ea typeface="Arial"/>
                <a:cs typeface="Arial"/>
                <a:sym typeface="Arial"/>
              </a:rPr>
              <a:t>Or use the free software library called </a:t>
            </a:r>
            <a:r>
              <a:rPr lang="en-US" sz="3800" u="none" cap="none" strike="noStrike">
                <a:solidFill>
                  <a:srgbClr val="00FF00"/>
                </a:solidFill>
                <a:latin typeface="Arial"/>
                <a:ea typeface="Arial"/>
                <a:cs typeface="Arial"/>
                <a:sym typeface="Arial"/>
              </a:rPr>
              <a:t>BeautifulSoup</a:t>
            </a:r>
            <a:r>
              <a:rPr lang="en-US" sz="3800" u="none" cap="none" strike="noStrike">
                <a:solidFill>
                  <a:schemeClr val="lt1"/>
                </a:solidFill>
                <a:latin typeface="Arial"/>
                <a:ea typeface="Arial"/>
                <a:cs typeface="Arial"/>
                <a:sym typeface="Arial"/>
              </a:rPr>
              <a:t> from </a:t>
            </a:r>
            <a:r>
              <a:rPr lang="en-US" sz="3800" u="none" cap="none" strike="noStrike">
                <a:solidFill>
                  <a:srgbClr val="FF40FF"/>
                </a:solidFill>
                <a:latin typeface="Arial"/>
                <a:ea typeface="Arial"/>
                <a:cs typeface="Arial"/>
                <a:sym typeface="Arial"/>
              </a:rPr>
              <a:t>www.crummy.com</a:t>
            </a:r>
            <a:endParaRPr sz="3800" u="none" cap="none" strike="noStrike">
              <a:solidFill>
                <a:srgbClr val="FF40FF"/>
              </a:solidFill>
              <a:latin typeface="Arial"/>
              <a:ea typeface="Arial"/>
              <a:cs typeface="Arial"/>
              <a:sym typeface="Arial"/>
            </a:endParaRPr>
          </a:p>
        </p:txBody>
      </p:sp>
      <p:pic>
        <p:nvPicPr>
          <p:cNvPr id="203" name="Google Shape;203;p22"/>
          <p:cNvPicPr preferRelativeResize="0"/>
          <p:nvPr/>
        </p:nvPicPr>
        <p:blipFill rotWithShape="1">
          <a:blip r:embed="rId3">
            <a:alphaModFix/>
          </a:blip>
          <a:srcRect b="0" l="0" r="0" t="0"/>
          <a:stretch/>
        </p:blipFill>
        <p:spPr>
          <a:xfrm>
            <a:off x="6920752" y="4595992"/>
            <a:ext cx="8757771" cy="3579819"/>
          </a:xfrm>
          <a:prstGeom prst="rect">
            <a:avLst/>
          </a:prstGeom>
          <a:noFill/>
          <a:ln>
            <a:noFill/>
          </a:ln>
        </p:spPr>
      </p:pic>
      <p:sp>
        <p:nvSpPr>
          <p:cNvPr id="204" name="Google Shape;204;p22"/>
          <p:cNvSpPr/>
          <p:nvPr/>
        </p:nvSpPr>
        <p:spPr>
          <a:xfrm>
            <a:off x="6824535" y="8392537"/>
            <a:ext cx="5822428"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00"/>
              </a:buClr>
              <a:buSzPts val="2000"/>
              <a:buFont typeface="Arial"/>
              <a:buNone/>
            </a:pPr>
            <a:r>
              <a:rPr b="0" i="0" lang="en-US" sz="2000" u="none" cap="none" strike="noStrike">
                <a:solidFill>
                  <a:srgbClr val="FFFF00"/>
                </a:solidFill>
                <a:latin typeface="Arial"/>
                <a:ea typeface="Arial"/>
                <a:cs typeface="Arial"/>
                <a:sym typeface="Arial"/>
              </a:rPr>
              <a:t>https://www.crummy.com/software/BeautifulSoup/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3"/>
          <p:cNvSpPr txBox="1"/>
          <p:nvPr/>
        </p:nvSpPr>
        <p:spPr>
          <a:xfrm>
            <a:off x="654281" y="624080"/>
            <a:ext cx="10375670" cy="61116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Courier"/>
              <a:buNone/>
            </a:pPr>
            <a:r>
              <a:rPr b="0" i="0" lang="en-US" sz="3200" u="none" cap="none" strike="noStrike">
                <a:solidFill>
                  <a:schemeClr val="lt1"/>
                </a:solidFill>
                <a:latin typeface="Courier"/>
                <a:ea typeface="Courier"/>
                <a:cs typeface="Courier"/>
                <a:sym typeface="Courier"/>
              </a:rPr>
              <a:t>import urllib.request, urllib.parse, urllib.error</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200"/>
              <a:buFont typeface="Courier"/>
              <a:buNone/>
            </a:pPr>
            <a:r>
              <a:rPr b="0" i="0" lang="en-US" sz="3200" u="none" cap="none" strike="noStrike">
                <a:solidFill>
                  <a:schemeClr val="lt1"/>
                </a:solidFill>
                <a:latin typeface="Courier"/>
                <a:ea typeface="Courier"/>
                <a:cs typeface="Courier"/>
                <a:sym typeface="Courier"/>
              </a:rPr>
              <a:t>from bs4 import BeautifulSoup</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200"/>
              <a:buFont typeface="Courier"/>
              <a:buNone/>
            </a:pPr>
            <a:r>
              <a:rPr b="0" i="0" lang="en-US" sz="3200" u="none" cap="none" strike="noStrike">
                <a:solidFill>
                  <a:schemeClr val="lt1"/>
                </a:solidFill>
                <a:latin typeface="Courier"/>
                <a:ea typeface="Courier"/>
                <a:cs typeface="Courier"/>
                <a:sym typeface="Courier"/>
              </a:rPr>
              <a:t>url = input('Enter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3200"/>
              <a:buFont typeface="Courier"/>
              <a:buNone/>
            </a:pPr>
            <a:r>
              <a:rPr b="0" i="0" lang="en-US" sz="3200" u="none" cap="none" strike="noStrike">
                <a:solidFill>
                  <a:schemeClr val="lt1"/>
                </a:solidFill>
                <a:latin typeface="Courier"/>
                <a:ea typeface="Courier"/>
                <a:cs typeface="Courier"/>
                <a:sym typeface="Courier"/>
              </a:rPr>
              <a:t>html = urllib.request.urlopen(url).read()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3200"/>
              <a:buFont typeface="Courier"/>
              <a:buNone/>
            </a:pPr>
            <a:r>
              <a:rPr b="0" i="0" lang="en-US" sz="3200" u="none" cap="none" strike="noStrike">
                <a:solidFill>
                  <a:schemeClr val="lt1"/>
                </a:solidFill>
                <a:latin typeface="Courier"/>
                <a:ea typeface="Courier"/>
                <a:cs typeface="Courier"/>
                <a:sym typeface="Courier"/>
              </a:rPr>
              <a:t>soup = BeautifulSoup(html, 'html.parser')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200"/>
              <a:buFont typeface="Courier"/>
              <a:buNone/>
            </a:pPr>
            <a:r>
              <a:rPr b="0" i="0" lang="en-US" sz="3200" u="none" cap="none" strike="noStrike">
                <a:solidFill>
                  <a:schemeClr val="lt1"/>
                </a:solidFill>
                <a:latin typeface="Courier"/>
                <a:ea typeface="Courier"/>
                <a:cs typeface="Courier"/>
                <a:sym typeface="Courier"/>
              </a:rPr>
              <a:t># Retrieve all of the anchor tags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3200"/>
              <a:buFont typeface="Courier"/>
              <a:buNone/>
            </a:pPr>
            <a:r>
              <a:rPr b="0" i="0" lang="en-US" sz="3200" u="none" cap="none" strike="noStrike">
                <a:solidFill>
                  <a:schemeClr val="lt1"/>
                </a:solidFill>
                <a:latin typeface="Courier"/>
                <a:ea typeface="Courier"/>
                <a:cs typeface="Courier"/>
                <a:sym typeface="Courier"/>
              </a:rPr>
              <a:t>tags = soup('a')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3200"/>
              <a:buFont typeface="Courier"/>
              <a:buNone/>
            </a:pPr>
            <a:r>
              <a:rPr b="0" i="0" lang="en-US" sz="3200" u="none" cap="none" strike="noStrike">
                <a:solidFill>
                  <a:schemeClr val="lt1"/>
                </a:solidFill>
                <a:latin typeface="Courier"/>
                <a:ea typeface="Courier"/>
                <a:cs typeface="Courier"/>
                <a:sym typeface="Courier"/>
              </a:rPr>
              <a:t>for tag in tags: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3200"/>
              <a:buFont typeface="Courier"/>
              <a:buNone/>
            </a:pPr>
            <a:r>
              <a:rPr b="0" i="0" lang="en-US" sz="3200" u="none" cap="none" strike="noStrike">
                <a:solidFill>
                  <a:schemeClr val="lt1"/>
                </a:solidFill>
                <a:latin typeface="Courier"/>
                <a:ea typeface="Courier"/>
                <a:cs typeface="Courier"/>
                <a:sym typeface="Courier"/>
              </a:rPr>
              <a:t>    print(tag.get('href', None))</a:t>
            </a:r>
            <a:endParaRPr b="0" i="0" sz="3200" u="none" cap="none" strike="noStrike">
              <a:solidFill>
                <a:schemeClr val="lt1"/>
              </a:solidFill>
              <a:latin typeface="Courier"/>
              <a:ea typeface="Courier"/>
              <a:cs typeface="Courier"/>
              <a:sym typeface="Courier"/>
            </a:endParaRPr>
          </a:p>
        </p:txBody>
      </p:sp>
      <p:sp>
        <p:nvSpPr>
          <p:cNvPr id="210" name="Google Shape;210;p23"/>
          <p:cNvSpPr txBox="1"/>
          <p:nvPr/>
        </p:nvSpPr>
        <p:spPr>
          <a:xfrm>
            <a:off x="6777575" y="6985824"/>
            <a:ext cx="9069600" cy="17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Enter - </a:t>
            </a:r>
            <a:r>
              <a:rPr b="0" i="0" lang="en-US" sz="3600" u="none" cap="none" strike="noStrike">
                <a:solidFill>
                  <a:srgbClr val="FFFF00"/>
                </a:solidFill>
                <a:latin typeface="Arial"/>
                <a:ea typeface="Arial"/>
                <a:cs typeface="Arial"/>
                <a:sym typeface="Arial"/>
              </a:rPr>
              <a:t>http://www.dr-chuck.com/page1.htm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900"/>
              <a:buFont typeface="Cabin"/>
              <a:buNone/>
            </a:pPr>
            <a:r>
              <a:rPr b="0" i="0" lang="en-US" sz="3600" u="none" cap="none" strike="noStrike">
                <a:solidFill>
                  <a:srgbClr val="00FFFF"/>
                </a:solidFill>
                <a:latin typeface="Arial"/>
                <a:ea typeface="Arial"/>
                <a:cs typeface="Arial"/>
                <a:sym typeface="Arial"/>
              </a:rPr>
              <a:t>http://www.dr-chuck.com/page2.htm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4"/>
          <p:cNvSpPr txBox="1"/>
          <p:nvPr>
            <p:ph type="title"/>
          </p:nvPr>
        </p:nvSpPr>
        <p:spPr>
          <a:xfrm>
            <a:off x="1155700" y="237564"/>
            <a:ext cx="12353281" cy="1692735"/>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FF00"/>
              </a:buClr>
              <a:buSzPts val="1950"/>
              <a:buFont typeface="Cabin"/>
              <a:buNone/>
            </a:pPr>
            <a:r>
              <a:rPr lang="en-US" sz="7800" u="none" cap="none" strike="noStrike">
                <a:solidFill>
                  <a:srgbClr val="FFD966"/>
                </a:solidFill>
                <a:latin typeface="Arial"/>
                <a:ea typeface="Arial"/>
                <a:cs typeface="Arial"/>
                <a:sym typeface="Arial"/>
              </a:rPr>
              <a:t>Summary</a:t>
            </a:r>
            <a:endParaRPr/>
          </a:p>
        </p:txBody>
      </p:sp>
      <p:sp>
        <p:nvSpPr>
          <p:cNvPr id="216" name="Google Shape;216;p24"/>
          <p:cNvSpPr txBox="1"/>
          <p:nvPr>
            <p:ph idx="1" type="body"/>
          </p:nvPr>
        </p:nvSpPr>
        <p:spPr>
          <a:xfrm>
            <a:off x="1155700" y="1755378"/>
            <a:ext cx="13932000" cy="6931421"/>
          </a:xfrm>
          <a:prstGeom prst="rect">
            <a:avLst/>
          </a:prstGeom>
          <a:noFill/>
          <a:ln>
            <a:noFill/>
          </a:ln>
        </p:spPr>
        <p:txBody>
          <a:bodyPr anchorCtr="0" anchor="t" bIns="50800" lIns="50800" spcFirstLastPara="1" rIns="50800" wrap="square" tIns="50800">
            <a:noAutofit/>
          </a:bodyPr>
          <a:lstStyle/>
          <a:p>
            <a:pPr indent="-457200" lvl="0" marL="457200" marR="0" rtl="0" algn="l">
              <a:lnSpc>
                <a:spcPct val="100000"/>
              </a:lnSpc>
              <a:spcBef>
                <a:spcPts val="0"/>
              </a:spcBef>
              <a:spcAft>
                <a:spcPts val="0"/>
              </a:spcAft>
              <a:buSzPts val="3800"/>
              <a:buFont typeface="Cabin"/>
              <a:buChar char="•"/>
            </a:pPr>
            <a:r>
              <a:rPr lang="en-US" sz="3800" u="none" cap="none" strike="noStrike">
                <a:solidFill>
                  <a:schemeClr val="lt1"/>
                </a:solidFill>
                <a:latin typeface="Arial"/>
                <a:ea typeface="Arial"/>
                <a:cs typeface="Arial"/>
                <a:sym typeface="Arial"/>
              </a:rPr>
              <a:t>The TCP/IP gives us pipes / sockets between applications.</a:t>
            </a:r>
            <a:endParaRPr/>
          </a:p>
          <a:p>
            <a:pPr indent="-457200" lvl="0" marL="457200" marR="0" rtl="0" algn="l">
              <a:lnSpc>
                <a:spcPct val="100000"/>
              </a:lnSpc>
              <a:spcBef>
                <a:spcPts val="3300"/>
              </a:spcBef>
              <a:spcAft>
                <a:spcPts val="0"/>
              </a:spcAft>
              <a:buSzPts val="3800"/>
              <a:buFont typeface="Cabin"/>
              <a:buChar char="•"/>
            </a:pPr>
            <a:r>
              <a:rPr lang="en-US" sz="3800" u="none" cap="none" strike="noStrike">
                <a:solidFill>
                  <a:schemeClr val="lt1"/>
                </a:solidFill>
                <a:latin typeface="Arial"/>
                <a:ea typeface="Arial"/>
                <a:cs typeface="Arial"/>
                <a:sym typeface="Arial"/>
              </a:rPr>
              <a:t>HyperText Trans</a:t>
            </a:r>
            <a:r>
              <a:rPr lang="en-US" sz="3800">
                <a:solidFill>
                  <a:schemeClr val="lt1"/>
                </a:solidFill>
                <a:latin typeface="Arial"/>
                <a:ea typeface="Arial"/>
                <a:cs typeface="Arial"/>
                <a:sym typeface="Arial"/>
              </a:rPr>
              <a:t>fer</a:t>
            </a:r>
            <a:r>
              <a:rPr lang="en-US" sz="3800" u="none" cap="none" strike="noStrike">
                <a:solidFill>
                  <a:schemeClr val="lt1"/>
                </a:solidFill>
                <a:latin typeface="Arial"/>
                <a:ea typeface="Arial"/>
                <a:cs typeface="Arial"/>
                <a:sym typeface="Arial"/>
              </a:rPr>
              <a:t> Protocol (HTTP) is a simple yet powerful protocol.</a:t>
            </a:r>
            <a:endParaRPr/>
          </a:p>
          <a:p>
            <a:pPr indent="-457200" lvl="0" marL="457200" marR="0" rtl="0" algn="l">
              <a:lnSpc>
                <a:spcPct val="100000"/>
              </a:lnSpc>
              <a:spcBef>
                <a:spcPts val="3300"/>
              </a:spcBef>
              <a:spcAft>
                <a:spcPts val="0"/>
              </a:spcAft>
              <a:buSzPts val="3800"/>
              <a:buFont typeface="Cabin"/>
              <a:buChar char="•"/>
            </a:pPr>
            <a:r>
              <a:rPr lang="en-US" sz="3800" u="none" cap="none" strike="noStrike">
                <a:solidFill>
                  <a:schemeClr val="lt1"/>
                </a:solidFill>
                <a:latin typeface="Arial"/>
                <a:ea typeface="Arial"/>
                <a:cs typeface="Arial"/>
                <a:sym typeface="Arial"/>
              </a:rPr>
              <a:t>Python has good support for sockets, HTTP, and HTML parsing.</a:t>
            </a:r>
            <a:endParaRPr/>
          </a:p>
          <a:p>
            <a:pPr indent="-457200" lvl="0" marL="457200" marR="0" rtl="0" algn="l">
              <a:lnSpc>
                <a:spcPct val="100000"/>
              </a:lnSpc>
              <a:spcBef>
                <a:spcPts val="3300"/>
              </a:spcBef>
              <a:spcAft>
                <a:spcPts val="0"/>
              </a:spcAft>
              <a:buSzPts val="3800"/>
              <a:buFont typeface="Cabin"/>
              <a:buChar char="•"/>
            </a:pPr>
            <a:r>
              <a:rPr lang="en-US" sz="3800">
                <a:solidFill>
                  <a:schemeClr val="lt1"/>
                </a:solidFill>
                <a:latin typeface="Arial"/>
                <a:ea typeface="Arial"/>
                <a:cs typeface="Arial"/>
                <a:sym typeface="Arial"/>
              </a:rPr>
              <a:t>Beautiful Soup is a robust HTML parsing library.</a:t>
            </a:r>
            <a:endParaRPr/>
          </a:p>
          <a:p>
            <a:pPr indent="-457200" lvl="0" marL="457200" rtl="0" algn="l">
              <a:lnSpc>
                <a:spcPct val="100000"/>
              </a:lnSpc>
              <a:spcBef>
                <a:spcPts val="3300"/>
              </a:spcBef>
              <a:spcAft>
                <a:spcPts val="0"/>
              </a:spcAft>
              <a:buSzPts val="4000"/>
              <a:buFont typeface="Cabin"/>
              <a:buChar char="•"/>
            </a:pPr>
            <a:r>
              <a:rPr lang="en-US" sz="4000"/>
              <a:t>We can use urllib to read the page and then use BeautifulSoup to parse and extract data.</a:t>
            </a:r>
            <a:endParaRPr sz="38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5"/>
          <p:cNvSpPr txBox="1"/>
          <p:nvPr>
            <p:ph idx="4294967295" type="title"/>
          </p:nvPr>
        </p:nvSpPr>
        <p:spPr>
          <a:xfrm>
            <a:off x="1462700" y="946150"/>
            <a:ext cx="12469201" cy="811213"/>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FF00"/>
              </a:buClr>
              <a:buSzPts val="3600"/>
              <a:buFont typeface="Arial"/>
              <a:buNone/>
            </a:pPr>
            <a:r>
              <a:rPr lang="en-US" sz="3600">
                <a:solidFill>
                  <a:srgbClr val="FFFF00"/>
                </a:solidFill>
              </a:rPr>
              <a:t>Acknowledgements / Contributions</a:t>
            </a:r>
            <a:endParaRPr/>
          </a:p>
        </p:txBody>
      </p:sp>
      <p:sp>
        <p:nvSpPr>
          <p:cNvPr id="222" name="Google Shape;222;p25"/>
          <p:cNvSpPr txBox="1"/>
          <p:nvPr/>
        </p:nvSpPr>
        <p:spPr>
          <a:xfrm>
            <a:off x="1206100" y="2086575"/>
            <a:ext cx="6797699" cy="576202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 slide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a:t>
            </a:r>
            <a:r>
              <a:rPr b="0" i="0" lang="en-US" sz="1800" u="sng" cap="none" strike="noStrike">
                <a:solidFill>
                  <a:srgbClr val="FFFF00"/>
                </a:solidFill>
                <a:latin typeface="Arial"/>
                <a:ea typeface="Arial"/>
                <a:cs typeface="Arial"/>
                <a:sym typeface="Arial"/>
                <a:hlinkClick r:id="rId4">
                  <a:extLst>
                    <a:ext uri="{A12FA001-AC4F-418D-AE19-62706E023703}">
                      <ahyp:hlinkClr val="tx"/>
                    </a:ext>
                  </a:extLst>
                </a:hlinkClick>
              </a:rPr>
              <a:t>open.umich.edu</a:t>
            </a:r>
            <a:r>
              <a:rPr b="0" i="0" lang="en-US" sz="1800" u="none" cap="none" strike="noStrike">
                <a:solidFill>
                  <a:srgbClr val="FFFFFF"/>
                </a:solidFill>
                <a:latin typeface="Arial"/>
                <a:ea typeface="Arial"/>
                <a:cs typeface="Arial"/>
                <a:sym typeface="Aria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Insert new Contributors here</a:t>
            </a:r>
            <a:endParaRPr b="0" i="0" sz="1400" u="none" cap="none" strike="noStrike">
              <a:solidFill>
                <a:srgbClr val="000000"/>
              </a:solidFill>
              <a:latin typeface="Arial"/>
              <a:ea typeface="Arial"/>
              <a:cs typeface="Arial"/>
              <a:sym typeface="Arial"/>
            </a:endParaRPr>
          </a:p>
        </p:txBody>
      </p:sp>
      <p:pic>
        <p:nvPicPr>
          <p:cNvPr id="223" name="Google Shape;223;p25"/>
          <p:cNvPicPr preferRelativeResize="0"/>
          <p:nvPr/>
        </p:nvPicPr>
        <p:blipFill rotWithShape="1">
          <a:blip r:embed="rId5">
            <a:alphaModFix/>
          </a:blip>
          <a:srcRect b="0" l="0" r="0" t="0"/>
          <a:stretch/>
        </p:blipFill>
        <p:spPr>
          <a:xfrm>
            <a:off x="13897688" y="1017700"/>
            <a:ext cx="1968599" cy="668400"/>
          </a:xfrm>
          <a:prstGeom prst="rect">
            <a:avLst/>
          </a:prstGeom>
          <a:noFill/>
          <a:ln>
            <a:noFill/>
          </a:ln>
        </p:spPr>
      </p:pic>
      <p:sp>
        <p:nvSpPr>
          <p:cNvPr id="224" name="Google Shape;224;p25"/>
          <p:cNvSpPr txBox="1"/>
          <p:nvPr/>
        </p:nvSpPr>
        <p:spPr>
          <a:xfrm>
            <a:off x="8704400" y="2217051"/>
            <a:ext cx="6797699" cy="563155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