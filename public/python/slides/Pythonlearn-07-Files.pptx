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9144000" cx="16256000"/>
  <p:notesSz cx="6858000" cy="9144000"/>
  <p:embeddedFontLst>
    <p:embeddedFont>
      <p:font typeface="Gill Sans"/>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 uri="http://customooxmlschemas.google.com/">
      <go:slidesCustomData xmlns:go="http://customooxmlschemas.google.com/" r:id="rId29" roundtripDataSignature="AMtx7mgCKLtm6ZVtjrxdT1qicF4HM9n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GillSans-bold.fntdata"/><Relationship Id="rId27" Type="http://schemas.openxmlformats.org/officeDocument/2006/relationships/font" Target="fonts/Gill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stephen.marquard@uct.ac.za" TargetMode="External"/><Relationship Id="rId3" Type="http://schemas.openxmlformats.org/officeDocument/2006/relationships/hyperlink" Target="mailto:stephen.marquard@uct.ac.za"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2"/>
              </a:solidFill>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We will primarily focus on reading and writing text files such as those we create in a text editor. Later we will see how to work with database files which are binary files, specifically designed to be read and written through database software.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A text file can be thought of as a sequence of lines, much like a Python string can be thought of as a sequence of characters. For example, this is a sample of a text file which records mail activity from various individuals in an open source project development team: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From stephen.marquard@uct.ac.za Sat Jan  5 09:14:16 2008</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Return-Path: &lt;postmaster@collab.sakaiproject.org&gt;</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Date: Sat, 5 Jan 2008 09:12:18 -0500</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To: source@collab.sakaiproject.org</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From: stephen.marquard@uct.ac.za</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Subject: [sakai] svn commit: r39772 - content/branches/</a:t>
            </a:r>
            <a:endParaRPr/>
          </a:p>
          <a:p>
            <a:pPr indent="0" lvl="0" marL="0" marR="0" rtl="0" algn="l">
              <a:lnSpc>
                <a:spcPct val="100000"/>
              </a:lnSpc>
              <a:spcBef>
                <a:spcPts val="0"/>
              </a:spcBef>
              <a:spcAft>
                <a:spcPts val="0"/>
              </a:spcAft>
              <a:buClr>
                <a:srgbClr val="FF00FF"/>
              </a:buClr>
              <a:buSzPts val="1100"/>
              <a:buFont typeface="Cabin"/>
              <a:buNone/>
            </a:pPr>
            <a:r>
              <a:t/>
            </a:r>
            <a:endParaRPr sz="1100">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Details:</a:t>
            </a:r>
            <a:r>
              <a:rPr lang="en-US" sz="1100">
                <a:solidFill>
                  <a:srgbClr val="FF00FF"/>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http://source.sakaiproject.org/viewsvn/?view=rev&amp;rev=39772</a:t>
            </a:r>
            <a:endParaRPr/>
          </a:p>
          <a:p>
            <a:pPr indent="0" lvl="0" marL="0" marR="0" rtl="0" algn="l">
              <a:lnSpc>
                <a:spcPct val="100000"/>
              </a:lnSpc>
              <a:spcBef>
                <a:spcPts val="0"/>
              </a:spcBef>
              <a:spcAft>
                <a:spcPts val="0"/>
              </a:spcAft>
              <a:buClr>
                <a:srgbClr val="FF00FF"/>
              </a:buClr>
              <a:buSzPts val="275"/>
              <a:buFont typeface="Cabin"/>
              <a:buNone/>
            </a:pPr>
            <a:r>
              <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The entire file of mail interactions is available from www.py4e.com/code3/mbox.txt. This file contains multiple mail messages. The lines which start with “From” separate the messages and the lines which start with “From:” are part of the messages.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When we want to read or write a file (say on your hard drive), we first must open the file. Opening the file communicates with your operating system, which knows where the data for each file is stored. When you open a file, you are asking the operating system to find the file by name and make sure the file exists. In this example, we open the file mbox.txt, which should be stored in the same folder that you are in when you start Python. You can download this file from www.py4e.com/code3/mbox.txt. This is done with the open() function.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37" name="Google Shape;3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00FF"/>
              </a:buClr>
              <a:buSzPts val="1100"/>
              <a:buFont typeface="Arial"/>
              <a:buNone/>
            </a:pPr>
            <a:r>
              <a:rPr lang="en-US" sz="1100" u="none" cap="none" strike="noStrike">
                <a:solidFill>
                  <a:srgbClr val="FF00FF"/>
                </a:solidFill>
                <a:latin typeface="Arial"/>
                <a:ea typeface="Arial"/>
                <a:cs typeface="Arial"/>
                <a:sym typeface="Arial"/>
              </a:rPr>
              <a:t>The open function has two parameters: filename and mode. The filename is simply a string referring to the corresponding file name in our system. The mode is </a:t>
            </a:r>
            <a:r>
              <a:rPr lang="en-US" sz="1100" u="none" cap="none" strike="noStrike">
                <a:solidFill>
                  <a:srgbClr val="FFFF00"/>
                </a:solidFill>
                <a:latin typeface="Arial"/>
                <a:ea typeface="Arial"/>
                <a:cs typeface="Arial"/>
                <a:sym typeface="Arial"/>
              </a:rPr>
              <a:t>optional and should be 'r' if we are planning to read the file and 'w' if we are going to write to the file. </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rgbClr val="FF00FF"/>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43" name="Google Shape;4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00FF"/>
              </a:buClr>
              <a:buSzPts val="1100"/>
              <a:buFont typeface="Arial"/>
              <a:buNone/>
            </a:pPr>
            <a:r>
              <a:rPr lang="en-US" sz="1100" u="none" cap="none" strike="noStrike">
                <a:solidFill>
                  <a:srgbClr val="FF00FF"/>
                </a:solidFill>
                <a:latin typeface="Arial"/>
                <a:ea typeface="Arial"/>
                <a:cs typeface="Arial"/>
                <a:sym typeface="Arial"/>
              </a:rPr>
              <a:t>If the open() function call is successful, the operating system returns us a file handle. The file handle is not the actual data contained in the file, but instead it is a “handle” that we can use to read the data. You are given a handle if the requested file exists and you have the proper permissions to read the file. The file handle is simply a variable that we can use to perform operations on the file. For example,</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'mbox.txt'</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fhand</a:t>
            </a:r>
            <a:r>
              <a:rPr lang="en-US" sz="1100">
                <a:solidFill>
                  <a:srgbClr val="FFFF00"/>
                </a:solidFill>
                <a:latin typeface="Courier"/>
                <a:ea typeface="Courier"/>
                <a:cs typeface="Courier"/>
                <a:sym typeface="Courier"/>
              </a:rPr>
              <a:t>)</a:t>
            </a:r>
            <a:endParaRPr i="0" sz="1100" u="none" cap="none" strike="noStrike">
              <a:solidFill>
                <a:srgbClr val="FF00FF"/>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sz="1100">
                <a:solidFill>
                  <a:schemeClr val="lt1"/>
                </a:solidFill>
                <a:latin typeface="Courier"/>
                <a:ea typeface="Courier"/>
                <a:cs typeface="Courier"/>
                <a:sym typeface="Courier"/>
              </a:rPr>
              <a:t>&lt;_io.TextIOWrapper name='mbox.txt' mode='r' encoding='UTF-8'&gt;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rgbClr val="FF00FF"/>
              </a:solidFill>
              <a:latin typeface="Arial"/>
              <a:ea typeface="Arial"/>
              <a:cs typeface="Arial"/>
              <a:sym typeface="Arial"/>
            </a:endParaRPr>
          </a:p>
        </p:txBody>
      </p:sp>
      <p:sp>
        <p:nvSpPr>
          <p:cNvPr id="50" name="Google Shape;5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FF00FF"/>
              </a:buClr>
              <a:buSzPts val="1100"/>
              <a:buFont typeface="Arial"/>
              <a:buNone/>
            </a:pPr>
            <a:r>
              <a:rPr lang="en-US" sz="1100" u="none" cap="none" strike="noStrike">
                <a:solidFill>
                  <a:srgbClr val="FF00FF"/>
                </a:solidFill>
                <a:latin typeface="Arial"/>
                <a:ea typeface="Arial"/>
                <a:cs typeface="Arial"/>
                <a:sym typeface="Arial"/>
              </a:rPr>
              <a:t>If the file does not exist, open() function will fail with a traceback and you will not get a handle to access the contents of the file. For example,</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stuff.txt'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Traceback (most recent call last):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File "&lt;stdin&gt;", line 1, in &lt;module&gt;</a:t>
            </a:r>
            <a:endParaRPr/>
          </a:p>
          <a:p>
            <a:pPr indent="0" lvl="0" marL="0" rtl="0" algn="l">
              <a:lnSpc>
                <a:spcPct val="100000"/>
              </a:lnSpc>
              <a:spcBef>
                <a:spcPts val="0"/>
              </a:spcBef>
              <a:spcAft>
                <a:spcPts val="0"/>
              </a:spcAft>
              <a:buSzPts val="1400"/>
              <a:buNone/>
            </a:pPr>
            <a:r>
              <a:rPr lang="en-US" sz="1100">
                <a:solidFill>
                  <a:schemeClr val="lt1"/>
                </a:solidFill>
                <a:latin typeface="Courier"/>
                <a:ea typeface="Courier"/>
                <a:cs typeface="Courier"/>
                <a:sym typeface="Courier"/>
              </a:rPr>
              <a:t>FileNotFoundError: [Errno 2] </a:t>
            </a:r>
            <a:r>
              <a:rPr i="0" lang="en-US" sz="1100" u="none" cap="none" strike="noStrike">
                <a:solidFill>
                  <a:srgbClr val="FF7F00"/>
                </a:solidFill>
                <a:latin typeface="Courier"/>
                <a:ea typeface="Courier"/>
                <a:cs typeface="Courier"/>
                <a:sym typeface="Courier"/>
              </a:rPr>
              <a:t>No such file or directory: 'stuff.txt'</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rgbClr val="FF00FF"/>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56" name="Google Shape;5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To break the file into lines, there is a special character that represents the “end of the line” called the newline character. In Python, we represent the newline character as a backslash-n in string constants (\n) . Even though this looks like two characters, it is actually a single character. For example,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stuff</a:t>
            </a:r>
            <a:r>
              <a:rPr i="0" lang="en-US" sz="1100" u="none" cap="none" strike="noStrike">
                <a:solidFill>
                  <a:schemeClr val="lt1"/>
                </a:solidFill>
                <a:latin typeface="Courier"/>
                <a:ea typeface="Courier"/>
                <a:cs typeface="Courier"/>
                <a:sym typeface="Courier"/>
              </a:rPr>
              <a:t> = 'Hello</a:t>
            </a:r>
            <a:r>
              <a:rPr i="0" lang="en-US" sz="1100" u="none" cap="none" strike="noStrike">
                <a:solidFill>
                  <a:srgbClr val="00FFFF"/>
                </a:solidFill>
                <a:latin typeface="Courier"/>
                <a:ea typeface="Courier"/>
                <a:cs typeface="Courier"/>
                <a:sym typeface="Courier"/>
              </a:rPr>
              <a:t>\n</a:t>
            </a:r>
            <a:r>
              <a:rPr i="0" lang="en-US" sz="1100" u="none" cap="none" strike="noStrike">
                <a:solidFill>
                  <a:schemeClr val="lt1"/>
                </a:solidFill>
                <a:latin typeface="Courier"/>
                <a:ea typeface="Courier"/>
                <a:cs typeface="Courier"/>
                <a:sym typeface="Courier"/>
              </a:rPr>
              <a:t>World!</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stuff</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Hello</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World!</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In the above example, we see the string broken into two lines by the newline character. Similarly, the newline character breaks the string into two lines in the following example,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stuff</a:t>
            </a:r>
            <a:r>
              <a:rPr i="0" lang="en-US" sz="1100" u="none" cap="none" strike="noStrike">
                <a:solidFill>
                  <a:schemeClr val="lt1"/>
                </a:solidFill>
                <a:latin typeface="Courier"/>
                <a:ea typeface="Courier"/>
                <a:cs typeface="Courier"/>
                <a:sym typeface="Courier"/>
              </a:rPr>
              <a:t> = 'X</a:t>
            </a:r>
            <a:r>
              <a:rPr i="0" lang="en-US" sz="1100" u="none" cap="none" strike="noStrike">
                <a:solidFill>
                  <a:srgbClr val="00FFFF"/>
                </a:solidFill>
                <a:latin typeface="Courier"/>
                <a:ea typeface="Courier"/>
                <a:cs typeface="Courier"/>
                <a:sym typeface="Courier"/>
              </a:rPr>
              <a:t>\n</a:t>
            </a:r>
            <a:r>
              <a:rPr i="0" lang="en-US" sz="1100" u="none" cap="none" strike="noStrike">
                <a:solidFill>
                  <a:schemeClr val="lt1"/>
                </a:solidFill>
                <a:latin typeface="Courier"/>
                <a:ea typeface="Courier"/>
                <a:cs typeface="Courier"/>
                <a:sym typeface="Courier"/>
              </a:rPr>
              <a:t>Y</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stuff</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X</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Y</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stuff</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3</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62" name="Google Shape;6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Courier"/>
              <a:buNone/>
            </a:pPr>
            <a:r>
              <a:rPr i="0" lang="en-US" sz="1100" u="none" cap="none" strike="noStrike">
                <a:solidFill>
                  <a:schemeClr val="lt1"/>
                </a:solidFill>
                <a:latin typeface="Courier"/>
                <a:ea typeface="Courier"/>
                <a:cs typeface="Courier"/>
                <a:sym typeface="Courier"/>
              </a:rPr>
              <a:t>So when we look at the lines in a file, we need to imagine that there is a special invisible character called the newline at the end of each line that marks the end of the line. Thus, the newline character separates the characters in the file into lines. In other words, we can think of </a:t>
            </a:r>
            <a:r>
              <a:rPr i="0" lang="en-US" sz="1100" u="none" cap="none" strike="noStrike">
                <a:solidFill>
                  <a:schemeClr val="lt1"/>
                </a:solidFill>
                <a:latin typeface="Arial"/>
                <a:ea typeface="Arial"/>
                <a:cs typeface="Arial"/>
                <a:sym typeface="Arial"/>
              </a:rPr>
              <a:t>a</a:t>
            </a:r>
            <a:r>
              <a:rPr lang="en-US" sz="1100" u="none" cap="none" strike="noStrike">
                <a:solidFill>
                  <a:schemeClr val="lt1"/>
                </a:solidFill>
                <a:latin typeface="Arial"/>
                <a:ea typeface="Arial"/>
                <a:cs typeface="Arial"/>
                <a:sym typeface="Arial"/>
              </a:rPr>
              <a:t> text file as a sequence of lines that have </a:t>
            </a:r>
            <a:r>
              <a:rPr lang="en-US" sz="1100" u="none" cap="none" strike="noStrike">
                <a:solidFill>
                  <a:srgbClr val="00FFFF"/>
                </a:solidFill>
                <a:latin typeface="Arial"/>
                <a:ea typeface="Arial"/>
                <a:cs typeface="Arial"/>
                <a:sym typeface="Arial"/>
              </a:rPr>
              <a:t>newlines</a:t>
            </a:r>
            <a:r>
              <a:rPr lang="en-US" sz="1100" u="none" cap="none" strike="noStrike">
                <a:solidFill>
                  <a:schemeClr val="lt1"/>
                </a:solidFill>
                <a:latin typeface="Arial"/>
                <a:ea typeface="Arial"/>
                <a:cs typeface="Arial"/>
                <a:sym typeface="Arial"/>
              </a:rPr>
              <a:t> at the end of each line.</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69" name="Google Shape;6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While the file handle does not contain the data for the file, it is quite easy to construct a for loop to read through and count each of the lines in a file: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('mbox.txt')</a:t>
            </a:r>
            <a:endParaRPr/>
          </a:p>
          <a:p>
            <a:pPr indent="0" lvl="0" marL="0" marR="0" rtl="0" algn="l">
              <a:lnSpc>
                <a:spcPct val="100000"/>
              </a:lnSpc>
              <a:spcBef>
                <a:spcPts val="0"/>
              </a:spcBef>
              <a:spcAft>
                <a:spcPts val="0"/>
              </a:spcAft>
              <a:buClr>
                <a:srgbClr val="FF7F00"/>
              </a:buClr>
              <a:buSzPts val="275"/>
              <a:buFont typeface="Cabin"/>
              <a:buNone/>
            </a:pPr>
            <a:r>
              <a:rPr i="0" lang="en-US" sz="1100" u="none" cap="none" strike="noStrike">
                <a:solidFill>
                  <a:srgbClr val="FF7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0</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lang="en-US" sz="1100">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+ 1</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'Line Count:', </a:t>
            </a:r>
            <a:r>
              <a:rPr i="0" lang="en-US" sz="1100" u="none" cap="none" strike="noStrike">
                <a:solidFill>
                  <a:srgbClr val="FF7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Line Count: 132045</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We can use the file handle as the sequence in our for loop. Our for loop simply counts the number of lines in the file and prints them out. The rough translation of the for loop into English is, “for each line in the file represented by the file handle, add one to the count variable.” The reason that the open function does not read the entire file is that the file might be quite large with many gigabytes of data. The open statement takes the same amount of time regardless of the size of the file. The for loop actually causes the data to be read from the file. When you read the file using a for loop in this manner, Python takes care of splitting the data in the file into separate lines using the newline character. Python reads each line through the newline and includes the newline as the last character in the line variable for each iteration of the for loop. Because the for loop reads the data one line at a time, it can efficiently read and count the lines in very large files without running out of main memory to store the data. The above program can count the lines in any size file using very little memory since each line is read, counted, and then discarded.</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81" name="Google Shape;8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If you know the file is relatively small compared to the size of your main memory, you can read the whole file into one string using the read method on the file handle as follows: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('mbox-short.txt')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FF"/>
                </a:solidFill>
                <a:latin typeface="Courier"/>
                <a:ea typeface="Courier"/>
                <a:cs typeface="Courier"/>
                <a:sym typeface="Courier"/>
              </a:rPr>
              <a:t>inp</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fhand</a:t>
            </a:r>
            <a:r>
              <a:rPr i="0" lang="en-US" sz="1100" u="none" cap="none" strike="noStrike">
                <a:solidFill>
                  <a:srgbClr val="FF7F00"/>
                </a:solidFill>
                <a:latin typeface="Courier"/>
                <a:ea typeface="Courier"/>
                <a:cs typeface="Courier"/>
                <a:sym typeface="Courier"/>
              </a:rPr>
              <a:t>.read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inp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94626</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inp</a:t>
            </a:r>
            <a:r>
              <a:rPr i="0" lang="en-US" sz="1100" u="none" cap="none" strike="noStrike">
                <a:solidFill>
                  <a:schemeClr val="lt1"/>
                </a:solidFill>
                <a:latin typeface="Courier"/>
                <a:ea typeface="Courier"/>
                <a:cs typeface="Courier"/>
                <a:sym typeface="Courier"/>
              </a:rPr>
              <a:t>[:20])</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From stephen.marquar</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In the above Python code, the entire contents (all 94,626 characters) of the file mbox-short.txt are read directly into the variable inp. Next, we use string slicing to print out the first 20 characters of the string data stored in inp using the colon ( : ) operator. When you read the file in this manner, all the characters including all of the lines and newline characters are one big string in the variable inp.</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We need to emphasize that this form of the open function should only be used if the file data will fit comfortably in the main memory of your computer. If the file is too large to fit in main memory, you should write your program to read the file in chunks using a for or while loop.</a:t>
            </a:r>
            <a:endParaRPr/>
          </a:p>
        </p:txBody>
      </p:sp>
      <p:sp>
        <p:nvSpPr>
          <p:cNvPr id="88" name="Google Shape;8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Searching through data in a file is a common operation. When you do so, it is a very common pattern to read through a file, ignoring most of the lines and only processing lines which meet a particular condition. You can combine the pattern for reading a file with string methods to build simple search mechanisms. For example, if you want to read a file and only print out lines which started with the prefix “From:”, you could use the string method startswith in an if-statement to select only those lines with the desired prefix:</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('mbox-short.txt')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lang="en-US" sz="1100">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.startswith</a:t>
            </a:r>
            <a:r>
              <a:rPr i="0" lang="en-US" sz="1100" u="none" cap="none" strike="noStrike">
                <a:solidFill>
                  <a:schemeClr val="lt1"/>
                </a:solidFill>
                <a:latin typeface="Courier"/>
                <a:ea typeface="Courier"/>
                <a:cs typeface="Courier"/>
                <a:sym typeface="Courier"/>
              </a:rPr>
              <a:t>('From:')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lang="en-US" sz="1100">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95" name="Google Shape;9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When you run this Python program, you get the following output: </a:t>
            </a:r>
            <a:endParaRPr/>
          </a:p>
          <a:p>
            <a:pPr indent="0" lvl="0" marL="0" marR="0" rtl="0" algn="l">
              <a:lnSpc>
                <a:spcPct val="100000"/>
              </a:lnSpc>
              <a:spcBef>
                <a:spcPts val="0"/>
              </a:spcBef>
              <a:spcAft>
                <a:spcPts val="0"/>
              </a:spcAft>
              <a:buClr>
                <a:srgbClr val="FF00FF"/>
              </a:buClr>
              <a:buSzPts val="275"/>
              <a:buFont typeface="Cabin"/>
              <a:buNone/>
            </a:pPr>
            <a:r>
              <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From: stephen.marquard@uct.ac.za</a:t>
            </a:r>
            <a:endParaRPr i="0" sz="1100" u="none" cap="none" strike="noStrike">
              <a:solidFill>
                <a:srgbClr val="FF00FF"/>
              </a:solidFill>
              <a:latin typeface="Courier"/>
              <a:ea typeface="Courier"/>
              <a:cs typeface="Courier"/>
              <a:sym typeface="Courier"/>
            </a:endParaRPr>
          </a:p>
          <a:p>
            <a:pPr indent="0" lvl="0" marL="0" marR="0" rtl="0" algn="ctr">
              <a:lnSpc>
                <a:spcPct val="100000"/>
              </a:lnSpc>
              <a:spcBef>
                <a:spcPts val="0"/>
              </a:spcBef>
              <a:spcAft>
                <a:spcPts val="0"/>
              </a:spcAft>
              <a:buClr>
                <a:schemeClr val="dk1"/>
              </a:buClr>
              <a:buSzPts val="1100"/>
              <a:buFont typeface="Arial"/>
              <a:buNone/>
            </a:pPr>
            <a:r>
              <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From: louis@media.berkeley.edu</a:t>
            </a:r>
            <a:endParaRPr i="0" sz="1100" u="none" cap="none" strike="noStrike">
              <a:solidFill>
                <a:srgbClr val="FF00FF"/>
              </a:solidFill>
              <a:latin typeface="Courier"/>
              <a:ea typeface="Courier"/>
              <a:cs typeface="Courier"/>
              <a:sym typeface="Courier"/>
            </a:endParaRPr>
          </a:p>
          <a:p>
            <a:pPr indent="0" lvl="0" marL="0" marR="0" rtl="0" algn="ctr">
              <a:lnSpc>
                <a:spcPct val="100000"/>
              </a:lnSpc>
              <a:spcBef>
                <a:spcPts val="0"/>
              </a:spcBef>
              <a:spcAft>
                <a:spcPts val="0"/>
              </a:spcAft>
              <a:buClr>
                <a:schemeClr val="dk1"/>
              </a:buClr>
              <a:buSzPts val="1100"/>
              <a:buFont typeface="Arial"/>
              <a:buNone/>
            </a:pPr>
            <a:r>
              <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From: zqian@umich.edu</a:t>
            </a:r>
            <a:endParaRPr i="0" sz="1100" u="none" cap="none" strike="noStrike">
              <a:solidFill>
                <a:srgbClr val="FF00FF"/>
              </a:solidFill>
              <a:latin typeface="Courier"/>
              <a:ea typeface="Courier"/>
              <a:cs typeface="Courier"/>
              <a:sym typeface="Courier"/>
            </a:endParaRPr>
          </a:p>
          <a:p>
            <a:pPr indent="0" lvl="0" marL="0" marR="0" rtl="0" algn="ctr">
              <a:lnSpc>
                <a:spcPct val="100000"/>
              </a:lnSpc>
              <a:spcBef>
                <a:spcPts val="0"/>
              </a:spcBef>
              <a:spcAft>
                <a:spcPts val="0"/>
              </a:spcAft>
              <a:buClr>
                <a:schemeClr val="dk1"/>
              </a:buClr>
              <a:buSzPts val="1100"/>
              <a:buFont typeface="Arial"/>
              <a:buNone/>
            </a:pPr>
            <a:r>
              <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From: rjlowe@iupui.edu</a:t>
            </a:r>
            <a:endParaRPr i="0" sz="11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The output captures lines which start with “From:”, but why are we seeing the extra blank lines?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02" name="Google Shape;10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This is due to that invisible newline character. Each of the lines ends with a newline, so the print statement prints the string in the variable line which includes a newline and then print adds another newline, resulting in the double spacing effect we see.</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09" name="Google Shape;10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We could use line slicing to print all but the last character, but a simpler approach is to use the rstrip method since the newline is considerd as white space. The rstrip method strips whitespace from the right side of a string as follows: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('mbox-short.txt')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lang="en-US" sz="1100">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7F00"/>
                </a:solidFill>
                <a:latin typeface="Courier"/>
                <a:ea typeface="Courier"/>
                <a:cs typeface="Courier"/>
                <a:sym typeface="Courier"/>
              </a:rPr>
              <a:t>.rstrip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.startswith</a:t>
            </a:r>
            <a:r>
              <a:rPr i="0" lang="en-US" sz="1100" u="none" cap="none" strike="noStrike">
                <a:solidFill>
                  <a:schemeClr val="lt1"/>
                </a:solidFill>
                <a:latin typeface="Courier"/>
                <a:ea typeface="Courier"/>
                <a:cs typeface="Courier"/>
                <a:sym typeface="Courier"/>
              </a:rPr>
              <a:t>('From:')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lang="en-US" sz="1100">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When the above program runs, we get the following output:</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From: stephen.marquard@uct.ac.za</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From: louis@media.berkeley.edu</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From: zqian@umich.edu</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From: rjlowe@iupui.edu</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17" name="Google Shape;11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As your file processing programs get more complicated, you may want to structure your search loops using the continue statement to conveniently skip a line. The basic idea of the search loop is that you are looking for “interesting” lines and effectively skipping “uninteresting” lines. When you find an interesting line, you do something with that line. You can structure the for loop to follow the pattern of skipping uninteresting lines as follows: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('mbox-short.txt')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.rstrip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not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.startswith</a:t>
            </a:r>
            <a:r>
              <a:rPr i="0" lang="en-US" sz="1100" u="none" cap="none" strike="noStrike">
                <a:solidFill>
                  <a:schemeClr val="lt1"/>
                </a:solidFill>
                <a:latin typeface="Courier"/>
                <a:ea typeface="Courier"/>
                <a:cs typeface="Courier"/>
                <a:sym typeface="Courier"/>
              </a:rPr>
              <a:t>('From:')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lang="en-US" sz="1100">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continue</a:t>
            </a:r>
            <a:endParaRPr/>
          </a:p>
          <a:p>
            <a:pPr indent="0" lvl="0" marL="0" rtl="0" algn="l">
              <a:lnSpc>
                <a:spcPct val="100000"/>
              </a:lnSpc>
              <a:spcBef>
                <a:spcPts val="0"/>
              </a:spcBef>
              <a:spcAft>
                <a:spcPts val="0"/>
              </a:spcAft>
              <a:buSzPts val="1400"/>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line</a:t>
            </a:r>
            <a:r>
              <a:rPr lang="en-US" sz="1100">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The output of the program is the same as before. The uninteresting lines are those which do not start with “From:”, which you skip using the continue statement. However, for the interestin lines (i.e., those that start with “From:”) you perform the processing on those lines.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25" name="Google Shape;12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You can write the following for loop to show lines that contain the string “@uct.ac.za” (i.e., they come from the University of Cape Town in South Africa). In this for loop, you can utilize Python membership and identity operator ( in ) to check if a value exists in a sequence or not: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('mbox-short.txt')</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.rstrip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not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@uct.ac.za</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continue</a:t>
            </a:r>
            <a:endParaRPr/>
          </a:p>
          <a:p>
            <a:pPr indent="0" lvl="0" marL="0" rtl="0" algn="l">
              <a:lnSpc>
                <a:spcPct val="100000"/>
              </a:lnSpc>
              <a:spcBef>
                <a:spcPts val="0"/>
              </a:spcBef>
              <a:spcAft>
                <a:spcPts val="0"/>
              </a:spcAft>
              <a:buSzPts val="1400"/>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line</a:t>
            </a:r>
            <a:r>
              <a:rPr lang="en-US" sz="1100">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i="0" lang="en-US" sz="1100" u="none" cap="none" strike="noStrike">
                <a:solidFill>
                  <a:schemeClr val="lt1"/>
                </a:solidFill>
                <a:latin typeface="Courier"/>
                <a:ea typeface="Courier"/>
                <a:cs typeface="Courier"/>
                <a:sym typeface="Courier"/>
              </a:rPr>
              <a:t>This program yields the following output:</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From stephen.marquard@</a:t>
            </a:r>
            <a:r>
              <a:rPr i="0" lang="en-US" sz="1100" u="none" cap="none" strike="noStrike">
                <a:solidFill>
                  <a:srgbClr val="00FFFF"/>
                </a:solidFill>
                <a:latin typeface="Courier"/>
                <a:ea typeface="Courier"/>
                <a:cs typeface="Courier"/>
                <a:sym typeface="Courier"/>
              </a:rPr>
              <a:t>uct.ac.za</a:t>
            </a:r>
            <a:r>
              <a:rPr i="0" lang="en-US" sz="1100" u="none" cap="none" strike="noStrike">
                <a:solidFill>
                  <a:srgbClr val="FF00FF"/>
                </a:solidFill>
                <a:latin typeface="Courier"/>
                <a:ea typeface="Courier"/>
                <a:cs typeface="Courier"/>
                <a:sym typeface="Courier"/>
              </a:rPr>
              <a:t> Sat Jan  5 09:14:16 2008</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X-Authentication-Warning: set sender to stephen.marquard@</a:t>
            </a:r>
            <a:r>
              <a:rPr i="0" lang="en-US" sz="1100" u="none" cap="none" strike="noStrike">
                <a:solidFill>
                  <a:srgbClr val="00FFFF"/>
                </a:solidFill>
                <a:latin typeface="Courier"/>
                <a:ea typeface="Courier"/>
                <a:cs typeface="Courier"/>
                <a:sym typeface="Courier"/>
              </a:rPr>
              <a:t>uct.ac.za</a:t>
            </a:r>
            <a:r>
              <a:rPr i="0" lang="en-US" sz="1100" u="none" cap="none" strike="noStrike">
                <a:solidFill>
                  <a:srgbClr val="FF00FF"/>
                </a:solidFill>
                <a:latin typeface="Courier"/>
                <a:ea typeface="Courier"/>
                <a:cs typeface="Courier"/>
                <a:sym typeface="Courier"/>
              </a:rPr>
              <a:t> using –f</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From: </a:t>
            </a:r>
            <a:r>
              <a:rPr i="0" lang="en-US" sz="1100" u="sng" cap="none" strike="noStrike">
                <a:solidFill>
                  <a:schemeClr val="hlink"/>
                </a:solidFill>
                <a:latin typeface="Courier"/>
                <a:ea typeface="Courier"/>
                <a:cs typeface="Courier"/>
                <a:sym typeface="Courier"/>
                <a:hlinkClick r:id="rId2"/>
              </a:rPr>
              <a:t>stephen.marquard@uct.ac.za</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Author: </a:t>
            </a:r>
            <a:r>
              <a:rPr i="0" lang="en-US" sz="1100" u="sng" cap="none" strike="noStrike">
                <a:solidFill>
                  <a:schemeClr val="hlink"/>
                </a:solidFill>
                <a:latin typeface="Courier"/>
                <a:ea typeface="Courier"/>
                <a:cs typeface="Courier"/>
                <a:sym typeface="Courier"/>
                <a:hlinkClick r:id="rId3"/>
              </a:rPr>
              <a:t>stephen.marquard@uct.ac.za</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From david.horwitz@</a:t>
            </a:r>
            <a:r>
              <a:rPr i="0" lang="en-US" sz="1100" u="none" cap="none" strike="noStrike">
                <a:solidFill>
                  <a:srgbClr val="00FFFF"/>
                </a:solidFill>
                <a:latin typeface="Courier"/>
                <a:ea typeface="Courier"/>
                <a:cs typeface="Courier"/>
                <a:sym typeface="Courier"/>
              </a:rPr>
              <a:t>uct.ac.za</a:t>
            </a:r>
            <a:r>
              <a:rPr i="0" lang="en-US" sz="1100" u="none" cap="none" strike="noStrike">
                <a:solidFill>
                  <a:srgbClr val="FF00FF"/>
                </a:solidFill>
                <a:latin typeface="Courier"/>
                <a:ea typeface="Courier"/>
                <a:cs typeface="Courier"/>
                <a:sym typeface="Courier"/>
              </a:rPr>
              <a:t> Fri Jan  4 07:02:32 2008</a:t>
            </a:r>
            <a:endParaRPr/>
          </a:p>
          <a:p>
            <a:pPr indent="0" lvl="0" marL="0" marR="0" rtl="0" algn="l">
              <a:lnSpc>
                <a:spcPct val="100000"/>
              </a:lnSpc>
              <a:spcBef>
                <a:spcPts val="0"/>
              </a:spcBef>
              <a:spcAft>
                <a:spcPts val="0"/>
              </a:spcAft>
              <a:buClr>
                <a:srgbClr val="FF00FF"/>
              </a:buClr>
              <a:buSzPts val="275"/>
              <a:buFont typeface="Cabin"/>
              <a:buNone/>
            </a:pPr>
            <a:r>
              <a:rPr i="0" lang="en-US" sz="1100" u="none" cap="none" strike="noStrike">
                <a:solidFill>
                  <a:srgbClr val="FF00FF"/>
                </a:solidFill>
                <a:latin typeface="Courier"/>
                <a:ea typeface="Courier"/>
                <a:cs typeface="Courier"/>
                <a:sym typeface="Courier"/>
              </a:rPr>
              <a:t>X-Authentication-Warning: set sender to david.horwitz@</a:t>
            </a:r>
            <a:r>
              <a:rPr i="0" lang="en-US" sz="1100" u="none" cap="none" strike="noStrike">
                <a:solidFill>
                  <a:srgbClr val="00FFFF"/>
                </a:solidFill>
                <a:latin typeface="Courier"/>
                <a:ea typeface="Courier"/>
                <a:cs typeface="Courier"/>
                <a:sym typeface="Courier"/>
              </a:rPr>
              <a:t>uct.ac.za</a:t>
            </a:r>
            <a:r>
              <a:rPr i="0" lang="en-US" sz="1100" u="none" cap="none" strike="noStrike">
                <a:solidFill>
                  <a:srgbClr val="FF00FF"/>
                </a:solidFill>
                <a:latin typeface="Courier"/>
                <a:ea typeface="Courier"/>
                <a:cs typeface="Courier"/>
                <a:sym typeface="Courier"/>
              </a:rPr>
              <a:t> using -f...</a:t>
            </a:r>
            <a:endParaRPr/>
          </a:p>
          <a:p>
            <a:pPr indent="0" lvl="0" marL="0" rtl="0" algn="l">
              <a:lnSpc>
                <a:spcPct val="100000"/>
              </a:lnSpc>
              <a:spcBef>
                <a:spcPts val="0"/>
              </a:spcBef>
              <a:spcAft>
                <a:spcPts val="0"/>
              </a:spcAft>
              <a:buSzPts val="1400"/>
              <a:buNone/>
            </a:pPr>
            <a:r>
              <a:t/>
            </a:r>
            <a:endParaRPr i="0" sz="1100" u="none" cap="none" strike="noStrike">
              <a:solidFill>
                <a:srgbClr val="00FF00"/>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32" name="Google Shape;13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Sometimes, you really do not want to have to edit your Python code every time you want to process a different file. Thus, it would be more usable to ask the user to enter the file name string each time the program runs so they can use your program on different files without changing the Python code. This can be done simply by reading the file name from the user using input function as follows: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fname</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input</a:t>
            </a:r>
            <a:r>
              <a:rPr i="0" lang="en-US" sz="1100" u="none" cap="none" strike="noStrike">
                <a:solidFill>
                  <a:schemeClr val="lt1"/>
                </a:solidFill>
                <a:latin typeface="Courier"/>
                <a:ea typeface="Courier"/>
                <a:cs typeface="Courier"/>
                <a:sym typeface="Courier"/>
              </a:rPr>
              <a:t>('Enter the file name: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fname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0</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.startswith</a:t>
            </a:r>
            <a:r>
              <a:rPr i="0" lang="en-US" sz="1100" u="none" cap="none" strike="noStrike">
                <a:solidFill>
                  <a:schemeClr val="lt1"/>
                </a:solidFill>
                <a:latin typeface="Courier"/>
                <a:ea typeface="Courier"/>
                <a:cs typeface="Courier"/>
                <a:sym typeface="Courier"/>
              </a:rPr>
              <a:t>('Subject:')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+ 1</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'There were', </a:t>
            </a: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'subject lines in', fname)</a:t>
            </a:r>
            <a:endParaRPr/>
          </a:p>
          <a:p>
            <a:pPr indent="0" lvl="0" marL="0" marR="0" rtl="0" algn="l">
              <a:lnSpc>
                <a:spcPct val="100000"/>
              </a:lnSpc>
              <a:spcBef>
                <a:spcPts val="0"/>
              </a:spcBef>
              <a:spcAft>
                <a:spcPts val="0"/>
              </a:spcAft>
              <a:buClr>
                <a:srgbClr val="FFFF00"/>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chemeClr val="lt1"/>
                </a:solidFill>
                <a:latin typeface="Courier"/>
                <a:ea typeface="Courier"/>
                <a:cs typeface="Courier"/>
                <a:sym typeface="Courier"/>
              </a:rPr>
              <a:t>We read the file name from the user and place it in a variable named fname and open that file. Now we can run the program repeatedly on different files without changing our Python program. A sample run of the above Python code would be as follows:</a:t>
            </a:r>
            <a:endParaRPr/>
          </a:p>
          <a:p>
            <a:pPr indent="0" lvl="0" marL="0" marR="0" rtl="0" algn="l">
              <a:lnSpc>
                <a:spcPct val="100000"/>
              </a:lnSpc>
              <a:spcBef>
                <a:spcPts val="0"/>
              </a:spcBef>
              <a:spcAft>
                <a:spcPts val="0"/>
              </a:spcAft>
              <a:buClr>
                <a:srgbClr val="FFFF00"/>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Enter the file name:  </a:t>
            </a:r>
            <a:r>
              <a:rPr lang="en-US" sz="1100" u="none" cap="none" strike="noStrike">
                <a:solidFill>
                  <a:srgbClr val="FFFF00"/>
                </a:solidFill>
                <a:latin typeface="Arial"/>
                <a:ea typeface="Arial"/>
                <a:cs typeface="Arial"/>
                <a:sym typeface="Arial"/>
              </a:rPr>
              <a:t>mbox.txt</a:t>
            </a:r>
            <a:endParaRPr sz="11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There were 1797 subject lines in mbox.txt</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ctr">
              <a:lnSpc>
                <a:spcPct val="100000"/>
              </a:lnSpc>
              <a:spcBef>
                <a:spcPts val="0"/>
              </a:spcBef>
              <a:spcAft>
                <a:spcPts val="0"/>
              </a:spcAft>
              <a:buClr>
                <a:schemeClr val="dk1"/>
              </a:buClr>
              <a:buSzPts val="1100"/>
              <a:buFont typeface="Arial"/>
              <a:buNone/>
            </a:pPr>
            <a:r>
              <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Enter the file name: </a:t>
            </a:r>
            <a:r>
              <a:rPr lang="en-US" sz="1100" u="none" cap="none" strike="noStrike">
                <a:solidFill>
                  <a:srgbClr val="FFFF00"/>
                </a:solidFill>
                <a:latin typeface="Arial"/>
                <a:ea typeface="Arial"/>
                <a:cs typeface="Arial"/>
                <a:sym typeface="Arial"/>
              </a:rPr>
              <a:t>mbox-short.txt</a:t>
            </a:r>
            <a:endParaRPr sz="11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There were 27 subject lines in mbox-short.txt</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41" name="Google Shape;14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What if your user types something that is not a file name? You can elegantly fix such problem using the try/except structure in your Python code. You need to assume that the open call might fail and add recovery code when the open fails as follows: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lang="en-US" sz="1100">
                <a:solidFill>
                  <a:srgbClr val="00F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fname</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input</a:t>
            </a:r>
            <a:r>
              <a:rPr i="0" lang="en-US" sz="1100" u="none" cap="none" strike="noStrike">
                <a:solidFill>
                  <a:schemeClr val="lt1"/>
                </a:solidFill>
                <a:latin typeface="Courier"/>
                <a:ea typeface="Courier"/>
                <a:cs typeface="Courier"/>
                <a:sym typeface="Courier"/>
              </a:rPr>
              <a:t>('Enter the file name:  ')</a:t>
            </a:r>
            <a:endParaRPr/>
          </a:p>
          <a:p>
            <a:pPr indent="0" lvl="0" marL="0" marR="0" rtl="0" algn="l">
              <a:lnSpc>
                <a:spcPct val="100000"/>
              </a:lnSpc>
              <a:spcBef>
                <a:spcPts val="0"/>
              </a:spcBef>
              <a:spcAft>
                <a:spcPts val="0"/>
              </a:spcAft>
              <a:buClr>
                <a:srgbClr val="FFFF00"/>
              </a:buClr>
              <a:buSzPts val="275"/>
              <a:buFont typeface="Cabin"/>
              <a:buNone/>
            </a:pPr>
            <a:r>
              <a:rPr lang="en-US" sz="1100">
                <a:solidFill>
                  <a:srgbClr val="FFF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try</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fname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Cabin"/>
              <a:buNone/>
            </a:pPr>
            <a:r>
              <a:rPr lang="en-US" sz="1100">
                <a:solidFill>
                  <a:srgbClr val="FFF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except</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'File cannot be opened:', </a:t>
            </a:r>
            <a:r>
              <a:rPr i="0" lang="en-US" sz="1100" u="none" cap="none" strike="noStrike">
                <a:solidFill>
                  <a:srgbClr val="00FF00"/>
                </a:solidFill>
                <a:latin typeface="Courier"/>
                <a:ea typeface="Courier"/>
                <a:cs typeface="Courier"/>
                <a:sym typeface="Courier"/>
              </a:rPr>
              <a:t>fname</a:t>
            </a:r>
            <a:r>
              <a:rPr lang="en-US" sz="1100">
                <a:solidFill>
                  <a:schemeClr val="lt1"/>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exit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1100"/>
              <a:buFont typeface="Cabin"/>
              <a:buNone/>
            </a:pPr>
            <a:r>
              <a:t/>
            </a:r>
            <a:endParaRPr sz="1100">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275"/>
              <a:buFont typeface="Cabin"/>
              <a:buNone/>
            </a:pPr>
            <a:r>
              <a:rPr lang="en-US" sz="1100">
                <a:solidFill>
                  <a:srgbClr val="00F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0</a:t>
            </a:r>
            <a:endParaRPr/>
          </a:p>
          <a:p>
            <a:pPr indent="0" lvl="0" marL="0" marR="0" rtl="0" algn="l">
              <a:lnSpc>
                <a:spcPct val="100000"/>
              </a:lnSpc>
              <a:spcBef>
                <a:spcPts val="0"/>
              </a:spcBef>
              <a:spcAft>
                <a:spcPts val="0"/>
              </a:spcAft>
              <a:buClr>
                <a:srgbClr val="FFFF00"/>
              </a:buClr>
              <a:buSzPts val="275"/>
              <a:buFont typeface="Cabin"/>
              <a:buNone/>
            </a:pPr>
            <a:r>
              <a:rPr lang="en-US" sz="1100">
                <a:solidFill>
                  <a:srgbClr val="FFF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.startswith</a:t>
            </a:r>
            <a:r>
              <a:rPr i="0" lang="en-US" sz="1100" u="none" cap="none" strike="noStrike">
                <a:solidFill>
                  <a:schemeClr val="lt1"/>
                </a:solidFill>
                <a:latin typeface="Courier"/>
                <a:ea typeface="Courier"/>
                <a:cs typeface="Courier"/>
                <a:sym typeface="Courier"/>
              </a:rPr>
              <a:t>('Subject:')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+ 1</a:t>
            </a:r>
            <a:endParaRPr/>
          </a:p>
          <a:p>
            <a:pPr indent="0" lvl="0" marL="0" rtl="0" algn="l">
              <a:lnSpc>
                <a:spcPct val="100000"/>
              </a:lnSpc>
              <a:spcBef>
                <a:spcPts val="0"/>
              </a:spcBef>
              <a:spcAft>
                <a:spcPts val="0"/>
              </a:spcAft>
              <a:buSzPts val="1400"/>
              <a:buNone/>
            </a:pPr>
            <a:r>
              <a:rPr lang="en-US" sz="1100">
                <a:solidFill>
                  <a:srgbClr val="FFFF00"/>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'There were', </a:t>
            </a: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'subject lines in', fname</a:t>
            </a:r>
            <a:r>
              <a:rPr lang="en-US" sz="1100">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t/>
            </a:r>
            <a:endParaRPr sz="1100">
              <a:solidFill>
                <a:schemeClr val="lt1"/>
              </a:solidFill>
              <a:latin typeface="Courier"/>
              <a:ea typeface="Courier"/>
              <a:cs typeface="Courier"/>
              <a:sym typeface="Courier"/>
            </a:endParaRPr>
          </a:p>
          <a:p>
            <a:pPr indent="0" lvl="0" marL="0" rtl="0" algn="l">
              <a:lnSpc>
                <a:spcPct val="100000"/>
              </a:lnSpc>
              <a:spcBef>
                <a:spcPts val="0"/>
              </a:spcBef>
              <a:spcAft>
                <a:spcPts val="0"/>
              </a:spcAft>
              <a:buSzPts val="1400"/>
              <a:buNone/>
            </a:pPr>
            <a:r>
              <a:rPr lang="en-US"/>
              <a:t>The exit function in the above Python code terminates the program. It is a function that you call that never returns. A sample run of this program would be:</a:t>
            </a:r>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Enter the file name: </a:t>
            </a:r>
            <a:r>
              <a:rPr lang="en-US" sz="1100" u="none" cap="none" strike="noStrike">
                <a:solidFill>
                  <a:srgbClr val="FFFF00"/>
                </a:solidFill>
                <a:latin typeface="Arial"/>
                <a:ea typeface="Arial"/>
                <a:cs typeface="Arial"/>
                <a:sym typeface="Arial"/>
              </a:rPr>
              <a:t>mbox.txt</a:t>
            </a:r>
            <a:endParaRPr sz="11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There were 1797 subject lines in mbox.txt</a:t>
            </a:r>
            <a:endParaRPr sz="1100" u="none" cap="none" strike="noStrike">
              <a:solidFill>
                <a:srgbClr val="FF00FF"/>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sz="11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Enter the file name: </a:t>
            </a:r>
            <a:r>
              <a:rPr lang="en-US" sz="1100" u="none" cap="none" strike="noStrike">
                <a:solidFill>
                  <a:srgbClr val="FFFF00"/>
                </a:solidFill>
                <a:latin typeface="Arial"/>
                <a:ea typeface="Arial"/>
                <a:cs typeface="Arial"/>
                <a:sym typeface="Arial"/>
              </a:rPr>
              <a:t>na na boo boo</a:t>
            </a:r>
            <a:endParaRPr/>
          </a:p>
          <a:p>
            <a:pPr indent="0" lvl="0" marL="0" marR="0" rtl="0" algn="l">
              <a:lnSpc>
                <a:spcPct val="100000"/>
              </a:lnSpc>
              <a:spcBef>
                <a:spcPts val="0"/>
              </a:spcBef>
              <a:spcAft>
                <a:spcPts val="0"/>
              </a:spcAft>
              <a:buClr>
                <a:srgbClr val="FF00FF"/>
              </a:buClr>
              <a:buSzPts val="275"/>
              <a:buFont typeface="Cabin"/>
              <a:buNone/>
            </a:pPr>
            <a:r>
              <a:rPr lang="en-US" sz="1100" u="none" cap="none" strike="noStrike">
                <a:solidFill>
                  <a:srgbClr val="FF00FF"/>
                </a:solidFill>
                <a:latin typeface="Arial"/>
                <a:ea typeface="Arial"/>
                <a:cs typeface="Arial"/>
                <a:sym typeface="Arial"/>
              </a:rPr>
              <a:t>File cannot be opened: na na boo boo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50" name="Google Shape;15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57" name="Google Shape;15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2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 name="Shape 10"/>
        <p:cNvGrpSpPr/>
        <p:nvPr/>
      </p:nvGrpSpPr>
      <p:grpSpPr>
        <a:xfrm>
          <a:off x="0" y="0"/>
          <a:ext cx="0" cy="0"/>
          <a:chOff x="0" y="0"/>
          <a:chExt cx="0" cy="0"/>
        </a:xfrm>
      </p:grpSpPr>
      <p:sp>
        <p:nvSpPr>
          <p:cNvPr id="11" name="Google Shape;11;p23"/>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00"/>
              </a:buClr>
              <a:buSzPts val="72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 name="Google Shape;12;p23"/>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chemeClr val="lt1"/>
              </a:buClr>
              <a:buSzPts val="3200"/>
              <a:buFont typeface="Arial"/>
              <a:buNone/>
              <a:defRPr/>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s">
  <p:cSld name="Title and Bullets">
    <p:spTree>
      <p:nvGrpSpPr>
        <p:cNvPr id="13" name="Shape 13"/>
        <p:cNvGrpSpPr/>
        <p:nvPr/>
      </p:nvGrpSpPr>
      <p:grpSpPr>
        <a:xfrm>
          <a:off x="0" y="0"/>
          <a:ext cx="0" cy="0"/>
          <a:chOff x="0" y="0"/>
          <a:chExt cx="0" cy="0"/>
        </a:xfrm>
      </p:grpSpPr>
      <p:sp>
        <p:nvSpPr>
          <p:cNvPr id="14" name="Google Shape;14;p24"/>
          <p:cNvSpPr txBox="1"/>
          <p:nvPr>
            <p:ph type="title"/>
          </p:nvPr>
        </p:nvSpPr>
        <p:spPr>
          <a:xfrm>
            <a:off x="1155700" y="789708"/>
            <a:ext cx="13932000" cy="1750191"/>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00"/>
              </a:buClr>
              <a:buSzPts val="72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 name="Google Shape;15;p24"/>
          <p:cNvSpPr txBox="1"/>
          <p:nvPr>
            <p:ph idx="1" type="body"/>
          </p:nvPr>
        </p:nvSpPr>
        <p:spPr>
          <a:xfrm>
            <a:off x="1155700" y="2603500"/>
            <a:ext cx="13932000" cy="5702399"/>
          </a:xfrm>
          <a:prstGeom prst="rect">
            <a:avLst/>
          </a:prstGeom>
          <a:noFill/>
          <a:ln>
            <a:noFill/>
          </a:ln>
        </p:spPr>
        <p:txBody>
          <a:bodyPr anchorCtr="0" anchor="t" bIns="91425" lIns="91425" spcFirstLastPara="1" rIns="91425" wrap="square" tIns="91425">
            <a:noAutofit/>
          </a:bodyPr>
          <a:lstStyle>
            <a:lvl1pPr indent="-457200" lvl="0" marL="457200" algn="l">
              <a:lnSpc>
                <a:spcPct val="100000"/>
              </a:lnSpc>
              <a:spcBef>
                <a:spcPts val="3500"/>
              </a:spcBef>
              <a:spcAft>
                <a:spcPts val="0"/>
              </a:spcAft>
              <a:buClr>
                <a:schemeClr val="lt1"/>
              </a:buClr>
              <a:buSzPts val="3600"/>
              <a:buFont typeface="Cabin"/>
              <a:buChar char="•"/>
              <a:defRPr sz="3600"/>
            </a:lvl1pPr>
            <a:lvl2pPr indent="-317500" lvl="1" marL="914400" algn="l">
              <a:lnSpc>
                <a:spcPct val="100000"/>
              </a:lnSpc>
              <a:spcBef>
                <a:spcPts val="3500"/>
              </a:spcBef>
              <a:spcAft>
                <a:spcPts val="0"/>
              </a:spcAft>
              <a:buClr>
                <a:schemeClr val="lt1"/>
              </a:buClr>
              <a:buSzPts val="1400"/>
              <a:buFont typeface="Cabin"/>
              <a:buChar char="•"/>
              <a:defRPr/>
            </a:lvl2pPr>
            <a:lvl3pPr indent="-317500" lvl="2" marL="1371600" algn="l">
              <a:lnSpc>
                <a:spcPct val="100000"/>
              </a:lnSpc>
              <a:spcBef>
                <a:spcPts val="3500"/>
              </a:spcBef>
              <a:spcAft>
                <a:spcPts val="0"/>
              </a:spcAft>
              <a:buClr>
                <a:schemeClr val="lt1"/>
              </a:buClr>
              <a:buSzPts val="1400"/>
              <a:buFont typeface="Cabin"/>
              <a:buChar char="•"/>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 name="Shape 16"/>
        <p:cNvGrpSpPr/>
        <p:nvPr/>
      </p:nvGrpSpPr>
      <p:grpSpPr>
        <a:xfrm>
          <a:off x="0" y="0"/>
          <a:ext cx="0" cy="0"/>
          <a:chOff x="0" y="0"/>
          <a:chExt cx="0" cy="0"/>
        </a:xfrm>
      </p:grpSpPr>
      <p:sp>
        <p:nvSpPr>
          <p:cNvPr id="17" name="Google Shape;17;p25"/>
          <p:cNvSpPr txBox="1"/>
          <p:nvPr>
            <p:ph type="title"/>
          </p:nvPr>
        </p:nvSpPr>
        <p:spPr>
          <a:xfrm>
            <a:off x="1155700" y="789708"/>
            <a:ext cx="13932000" cy="1750191"/>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00"/>
              </a:buClr>
              <a:buSzPts val="72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FFFF00"/>
              </a:buClr>
              <a:buSzPts val="7200"/>
              <a:buFont typeface="Arial"/>
              <a:buNone/>
              <a:defRPr b="0" i="0" sz="7200" u="none" cap="none" strike="noStrike">
                <a:solidFill>
                  <a:srgbClr val="FFFF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2"/>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2"/>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22"/>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pythonlearn.com" TargetMode="External"/><Relationship Id="rId4" Type="http://schemas.openxmlformats.org/officeDocument/2006/relationships/hyperlink" Target="http://www.pythonlearn.com"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www.py4inf.com/code/mbox-short.txt" TargetMode="External"/><Relationship Id="rId4" Type="http://schemas.openxmlformats.org/officeDocument/2006/relationships/hyperlink" Target="http://www.py4inf.com/code/mbox-short.tx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mailto:stephen.marquard@uct.ac.za" TargetMode="External"/><Relationship Id="rId4" Type="http://schemas.openxmlformats.org/officeDocument/2006/relationships/hyperlink" Target="mailto:stephen.marquard@uct.ac.z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www.dr-chuck.com" TargetMode="External"/><Relationship Id="rId4" Type="http://schemas.openxmlformats.org/officeDocument/2006/relationships/hyperlink" Target="http://open.umich.edu/" TargetMode="External"/><Relationship Id="rId5" Type="http://schemas.openxmlformats.org/officeDocument/2006/relationships/image" Target="../media/image2.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Reading Files</a:t>
            </a:r>
            <a:endParaRPr/>
          </a:p>
        </p:txBody>
      </p:sp>
      <p:sp>
        <p:nvSpPr>
          <p:cNvPr id="24" name="Google Shape;24;p1"/>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7</a:t>
            </a:r>
            <a:endParaRPr/>
          </a:p>
        </p:txBody>
      </p:sp>
      <p:sp>
        <p:nvSpPr>
          <p:cNvPr id="25" name="Google Shape;25;p1"/>
          <p:cNvSpPr txBox="1"/>
          <p:nvPr/>
        </p:nvSpPr>
        <p:spPr>
          <a:xfrm>
            <a:off x="3996400" y="7077663"/>
            <a:ext cx="7967099"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b="0" i="0" sz="3200" u="none" cap="none" strike="noStrike">
              <a:solidFill>
                <a:srgbClr val="FFFF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800"/>
              <a:buFont typeface="Cabin"/>
              <a:buNone/>
            </a:pPr>
            <a:r>
              <a:rPr b="0" i="0" lang="en-US" sz="3200" u="sng" cap="none" strike="noStrike">
                <a:solidFill>
                  <a:srgbClr val="FFFF00"/>
                </a:solidFill>
                <a:latin typeface="Arial"/>
                <a:ea typeface="Arial"/>
                <a:cs typeface="Arial"/>
                <a:sym typeface="Arial"/>
                <a:hlinkClick r:id="rId3">
                  <a:extLst>
                    <a:ext uri="{A12FA001-AC4F-418D-AE19-62706E023703}">
                      <ahyp:hlinkClr val="tx"/>
                    </a:ext>
                  </a:extLst>
                </a:hlinkClick>
              </a:rPr>
              <a:t>www.py4e.com</a:t>
            </a:r>
            <a:endParaRPr b="0" i="0" sz="3200" u="sng" cap="none" strike="noStrike">
              <a:solidFill>
                <a:srgbClr val="FFFF00"/>
              </a:solidFill>
              <a:latin typeface="Arial"/>
              <a:ea typeface="Arial"/>
              <a:cs typeface="Arial"/>
              <a:sym typeface="Arial"/>
              <a:hlinkClick r:id="rId4">
                <a:extLst>
                  <a:ext uri="{A12FA001-AC4F-418D-AE19-62706E023703}">
                    <ahyp:hlinkClr val="tx"/>
                  </a:ext>
                </a:extLst>
              </a:hlinkClick>
            </a:endParaRPr>
          </a:p>
        </p:txBody>
      </p:sp>
      <p:pic>
        <p:nvPicPr>
          <p:cNvPr id="26" name="Google Shape;26;p1"/>
          <p:cNvPicPr preferRelativeResize="0"/>
          <p:nvPr/>
        </p:nvPicPr>
        <p:blipFill rotWithShape="1">
          <a:blip r:embed="rId5">
            <a:alphaModFix/>
          </a:blip>
          <a:srcRect b="0" l="0" r="0" t="0"/>
          <a:stretch/>
        </p:blipFill>
        <p:spPr>
          <a:xfrm>
            <a:off x="13744575" y="7327262"/>
            <a:ext cx="1968599" cy="66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2"/>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File Processing</a:t>
            </a:r>
            <a:endParaRPr/>
          </a:p>
        </p:txBody>
      </p:sp>
      <p:sp>
        <p:nvSpPr>
          <p:cNvPr id="32" name="Google Shape;32;p2"/>
          <p:cNvSpPr txBox="1"/>
          <p:nvPr>
            <p:ph idx="1" type="body"/>
          </p:nvPr>
        </p:nvSpPr>
        <p:spPr>
          <a:xfrm>
            <a:off x="1155700" y="2603501"/>
            <a:ext cx="13932000" cy="893950"/>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A text file can be thought of as a sequence of lines</a:t>
            </a:r>
            <a:endParaRPr/>
          </a:p>
        </p:txBody>
      </p:sp>
      <p:sp>
        <p:nvSpPr>
          <p:cNvPr id="33" name="Google Shape;33;p2"/>
          <p:cNvSpPr txBox="1"/>
          <p:nvPr/>
        </p:nvSpPr>
        <p:spPr>
          <a:xfrm>
            <a:off x="1616050" y="3497450"/>
            <a:ext cx="12859499" cy="34796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From stephen.marquard@uct.ac.za Sat Jan  5 09:14:16 2008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Return-Path: &lt;postmaster@collab.sakaiproject.org&gt;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Date: Sat, 5 Jan 2008 09:12:18 -0500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To: source@collab.sakaiproject.org</a:t>
            </a:r>
            <a:endParaRPr b="0" i="0" sz="24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From: stephen.marquard@uct.ac.za</a:t>
            </a:r>
            <a:endParaRPr b="0" i="0" sz="24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Subject: [sakai] svn commit: r39772 - content/branches/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2400"/>
              <a:buFont typeface="Cabin"/>
              <a:buNone/>
            </a:pPr>
            <a:r>
              <a:t/>
            </a:r>
            <a:endParaRPr b="0" i="0" sz="24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Details: http://source.sakaiproject.org/viewsvn/?view=rev&amp;rev=39772</a:t>
            </a:r>
            <a:endParaRPr b="0" i="0" sz="1400" u="none" cap="none" strike="noStrike">
              <a:solidFill>
                <a:srgbClr val="000000"/>
              </a:solidFill>
              <a:latin typeface="Arial"/>
              <a:ea typeface="Arial"/>
              <a:cs typeface="Arial"/>
              <a:sym typeface="Arial"/>
            </a:endParaRPr>
          </a:p>
        </p:txBody>
      </p:sp>
      <p:sp>
        <p:nvSpPr>
          <p:cNvPr id="34" name="Google Shape;34;p2"/>
          <p:cNvSpPr txBox="1"/>
          <p:nvPr/>
        </p:nvSpPr>
        <p:spPr>
          <a:xfrm>
            <a:off x="861313" y="7111800"/>
            <a:ext cx="9603000" cy="622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750"/>
              <a:buFont typeface="Cabin"/>
              <a:buNone/>
            </a:pPr>
            <a:r>
              <a:rPr b="0" i="0" lang="en-US" sz="3000" u="sng" cap="none" strike="noStrike">
                <a:solidFill>
                  <a:srgbClr val="FFFF00"/>
                </a:solidFill>
                <a:latin typeface="Arial"/>
                <a:ea typeface="Arial"/>
                <a:cs typeface="Arial"/>
                <a:sym typeface="Arial"/>
                <a:hlinkClick r:id="rId3">
                  <a:extLst>
                    <a:ext uri="{A12FA001-AC4F-418D-AE19-62706E023703}">
                      <ahyp:hlinkClr val="tx"/>
                    </a:ext>
                  </a:extLst>
                </a:hlinkClick>
              </a:rPr>
              <a:t>http://www.py4e.com/code/mbox-short.txt</a:t>
            </a:r>
            <a:endParaRPr b="0" i="0" sz="3000" u="sng" cap="none" strike="noStrike">
              <a:solidFill>
                <a:srgbClr val="FFFF00"/>
              </a:solidFill>
              <a:latin typeface="Arial"/>
              <a:ea typeface="Arial"/>
              <a:cs typeface="Arial"/>
              <a:sym typeface="Arial"/>
              <a:hlinkClick r:id="rId4">
                <a:extLst>
                  <a:ext uri="{A12FA001-AC4F-418D-AE19-62706E023703}">
                    <ahyp:hlinkClr val="tx"/>
                  </a:ext>
                </a:extLst>
              </a:hlinkCli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3"/>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Opening a File</a:t>
            </a:r>
            <a:endParaRPr/>
          </a:p>
        </p:txBody>
      </p:sp>
      <p:sp>
        <p:nvSpPr>
          <p:cNvPr id="40" name="Google Shape;40;p3"/>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Before we can read the contents of the file, we must tell Python which file we are going to work with and what we will be doing with the file</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This is done with the </a:t>
            </a:r>
            <a:r>
              <a:rPr lang="en-US" sz="3600" u="none" cap="none" strike="noStrike">
                <a:solidFill>
                  <a:srgbClr val="FF00FF"/>
                </a:solidFill>
                <a:latin typeface="Arial"/>
                <a:ea typeface="Arial"/>
                <a:cs typeface="Arial"/>
                <a:sym typeface="Arial"/>
              </a:rPr>
              <a:t>open</a:t>
            </a:r>
            <a:r>
              <a:rPr lang="en-US" sz="3600" u="none" cap="none" strike="noStrike">
                <a:solidFill>
                  <a:schemeClr val="lt1"/>
                </a:solidFill>
                <a:latin typeface="Arial"/>
                <a:ea typeface="Arial"/>
                <a:cs typeface="Arial"/>
                <a:sym typeface="Arial"/>
              </a:rPr>
              <a:t>() function</a:t>
            </a:r>
            <a:endParaRPr sz="36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4"/>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Using </a:t>
            </a:r>
            <a:r>
              <a:rPr lang="en-US" sz="7600" u="none" cap="none" strike="noStrike">
                <a:solidFill>
                  <a:srgbClr val="FF00FF"/>
                </a:solidFill>
                <a:latin typeface="Arial"/>
                <a:ea typeface="Arial"/>
                <a:cs typeface="Arial"/>
                <a:sym typeface="Arial"/>
              </a:rPr>
              <a:t>open()</a:t>
            </a:r>
            <a:endParaRPr/>
          </a:p>
        </p:txBody>
      </p:sp>
      <p:sp>
        <p:nvSpPr>
          <p:cNvPr id="46" name="Google Shape;46;p4"/>
          <p:cNvSpPr txBox="1"/>
          <p:nvPr>
            <p:ph idx="1" type="body"/>
          </p:nvPr>
        </p:nvSpPr>
        <p:spPr>
          <a:xfrm>
            <a:off x="1155700" y="3106015"/>
            <a:ext cx="12837675" cy="5199884"/>
          </a:xfrm>
          <a:prstGeom prst="rect">
            <a:avLst/>
          </a:prstGeom>
          <a:noFill/>
          <a:ln>
            <a:noFill/>
          </a:ln>
        </p:spPr>
        <p:txBody>
          <a:bodyPr anchorCtr="0" anchor="ctr" bIns="38100" lIns="38100" spcFirstLastPara="1" rIns="38100" wrap="square" tIns="38100">
            <a:noAutofit/>
          </a:bodyPr>
          <a:lstStyle/>
          <a:p>
            <a:pPr indent="-371094" lvl="1" marL="1041400" rtl="0" algn="l">
              <a:lnSpc>
                <a:spcPct val="100000"/>
              </a:lnSpc>
              <a:spcBef>
                <a:spcPts val="0"/>
              </a:spcBef>
              <a:spcAft>
                <a:spcPts val="0"/>
              </a:spcAft>
              <a:buClr>
                <a:srgbClr val="FF7F00"/>
              </a:buClr>
              <a:buSzPts val="3600"/>
              <a:buChar char="•"/>
            </a:pPr>
            <a:r>
              <a:rPr lang="en-US" sz="3600">
                <a:solidFill>
                  <a:srgbClr val="FF7F00"/>
                </a:solidFill>
                <a:latin typeface="Arial"/>
                <a:ea typeface="Arial"/>
                <a:cs typeface="Arial"/>
                <a:sym typeface="Arial"/>
              </a:rPr>
              <a:t>handle</a:t>
            </a:r>
            <a:r>
              <a:rPr lang="en-US" sz="3600">
                <a:solidFill>
                  <a:schemeClr val="lt1"/>
                </a:solidFill>
                <a:latin typeface="Arial"/>
                <a:ea typeface="Arial"/>
                <a:cs typeface="Arial"/>
                <a:sym typeface="Arial"/>
              </a:rPr>
              <a:t> = </a:t>
            </a:r>
            <a:r>
              <a:rPr lang="en-US" sz="3600">
                <a:solidFill>
                  <a:srgbClr val="FF00FF"/>
                </a:solidFill>
                <a:latin typeface="Arial"/>
                <a:ea typeface="Arial"/>
                <a:cs typeface="Arial"/>
                <a:sym typeface="Arial"/>
              </a:rPr>
              <a:t>open</a:t>
            </a:r>
            <a:r>
              <a:rPr lang="en-US" sz="3600">
                <a:solidFill>
                  <a:schemeClr val="lt1"/>
                </a:solidFill>
                <a:latin typeface="Arial"/>
                <a:ea typeface="Arial"/>
                <a:cs typeface="Arial"/>
                <a:sym typeface="Arial"/>
              </a:rPr>
              <a:t>(</a:t>
            </a:r>
            <a:r>
              <a:rPr lang="en-US" sz="3600">
                <a:solidFill>
                  <a:srgbClr val="00FFFF"/>
                </a:solidFill>
                <a:latin typeface="Arial"/>
                <a:ea typeface="Arial"/>
                <a:cs typeface="Arial"/>
                <a:sym typeface="Arial"/>
              </a:rPr>
              <a:t>filename</a:t>
            </a:r>
            <a:r>
              <a:rPr lang="en-US" sz="3600">
                <a:solidFill>
                  <a:schemeClr val="lt1"/>
                </a:solidFill>
                <a:latin typeface="Arial"/>
                <a:ea typeface="Arial"/>
                <a:cs typeface="Arial"/>
                <a:sym typeface="Arial"/>
              </a:rPr>
              <a:t>, </a:t>
            </a:r>
            <a:r>
              <a:rPr lang="en-US" sz="3600">
                <a:solidFill>
                  <a:srgbClr val="FFFF00"/>
                </a:solidFill>
                <a:latin typeface="Arial"/>
                <a:ea typeface="Arial"/>
                <a:cs typeface="Arial"/>
                <a:sym typeface="Arial"/>
              </a:rPr>
              <a:t>mode</a:t>
            </a:r>
            <a:r>
              <a:rPr lang="en-US" sz="3600">
                <a:solidFill>
                  <a:schemeClr val="lt1"/>
                </a:solidFill>
                <a:latin typeface="Arial"/>
                <a:ea typeface="Arial"/>
                <a:cs typeface="Arial"/>
                <a:sym typeface="Arial"/>
              </a:rPr>
              <a:t>)</a:t>
            </a:r>
            <a:endParaRPr sz="3600" u="none" cap="none" strike="noStrike">
              <a:solidFill>
                <a:srgbClr val="FF7F00"/>
              </a:solidFill>
              <a:latin typeface="Arial"/>
              <a:ea typeface="Arial"/>
              <a:cs typeface="Arial"/>
              <a:sym typeface="Arial"/>
            </a:endParaRPr>
          </a:p>
          <a:p>
            <a:pPr indent="-371094" lvl="1" marL="1041400" marR="0" rtl="0" algn="l">
              <a:lnSpc>
                <a:spcPct val="100000"/>
              </a:lnSpc>
              <a:spcBef>
                <a:spcPts val="3500"/>
              </a:spcBef>
              <a:spcAft>
                <a:spcPts val="0"/>
              </a:spcAft>
              <a:buClr>
                <a:srgbClr val="FF7F00"/>
              </a:buClr>
              <a:buSzPts val="3600"/>
              <a:buFont typeface="Cabin"/>
              <a:buChar char="•"/>
            </a:pPr>
            <a:r>
              <a:rPr lang="en-US" sz="3600" u="none" cap="none" strike="noStrike">
                <a:solidFill>
                  <a:srgbClr val="FF7F00"/>
                </a:solidFill>
                <a:latin typeface="Arial"/>
                <a:ea typeface="Arial"/>
                <a:cs typeface="Arial"/>
                <a:sym typeface="Arial"/>
              </a:rPr>
              <a:t>returns a handle use to manipulate the file</a:t>
            </a:r>
            <a:endParaRPr/>
          </a:p>
          <a:p>
            <a:pPr indent="-371094" lvl="1" marL="1041400" marR="0" rtl="0" algn="l">
              <a:lnSpc>
                <a:spcPct val="100000"/>
              </a:lnSpc>
              <a:spcBef>
                <a:spcPts val="3500"/>
              </a:spcBef>
              <a:spcAft>
                <a:spcPts val="0"/>
              </a:spcAft>
              <a:buClr>
                <a:srgbClr val="00FFFF"/>
              </a:buClr>
              <a:buSzPts val="3600"/>
              <a:buFont typeface="Cabin"/>
              <a:buChar char="•"/>
            </a:pPr>
            <a:r>
              <a:rPr lang="en-US" sz="3600" u="none" cap="none" strike="noStrike">
                <a:solidFill>
                  <a:srgbClr val="00FFFF"/>
                </a:solidFill>
                <a:latin typeface="Arial"/>
                <a:ea typeface="Arial"/>
                <a:cs typeface="Arial"/>
                <a:sym typeface="Arial"/>
              </a:rPr>
              <a:t>filename is a string</a:t>
            </a:r>
            <a:endParaRPr/>
          </a:p>
          <a:p>
            <a:pPr indent="-371094" lvl="1" marL="1041400" marR="0" rtl="0" algn="l">
              <a:lnSpc>
                <a:spcPct val="100000"/>
              </a:lnSpc>
              <a:spcBef>
                <a:spcPts val="3500"/>
              </a:spcBef>
              <a:spcAft>
                <a:spcPts val="0"/>
              </a:spcAft>
              <a:buClr>
                <a:srgbClr val="FFFF00"/>
              </a:buClr>
              <a:buSzPts val="3600"/>
              <a:buFont typeface="Cabin"/>
              <a:buChar char="•"/>
            </a:pPr>
            <a:r>
              <a:rPr lang="en-US" sz="3600" u="none" cap="none" strike="noStrike">
                <a:solidFill>
                  <a:srgbClr val="FFFF00"/>
                </a:solidFill>
                <a:latin typeface="Arial"/>
                <a:ea typeface="Arial"/>
                <a:cs typeface="Arial"/>
                <a:sym typeface="Arial"/>
              </a:rPr>
              <a:t>mode is optional and should be 'r' if we are planning to read the file and 'w' if we are going to write to the file</a:t>
            </a:r>
            <a:endParaRPr/>
          </a:p>
        </p:txBody>
      </p:sp>
      <p:sp>
        <p:nvSpPr>
          <p:cNvPr id="47" name="Google Shape;47;p4"/>
          <p:cNvSpPr txBox="1"/>
          <p:nvPr/>
        </p:nvSpPr>
        <p:spPr>
          <a:xfrm>
            <a:off x="2077746" y="2539899"/>
            <a:ext cx="5829299"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fhand</a:t>
            </a:r>
            <a:r>
              <a:rPr b="0" i="0" lang="en-US" sz="3600" u="none" cap="none" strike="noStrike">
                <a:solidFill>
                  <a:schemeClr val="lt1"/>
                </a:solidFill>
                <a:latin typeface="Arial"/>
                <a:ea typeface="Arial"/>
                <a:cs typeface="Arial"/>
                <a:sym typeface="Arial"/>
              </a:rPr>
              <a:t> = </a:t>
            </a:r>
            <a:r>
              <a:rPr b="0" i="0" lang="en-US" sz="3600" u="none" cap="none" strike="noStrike">
                <a:solidFill>
                  <a:srgbClr val="FF00FF"/>
                </a:solidFill>
                <a:latin typeface="Arial"/>
                <a:ea typeface="Arial"/>
                <a:cs typeface="Arial"/>
                <a:sym typeface="Arial"/>
              </a:rPr>
              <a:t>open</a:t>
            </a:r>
            <a:r>
              <a:rPr b="0" i="0" lang="en-US" sz="3600" u="none" cap="none" strike="noStrike">
                <a:solidFill>
                  <a:schemeClr val="lt1"/>
                </a:solidFill>
                <a:latin typeface="Arial"/>
                <a:ea typeface="Arial"/>
                <a:cs typeface="Arial"/>
                <a:sym typeface="Arial"/>
              </a:rPr>
              <a:t>('</a:t>
            </a:r>
            <a:r>
              <a:rPr b="0" i="0" lang="en-US" sz="3600" u="none" cap="none" strike="noStrike">
                <a:solidFill>
                  <a:srgbClr val="00FFFF"/>
                </a:solidFill>
                <a:latin typeface="Arial"/>
                <a:ea typeface="Arial"/>
                <a:cs typeface="Arial"/>
                <a:sym typeface="Arial"/>
              </a:rPr>
              <a:t>mbox.txt</a:t>
            </a:r>
            <a:r>
              <a:rPr b="0" i="0" lang="en-US" sz="3600" u="none" cap="none" strike="noStrike">
                <a:solidFill>
                  <a:schemeClr val="lt1"/>
                </a:solidFill>
                <a:latin typeface="Arial"/>
                <a:ea typeface="Arial"/>
                <a:cs typeface="Arial"/>
                <a:sym typeface="Arial"/>
              </a:rPr>
              <a:t>', '</a:t>
            </a:r>
            <a:r>
              <a:rPr b="0" i="0" lang="en-US" sz="3600" u="none" cap="none" strike="noStrike">
                <a:solidFill>
                  <a:srgbClr val="FFFF00"/>
                </a:solidFill>
                <a:latin typeface="Arial"/>
                <a:ea typeface="Arial"/>
                <a:cs typeface="Arial"/>
                <a:sym typeface="Arial"/>
              </a:rPr>
              <a:t>r</a:t>
            </a:r>
            <a:r>
              <a:rPr b="0" i="0" lang="en-US" sz="3600" u="none" cap="none" strike="noStrike">
                <a:solidFill>
                  <a:schemeClr val="l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5"/>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What is a Handle?</a:t>
            </a:r>
            <a:endParaRPr/>
          </a:p>
        </p:txBody>
      </p:sp>
      <p:sp>
        <p:nvSpPr>
          <p:cNvPr id="53" name="Google Shape;53;p5"/>
          <p:cNvSpPr txBox="1"/>
          <p:nvPr/>
        </p:nvSpPr>
        <p:spPr>
          <a:xfrm>
            <a:off x="595313" y="2539899"/>
            <a:ext cx="14392274" cy="16604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00FF00"/>
                </a:solidFill>
                <a:latin typeface="Courier"/>
                <a:ea typeface="Courier"/>
                <a:cs typeface="Courier"/>
                <a:sym typeface="Courier"/>
              </a:rPr>
              <a:t>fhand</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FF7F00"/>
                </a:solidFill>
                <a:latin typeface="Courier"/>
                <a:ea typeface="Courier"/>
                <a:cs typeface="Courier"/>
                <a:sym typeface="Courier"/>
              </a:rPr>
              <a:t>open</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'mbox.txt'</a:t>
            </a:r>
            <a:r>
              <a:rPr b="0" i="0" lang="en-US" sz="28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FF00FF"/>
                </a:solidFill>
                <a:latin typeface="Courier"/>
                <a:ea typeface="Courier"/>
                <a:cs typeface="Courier"/>
                <a:sym typeface="Courier"/>
              </a:rPr>
              <a:t>fhand</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chemeClr val="lt1"/>
                </a:solidFill>
                <a:latin typeface="Courier"/>
                <a:ea typeface="Courier"/>
                <a:cs typeface="Courier"/>
                <a:sym typeface="Courier"/>
              </a:rPr>
              <a:t>&lt;_io.TextIOWrapper name='mbox.txt' mode='r' encoding='UTF-8'&gt;</a:t>
            </a:r>
            <a:endParaRPr b="0" i="0" sz="2800" u="none" cap="none" strike="noStrike">
              <a:solidFill>
                <a:schemeClr val="lt1"/>
              </a:solidFill>
              <a:latin typeface="Courier"/>
              <a:ea typeface="Courier"/>
              <a:cs typeface="Courier"/>
              <a:sym typeface="Couri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6"/>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When Files are Missing</a:t>
            </a:r>
            <a:endParaRPr/>
          </a:p>
        </p:txBody>
      </p:sp>
      <p:sp>
        <p:nvSpPr>
          <p:cNvPr id="59" name="Google Shape;59;p6"/>
          <p:cNvSpPr txBox="1"/>
          <p:nvPr/>
        </p:nvSpPr>
        <p:spPr>
          <a:xfrm>
            <a:off x="1422400" y="3076575"/>
            <a:ext cx="13533900" cy="276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Courier"/>
                <a:ea typeface="Courier"/>
                <a:cs typeface="Courier"/>
                <a:sym typeface="Courier"/>
              </a:rPr>
              <a:t>fhand</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FF00FF"/>
                </a:solidFill>
                <a:latin typeface="Courier"/>
                <a:ea typeface="Courier"/>
                <a:cs typeface="Courier"/>
                <a:sym typeface="Courier"/>
              </a:rPr>
              <a:t>open</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stuff.txt'</a:t>
            </a:r>
            <a:r>
              <a:rPr b="0" i="0" lang="en-US" sz="3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Traceback (most recent call last):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  File "&lt;stdin&gt;", line 1, in &lt;module&gt;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ourier"/>
              <a:buNone/>
            </a:pPr>
            <a:r>
              <a:rPr b="0" i="0" lang="en-US" sz="3600" u="none" cap="none" strike="noStrike">
                <a:solidFill>
                  <a:schemeClr val="lt1"/>
                </a:solidFill>
                <a:latin typeface="Courier"/>
                <a:ea typeface="Courier"/>
                <a:cs typeface="Courier"/>
                <a:sym typeface="Courier"/>
              </a:rPr>
              <a:t>FileNotFoundError: [Errno 2] </a:t>
            </a:r>
            <a:r>
              <a:rPr b="0" i="0" lang="en-US" sz="3600" u="none" cap="none" strike="noStrike">
                <a:solidFill>
                  <a:srgbClr val="FF7F00"/>
                </a:solidFill>
                <a:latin typeface="Courier"/>
                <a:ea typeface="Courier"/>
                <a:cs typeface="Courier"/>
                <a:sym typeface="Courier"/>
              </a:rPr>
              <a:t>No such file or directory: 'stuff.txt'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7"/>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The </a:t>
            </a:r>
            <a:r>
              <a:rPr lang="en-US" sz="7600" u="none" cap="none" strike="noStrike">
                <a:solidFill>
                  <a:srgbClr val="00FFFF"/>
                </a:solidFill>
                <a:latin typeface="Arial"/>
                <a:ea typeface="Arial"/>
                <a:cs typeface="Arial"/>
                <a:sym typeface="Arial"/>
              </a:rPr>
              <a:t>newline</a:t>
            </a:r>
            <a:r>
              <a:rPr lang="en-US" sz="7600">
                <a:solidFill>
                  <a:srgbClr val="FFD966"/>
                </a:solidFill>
                <a:latin typeface="Arial"/>
                <a:ea typeface="Arial"/>
                <a:cs typeface="Arial"/>
                <a:sym typeface="Arial"/>
              </a:rPr>
              <a:t> </a:t>
            </a:r>
            <a:r>
              <a:rPr lang="en-US" sz="7600" u="none" cap="none" strike="noStrike">
                <a:solidFill>
                  <a:srgbClr val="FFD966"/>
                </a:solidFill>
                <a:latin typeface="Arial"/>
                <a:ea typeface="Arial"/>
                <a:cs typeface="Arial"/>
                <a:sym typeface="Arial"/>
              </a:rPr>
              <a:t>Character</a:t>
            </a:r>
            <a:endParaRPr/>
          </a:p>
        </p:txBody>
      </p:sp>
      <p:sp>
        <p:nvSpPr>
          <p:cNvPr id="65" name="Google Shape;65;p7"/>
          <p:cNvSpPr txBox="1"/>
          <p:nvPr>
            <p:ph idx="1" type="body"/>
          </p:nvPr>
        </p:nvSpPr>
        <p:spPr>
          <a:xfrm>
            <a:off x="1155700" y="2603500"/>
            <a:ext cx="7459663" cy="5702399"/>
          </a:xfrm>
          <a:prstGeom prst="rect">
            <a:avLst/>
          </a:prstGeom>
          <a:noFill/>
          <a:ln>
            <a:noFill/>
          </a:ln>
        </p:spPr>
        <p:txBody>
          <a:bodyPr anchorCtr="0" anchor="ctr" bIns="38100" lIns="38100" spcFirstLastPara="1" rIns="38100" wrap="square" tIns="38100">
            <a:noAutofit/>
          </a:bodyPr>
          <a:lstStyle/>
          <a:p>
            <a:pPr indent="-371094" lvl="0" marL="7493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use a special character </a:t>
            </a:r>
            <a:r>
              <a:rPr lang="en-US" sz="3600">
                <a:solidFill>
                  <a:schemeClr val="lt1"/>
                </a:solidFill>
                <a:latin typeface="Arial"/>
                <a:ea typeface="Arial"/>
                <a:cs typeface="Arial"/>
                <a:sym typeface="Arial"/>
              </a:rPr>
              <a:t>called the “</a:t>
            </a:r>
            <a:r>
              <a:rPr lang="en-US" sz="3600">
                <a:solidFill>
                  <a:srgbClr val="00FFFF"/>
                </a:solidFill>
                <a:latin typeface="Arial"/>
                <a:ea typeface="Arial"/>
                <a:cs typeface="Arial"/>
                <a:sym typeface="Arial"/>
              </a:rPr>
              <a:t>newline</a:t>
            </a:r>
            <a:r>
              <a:rPr lang="en-US" sz="3600">
                <a:solidFill>
                  <a:schemeClr val="lt1"/>
                </a:solidFill>
                <a:latin typeface="Arial"/>
                <a:ea typeface="Arial"/>
                <a:cs typeface="Arial"/>
                <a:sym typeface="Arial"/>
              </a:rPr>
              <a:t>” </a:t>
            </a:r>
            <a:r>
              <a:rPr lang="en-US" sz="3600" u="none" cap="none" strike="noStrike">
                <a:solidFill>
                  <a:schemeClr val="lt1"/>
                </a:solidFill>
                <a:latin typeface="Arial"/>
                <a:ea typeface="Arial"/>
                <a:cs typeface="Arial"/>
                <a:sym typeface="Arial"/>
              </a:rPr>
              <a:t>to indicate when a line ends </a:t>
            </a:r>
            <a:endParaRPr/>
          </a:p>
          <a:p>
            <a:pPr indent="-371094" lvl="0" marL="7493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represent it as </a:t>
            </a:r>
            <a:r>
              <a:rPr lang="en-US" sz="3600" u="none" cap="none" strike="noStrike">
                <a:solidFill>
                  <a:srgbClr val="00FFFF"/>
                </a:solidFill>
                <a:latin typeface="Arial"/>
                <a:ea typeface="Arial"/>
                <a:cs typeface="Arial"/>
                <a:sym typeface="Arial"/>
              </a:rPr>
              <a:t>\n</a:t>
            </a:r>
            <a:r>
              <a:rPr lang="en-US" sz="3600" u="none" cap="none" strike="noStrike">
                <a:solidFill>
                  <a:schemeClr val="lt1"/>
                </a:solidFill>
                <a:latin typeface="Arial"/>
                <a:ea typeface="Arial"/>
                <a:cs typeface="Arial"/>
                <a:sym typeface="Arial"/>
              </a:rPr>
              <a:t> in strings </a:t>
            </a:r>
            <a:endParaRPr/>
          </a:p>
          <a:p>
            <a:pPr indent="-371094" lvl="0" marL="749300" marR="0" rtl="0" algn="l">
              <a:lnSpc>
                <a:spcPct val="100000"/>
              </a:lnSpc>
              <a:spcBef>
                <a:spcPts val="3500"/>
              </a:spcBef>
              <a:spcAft>
                <a:spcPts val="0"/>
              </a:spcAft>
              <a:buClr>
                <a:srgbClr val="00FFFF"/>
              </a:buClr>
              <a:buSzPts val="3600"/>
              <a:buFont typeface="Cabin"/>
              <a:buChar char="•"/>
            </a:pPr>
            <a:r>
              <a:rPr lang="en-US" sz="3600" u="none" cap="none" strike="noStrike">
                <a:solidFill>
                  <a:srgbClr val="00FFFF"/>
                </a:solidFill>
                <a:latin typeface="Arial"/>
                <a:ea typeface="Arial"/>
                <a:cs typeface="Arial"/>
                <a:sym typeface="Arial"/>
              </a:rPr>
              <a:t>Newline</a:t>
            </a:r>
            <a:r>
              <a:rPr lang="en-US" sz="3600" u="none" cap="none" strike="noStrike">
                <a:solidFill>
                  <a:schemeClr val="lt1"/>
                </a:solidFill>
                <a:latin typeface="Arial"/>
                <a:ea typeface="Arial"/>
                <a:cs typeface="Arial"/>
                <a:sym typeface="Arial"/>
              </a:rPr>
              <a:t> is still one character - not two</a:t>
            </a:r>
            <a:endParaRPr/>
          </a:p>
        </p:txBody>
      </p:sp>
      <p:sp>
        <p:nvSpPr>
          <p:cNvPr id="66" name="Google Shape;66;p7"/>
          <p:cNvSpPr txBox="1"/>
          <p:nvPr/>
        </p:nvSpPr>
        <p:spPr>
          <a:xfrm>
            <a:off x="9294500" y="2360799"/>
            <a:ext cx="6691499" cy="63952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stuff</a:t>
            </a:r>
            <a:r>
              <a:rPr b="0" i="0" lang="en-US" sz="3000" u="none" cap="none" strike="noStrike">
                <a:solidFill>
                  <a:schemeClr val="lt1"/>
                </a:solidFill>
                <a:latin typeface="Courier"/>
                <a:ea typeface="Courier"/>
                <a:cs typeface="Courier"/>
                <a:sym typeface="Courier"/>
              </a:rPr>
              <a:t> = 'Hello</a:t>
            </a:r>
            <a:r>
              <a:rPr b="0" i="0" lang="en-US" sz="3000" u="none" cap="none" strike="noStrike">
                <a:solidFill>
                  <a:srgbClr val="00FFFF"/>
                </a:solidFill>
                <a:latin typeface="Courier"/>
                <a:ea typeface="Courier"/>
                <a:cs typeface="Courier"/>
                <a:sym typeface="Courier"/>
              </a:rPr>
              <a:t>\n</a:t>
            </a:r>
            <a:r>
              <a:rPr b="0" i="0" lang="en-US" sz="3000" u="none" cap="none" strike="noStrike">
                <a:solidFill>
                  <a:schemeClr val="lt1"/>
                </a:solidFill>
                <a:latin typeface="Courier"/>
                <a:ea typeface="Courier"/>
                <a:cs typeface="Courier"/>
                <a:sym typeface="Courier"/>
              </a:rPr>
              <a:t>World!'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stuff</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Hello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World!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stuff</a:t>
            </a:r>
            <a:r>
              <a:rPr b="0" i="0" lang="en-US" sz="3000" u="none" cap="none" strike="noStrike">
                <a:solidFill>
                  <a:schemeClr val="lt1"/>
                </a:solidFill>
                <a:latin typeface="Courier"/>
                <a:ea typeface="Courier"/>
                <a:cs typeface="Courier"/>
                <a:sym typeface="Courier"/>
              </a:rPr>
              <a:t> = 'X</a:t>
            </a:r>
            <a:r>
              <a:rPr b="0" i="0" lang="en-US" sz="3000" u="none" cap="none" strike="noStrike">
                <a:solidFill>
                  <a:srgbClr val="00FFFF"/>
                </a:solidFill>
                <a:latin typeface="Courier"/>
                <a:ea typeface="Courier"/>
                <a:cs typeface="Courier"/>
                <a:sym typeface="Courier"/>
              </a:rPr>
              <a:t>\n</a:t>
            </a:r>
            <a:r>
              <a:rPr b="0" i="0" lang="en-US" sz="3000" u="none" cap="none" strike="noStrike">
                <a:solidFill>
                  <a:schemeClr val="lt1"/>
                </a:solidFill>
                <a:latin typeface="Courier"/>
                <a:ea typeface="Courier"/>
                <a:cs typeface="Courier"/>
                <a:sym typeface="Courier"/>
              </a:rPr>
              <a: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stuff</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00FF"/>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stuff</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3</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8"/>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File Processing</a:t>
            </a:r>
            <a:endParaRPr/>
          </a:p>
        </p:txBody>
      </p:sp>
      <p:sp>
        <p:nvSpPr>
          <p:cNvPr id="72" name="Google Shape;72;p8"/>
          <p:cNvSpPr txBox="1"/>
          <p:nvPr>
            <p:ph idx="1" type="body"/>
          </p:nvPr>
        </p:nvSpPr>
        <p:spPr>
          <a:xfrm>
            <a:off x="1155700" y="2695025"/>
            <a:ext cx="13932000" cy="1225550"/>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chemeClr val="lt1"/>
              </a:buClr>
              <a:buSzPts val="6156"/>
              <a:buNone/>
            </a:pPr>
            <a:r>
              <a:rPr lang="en-US" sz="3600" u="none" cap="none" strike="noStrike">
                <a:solidFill>
                  <a:schemeClr val="lt1"/>
                </a:solidFill>
                <a:latin typeface="Arial"/>
                <a:ea typeface="Arial"/>
                <a:cs typeface="Arial"/>
                <a:sym typeface="Arial"/>
              </a:rPr>
              <a:t>A text file has </a:t>
            </a:r>
            <a:r>
              <a:rPr lang="en-US" sz="3600" u="none" cap="none" strike="noStrike">
                <a:solidFill>
                  <a:srgbClr val="00FFFF"/>
                </a:solidFill>
                <a:latin typeface="Arial"/>
                <a:ea typeface="Arial"/>
                <a:cs typeface="Arial"/>
                <a:sym typeface="Arial"/>
              </a:rPr>
              <a:t>newlines</a:t>
            </a:r>
            <a:r>
              <a:rPr lang="en-US" sz="3600" u="none" cap="none" strike="noStrike">
                <a:solidFill>
                  <a:schemeClr val="lt1"/>
                </a:solidFill>
                <a:latin typeface="Arial"/>
                <a:ea typeface="Arial"/>
                <a:cs typeface="Arial"/>
                <a:sym typeface="Arial"/>
              </a:rPr>
              <a:t> at the end of each line</a:t>
            </a:r>
            <a:endParaRPr/>
          </a:p>
        </p:txBody>
      </p:sp>
      <p:sp>
        <p:nvSpPr>
          <p:cNvPr id="73" name="Google Shape;73;p8"/>
          <p:cNvSpPr txBox="1"/>
          <p:nvPr/>
        </p:nvSpPr>
        <p:spPr>
          <a:xfrm>
            <a:off x="1851475" y="3937000"/>
            <a:ext cx="13011000" cy="34796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From stephen.marquard@uct.ac.za Sat Jan  5 09:14:16 2008</a:t>
            </a:r>
            <a:r>
              <a:rPr b="0" i="0" lang="en-US" sz="2400" u="none" cap="none" strike="noStrike">
                <a:solidFill>
                  <a:srgbClr val="00FFFF"/>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Return-Path: &lt;postmaster@collab.sakaiproject.org&gt;</a:t>
            </a:r>
            <a:r>
              <a:rPr b="0" i="0" lang="en-US" sz="2400" u="none" cap="none" strike="noStrike">
                <a:solidFill>
                  <a:srgbClr val="00FFFF"/>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Date: Sat, 5 Jan 2008 09:12:18 -0500</a:t>
            </a:r>
            <a:r>
              <a:rPr b="0" i="0" lang="en-US" sz="2400" u="none" cap="none" strike="noStrike">
                <a:solidFill>
                  <a:srgbClr val="00FFFF"/>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To: source@collab.sakaiproject.org</a:t>
            </a:r>
            <a:r>
              <a:rPr b="0" i="0" lang="en-US" sz="2400" u="none" cap="none" strike="noStrike">
                <a:solidFill>
                  <a:srgbClr val="00FFFF"/>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From: stephen.marquard@uct.ac.za</a:t>
            </a:r>
            <a:r>
              <a:rPr b="0" i="0" lang="en-US" sz="2400" u="none" cap="none" strike="noStrike">
                <a:solidFill>
                  <a:srgbClr val="00FFFF"/>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Subject: [sakai] svn commit: r39772 - content/branches/</a:t>
            </a:r>
            <a:r>
              <a:rPr b="0" i="0" lang="en-US" sz="2400" u="none" cap="none" strike="noStrike">
                <a:solidFill>
                  <a:srgbClr val="00FFFF"/>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00FFFF"/>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Details: http://source.sakaiproject.org/viewsvn/?view=rev&amp;rev=39772</a:t>
            </a:r>
            <a:r>
              <a:rPr b="0" i="0" lang="en-US" sz="2400" u="none" cap="none" strike="noStrike">
                <a:solidFill>
                  <a:srgbClr val="00FFFF"/>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9"/>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FFD966"/>
              </a:buClr>
              <a:buSzPts val="7200"/>
              <a:buFont typeface="Arial"/>
              <a:buNone/>
            </a:pPr>
            <a:r>
              <a:rPr lang="en-US">
                <a:solidFill>
                  <a:srgbClr val="FFD966"/>
                </a:solidFill>
              </a:rPr>
              <a:t>Reading Files in Python</a:t>
            </a:r>
            <a:endParaRPr>
              <a:solidFill>
                <a:srgbClr val="FFD96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0"/>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Counting Lines in a File</a:t>
            </a:r>
            <a:endParaRPr/>
          </a:p>
        </p:txBody>
      </p:sp>
      <p:sp>
        <p:nvSpPr>
          <p:cNvPr id="84" name="Google Shape;84;p10"/>
          <p:cNvSpPr txBox="1"/>
          <p:nvPr>
            <p:ph idx="1" type="body"/>
          </p:nvPr>
        </p:nvSpPr>
        <p:spPr>
          <a:xfrm>
            <a:off x="1155700" y="2603500"/>
            <a:ext cx="6873875" cy="4787209"/>
          </a:xfrm>
          <a:prstGeom prst="rect">
            <a:avLst/>
          </a:prstGeom>
          <a:noFill/>
          <a:ln>
            <a:noFill/>
          </a:ln>
        </p:spPr>
        <p:txBody>
          <a:bodyPr anchorCtr="0" anchor="ctr" bIns="38100" lIns="38100" spcFirstLastPara="1" rIns="38100" wrap="square" tIns="38100">
            <a:noAutofit/>
          </a:bodyPr>
          <a:lstStyle/>
          <a:p>
            <a:pPr indent="-358394" lvl="0" marL="749300" marR="0" rtl="0" algn="l">
              <a:lnSpc>
                <a:spcPct val="100000"/>
              </a:lnSpc>
              <a:spcBef>
                <a:spcPts val="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Open a </a:t>
            </a:r>
            <a:r>
              <a:rPr lang="en-US" sz="3400" u="none" cap="none" strike="noStrike">
                <a:solidFill>
                  <a:srgbClr val="00FF00"/>
                </a:solidFill>
                <a:latin typeface="Arial"/>
                <a:ea typeface="Arial"/>
                <a:cs typeface="Arial"/>
                <a:sym typeface="Arial"/>
              </a:rPr>
              <a:t>file</a:t>
            </a:r>
            <a:r>
              <a:rPr lang="en-US" sz="3400" u="none" cap="none" strike="noStrike">
                <a:solidFill>
                  <a:schemeClr val="lt1"/>
                </a:solidFill>
                <a:latin typeface="Arial"/>
                <a:ea typeface="Arial"/>
                <a:cs typeface="Arial"/>
                <a:sym typeface="Arial"/>
              </a:rPr>
              <a:t> read-only</a:t>
            </a:r>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Use a </a:t>
            </a:r>
            <a:r>
              <a:rPr lang="en-US" sz="3400" u="none" cap="none" strike="noStrike">
                <a:solidFill>
                  <a:srgbClr val="FFFF00"/>
                </a:solidFill>
                <a:latin typeface="Arial"/>
                <a:ea typeface="Arial"/>
                <a:cs typeface="Arial"/>
                <a:sym typeface="Arial"/>
              </a:rPr>
              <a:t>for</a:t>
            </a:r>
            <a:r>
              <a:rPr lang="en-US" sz="3400" u="none" cap="none" strike="noStrike">
                <a:solidFill>
                  <a:schemeClr val="lt1"/>
                </a:solidFill>
                <a:latin typeface="Arial"/>
                <a:ea typeface="Arial"/>
                <a:cs typeface="Arial"/>
                <a:sym typeface="Arial"/>
              </a:rPr>
              <a:t> loop to read each line</a:t>
            </a:r>
            <a:endParaRPr/>
          </a:p>
          <a:p>
            <a:pPr indent="-358394" lvl="0" marL="749300" marR="0" rtl="0" algn="l">
              <a:lnSpc>
                <a:spcPct val="100000"/>
              </a:lnSpc>
              <a:spcBef>
                <a:spcPts val="3500"/>
              </a:spcBef>
              <a:spcAft>
                <a:spcPts val="0"/>
              </a:spcAft>
              <a:buClr>
                <a:srgbClr val="FF7F00"/>
              </a:buClr>
              <a:buSzPts val="3400"/>
              <a:buFont typeface="Cabin"/>
              <a:buChar char="•"/>
            </a:pPr>
            <a:r>
              <a:rPr lang="en-US" sz="3400" u="none" cap="none" strike="noStrike">
                <a:solidFill>
                  <a:srgbClr val="FF7F00"/>
                </a:solidFill>
                <a:latin typeface="Arial"/>
                <a:ea typeface="Arial"/>
                <a:cs typeface="Arial"/>
                <a:sym typeface="Arial"/>
              </a:rPr>
              <a:t>Count</a:t>
            </a:r>
            <a:r>
              <a:rPr lang="en-US" sz="3400" u="none" cap="none" strike="noStrike">
                <a:solidFill>
                  <a:schemeClr val="lt1"/>
                </a:solidFill>
                <a:latin typeface="Arial"/>
                <a:ea typeface="Arial"/>
                <a:cs typeface="Arial"/>
                <a:sym typeface="Arial"/>
              </a:rPr>
              <a:t> the lines and print out the number of lines</a:t>
            </a:r>
            <a:endParaRPr/>
          </a:p>
        </p:txBody>
      </p:sp>
      <p:sp>
        <p:nvSpPr>
          <p:cNvPr id="85" name="Google Shape;85;p10"/>
          <p:cNvSpPr txBox="1"/>
          <p:nvPr/>
        </p:nvSpPr>
        <p:spPr>
          <a:xfrm>
            <a:off x="8845300" y="2819350"/>
            <a:ext cx="6931200" cy="47879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fhand</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open</a:t>
            </a:r>
            <a:r>
              <a:rPr b="0" i="0" lang="en-US" sz="3000" u="none" cap="none" strike="noStrike">
                <a:solidFill>
                  <a:schemeClr val="lt1"/>
                </a:solidFill>
                <a:latin typeface="Courier"/>
                <a:ea typeface="Courier"/>
                <a:cs typeface="Courier"/>
                <a:sym typeface="Courier"/>
              </a:rPr>
              <a:t>('mbox.txt')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7F00"/>
              </a:buClr>
              <a:buSzPts val="750"/>
              <a:buFont typeface="Cabin"/>
              <a:buNone/>
            </a:pPr>
            <a:r>
              <a:rPr b="0" i="0" lang="en-US" sz="3000" u="none" cap="none" strike="noStrike">
                <a:solidFill>
                  <a:srgbClr val="FF7F00"/>
                </a:solidFill>
                <a:latin typeface="Courier"/>
                <a:ea typeface="Courier"/>
                <a:cs typeface="Courier"/>
                <a:sym typeface="Courier"/>
              </a:rPr>
              <a:t>count</a:t>
            </a:r>
            <a:r>
              <a:rPr b="0" i="0" lang="en-US" sz="3000" u="none" cap="none" strike="noStrike">
                <a:solidFill>
                  <a:schemeClr val="lt1"/>
                </a:solidFill>
                <a:latin typeface="Courier"/>
                <a:ea typeface="Courier"/>
                <a:cs typeface="Courier"/>
                <a:sym typeface="Courier"/>
              </a:rPr>
              <a:t>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fhand</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count</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count</a:t>
            </a:r>
            <a:r>
              <a:rPr b="0" i="0" lang="en-US" sz="3000" u="none" cap="none" strike="noStrike">
                <a:solidFill>
                  <a:schemeClr val="lt1"/>
                </a:solidFill>
                <a:latin typeface="Courier"/>
                <a:ea typeface="Courier"/>
                <a:cs typeface="Courier"/>
                <a:sym typeface="Courier"/>
              </a:rPr>
              <a:t>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('Line Count:', </a:t>
            </a:r>
            <a:r>
              <a:rPr b="0" i="0" lang="en-US" sz="3000" u="none" cap="none" strike="noStrike">
                <a:solidFill>
                  <a:srgbClr val="FF7F00"/>
                </a:solidFill>
                <a:latin typeface="Courier"/>
                <a:ea typeface="Courier"/>
                <a:cs typeface="Courier"/>
                <a:sym typeface="Courier"/>
              </a:rPr>
              <a:t>count</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Line Count: 132045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1"/>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Reading the *Whole* File</a:t>
            </a:r>
            <a:endParaRPr/>
          </a:p>
        </p:txBody>
      </p:sp>
      <p:sp>
        <p:nvSpPr>
          <p:cNvPr id="91" name="Google Shape;91;p11"/>
          <p:cNvSpPr txBox="1"/>
          <p:nvPr>
            <p:ph idx="1" type="body"/>
          </p:nvPr>
        </p:nvSpPr>
        <p:spPr>
          <a:xfrm>
            <a:off x="1155700" y="2603500"/>
            <a:ext cx="5145088" cy="3345677"/>
          </a:xfrm>
          <a:prstGeom prst="rect">
            <a:avLst/>
          </a:prstGeom>
          <a:noFill/>
          <a:ln>
            <a:noFill/>
          </a:ln>
        </p:spPr>
        <p:txBody>
          <a:bodyPr anchorCtr="0" anchor="ctr" bIns="38100" lIns="38100" spcFirstLastPara="1" rIns="38100" wrap="square" tIns="38100">
            <a:noAutofit/>
          </a:bodyPr>
          <a:lstStyle/>
          <a:p>
            <a:pPr indent="0" lvl="0" marL="390906" marR="0" rtl="0" algn="l">
              <a:lnSpc>
                <a:spcPct val="100000"/>
              </a:lnSpc>
              <a:spcBef>
                <a:spcPts val="0"/>
              </a:spcBef>
              <a:spcAft>
                <a:spcPts val="0"/>
              </a:spcAft>
              <a:buClr>
                <a:schemeClr val="lt1"/>
              </a:buClr>
              <a:buSzPts val="3400"/>
              <a:buNone/>
            </a:pPr>
            <a:r>
              <a:rPr lang="en-US" sz="3400" u="none" cap="none" strike="noStrike">
                <a:solidFill>
                  <a:schemeClr val="lt1"/>
                </a:solidFill>
                <a:latin typeface="Arial"/>
                <a:ea typeface="Arial"/>
                <a:cs typeface="Arial"/>
                <a:sym typeface="Arial"/>
              </a:rPr>
              <a:t>We can </a:t>
            </a:r>
            <a:r>
              <a:rPr lang="en-US" sz="3400" u="none" cap="none" strike="noStrike">
                <a:solidFill>
                  <a:srgbClr val="FF7F00"/>
                </a:solidFill>
                <a:latin typeface="Arial"/>
                <a:ea typeface="Arial"/>
                <a:cs typeface="Arial"/>
                <a:sym typeface="Arial"/>
              </a:rPr>
              <a:t>read</a:t>
            </a:r>
            <a:r>
              <a:rPr lang="en-US" sz="3400" u="none" cap="none" strike="noStrike">
                <a:solidFill>
                  <a:schemeClr val="lt1"/>
                </a:solidFill>
                <a:latin typeface="Arial"/>
                <a:ea typeface="Arial"/>
                <a:cs typeface="Arial"/>
                <a:sym typeface="Arial"/>
              </a:rPr>
              <a:t> the whole file (newlines and all) into a </a:t>
            </a:r>
            <a:r>
              <a:rPr lang="en-US" sz="3400" u="none" cap="none" strike="noStrike">
                <a:solidFill>
                  <a:srgbClr val="00FFFF"/>
                </a:solidFill>
                <a:latin typeface="Arial"/>
                <a:ea typeface="Arial"/>
                <a:cs typeface="Arial"/>
                <a:sym typeface="Arial"/>
              </a:rPr>
              <a:t>single string</a:t>
            </a:r>
            <a:endParaRPr/>
          </a:p>
        </p:txBody>
      </p:sp>
      <p:sp>
        <p:nvSpPr>
          <p:cNvPr id="92" name="Google Shape;92;p11"/>
          <p:cNvSpPr txBox="1"/>
          <p:nvPr/>
        </p:nvSpPr>
        <p:spPr>
          <a:xfrm>
            <a:off x="7449875" y="3003983"/>
            <a:ext cx="8280600" cy="34646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fhand</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open</a:t>
            </a:r>
            <a:r>
              <a:rPr b="0" i="0" lang="en-US" sz="3000" u="none" cap="none" strike="noStrike">
                <a:solidFill>
                  <a:schemeClr val="lt1"/>
                </a:solidFill>
                <a:latin typeface="Courier"/>
                <a:ea typeface="Courier"/>
                <a:cs typeface="Courier"/>
                <a:sym typeface="Courier"/>
              </a:rPr>
              <a:t>('mbox-short.txt')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FF"/>
                </a:solidFill>
                <a:latin typeface="Courier"/>
                <a:ea typeface="Courier"/>
                <a:cs typeface="Courier"/>
                <a:sym typeface="Courier"/>
              </a:rPr>
              <a:t>inp</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fhand</a:t>
            </a:r>
            <a:r>
              <a:rPr b="0" i="0" lang="en-US" sz="3000" u="none" cap="none" strike="noStrike">
                <a:solidFill>
                  <a:srgbClr val="FF7F00"/>
                </a:solidFill>
                <a:latin typeface="Courier"/>
                <a:ea typeface="Courier"/>
                <a:cs typeface="Courier"/>
                <a:sym typeface="Courier"/>
              </a:rPr>
              <a:t>.read</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00FF"/>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FF"/>
                </a:solidFill>
                <a:latin typeface="Courier"/>
                <a:ea typeface="Courier"/>
                <a:cs typeface="Courier"/>
                <a:sym typeface="Courier"/>
              </a:rPr>
              <a:t>inp</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94626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FF"/>
                </a:solidFill>
                <a:latin typeface="Courier"/>
                <a:ea typeface="Courier"/>
                <a:cs typeface="Courier"/>
                <a:sym typeface="Courier"/>
              </a:rPr>
              <a:t>inp</a:t>
            </a:r>
            <a:r>
              <a:rPr b="0" i="0" lang="en-US" sz="3000" u="none" cap="none" strike="noStrike">
                <a:solidFill>
                  <a:schemeClr val="lt1"/>
                </a:solidFill>
                <a:latin typeface="Courier"/>
                <a:ea typeface="Courier"/>
                <a:cs typeface="Courier"/>
                <a:sym typeface="Courier"/>
              </a:rPr>
              <a:t>[:20])</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From stephen.marquar</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2"/>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Searching Through a File</a:t>
            </a:r>
            <a:endParaRPr/>
          </a:p>
        </p:txBody>
      </p:sp>
      <p:sp>
        <p:nvSpPr>
          <p:cNvPr id="98" name="Google Shape;98;p12"/>
          <p:cNvSpPr txBox="1"/>
          <p:nvPr>
            <p:ph idx="1" type="body"/>
          </p:nvPr>
        </p:nvSpPr>
        <p:spPr>
          <a:xfrm>
            <a:off x="1155700" y="2892894"/>
            <a:ext cx="6116638" cy="2890719"/>
          </a:xfrm>
          <a:prstGeom prst="rect">
            <a:avLst/>
          </a:prstGeom>
          <a:noFill/>
          <a:ln>
            <a:noFill/>
          </a:ln>
        </p:spPr>
        <p:txBody>
          <a:bodyPr anchorCtr="0" anchor="ctr" bIns="38100" lIns="38100" spcFirstLastPara="1" rIns="38100" wrap="square" tIns="38100">
            <a:noAutofit/>
          </a:bodyPr>
          <a:lstStyle/>
          <a:p>
            <a:pPr indent="0" lvl="0" marL="390906" marR="0" rtl="0" algn="l">
              <a:lnSpc>
                <a:spcPct val="100000"/>
              </a:lnSpc>
              <a:spcBef>
                <a:spcPts val="0"/>
              </a:spcBef>
              <a:spcAft>
                <a:spcPts val="0"/>
              </a:spcAft>
              <a:buClr>
                <a:schemeClr val="lt1"/>
              </a:buClr>
              <a:buSzPts val="3400"/>
              <a:buNone/>
            </a:pPr>
            <a:r>
              <a:rPr lang="en-US" sz="3400" u="none" cap="none" strike="noStrike">
                <a:solidFill>
                  <a:schemeClr val="lt1"/>
                </a:solidFill>
                <a:latin typeface="Arial"/>
                <a:ea typeface="Arial"/>
                <a:cs typeface="Arial"/>
                <a:sym typeface="Arial"/>
              </a:rPr>
              <a:t>We can put an </a:t>
            </a:r>
            <a:r>
              <a:rPr lang="en-US" sz="3400" u="none" cap="none" strike="noStrike">
                <a:solidFill>
                  <a:srgbClr val="FFFF00"/>
                </a:solidFill>
                <a:latin typeface="Arial"/>
                <a:ea typeface="Arial"/>
                <a:cs typeface="Arial"/>
                <a:sym typeface="Arial"/>
              </a:rPr>
              <a:t>if </a:t>
            </a:r>
            <a:r>
              <a:rPr lang="en-US" sz="3400" u="none" cap="none" strike="noStrike">
                <a:solidFill>
                  <a:schemeClr val="lt1"/>
                </a:solidFill>
                <a:latin typeface="Arial"/>
                <a:ea typeface="Arial"/>
                <a:cs typeface="Arial"/>
                <a:sym typeface="Arial"/>
              </a:rPr>
              <a:t>statement in our </a:t>
            </a:r>
            <a:r>
              <a:rPr lang="en-US" sz="3400" u="none" cap="none" strike="noStrike">
                <a:solidFill>
                  <a:srgbClr val="FFFF00"/>
                </a:solidFill>
                <a:latin typeface="Arial"/>
                <a:ea typeface="Arial"/>
                <a:cs typeface="Arial"/>
                <a:sym typeface="Arial"/>
              </a:rPr>
              <a:t>for</a:t>
            </a:r>
            <a:r>
              <a:rPr lang="en-US" sz="3400" u="none" cap="none" strike="noStrike">
                <a:solidFill>
                  <a:schemeClr val="lt1"/>
                </a:solidFill>
                <a:latin typeface="Arial"/>
                <a:ea typeface="Arial"/>
                <a:cs typeface="Arial"/>
                <a:sym typeface="Arial"/>
              </a:rPr>
              <a:t> loop to only print lines that meet some criteria</a:t>
            </a:r>
            <a:endParaRPr/>
          </a:p>
        </p:txBody>
      </p:sp>
      <p:sp>
        <p:nvSpPr>
          <p:cNvPr id="99" name="Google Shape;99;p12"/>
          <p:cNvSpPr txBox="1"/>
          <p:nvPr/>
        </p:nvSpPr>
        <p:spPr>
          <a:xfrm>
            <a:off x="8049525" y="3161700"/>
            <a:ext cx="7276200" cy="24446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00"/>
              <a:buFont typeface="Cabin"/>
              <a:buNone/>
            </a:pPr>
            <a:r>
              <a:rPr b="0" i="0" lang="en-US" sz="2800" u="none" cap="none" strike="noStrike">
                <a:solidFill>
                  <a:srgbClr val="00FF00"/>
                </a:solidFill>
                <a:latin typeface="Courier"/>
                <a:ea typeface="Courier"/>
                <a:cs typeface="Courier"/>
                <a:sym typeface="Courier"/>
              </a:rPr>
              <a:t>fhand</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FF00FF"/>
                </a:solidFill>
                <a:latin typeface="Courier"/>
                <a:ea typeface="Courier"/>
                <a:cs typeface="Courier"/>
                <a:sym typeface="Courier"/>
              </a:rPr>
              <a:t>open</a:t>
            </a:r>
            <a:r>
              <a:rPr b="0" i="0" lang="en-US" sz="2800" u="none" cap="none" strike="noStrike">
                <a:solidFill>
                  <a:schemeClr val="lt1"/>
                </a:solidFill>
                <a:latin typeface="Courier"/>
                <a:ea typeface="Courier"/>
                <a:cs typeface="Courier"/>
                <a:sym typeface="Courier"/>
              </a:rPr>
              <a:t>('mbox-short.txt')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00"/>
              <a:buFont typeface="Cabin"/>
              <a:buNone/>
            </a:pPr>
            <a:r>
              <a:rPr b="0" i="0" lang="en-US" sz="2800" u="none" cap="none" strike="noStrike">
                <a:solidFill>
                  <a:srgbClr val="FFFF00"/>
                </a:solidFill>
                <a:latin typeface="Courier"/>
                <a:ea typeface="Courier"/>
                <a:cs typeface="Courier"/>
                <a:sym typeface="Courier"/>
              </a:rPr>
              <a:t>for</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line</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in</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fhand</a:t>
            </a:r>
            <a:r>
              <a:rPr b="0" i="0" lang="en-US" sz="28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if</a:t>
            </a: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00FF00"/>
                </a:solidFill>
                <a:latin typeface="Courier"/>
                <a:ea typeface="Courier"/>
                <a:cs typeface="Courier"/>
                <a:sym typeface="Courier"/>
              </a:rPr>
              <a:t>line</a:t>
            </a:r>
            <a:r>
              <a:rPr b="0" i="0" lang="en-US" sz="2800" u="none" cap="none" strike="noStrike">
                <a:solidFill>
                  <a:srgbClr val="FF00FF"/>
                </a:solidFill>
                <a:latin typeface="Courier"/>
                <a:ea typeface="Courier"/>
                <a:cs typeface="Courier"/>
                <a:sym typeface="Courier"/>
              </a:rPr>
              <a:t>.startswith</a:t>
            </a:r>
            <a:r>
              <a:rPr b="0" i="0" lang="en-US" sz="2800" u="none" cap="none" strike="noStrike">
                <a:solidFill>
                  <a:schemeClr val="lt1"/>
                </a:solidFill>
                <a:latin typeface="Courier"/>
                <a:ea typeface="Courier"/>
                <a:cs typeface="Courier"/>
                <a:sym typeface="Courier"/>
              </a:rPr>
              <a:t>('From:')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        </a:t>
            </a: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line</a:t>
            </a:r>
            <a:r>
              <a:rPr b="0" i="0" lang="en-US" sz="2800" u="none" cap="none" strike="noStrike">
                <a:solidFill>
                  <a:schemeClr val="lt1"/>
                </a:solidFill>
                <a:latin typeface="Courier"/>
                <a:ea typeface="Courier"/>
                <a:cs typeface="Courier"/>
                <a:sym typeface="Courier"/>
              </a:rPr>
              <a:t>)</a:t>
            </a:r>
            <a:endParaRPr b="0" i="0" sz="2800" u="none" cap="none" strike="noStrike">
              <a:solidFill>
                <a:schemeClr val="lt1"/>
              </a:solidFill>
              <a:latin typeface="Courier"/>
              <a:ea typeface="Courier"/>
              <a:cs typeface="Courier"/>
              <a:sym typeface="Couri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3"/>
          <p:cNvSpPr txBox="1"/>
          <p:nvPr>
            <p:ph type="title"/>
          </p:nvPr>
        </p:nvSpPr>
        <p:spPr>
          <a:xfrm>
            <a:off x="1155700" y="789708"/>
            <a:ext cx="13247638"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OOPS!</a:t>
            </a:r>
            <a:endParaRPr/>
          </a:p>
        </p:txBody>
      </p:sp>
      <p:sp>
        <p:nvSpPr>
          <p:cNvPr id="105" name="Google Shape;105;p13"/>
          <p:cNvSpPr txBox="1"/>
          <p:nvPr/>
        </p:nvSpPr>
        <p:spPr>
          <a:xfrm>
            <a:off x="1246825" y="3253025"/>
            <a:ext cx="5270400" cy="114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What are all these blank lines doing here?</a:t>
            </a:r>
            <a:endParaRPr b="0" i="0" sz="1400" u="none" cap="none" strike="noStrike">
              <a:solidFill>
                <a:srgbClr val="000000"/>
              </a:solidFill>
              <a:latin typeface="Arial"/>
              <a:ea typeface="Arial"/>
              <a:cs typeface="Arial"/>
              <a:sym typeface="Arial"/>
            </a:endParaRPr>
          </a:p>
        </p:txBody>
      </p:sp>
      <p:sp>
        <p:nvSpPr>
          <p:cNvPr id="106" name="Google Shape;106;p13"/>
          <p:cNvSpPr txBox="1"/>
          <p:nvPr/>
        </p:nvSpPr>
        <p:spPr>
          <a:xfrm>
            <a:off x="7594600" y="2895600"/>
            <a:ext cx="8128000" cy="45243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From: stephen.marquard@uct.ac.za</a:t>
            </a:r>
            <a:endParaRPr b="0" i="0" sz="3000" u="none" cap="none" strike="noStrike">
              <a:solidFill>
                <a:srgbClr val="FF00FF"/>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From: louis@media.berkeley.edu</a:t>
            </a:r>
            <a:endParaRPr b="0" i="0" sz="3000" u="none" cap="none" strike="noStrike">
              <a:solidFill>
                <a:srgbClr val="FF00FF"/>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From: zqian@umich.edu</a:t>
            </a:r>
            <a:endParaRPr b="0" i="0" sz="3000" u="none" cap="none" strike="noStrike">
              <a:solidFill>
                <a:srgbClr val="FF00FF"/>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From: rjlowe@iupui.edu</a:t>
            </a:r>
            <a:endParaRPr b="0" i="0" sz="3000" u="none" cap="none" strike="noStrike">
              <a:solidFill>
                <a:srgbClr val="FF00FF"/>
              </a:solidFill>
              <a:latin typeface="Courier"/>
              <a:ea typeface="Courier"/>
              <a:cs typeface="Courier"/>
              <a:sym typeface="Courier"/>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4"/>
          <p:cNvSpPr txBox="1"/>
          <p:nvPr>
            <p:ph idx="1" type="body"/>
          </p:nvPr>
        </p:nvSpPr>
        <p:spPr>
          <a:xfrm>
            <a:off x="1155700" y="2603500"/>
            <a:ext cx="5407024" cy="5702399"/>
          </a:xfrm>
          <a:prstGeom prst="rect">
            <a:avLst/>
          </a:prstGeom>
          <a:noFill/>
          <a:ln>
            <a:noFill/>
          </a:ln>
        </p:spPr>
        <p:txBody>
          <a:bodyPr anchorCtr="0" anchor="ctr" bIns="38100" lIns="38100" spcFirstLastPara="1" rIns="38100" wrap="square" tIns="38100">
            <a:noAutofit/>
          </a:bodyPr>
          <a:lstStyle/>
          <a:p>
            <a:pPr indent="-444500" lvl="0" marL="457200" marR="0" rtl="0" algn="l">
              <a:lnSpc>
                <a:spcPct val="100000"/>
              </a:lnSpc>
              <a:spcBef>
                <a:spcPts val="0"/>
              </a:spcBef>
              <a:spcAft>
                <a:spcPts val="0"/>
              </a:spcAft>
              <a:buSzPts val="3400"/>
              <a:buFont typeface="Cabin"/>
              <a:buChar char="•"/>
            </a:pPr>
            <a:r>
              <a:rPr lang="en-US" sz="3400">
                <a:solidFill>
                  <a:schemeClr val="lt1"/>
                </a:solidFill>
                <a:latin typeface="Arial"/>
                <a:ea typeface="Arial"/>
                <a:cs typeface="Arial"/>
                <a:sym typeface="Arial"/>
              </a:rPr>
              <a:t>Each line from the file has a </a:t>
            </a:r>
            <a:r>
              <a:rPr lang="en-US" sz="3400">
                <a:solidFill>
                  <a:srgbClr val="00FF00"/>
                </a:solidFill>
                <a:latin typeface="Arial"/>
                <a:ea typeface="Arial"/>
                <a:cs typeface="Arial"/>
                <a:sym typeface="Arial"/>
              </a:rPr>
              <a:t>newline</a:t>
            </a:r>
            <a:r>
              <a:rPr lang="en-US" sz="3400">
                <a:solidFill>
                  <a:schemeClr val="lt1"/>
                </a:solidFill>
                <a:latin typeface="Arial"/>
                <a:ea typeface="Arial"/>
                <a:cs typeface="Arial"/>
                <a:sym typeface="Arial"/>
              </a:rPr>
              <a:t> at the end</a:t>
            </a:r>
            <a:endParaRPr/>
          </a:p>
          <a:p>
            <a:pPr indent="-444500" lvl="0" marL="457200" marR="0" rtl="0" algn="l">
              <a:lnSpc>
                <a:spcPct val="100000"/>
              </a:lnSpc>
              <a:spcBef>
                <a:spcPts val="4500"/>
              </a:spcBef>
              <a:spcAft>
                <a:spcPts val="0"/>
              </a:spcAft>
              <a:buSzPts val="3400"/>
              <a:buFont typeface="Cabin"/>
              <a:buChar char="•"/>
            </a:pPr>
            <a:r>
              <a:rPr lang="en-US" sz="3400">
                <a:solidFill>
                  <a:schemeClr val="lt1"/>
                </a:solidFill>
                <a:latin typeface="Arial"/>
                <a:ea typeface="Arial"/>
                <a:cs typeface="Arial"/>
                <a:sym typeface="Arial"/>
              </a:rPr>
              <a:t>The </a:t>
            </a:r>
            <a:r>
              <a:rPr lang="en-US" sz="3400">
                <a:solidFill>
                  <a:srgbClr val="FFFF00"/>
                </a:solidFill>
                <a:latin typeface="Arial"/>
                <a:ea typeface="Arial"/>
                <a:cs typeface="Arial"/>
                <a:sym typeface="Arial"/>
              </a:rPr>
              <a:t>print</a:t>
            </a:r>
            <a:r>
              <a:rPr lang="en-US" sz="3400">
                <a:solidFill>
                  <a:schemeClr val="lt1"/>
                </a:solidFill>
                <a:latin typeface="Arial"/>
                <a:ea typeface="Arial"/>
                <a:cs typeface="Arial"/>
                <a:sym typeface="Arial"/>
              </a:rPr>
              <a:t> statement adds a </a:t>
            </a:r>
            <a:r>
              <a:rPr lang="en-US" sz="3400">
                <a:solidFill>
                  <a:srgbClr val="FFFF00"/>
                </a:solidFill>
                <a:latin typeface="Arial"/>
                <a:ea typeface="Arial"/>
                <a:cs typeface="Arial"/>
                <a:sym typeface="Arial"/>
              </a:rPr>
              <a:t>newline</a:t>
            </a:r>
            <a:r>
              <a:rPr lang="en-US" sz="3400">
                <a:solidFill>
                  <a:schemeClr val="lt1"/>
                </a:solidFill>
                <a:latin typeface="Arial"/>
                <a:ea typeface="Arial"/>
                <a:cs typeface="Arial"/>
                <a:sym typeface="Arial"/>
              </a:rPr>
              <a:t> to each line</a:t>
            </a:r>
            <a:endParaRPr/>
          </a:p>
        </p:txBody>
      </p:sp>
      <p:sp>
        <p:nvSpPr>
          <p:cNvPr id="112" name="Google Shape;112;p14"/>
          <p:cNvSpPr txBox="1"/>
          <p:nvPr/>
        </p:nvSpPr>
        <p:spPr>
          <a:xfrm>
            <a:off x="1292225" y="2813050"/>
            <a:ext cx="5270499" cy="114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lt1"/>
                </a:solidFill>
                <a:latin typeface="Arial"/>
                <a:ea typeface="Arial"/>
                <a:cs typeface="Arial"/>
                <a:sym typeface="Arial"/>
              </a:rPr>
              <a:t>What are all these blank lines doing here?</a:t>
            </a:r>
            <a:endParaRPr b="0" i="0" sz="1400" u="none" cap="none" strike="noStrike">
              <a:solidFill>
                <a:srgbClr val="000000"/>
              </a:solidFill>
              <a:latin typeface="Arial"/>
              <a:ea typeface="Arial"/>
              <a:cs typeface="Arial"/>
              <a:sym typeface="Arial"/>
            </a:endParaRPr>
          </a:p>
        </p:txBody>
      </p:sp>
      <p:sp>
        <p:nvSpPr>
          <p:cNvPr id="113" name="Google Shape;113;p14"/>
          <p:cNvSpPr txBox="1"/>
          <p:nvPr/>
        </p:nvSpPr>
        <p:spPr>
          <a:xfrm>
            <a:off x="7579425" y="2900800"/>
            <a:ext cx="8127900" cy="5078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From: stephen.marquard@uct.ac.za</a:t>
            </a:r>
            <a:r>
              <a:rPr b="0" i="0" lang="en-US" sz="3000" u="none" cap="none" strike="noStrike">
                <a:solidFill>
                  <a:srgbClr val="00FF00"/>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From: louis@media.berkeley.edu</a:t>
            </a:r>
            <a:r>
              <a:rPr b="0" i="0" lang="en-US" sz="3000" u="none" cap="none" strike="noStrike">
                <a:solidFill>
                  <a:srgbClr val="00FF00"/>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From: zqian@umich.edu</a:t>
            </a:r>
            <a:r>
              <a:rPr b="0" i="0" lang="en-US" sz="3000" u="none" cap="none" strike="noStrike">
                <a:solidFill>
                  <a:srgbClr val="00FF00"/>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From: rjlowe@iupui.edu</a:t>
            </a:r>
            <a:r>
              <a:rPr b="0" i="0" lang="en-US" sz="3000" u="none" cap="none" strike="noStrike">
                <a:solidFill>
                  <a:srgbClr val="00FF00"/>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50"/>
              <a:buFont typeface="Cabin"/>
              <a:buNone/>
            </a:pPr>
            <a:r>
              <a:rPr b="0" i="0" lang="en-US" sz="3000" u="none" cap="none" strike="noStrike">
                <a:solidFill>
                  <a:srgbClr val="FF00FF"/>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155700" y="789708"/>
            <a:ext cx="13247638"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OOPS!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Searching Through a File (fixed)</a:t>
            </a:r>
            <a:endParaRPr/>
          </a:p>
        </p:txBody>
      </p:sp>
      <p:sp>
        <p:nvSpPr>
          <p:cNvPr id="120" name="Google Shape;120;p15"/>
          <p:cNvSpPr txBox="1"/>
          <p:nvPr>
            <p:ph idx="1" type="body"/>
          </p:nvPr>
        </p:nvSpPr>
        <p:spPr>
          <a:xfrm>
            <a:off x="1155700" y="2603501"/>
            <a:ext cx="5973763" cy="5279160"/>
          </a:xfrm>
          <a:prstGeom prst="rect">
            <a:avLst/>
          </a:prstGeom>
          <a:noFill/>
          <a:ln>
            <a:noFill/>
          </a:ln>
        </p:spPr>
        <p:txBody>
          <a:bodyPr anchorCtr="0" anchor="ctr" bIns="38100" lIns="38100" spcFirstLastPara="1" rIns="38100" wrap="square" tIns="38100">
            <a:noAutofit/>
          </a:bodyPr>
          <a:lstStyle/>
          <a:p>
            <a:pPr indent="-444500" lvl="0" marL="457200" marR="0" rtl="0" algn="l">
              <a:lnSpc>
                <a:spcPct val="100000"/>
              </a:lnSpc>
              <a:spcBef>
                <a:spcPts val="0"/>
              </a:spcBef>
              <a:spcAft>
                <a:spcPts val="0"/>
              </a:spcAft>
              <a:buSzPts val="3400"/>
              <a:buFont typeface="Cabin"/>
              <a:buChar char="•"/>
            </a:pPr>
            <a:r>
              <a:rPr lang="en-US" sz="3400" u="none" cap="none" strike="noStrike">
                <a:solidFill>
                  <a:schemeClr val="lt1"/>
                </a:solidFill>
                <a:latin typeface="Arial"/>
                <a:ea typeface="Arial"/>
                <a:cs typeface="Arial"/>
                <a:sym typeface="Arial"/>
              </a:rPr>
              <a:t>We can strip the whitespace from the right</a:t>
            </a:r>
            <a:r>
              <a:rPr lang="en-US" sz="3400">
                <a:solidFill>
                  <a:schemeClr val="lt1"/>
                </a:solidFill>
                <a:latin typeface="Arial"/>
                <a:ea typeface="Arial"/>
                <a:cs typeface="Arial"/>
                <a:sym typeface="Arial"/>
              </a:rPr>
              <a:t>-</a:t>
            </a:r>
            <a:r>
              <a:rPr lang="en-US" sz="3400" u="none" cap="none" strike="noStrike">
                <a:solidFill>
                  <a:schemeClr val="lt1"/>
                </a:solidFill>
                <a:latin typeface="Arial"/>
                <a:ea typeface="Arial"/>
                <a:cs typeface="Arial"/>
                <a:sym typeface="Arial"/>
              </a:rPr>
              <a:t>hand side of the string using </a:t>
            </a:r>
            <a:r>
              <a:rPr lang="en-US" sz="3400" u="none" cap="none" strike="noStrike">
                <a:solidFill>
                  <a:srgbClr val="FF7F00"/>
                </a:solidFill>
                <a:latin typeface="Arial"/>
                <a:ea typeface="Arial"/>
                <a:cs typeface="Arial"/>
                <a:sym typeface="Arial"/>
              </a:rPr>
              <a:t>rstrip</a:t>
            </a:r>
            <a:r>
              <a:rPr lang="en-US" sz="3400" u="none" cap="none" strike="noStrike">
                <a:solidFill>
                  <a:schemeClr val="lt1"/>
                </a:solidFill>
                <a:latin typeface="Arial"/>
                <a:ea typeface="Arial"/>
                <a:cs typeface="Arial"/>
                <a:sym typeface="Arial"/>
              </a:rPr>
              <a:t>() from the string library</a:t>
            </a:r>
            <a:endParaRPr/>
          </a:p>
          <a:p>
            <a:pPr indent="-444500" lvl="0" marL="457200" marR="0" rtl="0" algn="l">
              <a:lnSpc>
                <a:spcPct val="100000"/>
              </a:lnSpc>
              <a:spcBef>
                <a:spcPts val="4500"/>
              </a:spcBef>
              <a:spcAft>
                <a:spcPts val="0"/>
              </a:spcAft>
              <a:buSzPts val="3400"/>
              <a:buFont typeface="Cabin"/>
              <a:buChar char="•"/>
            </a:pPr>
            <a:r>
              <a:rPr lang="en-US" sz="3400" u="none" cap="none" strike="noStrike">
                <a:solidFill>
                  <a:schemeClr val="lt1"/>
                </a:solidFill>
                <a:latin typeface="Arial"/>
                <a:ea typeface="Arial"/>
                <a:cs typeface="Arial"/>
                <a:sym typeface="Arial"/>
              </a:rPr>
              <a:t>The newline is considered </a:t>
            </a:r>
            <a:r>
              <a:rPr lang="en-US" sz="3400">
                <a:solidFill>
                  <a:schemeClr val="lt1"/>
                </a:solidFill>
                <a:latin typeface="Arial"/>
                <a:ea typeface="Arial"/>
                <a:cs typeface="Arial"/>
                <a:sym typeface="Arial"/>
              </a:rPr>
              <a:t>“</a:t>
            </a:r>
            <a:r>
              <a:rPr lang="en-US" sz="3400" u="none" cap="none" strike="noStrike">
                <a:solidFill>
                  <a:schemeClr val="lt1"/>
                </a:solidFill>
                <a:latin typeface="Arial"/>
                <a:ea typeface="Arial"/>
                <a:cs typeface="Arial"/>
                <a:sym typeface="Arial"/>
              </a:rPr>
              <a:t>white space</a:t>
            </a:r>
            <a:r>
              <a:rPr lang="en-US" sz="3400">
                <a:solidFill>
                  <a:schemeClr val="lt1"/>
                </a:solidFill>
                <a:latin typeface="Arial"/>
                <a:ea typeface="Arial"/>
                <a:cs typeface="Arial"/>
                <a:sym typeface="Arial"/>
              </a:rPr>
              <a:t>”</a:t>
            </a:r>
            <a:r>
              <a:rPr lang="en-US" sz="3400" u="none" cap="none" strike="noStrike">
                <a:solidFill>
                  <a:schemeClr val="lt1"/>
                </a:solidFill>
                <a:latin typeface="Arial"/>
                <a:ea typeface="Arial"/>
                <a:cs typeface="Arial"/>
                <a:sym typeface="Arial"/>
              </a:rPr>
              <a:t> and is </a:t>
            </a:r>
            <a:r>
              <a:rPr lang="en-US" sz="3400" u="none" cap="none" strike="noStrike">
                <a:solidFill>
                  <a:srgbClr val="FF7F00"/>
                </a:solidFill>
                <a:latin typeface="Arial"/>
                <a:ea typeface="Arial"/>
                <a:cs typeface="Arial"/>
                <a:sym typeface="Arial"/>
              </a:rPr>
              <a:t>stripped</a:t>
            </a:r>
            <a:endParaRPr/>
          </a:p>
        </p:txBody>
      </p:sp>
      <p:sp>
        <p:nvSpPr>
          <p:cNvPr id="121" name="Google Shape;121;p15"/>
          <p:cNvSpPr txBox="1"/>
          <p:nvPr/>
        </p:nvSpPr>
        <p:spPr>
          <a:xfrm>
            <a:off x="8491500" y="2783500"/>
            <a:ext cx="6596099" cy="229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fhand</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00FF"/>
                </a:solidFill>
                <a:latin typeface="Courier"/>
                <a:ea typeface="Courier"/>
                <a:cs typeface="Courier"/>
                <a:sym typeface="Courier"/>
              </a:rPr>
              <a:t>open</a:t>
            </a:r>
            <a:r>
              <a:rPr b="0" i="0" lang="en-US" sz="2400" u="none" cap="none" strike="noStrike">
                <a:solidFill>
                  <a:schemeClr val="lt1"/>
                </a:solidFill>
                <a:latin typeface="Courier"/>
                <a:ea typeface="Courier"/>
                <a:cs typeface="Courier"/>
                <a:sym typeface="Courier"/>
              </a:rPr>
              <a:t>('mbox-short.txt')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for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fhand</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rgbClr val="FF7F00"/>
                </a:solidFill>
                <a:latin typeface="Courier"/>
                <a:ea typeface="Courier"/>
                <a:cs typeface="Courier"/>
                <a:sym typeface="Courier"/>
              </a:rPr>
              <a:t>.rstrip</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if</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rgbClr val="FF00FF"/>
                </a:solidFill>
                <a:latin typeface="Courier"/>
                <a:ea typeface="Courier"/>
                <a:cs typeface="Courier"/>
                <a:sym typeface="Courier"/>
              </a:rPr>
              <a:t>.startswith</a:t>
            </a:r>
            <a:r>
              <a:rPr b="0" i="0" lang="en-US" sz="2400" u="none" cap="none" strike="noStrike">
                <a:solidFill>
                  <a:schemeClr val="lt1"/>
                </a:solidFill>
                <a:latin typeface="Courier"/>
                <a:ea typeface="Courier"/>
                <a:cs typeface="Courier"/>
                <a:sym typeface="Courier"/>
              </a:rPr>
              <a:t>('From:')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a:t>
            </a:r>
            <a:endParaRPr b="0" i="0" sz="2400" u="none" cap="none" strike="noStrike">
              <a:solidFill>
                <a:schemeClr val="lt1"/>
              </a:solidFill>
              <a:latin typeface="Courier"/>
              <a:ea typeface="Courier"/>
              <a:cs typeface="Courier"/>
              <a:sym typeface="Courier"/>
            </a:endParaRPr>
          </a:p>
        </p:txBody>
      </p:sp>
      <p:sp>
        <p:nvSpPr>
          <p:cNvPr id="122" name="Google Shape;122;p15"/>
          <p:cNvSpPr txBox="1"/>
          <p:nvPr/>
        </p:nvSpPr>
        <p:spPr>
          <a:xfrm>
            <a:off x="8388425" y="5391750"/>
            <a:ext cx="7442100" cy="276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From: stephen.marquard@uct.ac.za</a:t>
            </a:r>
            <a:endParaRPr b="0" i="0" sz="32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From: louis@media.berkeley.edu</a:t>
            </a:r>
            <a:endParaRPr b="0" i="0" sz="32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From: zqian@umich.edu</a:t>
            </a:r>
            <a:endParaRPr b="0" i="0" sz="32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From: rjlowe@iupui.edu</a:t>
            </a:r>
            <a:endParaRPr b="0" i="0" sz="32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6"/>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Skipping with </a:t>
            </a:r>
            <a:r>
              <a:rPr lang="en-US" sz="7600" u="none" cap="none" strike="noStrike">
                <a:solidFill>
                  <a:srgbClr val="FFFF00"/>
                </a:solidFill>
                <a:latin typeface="Arial"/>
                <a:ea typeface="Arial"/>
                <a:cs typeface="Arial"/>
                <a:sym typeface="Arial"/>
              </a:rPr>
              <a:t>continue</a:t>
            </a:r>
            <a:endParaRPr/>
          </a:p>
        </p:txBody>
      </p:sp>
      <p:sp>
        <p:nvSpPr>
          <p:cNvPr id="128" name="Google Shape;128;p16"/>
          <p:cNvSpPr txBox="1"/>
          <p:nvPr>
            <p:ph idx="1" type="body"/>
          </p:nvPr>
        </p:nvSpPr>
        <p:spPr>
          <a:xfrm>
            <a:off x="1155700" y="3237425"/>
            <a:ext cx="4942803" cy="3123618"/>
          </a:xfrm>
          <a:prstGeom prst="rect">
            <a:avLst/>
          </a:prstGeom>
          <a:noFill/>
          <a:ln>
            <a:noFill/>
          </a:ln>
        </p:spPr>
        <p:txBody>
          <a:bodyPr anchorCtr="0" anchor="ctr" bIns="38100" lIns="38100" spcFirstLastPara="1" rIns="38100" wrap="square" tIns="38100">
            <a:noAutofit/>
          </a:bodyPr>
          <a:lstStyle/>
          <a:p>
            <a:pPr indent="0" lvl="0" marL="0" marR="0" rtl="0" algn="l">
              <a:lnSpc>
                <a:spcPct val="100000"/>
              </a:lnSpc>
              <a:spcBef>
                <a:spcPts val="0"/>
              </a:spcBef>
              <a:spcAft>
                <a:spcPts val="0"/>
              </a:spcAft>
              <a:buSzPts val="3600"/>
              <a:buNone/>
            </a:pPr>
            <a:r>
              <a:rPr lang="en-US" sz="3600" u="none" cap="none" strike="noStrike">
                <a:solidFill>
                  <a:schemeClr val="lt1"/>
                </a:solidFill>
                <a:latin typeface="Arial"/>
                <a:ea typeface="Arial"/>
                <a:cs typeface="Arial"/>
                <a:sym typeface="Arial"/>
              </a:rPr>
              <a:t>We can </a:t>
            </a:r>
            <a:r>
              <a:rPr lang="en-US" sz="3600">
                <a:solidFill>
                  <a:schemeClr val="lt1"/>
                </a:solidFill>
                <a:latin typeface="Arial"/>
                <a:ea typeface="Arial"/>
                <a:cs typeface="Arial"/>
                <a:sym typeface="Arial"/>
              </a:rPr>
              <a:t>convenient</a:t>
            </a:r>
            <a:r>
              <a:rPr lang="en-US" sz="3600" u="none" cap="none" strike="noStrike">
                <a:solidFill>
                  <a:schemeClr val="lt1"/>
                </a:solidFill>
                <a:latin typeface="Arial"/>
                <a:ea typeface="Arial"/>
                <a:cs typeface="Arial"/>
                <a:sym typeface="Arial"/>
              </a:rPr>
              <a:t>ly skip a line by using the </a:t>
            </a:r>
            <a:r>
              <a:rPr lang="en-US" sz="3600" u="none" cap="none" strike="noStrike">
                <a:solidFill>
                  <a:srgbClr val="FFFF00"/>
                </a:solidFill>
                <a:latin typeface="Arial"/>
                <a:ea typeface="Arial"/>
                <a:cs typeface="Arial"/>
                <a:sym typeface="Arial"/>
              </a:rPr>
              <a:t>continue</a:t>
            </a:r>
            <a:r>
              <a:rPr lang="en-US" sz="3600" u="none" cap="none" strike="noStrike">
                <a:solidFill>
                  <a:schemeClr val="lt1"/>
                </a:solidFill>
                <a:latin typeface="Arial"/>
                <a:ea typeface="Arial"/>
                <a:cs typeface="Arial"/>
                <a:sym typeface="Arial"/>
              </a:rPr>
              <a:t> statement</a:t>
            </a:r>
            <a:endParaRPr/>
          </a:p>
        </p:txBody>
      </p:sp>
      <p:sp>
        <p:nvSpPr>
          <p:cNvPr id="129" name="Google Shape;129;p16"/>
          <p:cNvSpPr txBox="1"/>
          <p:nvPr/>
        </p:nvSpPr>
        <p:spPr>
          <a:xfrm>
            <a:off x="6857027" y="3253850"/>
            <a:ext cx="8860199" cy="332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fhand</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open</a:t>
            </a:r>
            <a:r>
              <a:rPr b="0" i="0" lang="en-US" sz="3000" u="none" cap="none" strike="noStrike">
                <a:solidFill>
                  <a:schemeClr val="lt1"/>
                </a:solidFill>
                <a:latin typeface="Courier"/>
                <a:ea typeface="Courier"/>
                <a:cs typeface="Courier"/>
                <a:sym typeface="Courier"/>
              </a:rPr>
              <a:t>('mbox-short.txt')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fhand</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rgbClr val="FF00FF"/>
                </a:solidFill>
                <a:latin typeface="Courier"/>
                <a:ea typeface="Courier"/>
                <a:cs typeface="Courier"/>
                <a:sym typeface="Courier"/>
              </a:rPr>
              <a:t>.rstrip</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if</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not</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rgbClr val="FF00FF"/>
                </a:solidFill>
                <a:latin typeface="Courier"/>
                <a:ea typeface="Courier"/>
                <a:cs typeface="Courier"/>
                <a:sym typeface="Courier"/>
              </a:rPr>
              <a:t>.startswith</a:t>
            </a:r>
            <a:r>
              <a:rPr b="0" i="0" lang="en-US" sz="3000" u="none" cap="none" strike="noStrike">
                <a:solidFill>
                  <a:schemeClr val="lt1"/>
                </a:solidFill>
                <a:latin typeface="Courier"/>
                <a:ea typeface="Courier"/>
                <a:cs typeface="Courier"/>
                <a:sym typeface="Courier"/>
              </a:rPr>
              <a:t>('From:')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continue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7"/>
          <p:cNvSpPr txBox="1"/>
          <p:nvPr>
            <p:ph type="title"/>
          </p:nvPr>
        </p:nvSpPr>
        <p:spPr>
          <a:xfrm>
            <a:off x="1155700" y="789708"/>
            <a:ext cx="13932000"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Using</a:t>
            </a:r>
            <a:r>
              <a:rPr lang="en-US" sz="7600" u="none" cap="none" strike="noStrike">
                <a:solidFill>
                  <a:schemeClr val="lt1"/>
                </a:solidFill>
                <a:latin typeface="Arial"/>
                <a:ea typeface="Arial"/>
                <a:cs typeface="Arial"/>
                <a:sym typeface="Arial"/>
              </a:rPr>
              <a:t> </a:t>
            </a:r>
            <a:r>
              <a:rPr lang="en-US" sz="7600" u="none" cap="none" strike="noStrike">
                <a:solidFill>
                  <a:srgbClr val="FFFF00"/>
                </a:solidFill>
                <a:latin typeface="Arial"/>
                <a:ea typeface="Arial"/>
                <a:cs typeface="Arial"/>
                <a:sym typeface="Arial"/>
              </a:rPr>
              <a:t>in</a:t>
            </a:r>
            <a:r>
              <a:rPr lang="en-US" sz="7600" u="none" cap="none" strike="noStrike">
                <a:solidFill>
                  <a:schemeClr val="lt1"/>
                </a:solidFill>
                <a:latin typeface="Arial"/>
                <a:ea typeface="Arial"/>
                <a:cs typeface="Arial"/>
                <a:sym typeface="Arial"/>
              </a:rPr>
              <a:t> </a:t>
            </a:r>
            <a:r>
              <a:rPr lang="en-US" sz="7600" u="none" cap="none" strike="noStrike">
                <a:solidFill>
                  <a:srgbClr val="FFD966"/>
                </a:solidFill>
                <a:latin typeface="Arial"/>
                <a:ea typeface="Arial"/>
                <a:cs typeface="Arial"/>
                <a:sym typeface="Arial"/>
              </a:rPr>
              <a:t>to Select </a:t>
            </a:r>
            <a:r>
              <a:rPr lang="en-US" sz="7600" u="none" cap="none" strike="noStrike">
                <a:solidFill>
                  <a:srgbClr val="00FF00"/>
                </a:solidFill>
                <a:latin typeface="Arial"/>
                <a:ea typeface="Arial"/>
                <a:cs typeface="Arial"/>
                <a:sym typeface="Arial"/>
              </a:rPr>
              <a:t>Lines</a:t>
            </a:r>
            <a:endParaRPr/>
          </a:p>
        </p:txBody>
      </p:sp>
      <p:sp>
        <p:nvSpPr>
          <p:cNvPr id="135" name="Google Shape;135;p17"/>
          <p:cNvSpPr txBox="1"/>
          <p:nvPr>
            <p:ph idx="1" type="body"/>
          </p:nvPr>
        </p:nvSpPr>
        <p:spPr>
          <a:xfrm>
            <a:off x="1412675" y="2820874"/>
            <a:ext cx="5892476" cy="1839913"/>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chemeClr val="lt1"/>
              </a:buClr>
              <a:buSzPts val="6156"/>
              <a:buNone/>
            </a:pPr>
            <a:r>
              <a:rPr lang="en-US" sz="3600" u="none" cap="none" strike="noStrike">
                <a:solidFill>
                  <a:schemeClr val="lt1"/>
                </a:solidFill>
                <a:latin typeface="Arial"/>
                <a:ea typeface="Arial"/>
                <a:cs typeface="Arial"/>
                <a:sym typeface="Arial"/>
              </a:rPr>
              <a:t>We can look for a string anywhere </a:t>
            </a:r>
            <a:r>
              <a:rPr lang="en-US" sz="3600" u="none" cap="none" strike="noStrike">
                <a:solidFill>
                  <a:srgbClr val="FFFF00"/>
                </a:solidFill>
                <a:latin typeface="Arial"/>
                <a:ea typeface="Arial"/>
                <a:cs typeface="Arial"/>
                <a:sym typeface="Arial"/>
              </a:rPr>
              <a:t>in</a:t>
            </a:r>
            <a:r>
              <a:rPr lang="en-US" sz="3600" u="none" cap="none" strike="noStrike">
                <a:solidFill>
                  <a:schemeClr val="lt1"/>
                </a:solidFill>
                <a:latin typeface="Arial"/>
                <a:ea typeface="Arial"/>
                <a:cs typeface="Arial"/>
                <a:sym typeface="Arial"/>
              </a:rPr>
              <a:t> a </a:t>
            </a:r>
            <a:r>
              <a:rPr lang="en-US" sz="3600" u="none" cap="none" strike="noStrike">
                <a:solidFill>
                  <a:srgbClr val="00FF00"/>
                </a:solidFill>
                <a:latin typeface="Arial"/>
                <a:ea typeface="Arial"/>
                <a:cs typeface="Arial"/>
                <a:sym typeface="Arial"/>
              </a:rPr>
              <a:t>line</a:t>
            </a:r>
            <a:r>
              <a:rPr lang="en-US" sz="3600" u="none" cap="none" strike="noStrike">
                <a:solidFill>
                  <a:schemeClr val="lt1"/>
                </a:solidFill>
                <a:latin typeface="Arial"/>
                <a:ea typeface="Arial"/>
                <a:cs typeface="Arial"/>
                <a:sym typeface="Arial"/>
              </a:rPr>
              <a:t> as our selection criteria</a:t>
            </a:r>
            <a:endParaRPr/>
          </a:p>
        </p:txBody>
      </p:sp>
      <p:sp>
        <p:nvSpPr>
          <p:cNvPr id="136" name="Google Shape;136;p17"/>
          <p:cNvSpPr txBox="1"/>
          <p:nvPr/>
        </p:nvSpPr>
        <p:spPr>
          <a:xfrm>
            <a:off x="8547100" y="2516175"/>
            <a:ext cx="6947100" cy="265503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fhand</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00FF"/>
                </a:solidFill>
                <a:latin typeface="Courier"/>
                <a:ea typeface="Courier"/>
                <a:cs typeface="Courier"/>
                <a:sym typeface="Courier"/>
              </a:rPr>
              <a:t>open</a:t>
            </a:r>
            <a:r>
              <a:rPr b="0" i="0" lang="en-US" sz="2400" u="none" cap="none" strike="noStrike">
                <a:solidFill>
                  <a:schemeClr val="lt1"/>
                </a:solidFill>
                <a:latin typeface="Courier"/>
                <a:ea typeface="Courier"/>
                <a:cs typeface="Courier"/>
                <a:sym typeface="Courier"/>
              </a:rPr>
              <a:t>('mbox-short.txt')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for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fhand</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rgbClr val="FF00FF"/>
                </a:solidFill>
                <a:latin typeface="Courier"/>
                <a:ea typeface="Courier"/>
                <a:cs typeface="Courier"/>
                <a:sym typeface="Courier"/>
              </a:rPr>
              <a:t>.rstrip</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if</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not</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FF"/>
                </a:solidFill>
                <a:latin typeface="Courier"/>
                <a:ea typeface="Courier"/>
                <a:cs typeface="Courier"/>
                <a:sym typeface="Courier"/>
              </a:rPr>
              <a:t>@uct.ac.za</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FF"/>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continue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a:t>
            </a:r>
            <a:endParaRPr b="0" i="0" sz="2400" u="none" cap="none" strike="noStrike">
              <a:solidFill>
                <a:srgbClr val="00FF00"/>
              </a:solidFill>
              <a:latin typeface="Courier"/>
              <a:ea typeface="Courier"/>
              <a:cs typeface="Courier"/>
              <a:sym typeface="Courier"/>
            </a:endParaRPr>
          </a:p>
        </p:txBody>
      </p:sp>
      <p:sp>
        <p:nvSpPr>
          <p:cNvPr id="137" name="Google Shape;137;p17"/>
          <p:cNvSpPr txBox="1"/>
          <p:nvPr/>
        </p:nvSpPr>
        <p:spPr>
          <a:xfrm>
            <a:off x="1412675" y="5606277"/>
            <a:ext cx="13932000" cy="241443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From stephen.marquard@</a:t>
            </a:r>
            <a:r>
              <a:rPr b="0" i="0" lang="en-US" sz="2400" u="none" cap="none" strike="noStrike">
                <a:solidFill>
                  <a:srgbClr val="00FFFF"/>
                </a:solidFill>
                <a:latin typeface="Courier"/>
                <a:ea typeface="Courier"/>
                <a:cs typeface="Courier"/>
                <a:sym typeface="Courier"/>
              </a:rPr>
              <a:t>uct.ac.za</a:t>
            </a:r>
            <a:r>
              <a:rPr b="0" i="0" lang="en-US" sz="2400" u="none" cap="none" strike="noStrike">
                <a:solidFill>
                  <a:srgbClr val="FF00FF"/>
                </a:solidFill>
                <a:latin typeface="Courier"/>
                <a:ea typeface="Courier"/>
                <a:cs typeface="Courier"/>
                <a:sym typeface="Courier"/>
              </a:rPr>
              <a:t> Sat Jan  5 09:14:16 2008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X-Authentication-Warning: set sender to stephen.marquard@</a:t>
            </a:r>
            <a:r>
              <a:rPr b="0" i="0" lang="en-US" sz="2400" u="none" cap="none" strike="noStrike">
                <a:solidFill>
                  <a:srgbClr val="00FFFF"/>
                </a:solidFill>
                <a:latin typeface="Courier"/>
                <a:ea typeface="Courier"/>
                <a:cs typeface="Courier"/>
                <a:sym typeface="Courier"/>
              </a:rPr>
              <a:t>uct.ac.za</a:t>
            </a:r>
            <a:r>
              <a:rPr b="0" i="0" lang="en-US" sz="2400" u="none" cap="none" strike="noStrike">
                <a:solidFill>
                  <a:srgbClr val="FF00FF"/>
                </a:solidFill>
                <a:latin typeface="Courier"/>
                <a:ea typeface="Courier"/>
                <a:cs typeface="Courier"/>
                <a:sym typeface="Courier"/>
              </a:rPr>
              <a:t> using –f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From: </a:t>
            </a:r>
            <a:r>
              <a:rPr b="0" i="0" lang="en-US" sz="2400" u="sng" cap="none" strike="noStrike">
                <a:solidFill>
                  <a:schemeClr val="hlink"/>
                </a:solidFill>
                <a:latin typeface="Courier"/>
                <a:ea typeface="Courier"/>
                <a:cs typeface="Courier"/>
                <a:sym typeface="Courier"/>
                <a:hlinkClick r:id="rId3"/>
              </a:rPr>
              <a:t>stephen.marquard@uct.ac.za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Author: </a:t>
            </a:r>
            <a:r>
              <a:rPr b="0" i="0" lang="en-US" sz="2400" u="sng" cap="none" strike="noStrike">
                <a:solidFill>
                  <a:schemeClr val="hlink"/>
                </a:solidFill>
                <a:latin typeface="Courier"/>
                <a:ea typeface="Courier"/>
                <a:cs typeface="Courier"/>
                <a:sym typeface="Courier"/>
                <a:hlinkClick r:id="rId4"/>
              </a:rPr>
              <a:t>stephen.marquard@uct.ac.za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From david.horwitz@</a:t>
            </a:r>
            <a:r>
              <a:rPr b="0" i="0" lang="en-US" sz="2400" u="none" cap="none" strike="noStrike">
                <a:solidFill>
                  <a:srgbClr val="00FFFF"/>
                </a:solidFill>
                <a:latin typeface="Courier"/>
                <a:ea typeface="Courier"/>
                <a:cs typeface="Courier"/>
                <a:sym typeface="Courier"/>
              </a:rPr>
              <a:t>uct.ac.za</a:t>
            </a:r>
            <a:r>
              <a:rPr b="0" i="0" lang="en-US" sz="2400" u="none" cap="none" strike="noStrike">
                <a:solidFill>
                  <a:srgbClr val="FF00FF"/>
                </a:solidFill>
                <a:latin typeface="Courier"/>
                <a:ea typeface="Courier"/>
                <a:cs typeface="Courier"/>
                <a:sym typeface="Courier"/>
              </a:rPr>
              <a:t> Fri Jan  4 07:02:32 2008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600"/>
              <a:buFont typeface="Cabin"/>
              <a:buNone/>
            </a:pPr>
            <a:r>
              <a:rPr b="0" i="0" lang="en-US" sz="2400" u="none" cap="none" strike="noStrike">
                <a:solidFill>
                  <a:srgbClr val="FF00FF"/>
                </a:solidFill>
                <a:latin typeface="Courier"/>
                <a:ea typeface="Courier"/>
                <a:cs typeface="Courier"/>
                <a:sym typeface="Courier"/>
              </a:rPr>
              <a:t>X-Authentication-Warning: set sender to david.horwitz@</a:t>
            </a:r>
            <a:r>
              <a:rPr b="0" i="0" lang="en-US" sz="2400" u="none" cap="none" strike="noStrike">
                <a:solidFill>
                  <a:srgbClr val="00FFFF"/>
                </a:solidFill>
                <a:latin typeface="Courier"/>
                <a:ea typeface="Courier"/>
                <a:cs typeface="Courier"/>
                <a:sym typeface="Courier"/>
              </a:rPr>
              <a:t>uct.ac.za</a:t>
            </a:r>
            <a:r>
              <a:rPr b="0" i="0" lang="en-US" sz="2400" u="none" cap="none" strike="noStrike">
                <a:solidFill>
                  <a:srgbClr val="FF00FF"/>
                </a:solidFill>
                <a:latin typeface="Courier"/>
                <a:ea typeface="Courier"/>
                <a:cs typeface="Courier"/>
                <a:sym typeface="Courier"/>
              </a:rPr>
              <a:t> using -f...</a:t>
            </a:r>
            <a:endParaRPr b="0" i="0" sz="1400" u="none" cap="none" strike="noStrike">
              <a:solidFill>
                <a:srgbClr val="000000"/>
              </a:solidFill>
              <a:latin typeface="Arial"/>
              <a:ea typeface="Arial"/>
              <a:cs typeface="Arial"/>
              <a:sym typeface="Arial"/>
            </a:endParaRPr>
          </a:p>
        </p:txBody>
      </p:sp>
      <p:cxnSp>
        <p:nvCxnSpPr>
          <p:cNvPr id="138" name="Google Shape;138;p17"/>
          <p:cNvCxnSpPr/>
          <p:nvPr/>
        </p:nvCxnSpPr>
        <p:spPr>
          <a:xfrm>
            <a:off x="11995718" y="4500618"/>
            <a:ext cx="755095" cy="1300737"/>
          </a:xfrm>
          <a:prstGeom prst="straightConnector1">
            <a:avLst/>
          </a:prstGeom>
          <a:noFill/>
          <a:ln cap="rnd" cmpd="sng" w="38100">
            <a:solidFill>
              <a:srgbClr val="FFFF00"/>
            </a:solidFill>
            <a:prstDash val="solid"/>
            <a:miter lim="8000"/>
            <a:headEnd len="med" w="med" type="stealth"/>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10545756" y="1196478"/>
            <a:ext cx="5100737"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Prompt for File Name</a:t>
            </a:r>
            <a:endParaRPr/>
          </a:p>
        </p:txBody>
      </p:sp>
      <p:sp>
        <p:nvSpPr>
          <p:cNvPr id="144" name="Google Shape;144;p18"/>
          <p:cNvSpPr txBox="1"/>
          <p:nvPr/>
        </p:nvSpPr>
        <p:spPr>
          <a:xfrm>
            <a:off x="800975" y="773101"/>
            <a:ext cx="10186113" cy="33988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fname</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00FF"/>
                </a:solidFill>
                <a:latin typeface="Courier"/>
                <a:ea typeface="Courier"/>
                <a:cs typeface="Courier"/>
                <a:sym typeface="Courier"/>
              </a:rPr>
              <a:t>input</a:t>
            </a:r>
            <a:r>
              <a:rPr b="0" i="0" lang="en-US" sz="2400" u="none" cap="none" strike="noStrike">
                <a:solidFill>
                  <a:schemeClr val="lt1"/>
                </a:solidFill>
                <a:latin typeface="Courier"/>
                <a:ea typeface="Courier"/>
                <a:cs typeface="Courier"/>
                <a:sym typeface="Courier"/>
              </a:rPr>
              <a:t>('Enter the file name: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fhand</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00FF"/>
                </a:solidFill>
                <a:latin typeface="Courier"/>
                <a:ea typeface="Courier"/>
                <a:cs typeface="Courier"/>
                <a:sym typeface="Courier"/>
              </a:rPr>
              <a:t>open</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00FF00"/>
                </a:solidFill>
                <a:latin typeface="Courier"/>
                <a:ea typeface="Courier"/>
                <a:cs typeface="Courier"/>
                <a:sym typeface="Courier"/>
              </a:rPr>
              <a:t>fname</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count</a:t>
            </a:r>
            <a:r>
              <a:rPr b="0" i="0" lang="en-US" sz="2400" u="none" cap="none" strike="noStrike">
                <a:solidFill>
                  <a:schemeClr val="lt1"/>
                </a:solidFill>
                <a:latin typeface="Courier"/>
                <a:ea typeface="Courier"/>
                <a:cs typeface="Courier"/>
                <a:sym typeface="Courier"/>
              </a:rPr>
              <a:t>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for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fhand</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if</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rgbClr val="FF00FF"/>
                </a:solidFill>
                <a:latin typeface="Courier"/>
                <a:ea typeface="Courier"/>
                <a:cs typeface="Courier"/>
                <a:sym typeface="Courier"/>
              </a:rPr>
              <a:t>.startswith</a:t>
            </a:r>
            <a:r>
              <a:rPr b="0" i="0" lang="en-US" sz="2400" u="none" cap="none" strike="noStrike">
                <a:solidFill>
                  <a:schemeClr val="lt1"/>
                </a:solidFill>
                <a:latin typeface="Courier"/>
                <a:ea typeface="Courier"/>
                <a:cs typeface="Courier"/>
                <a:sym typeface="Courier"/>
              </a:rPr>
              <a:t>('Subject:')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count</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00FF00"/>
                </a:solidFill>
                <a:latin typeface="Courier"/>
                <a:ea typeface="Courier"/>
                <a:cs typeface="Courier"/>
                <a:sym typeface="Courier"/>
              </a:rPr>
              <a:t>count</a:t>
            </a:r>
            <a:r>
              <a:rPr b="0" i="0" lang="en-US" sz="2400" u="none" cap="none" strike="noStrike">
                <a:solidFill>
                  <a:schemeClr val="lt1"/>
                </a:solidFill>
                <a:latin typeface="Courier"/>
                <a:ea typeface="Courier"/>
                <a:cs typeface="Courier"/>
                <a:sym typeface="Courier"/>
              </a:rPr>
              <a:t>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('There were', </a:t>
            </a:r>
            <a:r>
              <a:rPr b="0" i="0" lang="en-US" sz="2400" u="none" cap="none" strike="noStrike">
                <a:solidFill>
                  <a:srgbClr val="00FF00"/>
                </a:solidFill>
                <a:latin typeface="Courier"/>
                <a:ea typeface="Courier"/>
                <a:cs typeface="Courier"/>
                <a:sym typeface="Courier"/>
              </a:rPr>
              <a:t>count</a:t>
            </a:r>
            <a:r>
              <a:rPr b="0" i="0" lang="en-US" sz="2400" u="none" cap="none" strike="noStrike">
                <a:solidFill>
                  <a:schemeClr val="lt1"/>
                </a:solidFill>
                <a:latin typeface="Courier"/>
                <a:ea typeface="Courier"/>
                <a:cs typeface="Courier"/>
                <a:sym typeface="Courier"/>
              </a:rPr>
              <a:t>, 'subject lines in', fname)</a:t>
            </a:r>
            <a:endParaRPr b="0" i="0" sz="2400" u="none" cap="none" strike="noStrike">
              <a:solidFill>
                <a:schemeClr val="lt1"/>
              </a:solidFill>
              <a:latin typeface="Courier"/>
              <a:ea typeface="Courier"/>
              <a:cs typeface="Courier"/>
              <a:sym typeface="Courier"/>
            </a:endParaRPr>
          </a:p>
        </p:txBody>
      </p:sp>
      <p:sp>
        <p:nvSpPr>
          <p:cNvPr id="145" name="Google Shape;145;p18"/>
          <p:cNvSpPr txBox="1"/>
          <p:nvPr/>
        </p:nvSpPr>
        <p:spPr>
          <a:xfrm>
            <a:off x="7059611" y="4843464"/>
            <a:ext cx="8643899" cy="305063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Enter the file name:  </a:t>
            </a:r>
            <a:r>
              <a:rPr b="0" i="0" lang="en-US" sz="3200" u="none" cap="none" strike="noStrike">
                <a:solidFill>
                  <a:srgbClr val="FFFF00"/>
                </a:solidFill>
                <a:latin typeface="Arial"/>
                <a:ea typeface="Arial"/>
                <a:cs typeface="Arial"/>
                <a:sym typeface="Arial"/>
              </a:rPr>
              <a:t>mbox.txt</a:t>
            </a:r>
            <a:endParaRPr b="0" i="0" sz="32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There were 1797 subject lines in mbox.txt</a:t>
            </a:r>
            <a:endParaRPr b="0" i="0" sz="3200" u="none" cap="none" strike="noStrike">
              <a:solidFill>
                <a:srgbClr val="FF00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Enter the file name: </a:t>
            </a:r>
            <a:r>
              <a:rPr b="0" i="0" lang="en-US" sz="3200" u="none" cap="none" strike="noStrike">
                <a:solidFill>
                  <a:srgbClr val="FFFF00"/>
                </a:solidFill>
                <a:latin typeface="Arial"/>
                <a:ea typeface="Arial"/>
                <a:cs typeface="Arial"/>
                <a:sym typeface="Arial"/>
              </a:rPr>
              <a:t>mbox-short.txt</a:t>
            </a:r>
            <a:endParaRPr b="0" i="0" sz="32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800"/>
              <a:buFont typeface="Cabin"/>
              <a:buNone/>
            </a:pPr>
            <a:r>
              <a:rPr b="0" i="0" lang="en-US" sz="3200" u="none" cap="none" strike="noStrike">
                <a:solidFill>
                  <a:srgbClr val="FF00FF"/>
                </a:solidFill>
                <a:latin typeface="Arial"/>
                <a:ea typeface="Arial"/>
                <a:cs typeface="Arial"/>
                <a:sym typeface="Arial"/>
              </a:rPr>
              <a:t>There were 27 subject lines in mbox-short.txt</a:t>
            </a:r>
            <a:endParaRPr b="0" i="0" sz="3200" u="none" cap="none" strike="noStrike">
              <a:solidFill>
                <a:srgbClr val="FF00FF"/>
              </a:solidFill>
              <a:latin typeface="Arial"/>
              <a:ea typeface="Arial"/>
              <a:cs typeface="Arial"/>
              <a:sym typeface="Arial"/>
            </a:endParaRPr>
          </a:p>
        </p:txBody>
      </p:sp>
      <p:cxnSp>
        <p:nvCxnSpPr>
          <p:cNvPr id="146" name="Google Shape;146;p18"/>
          <p:cNvCxnSpPr/>
          <p:nvPr/>
        </p:nvCxnSpPr>
        <p:spPr>
          <a:xfrm>
            <a:off x="8061023" y="1465955"/>
            <a:ext cx="1744675" cy="414224"/>
          </a:xfrm>
          <a:prstGeom prst="straightConnector1">
            <a:avLst/>
          </a:prstGeom>
          <a:noFill/>
          <a:ln cap="rnd" cmpd="sng" w="38100">
            <a:solidFill>
              <a:srgbClr val="FFFF00"/>
            </a:solidFill>
            <a:prstDash val="solid"/>
            <a:miter lim="8000"/>
            <a:headEnd len="med" w="med" type="stealth"/>
            <a:tailEnd len="sm" w="sm" type="none"/>
          </a:ln>
        </p:spPr>
      </p:cxnSp>
      <p:cxnSp>
        <p:nvCxnSpPr>
          <p:cNvPr id="147" name="Google Shape;147;p18"/>
          <p:cNvCxnSpPr/>
          <p:nvPr/>
        </p:nvCxnSpPr>
        <p:spPr>
          <a:xfrm flipH="1" rot="10800000">
            <a:off x="12752869" y="4507764"/>
            <a:ext cx="1065300" cy="671400"/>
          </a:xfrm>
          <a:prstGeom prst="straightConnector1">
            <a:avLst/>
          </a:prstGeom>
          <a:noFill/>
          <a:ln cap="rnd" cmpd="sng" w="38100">
            <a:solidFill>
              <a:srgbClr val="FFFF00"/>
            </a:solidFill>
            <a:prstDash val="solid"/>
            <a:miter lim="8000"/>
            <a:headEnd len="med" w="med" type="stealth"/>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9"/>
          <p:cNvSpPr txBox="1"/>
          <p:nvPr>
            <p:ph type="title"/>
          </p:nvPr>
        </p:nvSpPr>
        <p:spPr>
          <a:xfrm>
            <a:off x="1112837" y="1661246"/>
            <a:ext cx="3687763"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Bad File Names</a:t>
            </a:r>
            <a:endParaRPr/>
          </a:p>
        </p:txBody>
      </p:sp>
      <p:sp>
        <p:nvSpPr>
          <p:cNvPr id="153" name="Google Shape;153;p19"/>
          <p:cNvSpPr txBox="1"/>
          <p:nvPr/>
        </p:nvSpPr>
        <p:spPr>
          <a:xfrm>
            <a:off x="5580938" y="887400"/>
            <a:ext cx="10205700" cy="4735800"/>
          </a:xfrm>
          <a:prstGeom prst="rect">
            <a:avLst/>
          </a:prstGeom>
          <a:noFill/>
          <a:ln cap="rnd" cmpd="sng" w="12700">
            <a:solidFill>
              <a:schemeClr val="lt1"/>
            </a:solidFill>
            <a:prstDash val="solid"/>
            <a:miter lim="8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  fname</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00FF"/>
                </a:solidFill>
                <a:latin typeface="Courier"/>
                <a:ea typeface="Courier"/>
                <a:cs typeface="Courier"/>
                <a:sym typeface="Courier"/>
              </a:rPr>
              <a:t>input</a:t>
            </a:r>
            <a:r>
              <a:rPr b="0" i="0" lang="en-US" sz="2400" u="none" cap="none" strike="noStrike">
                <a:solidFill>
                  <a:schemeClr val="lt1"/>
                </a:solidFill>
                <a:latin typeface="Courier"/>
                <a:ea typeface="Courier"/>
                <a:cs typeface="Courier"/>
                <a:sym typeface="Courier"/>
              </a:rPr>
              <a:t>('Enter the file name: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try</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fhand</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FF00FF"/>
                </a:solidFill>
                <a:latin typeface="Courier"/>
                <a:ea typeface="Courier"/>
                <a:cs typeface="Courier"/>
                <a:sym typeface="Courier"/>
              </a:rPr>
              <a:t>open</a:t>
            </a:r>
            <a:r>
              <a:rPr b="0" i="0" lang="en-US" sz="2400" u="none" cap="none" strike="noStrike">
                <a:solidFill>
                  <a:schemeClr val="lt1"/>
                </a:solidFill>
                <a:latin typeface="Courier"/>
                <a:ea typeface="Courier"/>
                <a:cs typeface="Courier"/>
                <a:sym typeface="Courier"/>
              </a:rPr>
              <a:t>(</a:t>
            </a:r>
            <a:r>
              <a:rPr b="0" i="0" lang="en-US" sz="2400" u="none" cap="none" strike="noStrike">
                <a:solidFill>
                  <a:srgbClr val="00FF00"/>
                </a:solidFill>
                <a:latin typeface="Courier"/>
                <a:ea typeface="Courier"/>
                <a:cs typeface="Courier"/>
                <a:sym typeface="Courier"/>
              </a:rPr>
              <a:t>fname</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except</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ourier"/>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print</a:t>
            </a:r>
            <a:r>
              <a:rPr b="0" i="0" lang="en-US" sz="2400" u="none" cap="none" strike="noStrike">
                <a:solidFill>
                  <a:schemeClr val="lt1"/>
                </a:solidFill>
                <a:latin typeface="Courier"/>
                <a:ea typeface="Courier"/>
                <a:cs typeface="Courier"/>
                <a:sym typeface="Courier"/>
              </a:rPr>
              <a:t>('File cannot be opened:', </a:t>
            </a:r>
            <a:r>
              <a:rPr b="0" i="0" lang="en-US" sz="2400" u="none" cap="none" strike="noStrike">
                <a:solidFill>
                  <a:srgbClr val="00FF00"/>
                </a:solidFill>
                <a:latin typeface="Courier"/>
                <a:ea typeface="Courier"/>
                <a:cs typeface="Courier"/>
                <a:sym typeface="Courier"/>
              </a:rPr>
              <a:t>fname</a:t>
            </a:r>
            <a:r>
              <a:rPr b="0" i="0" lang="en-US" sz="2400" u="none" cap="none" strike="noStrike">
                <a:solidFill>
                  <a:schemeClr val="lt1"/>
                </a:solidFill>
                <a:latin typeface="Courier"/>
                <a:ea typeface="Courier"/>
                <a:cs typeface="Courier"/>
                <a:sym typeface="Courier"/>
              </a:rPr>
              <a:t>)</a:t>
            </a:r>
            <a:endParaRPr b="0" i="0" sz="24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00FF"/>
                </a:solidFill>
                <a:latin typeface="Courier"/>
                <a:ea typeface="Courier"/>
                <a:cs typeface="Courier"/>
                <a:sym typeface="Courier"/>
              </a:rPr>
              <a:t>exit</a:t>
            </a:r>
            <a:r>
              <a:rPr b="0" i="0" lang="en-US" sz="2400" u="none" cap="none" strike="noStrike">
                <a:solidFill>
                  <a:schemeClr val="lt1"/>
                </a:solidFill>
                <a:latin typeface="Courier"/>
                <a:ea typeface="Courier"/>
                <a:cs typeface="Courier"/>
                <a:sym typeface="Courier"/>
              </a:rPr>
              <a: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400"/>
              <a:buFont typeface="Cabin"/>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600"/>
              <a:buFont typeface="Cabin"/>
              <a:buNone/>
            </a:pPr>
            <a:r>
              <a:rPr b="0" i="0" lang="en-US" sz="2400" u="none" cap="none" strike="noStrike">
                <a:solidFill>
                  <a:srgbClr val="00FF00"/>
                </a:solidFill>
                <a:latin typeface="Courier"/>
                <a:ea typeface="Courier"/>
                <a:cs typeface="Courier"/>
                <a:sym typeface="Courier"/>
              </a:rPr>
              <a:t>  count</a:t>
            </a:r>
            <a:r>
              <a:rPr b="0" i="0" lang="en-US" sz="2400" u="none" cap="none" strike="noStrike">
                <a:solidFill>
                  <a:schemeClr val="lt1"/>
                </a:solidFill>
                <a:latin typeface="Courier"/>
                <a:ea typeface="Courier"/>
                <a:cs typeface="Courier"/>
                <a:sym typeface="Courier"/>
              </a:rPr>
              <a:t>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abin"/>
              <a:buNone/>
            </a:pPr>
            <a:r>
              <a:rPr b="0" i="0" lang="en-US" sz="2400" u="none" cap="none" strike="noStrike">
                <a:solidFill>
                  <a:srgbClr val="FFFF00"/>
                </a:solidFill>
                <a:latin typeface="Courier"/>
                <a:ea typeface="Courier"/>
                <a:cs typeface="Courier"/>
                <a:sym typeface="Courier"/>
              </a:rPr>
              <a:t>  for</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in</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fhand</a:t>
            </a:r>
            <a:r>
              <a:rPr b="0" i="0" lang="en-US" sz="2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FFFF00"/>
                </a:solidFill>
                <a:latin typeface="Courier"/>
                <a:ea typeface="Courier"/>
                <a:cs typeface="Courier"/>
                <a:sym typeface="Courier"/>
              </a:rPr>
              <a:t>if</a:t>
            </a: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line</a:t>
            </a:r>
            <a:r>
              <a:rPr b="0" i="0" lang="en-US" sz="2400" u="none" cap="none" strike="noStrike">
                <a:solidFill>
                  <a:srgbClr val="FF00FF"/>
                </a:solidFill>
                <a:latin typeface="Courier"/>
                <a:ea typeface="Courier"/>
                <a:cs typeface="Courier"/>
                <a:sym typeface="Courier"/>
              </a:rPr>
              <a:t>.startswith</a:t>
            </a:r>
            <a:r>
              <a:rPr b="0" i="0" lang="en-US" sz="2400" u="none" cap="none" strike="noStrike">
                <a:solidFill>
                  <a:schemeClr val="lt1"/>
                </a:solidFill>
                <a:latin typeface="Courier"/>
                <a:ea typeface="Courier"/>
                <a:cs typeface="Courier"/>
                <a:sym typeface="Courier"/>
              </a:rPr>
              <a:t>('Subject:')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600"/>
              <a:buFont typeface="Cabin"/>
              <a:buNone/>
            </a:pPr>
            <a:r>
              <a:rPr b="0" i="0" lang="en-US" sz="2400" u="none" cap="none" strike="noStrike">
                <a:solidFill>
                  <a:schemeClr val="lt1"/>
                </a:solidFill>
                <a:latin typeface="Courier"/>
                <a:ea typeface="Courier"/>
                <a:cs typeface="Courier"/>
                <a:sym typeface="Courier"/>
              </a:rPr>
              <a:t>          </a:t>
            </a:r>
            <a:r>
              <a:rPr b="0" i="0" lang="en-US" sz="2400" u="none" cap="none" strike="noStrike">
                <a:solidFill>
                  <a:srgbClr val="00FF00"/>
                </a:solidFill>
                <a:latin typeface="Courier"/>
                <a:ea typeface="Courier"/>
                <a:cs typeface="Courier"/>
                <a:sym typeface="Courier"/>
              </a:rPr>
              <a:t>count</a:t>
            </a:r>
            <a:r>
              <a:rPr b="0" i="0" lang="en-US" sz="2400" u="none" cap="none" strike="noStrike">
                <a:solidFill>
                  <a:schemeClr val="lt1"/>
                </a:solidFill>
                <a:latin typeface="Courier"/>
                <a:ea typeface="Courier"/>
                <a:cs typeface="Courier"/>
                <a:sym typeface="Courier"/>
              </a:rPr>
              <a:t> = </a:t>
            </a:r>
            <a:r>
              <a:rPr b="0" i="0" lang="en-US" sz="2400" u="none" cap="none" strike="noStrike">
                <a:solidFill>
                  <a:srgbClr val="00FF00"/>
                </a:solidFill>
                <a:latin typeface="Courier"/>
                <a:ea typeface="Courier"/>
                <a:cs typeface="Courier"/>
                <a:sym typeface="Courier"/>
              </a:rPr>
              <a:t>count</a:t>
            </a:r>
            <a:r>
              <a:rPr b="0" i="0" lang="en-US" sz="2400" u="none" cap="none" strike="noStrike">
                <a:solidFill>
                  <a:schemeClr val="lt1"/>
                </a:solidFill>
                <a:latin typeface="Courier"/>
                <a:ea typeface="Courier"/>
                <a:cs typeface="Courier"/>
                <a:sym typeface="Courier"/>
              </a:rPr>
              <a:t>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600"/>
              <a:buFont typeface="Courier"/>
              <a:buNone/>
            </a:pPr>
            <a:r>
              <a:rPr b="0" i="0" lang="en-US" sz="2400" u="none" cap="none" strike="noStrike">
                <a:solidFill>
                  <a:srgbClr val="FFFF00"/>
                </a:solidFill>
                <a:latin typeface="Courier"/>
                <a:ea typeface="Courier"/>
                <a:cs typeface="Courier"/>
                <a:sym typeface="Courier"/>
              </a:rPr>
              <a:t>  print</a:t>
            </a:r>
            <a:r>
              <a:rPr b="0" i="0" lang="en-US" sz="2400" u="none" cap="none" strike="noStrike">
                <a:solidFill>
                  <a:schemeClr val="lt1"/>
                </a:solidFill>
                <a:latin typeface="Courier"/>
                <a:ea typeface="Courier"/>
                <a:cs typeface="Courier"/>
                <a:sym typeface="Courier"/>
              </a:rPr>
              <a:t>('There were', </a:t>
            </a:r>
            <a:r>
              <a:rPr b="0" i="0" lang="en-US" sz="2400" u="none" cap="none" strike="noStrike">
                <a:solidFill>
                  <a:srgbClr val="00FF00"/>
                </a:solidFill>
                <a:latin typeface="Courier"/>
                <a:ea typeface="Courier"/>
                <a:cs typeface="Courier"/>
                <a:sym typeface="Courier"/>
              </a:rPr>
              <a:t>count</a:t>
            </a:r>
            <a:r>
              <a:rPr b="0" i="0" lang="en-US" sz="2400" u="none" cap="none" strike="noStrike">
                <a:solidFill>
                  <a:schemeClr val="lt1"/>
                </a:solidFill>
                <a:latin typeface="Courier"/>
                <a:ea typeface="Courier"/>
                <a:cs typeface="Courier"/>
                <a:sym typeface="Courier"/>
              </a:rPr>
              <a:t>, 'subject lines in', fname)</a:t>
            </a:r>
            <a:endParaRPr b="0" i="0" sz="2400" u="none" cap="none" strike="noStrike">
              <a:solidFill>
                <a:schemeClr val="lt1"/>
              </a:solidFill>
              <a:latin typeface="Courier"/>
              <a:ea typeface="Courier"/>
              <a:cs typeface="Courier"/>
              <a:sym typeface="Courier"/>
            </a:endParaRPr>
          </a:p>
        </p:txBody>
      </p:sp>
      <p:sp>
        <p:nvSpPr>
          <p:cNvPr id="154" name="Google Shape;154;p19"/>
          <p:cNvSpPr txBox="1"/>
          <p:nvPr/>
        </p:nvSpPr>
        <p:spPr>
          <a:xfrm>
            <a:off x="633014" y="5988297"/>
            <a:ext cx="7502399" cy="2616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700"/>
              <a:buFont typeface="Cabin"/>
              <a:buNone/>
            </a:pPr>
            <a:r>
              <a:rPr b="0" i="0" lang="en-US" sz="2800" u="none" cap="none" strike="noStrike">
                <a:solidFill>
                  <a:srgbClr val="FF00FF"/>
                </a:solidFill>
                <a:latin typeface="Arial"/>
                <a:ea typeface="Arial"/>
                <a:cs typeface="Arial"/>
                <a:sym typeface="Arial"/>
              </a:rPr>
              <a:t>Enter the file name: </a:t>
            </a:r>
            <a:r>
              <a:rPr b="0" i="0" lang="en-US" sz="2800" u="none" cap="none" strike="noStrike">
                <a:solidFill>
                  <a:srgbClr val="FFFF00"/>
                </a:solidFill>
                <a:latin typeface="Arial"/>
                <a:ea typeface="Arial"/>
                <a:cs typeface="Arial"/>
                <a:sym typeface="Arial"/>
              </a:rPr>
              <a:t>mbox.txt</a:t>
            </a:r>
            <a:endParaRPr b="0" i="0" sz="2800" u="none" cap="none" strike="noStrike">
              <a:solidFill>
                <a:srgbClr val="FFFF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00"/>
              <a:buFont typeface="Cabin"/>
              <a:buNone/>
            </a:pPr>
            <a:r>
              <a:rPr b="0" i="0" lang="en-US" sz="2800" u="none" cap="none" strike="noStrike">
                <a:solidFill>
                  <a:srgbClr val="FF00FF"/>
                </a:solidFill>
                <a:latin typeface="Arial"/>
                <a:ea typeface="Arial"/>
                <a:cs typeface="Arial"/>
                <a:sym typeface="Arial"/>
              </a:rPr>
              <a:t>There were 1797 subject lines in mbox.txt</a:t>
            </a:r>
            <a:endParaRPr b="0" i="0" sz="2800" u="none" cap="none" strike="noStrike">
              <a:solidFill>
                <a:srgbClr val="FF00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FF00FF"/>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00"/>
              <a:buFont typeface="Cabin"/>
              <a:buNone/>
            </a:pPr>
            <a:r>
              <a:rPr b="0" i="0" lang="en-US" sz="2800" u="none" cap="none" strike="noStrike">
                <a:solidFill>
                  <a:srgbClr val="FF00FF"/>
                </a:solidFill>
                <a:latin typeface="Arial"/>
                <a:ea typeface="Arial"/>
                <a:cs typeface="Arial"/>
                <a:sym typeface="Arial"/>
              </a:rPr>
              <a:t>Enter the file name: </a:t>
            </a:r>
            <a:r>
              <a:rPr b="0" i="0" lang="en-US" sz="2800" u="none" cap="none" strike="noStrike">
                <a:solidFill>
                  <a:srgbClr val="FFFF00"/>
                </a:solidFill>
                <a:latin typeface="Arial"/>
                <a:ea typeface="Arial"/>
                <a:cs typeface="Arial"/>
                <a:sym typeface="Arial"/>
              </a:rPr>
              <a:t>na na boo boo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FF"/>
              </a:buClr>
              <a:buSzPts val="700"/>
              <a:buFont typeface="Cabin"/>
              <a:buNone/>
            </a:pPr>
            <a:r>
              <a:rPr b="0" i="0" lang="en-US" sz="2800" u="none" cap="none" strike="noStrike">
                <a:solidFill>
                  <a:srgbClr val="FF00FF"/>
                </a:solidFill>
                <a:latin typeface="Arial"/>
                <a:ea typeface="Arial"/>
                <a:cs typeface="Arial"/>
                <a:sym typeface="Arial"/>
              </a:rPr>
              <a:t>File cannot be opened: na na boo boo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1155700" y="789708"/>
            <a:ext cx="13642975"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Summary</a:t>
            </a:r>
            <a:endParaRPr/>
          </a:p>
        </p:txBody>
      </p:sp>
      <p:sp>
        <p:nvSpPr>
          <p:cNvPr id="160" name="Google Shape;160;p20"/>
          <p:cNvSpPr txBox="1"/>
          <p:nvPr>
            <p:ph idx="1" type="body"/>
          </p:nvPr>
        </p:nvSpPr>
        <p:spPr>
          <a:xfrm>
            <a:off x="1155700" y="2603500"/>
            <a:ext cx="13932000" cy="5702399"/>
          </a:xfrm>
          <a:prstGeom prst="rect">
            <a:avLst/>
          </a:prstGeom>
          <a:noFill/>
          <a:ln>
            <a:noFill/>
          </a:ln>
        </p:spPr>
        <p:txBody>
          <a:bodyPr anchorCtr="0" anchor="t" bIns="38100" lIns="38100" spcFirstLastPara="1" rIns="38100" wrap="square" tIns="38100">
            <a:noAutofit/>
          </a:bodyPr>
          <a:lstStyle/>
          <a:p>
            <a:pPr indent="-394461" lvl="0" marL="6858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Opening a file - file handle</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File structure - newline character</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Reading a file line</a:t>
            </a:r>
            <a:r>
              <a:rPr lang="en-US" sz="3600">
                <a:solidFill>
                  <a:schemeClr val="lt1"/>
                </a:solidFill>
                <a:latin typeface="Arial"/>
                <a:ea typeface="Arial"/>
                <a:cs typeface="Arial"/>
                <a:sym typeface="Arial"/>
              </a:rPr>
              <a:t> </a:t>
            </a:r>
            <a:r>
              <a:rPr lang="en-US" sz="3600" u="none" cap="none" strike="noStrike">
                <a:solidFill>
                  <a:schemeClr val="lt1"/>
                </a:solidFill>
                <a:latin typeface="Arial"/>
                <a:ea typeface="Arial"/>
                <a:cs typeface="Arial"/>
                <a:sym typeface="Arial"/>
              </a:rPr>
              <a:t>by</a:t>
            </a:r>
            <a:r>
              <a:rPr lang="en-US" sz="3600">
                <a:solidFill>
                  <a:schemeClr val="lt1"/>
                </a:solidFill>
                <a:latin typeface="Arial"/>
                <a:ea typeface="Arial"/>
                <a:cs typeface="Arial"/>
                <a:sym typeface="Arial"/>
              </a:rPr>
              <a:t> </a:t>
            </a:r>
            <a:r>
              <a:rPr lang="en-US" sz="3600" u="none" cap="none" strike="noStrike">
                <a:solidFill>
                  <a:schemeClr val="lt1"/>
                </a:solidFill>
                <a:latin typeface="Arial"/>
                <a:ea typeface="Arial"/>
                <a:cs typeface="Arial"/>
                <a:sym typeface="Arial"/>
              </a:rPr>
              <a:t>line with a </a:t>
            </a:r>
            <a:br>
              <a:rPr lang="en-US" sz="3600" u="none" cap="none" strike="noStrike">
                <a:solidFill>
                  <a:schemeClr val="lt1"/>
                </a:solidFill>
                <a:latin typeface="Arial"/>
                <a:ea typeface="Arial"/>
                <a:cs typeface="Arial"/>
                <a:sym typeface="Arial"/>
              </a:rPr>
            </a:br>
            <a:r>
              <a:rPr lang="en-US" sz="3600" u="none" cap="none" strike="noStrike">
                <a:solidFill>
                  <a:schemeClr val="lt1"/>
                </a:solidFill>
                <a:latin typeface="Arial"/>
                <a:ea typeface="Arial"/>
                <a:cs typeface="Arial"/>
                <a:sym typeface="Arial"/>
              </a:rPr>
              <a:t>for loop</a:t>
            </a:r>
            <a:endParaRPr/>
          </a:p>
        </p:txBody>
      </p:sp>
      <p:sp>
        <p:nvSpPr>
          <p:cNvPr id="161" name="Google Shape;161;p20"/>
          <p:cNvSpPr txBox="1"/>
          <p:nvPr>
            <p:ph idx="4294967295" type="body"/>
          </p:nvPr>
        </p:nvSpPr>
        <p:spPr>
          <a:xfrm>
            <a:off x="9529763" y="2603500"/>
            <a:ext cx="5268912" cy="4133850"/>
          </a:xfrm>
          <a:prstGeom prst="rect">
            <a:avLst/>
          </a:prstGeom>
          <a:noFill/>
          <a:ln>
            <a:noFill/>
          </a:ln>
        </p:spPr>
        <p:txBody>
          <a:bodyPr anchorCtr="0" anchor="t" bIns="38100" lIns="38100" spcFirstLastPara="1" rIns="38100" wrap="square" tIns="38100">
            <a:noAutofit/>
          </a:bodyPr>
          <a:lstStyle/>
          <a:p>
            <a:pPr indent="-394461" lvl="0" marL="6858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Searching for lines</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Reading file names</a:t>
            </a:r>
            <a:endParaRPr/>
          </a:p>
          <a:p>
            <a:pPr indent="-394461" lvl="0" marL="685800" marR="0" rtl="0" algn="l">
              <a:lnSpc>
                <a:spcPct val="100000"/>
              </a:lnSpc>
              <a:spcBef>
                <a:spcPts val="35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Dealing with bad files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1"/>
          <p:cNvSpPr txBox="1"/>
          <p:nvPr>
            <p:ph type="title"/>
          </p:nvPr>
        </p:nvSpPr>
        <p:spPr>
          <a:xfrm>
            <a:off x="1155700" y="789708"/>
            <a:ext cx="13932000" cy="1750191"/>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FF00"/>
              </a:buClr>
              <a:buSzPts val="3600"/>
              <a:buFont typeface="Arial"/>
              <a:buNone/>
            </a:pPr>
            <a:r>
              <a:rPr lang="en-US" sz="3600">
                <a:solidFill>
                  <a:srgbClr val="FFFF00"/>
                </a:solidFill>
              </a:rPr>
              <a:t>Acknowledgements / Contributions</a:t>
            </a:r>
            <a:endParaRPr/>
          </a:p>
        </p:txBody>
      </p:sp>
      <p:sp>
        <p:nvSpPr>
          <p:cNvPr id="167" name="Google Shape;167;p21"/>
          <p:cNvSpPr txBox="1"/>
          <p:nvPr/>
        </p:nvSpPr>
        <p:spPr>
          <a:xfrm>
            <a:off x="1324001" y="2128838"/>
            <a:ext cx="6797699" cy="598646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These slides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a:t>
            </a:r>
            <a:r>
              <a:rPr b="0" i="0" lang="en-US" sz="1800" u="sng" cap="none" strike="noStrike">
                <a:solidFill>
                  <a:srgbClr val="FFFF00"/>
                </a:solidFill>
                <a:latin typeface="Arial"/>
                <a:ea typeface="Arial"/>
                <a:cs typeface="Arial"/>
                <a:sym typeface="Arial"/>
                <a:hlinkClick r:id="rId4">
                  <a:extLst>
                    <a:ext uri="{A12FA001-AC4F-418D-AE19-62706E023703}">
                      <ahyp:hlinkClr val="tx"/>
                    </a:ext>
                  </a:extLst>
                </a:hlinkClick>
              </a:rPr>
              <a:t>open.umich.edu</a:t>
            </a:r>
            <a:r>
              <a:rPr b="0" i="0" lang="en-US" sz="1800" u="none" cap="none" strike="noStrike">
                <a:solidFill>
                  <a:srgbClr val="FFFFFF"/>
                </a:solidFill>
                <a:latin typeface="Arial"/>
                <a:ea typeface="Arial"/>
                <a:cs typeface="Arial"/>
                <a:sym typeface="Aria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Insert new Contributors and Translators here</a:t>
            </a:r>
            <a:endParaRPr b="0" i="0" sz="1400" u="none" cap="none" strike="noStrike">
              <a:solidFill>
                <a:srgbClr val="000000"/>
              </a:solidFill>
              <a:latin typeface="Arial"/>
              <a:ea typeface="Arial"/>
              <a:cs typeface="Arial"/>
              <a:sym typeface="Arial"/>
            </a:endParaRPr>
          </a:p>
        </p:txBody>
      </p:sp>
      <p:pic>
        <p:nvPicPr>
          <p:cNvPr id="168" name="Google Shape;168;p21"/>
          <p:cNvPicPr preferRelativeResize="0"/>
          <p:nvPr/>
        </p:nvPicPr>
        <p:blipFill rotWithShape="1">
          <a:blip r:embed="rId5">
            <a:alphaModFix/>
          </a:blip>
          <a:srcRect b="0" l="0" r="0" t="0"/>
          <a:stretch/>
        </p:blipFill>
        <p:spPr>
          <a:xfrm>
            <a:off x="437900" y="977621"/>
            <a:ext cx="1024800" cy="1024800"/>
          </a:xfrm>
          <a:prstGeom prst="rect">
            <a:avLst/>
          </a:prstGeom>
          <a:noFill/>
          <a:ln>
            <a:noFill/>
          </a:ln>
        </p:spPr>
      </p:pic>
      <p:pic>
        <p:nvPicPr>
          <p:cNvPr id="169" name="Google Shape;169;p21"/>
          <p:cNvPicPr preferRelativeResize="0"/>
          <p:nvPr/>
        </p:nvPicPr>
        <p:blipFill rotWithShape="1">
          <a:blip r:embed="rId6">
            <a:alphaModFix/>
          </a:blip>
          <a:srcRect b="0" l="0" r="0" t="0"/>
          <a:stretch/>
        </p:blipFill>
        <p:spPr>
          <a:xfrm>
            <a:off x="13897688" y="1155821"/>
            <a:ext cx="1968599" cy="668400"/>
          </a:xfrm>
          <a:prstGeom prst="rect">
            <a:avLst/>
          </a:prstGeom>
          <a:noFill/>
          <a:ln>
            <a:noFill/>
          </a:ln>
        </p:spPr>
      </p:pic>
      <p:sp>
        <p:nvSpPr>
          <p:cNvPr id="170" name="Google Shape;170;p21"/>
          <p:cNvSpPr txBox="1"/>
          <p:nvPr/>
        </p:nvSpPr>
        <p:spPr>
          <a:xfrm>
            <a:off x="8704400" y="2190334"/>
            <a:ext cx="6797699" cy="5924966"/>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