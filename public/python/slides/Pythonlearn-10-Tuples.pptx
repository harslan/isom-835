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2"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Lst>
  <p:sldSz cy="9144000" cx="16256000"/>
  <p:notesSz cx="6858000" cy="9144000"/>
  <p:embeddedFontLst>
    <p:embeddedFont>
      <p:font typeface="Gill Sans"/>
      <p:regular r:id="rId20"/>
      <p:bold r:id="rId2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880">
          <p15:clr>
            <a:srgbClr val="A4A3A4"/>
          </p15:clr>
        </p15:guide>
        <p15:guide id="2" pos="512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880" orient="horz"/>
        <p:guide pos="512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GillSans-regular.fntdata"/><Relationship Id="rId11" Type="http://schemas.openxmlformats.org/officeDocument/2006/relationships/slide" Target="slides/slide6.xml"/><Relationship Id="rId10" Type="http://schemas.openxmlformats.org/officeDocument/2006/relationships/slide" Target="slides/slide5.xml"/><Relationship Id="rId21" Type="http://schemas.openxmlformats.org/officeDocument/2006/relationships/font" Target="fonts/GillSans-bold.fntdata"/><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slide" Target="slides/slide14.xml"/><Relationship Id="rId6" Type="http://schemas.openxmlformats.org/officeDocument/2006/relationships/slide" Target="slides/slide1.xml"/><Relationship Id="rId18" Type="http://schemas.openxmlformats.org/officeDocument/2006/relationships/slide" Target="slides/slide13.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399" cy="4114800"/>
          </a:xfrm>
          <a:prstGeom prst="rect">
            <a:avLst/>
          </a:prstGeom>
          <a:noFill/>
          <a:ln>
            <a:noFill/>
          </a:ln>
        </p:spPr>
        <p:txBody>
          <a:bodyPr anchorCtr="0" anchor="t" bIns="91425" lIns="91425" spcFirstLastPara="1" rIns="91425" wrap="square" tIns="91425">
            <a:noAutofit/>
          </a:bodyPr>
          <a:lstStyle>
            <a:lvl1pPr indent="-228600" lvl="0" marL="457200" marR="0" rtl="0" algn="l">
              <a:spcBef>
                <a:spcPts val="0"/>
              </a:spcBef>
              <a:spcAft>
                <a:spcPts val="0"/>
              </a:spcAft>
              <a:buClr>
                <a:schemeClr val="dk1"/>
              </a:buClr>
              <a:buSzPts val="1100"/>
              <a:buFont typeface="Arial"/>
              <a:buNone/>
              <a:defRPr b="0" i="0" sz="1100" u="none" cap="none" strike="noStrike">
                <a:solidFill>
                  <a:schemeClr val="dk1"/>
                </a:solidFill>
                <a:latin typeface="Arial"/>
                <a:ea typeface="Arial"/>
                <a:cs typeface="Arial"/>
                <a:sym typeface="Arial"/>
              </a:defRPr>
            </a:lvl1pPr>
            <a:lvl2pPr indent="-228600" lvl="1" marL="914400" marR="0" rtl="0" algn="l">
              <a:spcBef>
                <a:spcPts val="0"/>
              </a:spcBef>
              <a:spcAft>
                <a:spcPts val="0"/>
              </a:spcAft>
              <a:buClr>
                <a:schemeClr val="dk1"/>
              </a:buClr>
              <a:buSzPts val="1100"/>
              <a:buFont typeface="Arial"/>
              <a:buNone/>
              <a:defRPr b="0" i="0" sz="1100" u="none" cap="none" strike="noStrike">
                <a:solidFill>
                  <a:schemeClr val="dk1"/>
                </a:solidFill>
                <a:latin typeface="Arial"/>
                <a:ea typeface="Arial"/>
                <a:cs typeface="Arial"/>
                <a:sym typeface="Arial"/>
              </a:defRPr>
            </a:lvl2pPr>
            <a:lvl3pPr indent="-228600" lvl="2" marL="1371600" marR="0" rtl="0" algn="l">
              <a:spcBef>
                <a:spcPts val="0"/>
              </a:spcBef>
              <a:spcAft>
                <a:spcPts val="0"/>
              </a:spcAft>
              <a:buClr>
                <a:schemeClr val="dk1"/>
              </a:buClr>
              <a:buSzPts val="1100"/>
              <a:buFont typeface="Arial"/>
              <a:buNone/>
              <a:defRPr b="0" i="0" sz="1100" u="none" cap="none" strike="noStrike">
                <a:solidFill>
                  <a:schemeClr val="dk1"/>
                </a:solidFill>
                <a:latin typeface="Arial"/>
                <a:ea typeface="Arial"/>
                <a:cs typeface="Arial"/>
                <a:sym typeface="Arial"/>
              </a:defRPr>
            </a:lvl3pPr>
            <a:lvl4pPr indent="-228600" lvl="3" marL="1828800" marR="0" rtl="0" algn="l">
              <a:spcBef>
                <a:spcPts val="0"/>
              </a:spcBef>
              <a:spcAft>
                <a:spcPts val="0"/>
              </a:spcAft>
              <a:buClr>
                <a:schemeClr val="dk1"/>
              </a:buClr>
              <a:buSzPts val="1100"/>
              <a:buFont typeface="Arial"/>
              <a:buNone/>
              <a:defRPr b="0" i="0" sz="1100" u="none" cap="none" strike="noStrike">
                <a:solidFill>
                  <a:schemeClr val="dk1"/>
                </a:solidFill>
                <a:latin typeface="Arial"/>
                <a:ea typeface="Arial"/>
                <a:cs typeface="Arial"/>
                <a:sym typeface="Arial"/>
              </a:defRPr>
            </a:lvl4pPr>
            <a:lvl5pPr indent="-228600" lvl="4" marL="2286000" marR="0" rtl="0" algn="l">
              <a:spcBef>
                <a:spcPts val="0"/>
              </a:spcBef>
              <a:spcAft>
                <a:spcPts val="0"/>
              </a:spcAft>
              <a:buClr>
                <a:schemeClr val="dk1"/>
              </a:buClr>
              <a:buSzPts val="1100"/>
              <a:buFont typeface="Arial"/>
              <a:buNone/>
              <a:defRPr b="0" i="0" sz="1100" u="none" cap="none" strike="noStrike">
                <a:solidFill>
                  <a:schemeClr val="dk1"/>
                </a:solidFill>
                <a:latin typeface="Arial"/>
                <a:ea typeface="Arial"/>
                <a:cs typeface="Arial"/>
                <a:sym typeface="Arial"/>
              </a:defRPr>
            </a:lvl5pPr>
            <a:lvl6pPr indent="-228600" lvl="5" marL="2743200" marR="0" rtl="0" algn="l">
              <a:spcBef>
                <a:spcPts val="0"/>
              </a:spcBef>
              <a:spcAft>
                <a:spcPts val="0"/>
              </a:spcAft>
              <a:buClr>
                <a:schemeClr val="dk1"/>
              </a:buClr>
              <a:buSzPts val="1100"/>
              <a:buFont typeface="Arial"/>
              <a:buNone/>
              <a:defRPr b="0" i="0" sz="1100" u="none" cap="none" strike="noStrike">
                <a:solidFill>
                  <a:schemeClr val="dk1"/>
                </a:solidFill>
                <a:latin typeface="Arial"/>
                <a:ea typeface="Arial"/>
                <a:cs typeface="Arial"/>
                <a:sym typeface="Arial"/>
              </a:defRPr>
            </a:lvl6pPr>
            <a:lvl7pPr indent="-228600" lvl="6" marL="3200400" marR="0" rtl="0" algn="l">
              <a:spcBef>
                <a:spcPts val="0"/>
              </a:spcBef>
              <a:spcAft>
                <a:spcPts val="0"/>
              </a:spcAft>
              <a:buClr>
                <a:schemeClr val="dk1"/>
              </a:buClr>
              <a:buSzPts val="1100"/>
              <a:buFont typeface="Arial"/>
              <a:buNone/>
              <a:defRPr b="0" i="0" sz="1100" u="none" cap="none" strike="noStrike">
                <a:solidFill>
                  <a:schemeClr val="dk1"/>
                </a:solidFill>
                <a:latin typeface="Arial"/>
                <a:ea typeface="Arial"/>
                <a:cs typeface="Arial"/>
                <a:sym typeface="Arial"/>
              </a:defRPr>
            </a:lvl7pPr>
            <a:lvl8pPr indent="-228600" lvl="7" marL="3657600" marR="0" rtl="0" algn="l">
              <a:spcBef>
                <a:spcPts val="0"/>
              </a:spcBef>
              <a:spcAft>
                <a:spcPts val="0"/>
              </a:spcAft>
              <a:buClr>
                <a:schemeClr val="dk1"/>
              </a:buClr>
              <a:buSzPts val="1100"/>
              <a:buFont typeface="Arial"/>
              <a:buNone/>
              <a:defRPr b="0" i="0" sz="1100" u="none" cap="none" strike="noStrike">
                <a:solidFill>
                  <a:schemeClr val="dk1"/>
                </a:solidFill>
                <a:latin typeface="Arial"/>
                <a:ea typeface="Arial"/>
                <a:cs typeface="Arial"/>
                <a:sym typeface="Arial"/>
              </a:defRPr>
            </a:lvl8pPr>
            <a:lvl9pPr indent="-228600" lvl="8" marL="4114800" marR="0" rtl="0" algn="l">
              <a:spcBef>
                <a:spcPts val="0"/>
              </a:spcBef>
              <a:spcAft>
                <a:spcPts val="0"/>
              </a:spcAft>
              <a:buClr>
                <a:schemeClr val="dk1"/>
              </a:buClr>
              <a:buSzPts val="1100"/>
              <a:buFont typeface="Arial"/>
              <a:buNone/>
              <a:defRPr b="0" i="0" sz="1100" u="none" cap="none" strike="noStrike">
                <a:solidFill>
                  <a:schemeClr val="dk1"/>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 name="Shape 19"/>
        <p:cNvGrpSpPr/>
        <p:nvPr/>
      </p:nvGrpSpPr>
      <p:grpSpPr>
        <a:xfrm>
          <a:off x="0" y="0"/>
          <a:ext cx="0" cy="0"/>
          <a:chOff x="0" y="0"/>
          <a:chExt cx="0" cy="0"/>
        </a:xfrm>
      </p:grpSpPr>
      <p:sp>
        <p:nvSpPr>
          <p:cNvPr id="20" name="Google Shape;20;p1:notes"/>
          <p:cNvSpPr txBox="1"/>
          <p:nvPr>
            <p:ph idx="1" type="body"/>
          </p:nvPr>
        </p:nvSpPr>
        <p:spPr>
          <a:xfrm>
            <a:off x="685800" y="4343400"/>
            <a:ext cx="5486399" cy="4114800"/>
          </a:xfrm>
          <a:prstGeom prst="rect">
            <a:avLst/>
          </a:prstGeom>
          <a:no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2"/>
              </a:buClr>
              <a:buSzPts val="275"/>
              <a:buFont typeface="Arial"/>
              <a:buNone/>
            </a:pPr>
            <a:r>
              <a:t/>
            </a:r>
            <a:endParaRPr b="0" i="0" sz="1100" u="none" cap="none" strike="noStrike">
              <a:solidFill>
                <a:schemeClr val="dk2"/>
              </a:solidFill>
            </a:endParaRPr>
          </a:p>
        </p:txBody>
      </p:sp>
      <p:sp>
        <p:nvSpPr>
          <p:cNvPr id="21" name="Google Shape;21;p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 name="Shape 27"/>
        <p:cNvGrpSpPr/>
        <p:nvPr/>
      </p:nvGrpSpPr>
      <p:grpSpPr>
        <a:xfrm>
          <a:off x="0" y="0"/>
          <a:ext cx="0" cy="0"/>
          <a:chOff x="0" y="0"/>
          <a:chExt cx="0" cy="0"/>
        </a:xfrm>
      </p:grpSpPr>
      <p:sp>
        <p:nvSpPr>
          <p:cNvPr id="28" name="Google Shape;28;p2:notes"/>
          <p:cNvSpPr txBox="1"/>
          <p:nvPr>
            <p:ph idx="1" type="body"/>
          </p:nvPr>
        </p:nvSpPr>
        <p:spPr>
          <a:xfrm>
            <a:off x="685800" y="4343400"/>
            <a:ext cx="5486399" cy="4114800"/>
          </a:xfrm>
          <a:prstGeom prst="rect">
            <a:avLst/>
          </a:prstGeom>
          <a:no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275"/>
              <a:buFont typeface="Arial"/>
              <a:buNone/>
            </a:pPr>
            <a:r>
              <a:rPr b="0" i="0" lang="en-US" sz="1100" u="none" cap="none" strike="noStrike"/>
              <a:t>A tuple is a sequence of values similar to a list. The values stored in a tuple can be any type. They are indexed by integers. Syntactically, a tuple is a comma-separated list of values. Although it is not necessary, it is common to enclose tuples in parentheses to help us quickly identify tuples when we look at a Python code. For example,</a:t>
            </a:r>
            <a:endParaRPr/>
          </a:p>
          <a:p>
            <a:pPr indent="0" lvl="0" marL="0" marR="0" rtl="0" algn="l">
              <a:spcBef>
                <a:spcPts val="0"/>
              </a:spcBef>
              <a:spcAft>
                <a:spcPts val="0"/>
              </a:spcAft>
              <a:buClr>
                <a:schemeClr val="dk1"/>
              </a:buClr>
              <a:buSzPts val="275"/>
              <a:buFont typeface="Arial"/>
              <a:buNone/>
            </a:pPr>
            <a:r>
              <a:t/>
            </a:r>
            <a:endParaRPr b="0" i="0" sz="1100" u="none" cap="none" strike="noStrike"/>
          </a:p>
          <a:p>
            <a:pPr indent="0" lvl="0" marL="0" marR="0" rtl="0" algn="l">
              <a:lnSpc>
                <a:spcPct val="100000"/>
              </a:lnSpc>
              <a:spcBef>
                <a:spcPts val="0"/>
              </a:spcBef>
              <a:spcAft>
                <a:spcPts val="0"/>
              </a:spcAft>
              <a:buClr>
                <a:schemeClr val="lt1"/>
              </a:buClr>
              <a:buSzPts val="275"/>
              <a:buFont typeface="Courier New"/>
              <a:buNone/>
            </a:pPr>
            <a:r>
              <a:rPr i="0" lang="en-US" sz="1100" u="none" cap="none" strike="noStrike">
                <a:solidFill>
                  <a:srgbClr val="00FF00"/>
                </a:solidFill>
                <a:latin typeface="Courier"/>
                <a:ea typeface="Courier"/>
                <a:cs typeface="Courier"/>
                <a:sym typeface="Courier"/>
              </a:rPr>
              <a:t>x</a:t>
            </a:r>
            <a:r>
              <a:rPr i="0" lang="en-US" sz="1100" u="none" cap="none" strike="noStrike">
                <a:solidFill>
                  <a:schemeClr val="lt1"/>
                </a:solidFill>
                <a:latin typeface="Courier"/>
                <a:ea typeface="Courier"/>
                <a:cs typeface="Courier"/>
                <a:sym typeface="Courier"/>
              </a:rPr>
              <a:t> = ('Glenn', 'Sally', 'Joseph')</a:t>
            </a:r>
            <a:endParaRPr/>
          </a:p>
          <a:p>
            <a:pPr indent="0" lvl="0" marL="0" rtl="0" algn="l">
              <a:spcBef>
                <a:spcPts val="0"/>
              </a:spcBef>
              <a:spcAft>
                <a:spcPts val="0"/>
              </a:spcAft>
              <a:buClr>
                <a:schemeClr val="lt1"/>
              </a:buClr>
              <a:buSzPts val="275"/>
              <a:buFont typeface="Courier"/>
              <a:buNone/>
            </a:pPr>
            <a:r>
              <a:rPr i="0" lang="en-US" sz="1100" u="none" cap="none" strike="noStrike">
                <a:solidFill>
                  <a:srgbClr val="FFFF00"/>
                </a:solidFill>
                <a:latin typeface="Courier"/>
                <a:ea typeface="Courier"/>
                <a:cs typeface="Courier"/>
                <a:sym typeface="Courier"/>
              </a:rPr>
              <a:t>print(</a:t>
            </a:r>
            <a:r>
              <a:rPr i="0" lang="en-US" sz="1100" u="none" cap="none" strike="noStrike">
                <a:solidFill>
                  <a:srgbClr val="00FF00"/>
                </a:solidFill>
                <a:latin typeface="Courier"/>
                <a:ea typeface="Courier"/>
                <a:cs typeface="Courier"/>
                <a:sym typeface="Courier"/>
              </a:rPr>
              <a:t>x</a:t>
            </a:r>
            <a:r>
              <a:rPr i="0" lang="en-US" sz="1100" u="none" cap="none" strike="noStrike">
                <a:solidFill>
                  <a:srgbClr val="00FFFF"/>
                </a:solidFill>
                <a:latin typeface="Courier"/>
                <a:ea typeface="Courier"/>
                <a:cs typeface="Courier"/>
                <a:sym typeface="Courier"/>
              </a:rPr>
              <a:t>[2]</a:t>
            </a:r>
            <a:r>
              <a:rPr lang="en-US" sz="1100">
                <a:solidFill>
                  <a:srgbClr val="FFFF00"/>
                </a:solidFill>
                <a:latin typeface="Courier"/>
                <a:ea typeface="Courier"/>
                <a:cs typeface="Courier"/>
                <a:sym typeface="Courier"/>
              </a:rPr>
              <a:t>)</a:t>
            </a:r>
            <a:endParaRPr i="0" sz="1100" u="none" cap="none" strike="noStrike">
              <a:solidFill>
                <a:srgbClr val="00FFFF"/>
              </a:solidFill>
              <a:latin typeface="Courier"/>
              <a:ea typeface="Courier"/>
              <a:cs typeface="Courier"/>
              <a:sym typeface="Courier"/>
            </a:endParaRPr>
          </a:p>
          <a:p>
            <a:pPr indent="0" lvl="0" marL="0" marR="0" rtl="0" algn="l">
              <a:lnSpc>
                <a:spcPct val="100000"/>
              </a:lnSpc>
              <a:spcBef>
                <a:spcPts val="0"/>
              </a:spcBef>
              <a:spcAft>
                <a:spcPts val="0"/>
              </a:spcAft>
              <a:buClr>
                <a:schemeClr val="lt1"/>
              </a:buClr>
              <a:buSzPts val="275"/>
              <a:buFont typeface="Courier New"/>
              <a:buNone/>
            </a:pPr>
            <a:r>
              <a:rPr i="0" lang="en-US" sz="1100" u="none" cap="none" strike="noStrike">
                <a:solidFill>
                  <a:schemeClr val="lt1"/>
                </a:solidFill>
                <a:latin typeface="Courier"/>
                <a:ea typeface="Courier"/>
                <a:cs typeface="Courier"/>
                <a:sym typeface="Courier"/>
              </a:rPr>
              <a:t>Joseph</a:t>
            </a:r>
            <a:endParaRPr/>
          </a:p>
          <a:p>
            <a:pPr indent="0" lvl="0" marL="0" marR="0" rtl="0" algn="l">
              <a:lnSpc>
                <a:spcPct val="100000"/>
              </a:lnSpc>
              <a:spcBef>
                <a:spcPts val="0"/>
              </a:spcBef>
              <a:spcAft>
                <a:spcPts val="0"/>
              </a:spcAft>
              <a:buClr>
                <a:schemeClr val="lt1"/>
              </a:buClr>
              <a:buSzPts val="275"/>
              <a:buFont typeface="Courier New"/>
              <a:buNone/>
            </a:pPr>
            <a:r>
              <a:t/>
            </a:r>
            <a:endParaRPr i="0" sz="1100" u="none" cap="none" strike="noStrike">
              <a:solidFill>
                <a:schemeClr val="lt1"/>
              </a:solidFill>
              <a:latin typeface="Courier"/>
              <a:ea typeface="Courier"/>
              <a:cs typeface="Courier"/>
              <a:sym typeface="Courier"/>
            </a:endParaRPr>
          </a:p>
          <a:p>
            <a:pPr indent="0" lvl="0" marL="0" marR="0" rtl="0" algn="l">
              <a:lnSpc>
                <a:spcPct val="100000"/>
              </a:lnSpc>
              <a:spcBef>
                <a:spcPts val="0"/>
              </a:spcBef>
              <a:spcAft>
                <a:spcPts val="0"/>
              </a:spcAft>
              <a:buClr>
                <a:schemeClr val="lt1"/>
              </a:buClr>
              <a:buSzPts val="275"/>
              <a:buFont typeface="Courier New"/>
              <a:buNone/>
            </a:pPr>
            <a:r>
              <a:rPr i="0" lang="en-US" sz="1100" u="none" cap="none" strike="noStrike">
                <a:solidFill>
                  <a:srgbClr val="00FF00"/>
                </a:solidFill>
                <a:latin typeface="Courier"/>
                <a:ea typeface="Courier"/>
                <a:cs typeface="Courier"/>
                <a:sym typeface="Courier"/>
              </a:rPr>
              <a:t>y</a:t>
            </a:r>
            <a:r>
              <a:rPr i="0" lang="en-US" sz="1100" u="none" cap="none" strike="noStrike">
                <a:solidFill>
                  <a:schemeClr val="lt1"/>
                </a:solidFill>
                <a:latin typeface="Courier"/>
                <a:ea typeface="Courier"/>
                <a:cs typeface="Courier"/>
                <a:sym typeface="Courier"/>
              </a:rPr>
              <a:t> = ( 1, 9, 2 )</a:t>
            </a:r>
            <a:endParaRPr/>
          </a:p>
          <a:p>
            <a:pPr indent="0" lvl="0" marL="0" rtl="0" algn="l">
              <a:spcBef>
                <a:spcPts val="0"/>
              </a:spcBef>
              <a:spcAft>
                <a:spcPts val="0"/>
              </a:spcAft>
              <a:buClr>
                <a:schemeClr val="lt1"/>
              </a:buClr>
              <a:buSzPts val="275"/>
              <a:buFont typeface="Courier"/>
              <a:buNone/>
            </a:pPr>
            <a:r>
              <a:rPr i="0" lang="en-US" sz="1100" u="none" cap="none" strike="noStrike">
                <a:solidFill>
                  <a:srgbClr val="FFFF00"/>
                </a:solidFill>
                <a:latin typeface="Courier"/>
                <a:ea typeface="Courier"/>
                <a:cs typeface="Courier"/>
                <a:sym typeface="Courier"/>
              </a:rPr>
              <a:t>print(</a:t>
            </a:r>
            <a:r>
              <a:rPr i="0" lang="en-US" sz="1100" u="none" cap="none" strike="noStrike">
                <a:solidFill>
                  <a:srgbClr val="00FF00"/>
                </a:solidFill>
                <a:latin typeface="Courier"/>
                <a:ea typeface="Courier"/>
                <a:cs typeface="Courier"/>
                <a:sym typeface="Courier"/>
              </a:rPr>
              <a:t>y</a:t>
            </a:r>
            <a:r>
              <a:rPr lang="en-US" sz="1100">
                <a:solidFill>
                  <a:srgbClr val="FFFF00"/>
                </a:solidFill>
                <a:latin typeface="Courier"/>
                <a:ea typeface="Courier"/>
                <a:cs typeface="Courier"/>
                <a:sym typeface="Courier"/>
              </a:rPr>
              <a:t>)</a:t>
            </a:r>
            <a:endParaRPr i="0" sz="1100" u="none" cap="none" strike="noStrike">
              <a:solidFill>
                <a:srgbClr val="00FF00"/>
              </a:solidFill>
              <a:latin typeface="Courier"/>
              <a:ea typeface="Courier"/>
              <a:cs typeface="Courier"/>
              <a:sym typeface="Courier"/>
            </a:endParaRPr>
          </a:p>
          <a:p>
            <a:pPr indent="0" lvl="0" marL="0" marR="0" rtl="0" algn="l">
              <a:lnSpc>
                <a:spcPct val="100000"/>
              </a:lnSpc>
              <a:spcBef>
                <a:spcPts val="0"/>
              </a:spcBef>
              <a:spcAft>
                <a:spcPts val="0"/>
              </a:spcAft>
              <a:buClr>
                <a:schemeClr val="lt1"/>
              </a:buClr>
              <a:buSzPts val="275"/>
              <a:buFont typeface="Courier New"/>
              <a:buNone/>
            </a:pPr>
            <a:r>
              <a:rPr i="0" lang="en-US" sz="1100" u="none" cap="none" strike="noStrike">
                <a:solidFill>
                  <a:schemeClr val="lt1"/>
                </a:solidFill>
                <a:latin typeface="Courier"/>
                <a:ea typeface="Courier"/>
                <a:cs typeface="Courier"/>
                <a:sym typeface="Courier"/>
              </a:rPr>
              <a:t>(1, 9, 2)</a:t>
            </a:r>
            <a:endParaRPr/>
          </a:p>
          <a:p>
            <a:pPr indent="0" lvl="0" marL="0" marR="0" rtl="0" algn="l">
              <a:lnSpc>
                <a:spcPct val="100000"/>
              </a:lnSpc>
              <a:spcBef>
                <a:spcPts val="0"/>
              </a:spcBef>
              <a:spcAft>
                <a:spcPts val="0"/>
              </a:spcAft>
              <a:buClr>
                <a:schemeClr val="lt1"/>
              </a:buClr>
              <a:buSzPts val="275"/>
              <a:buFont typeface="Courier New"/>
              <a:buNone/>
            </a:pPr>
            <a:r>
              <a:t/>
            </a:r>
            <a:endParaRPr i="0" sz="1100" u="none" cap="none" strike="noStrike">
              <a:solidFill>
                <a:schemeClr val="lt1"/>
              </a:solidFill>
              <a:latin typeface="Courier"/>
              <a:ea typeface="Courier"/>
              <a:cs typeface="Courier"/>
              <a:sym typeface="Courier"/>
            </a:endParaRPr>
          </a:p>
          <a:p>
            <a:pPr indent="0" lvl="0" marL="0" rtl="0" algn="l">
              <a:spcBef>
                <a:spcPts val="0"/>
              </a:spcBef>
              <a:spcAft>
                <a:spcPts val="0"/>
              </a:spcAft>
              <a:buClr>
                <a:schemeClr val="lt1"/>
              </a:buClr>
              <a:buSzPts val="275"/>
              <a:buFont typeface="Courier"/>
              <a:buNone/>
            </a:pPr>
            <a:r>
              <a:rPr i="0" lang="en-US" sz="1100" u="none" cap="none" strike="noStrike">
                <a:solidFill>
                  <a:srgbClr val="FFFF00"/>
                </a:solidFill>
                <a:latin typeface="Courier"/>
                <a:ea typeface="Courier"/>
                <a:cs typeface="Courier"/>
                <a:sym typeface="Courier"/>
              </a:rPr>
              <a:t>print(</a:t>
            </a:r>
            <a:r>
              <a:rPr i="0" lang="en-US" sz="1100" u="none" cap="none" strike="noStrike">
                <a:solidFill>
                  <a:srgbClr val="FF00FF"/>
                </a:solidFill>
                <a:latin typeface="Courier"/>
                <a:ea typeface="Courier"/>
                <a:cs typeface="Courier"/>
                <a:sym typeface="Courier"/>
              </a:rPr>
              <a:t>max</a:t>
            </a:r>
            <a:r>
              <a:rPr i="0" lang="en-US" sz="1100" u="none" cap="none" strike="noStrike">
                <a:solidFill>
                  <a:schemeClr val="lt1"/>
                </a:solidFill>
                <a:latin typeface="Courier"/>
                <a:ea typeface="Courier"/>
                <a:cs typeface="Courier"/>
                <a:sym typeface="Courier"/>
              </a:rPr>
              <a:t>(</a:t>
            </a:r>
            <a:r>
              <a:rPr i="0" lang="en-US" sz="1100" u="none" cap="none" strike="noStrike">
                <a:solidFill>
                  <a:srgbClr val="00FF00"/>
                </a:solidFill>
                <a:latin typeface="Courier"/>
                <a:ea typeface="Courier"/>
                <a:cs typeface="Courier"/>
                <a:sym typeface="Courier"/>
              </a:rPr>
              <a:t>y</a:t>
            </a:r>
            <a:r>
              <a:rPr i="0" lang="en-US" sz="1100" u="none" cap="none" strike="noStrike">
                <a:solidFill>
                  <a:schemeClr val="lt1"/>
                </a:solidFill>
                <a:latin typeface="Courier"/>
                <a:ea typeface="Courier"/>
                <a:cs typeface="Courier"/>
                <a:sym typeface="Courier"/>
              </a:rPr>
              <a:t>)</a:t>
            </a:r>
            <a:r>
              <a:rPr lang="en-US" sz="1100">
                <a:solidFill>
                  <a:srgbClr val="FFFF00"/>
                </a:solidFill>
                <a:latin typeface="Courier"/>
                <a:ea typeface="Courier"/>
                <a:cs typeface="Courier"/>
                <a:sym typeface="Courier"/>
              </a:rPr>
              <a:t>)</a:t>
            </a:r>
            <a:endParaRPr i="0" sz="1100" u="none" cap="none" strike="noStrike">
              <a:solidFill>
                <a:schemeClr val="lt1"/>
              </a:solidFill>
              <a:latin typeface="Courier"/>
              <a:ea typeface="Courier"/>
              <a:cs typeface="Courier"/>
              <a:sym typeface="Courier"/>
            </a:endParaRPr>
          </a:p>
          <a:p>
            <a:pPr indent="0" lvl="0" marL="0" marR="0" rtl="0" algn="l">
              <a:lnSpc>
                <a:spcPct val="100000"/>
              </a:lnSpc>
              <a:spcBef>
                <a:spcPts val="0"/>
              </a:spcBef>
              <a:spcAft>
                <a:spcPts val="0"/>
              </a:spcAft>
              <a:buClr>
                <a:schemeClr val="lt1"/>
              </a:buClr>
              <a:buSzPts val="275"/>
              <a:buFont typeface="Courier New"/>
              <a:buNone/>
            </a:pPr>
            <a:r>
              <a:rPr i="0" lang="en-US" sz="1100" u="none" cap="none" strike="noStrike">
                <a:solidFill>
                  <a:schemeClr val="lt1"/>
                </a:solidFill>
                <a:latin typeface="Courier"/>
                <a:ea typeface="Courier"/>
                <a:cs typeface="Courier"/>
                <a:sym typeface="Courier"/>
              </a:rPr>
              <a:t>9</a:t>
            </a:r>
            <a:endParaRPr/>
          </a:p>
          <a:p>
            <a:pPr indent="0" lvl="0" marL="0" marR="0" rtl="0" algn="l">
              <a:spcBef>
                <a:spcPts val="0"/>
              </a:spcBef>
              <a:spcAft>
                <a:spcPts val="0"/>
              </a:spcAft>
              <a:buClr>
                <a:schemeClr val="dk1"/>
              </a:buClr>
              <a:buSzPts val="275"/>
              <a:buFont typeface="Arial"/>
              <a:buNone/>
            </a:pPr>
            <a:r>
              <a:t/>
            </a:r>
            <a:endParaRPr b="0" i="0" sz="1100" u="none" cap="none" strike="noStrike"/>
          </a:p>
          <a:p>
            <a:pPr indent="0" lvl="0" marL="0" marR="0" rtl="0" algn="l">
              <a:spcBef>
                <a:spcPts val="0"/>
              </a:spcBef>
              <a:spcAft>
                <a:spcPts val="0"/>
              </a:spcAft>
              <a:buClr>
                <a:schemeClr val="dk1"/>
              </a:buClr>
              <a:buSzPts val="275"/>
              <a:buFont typeface="Arial"/>
              <a:buNone/>
            </a:pPr>
            <a:r>
              <a:rPr b="0" i="0" lang="en-US" sz="1100" u="none" cap="none" strike="noStrike"/>
              <a:t>Similar to a list, we can traverse through a tuple using a for loop:</a:t>
            </a:r>
            <a:endParaRPr/>
          </a:p>
          <a:p>
            <a:pPr indent="0" lvl="0" marL="0" marR="0" rtl="0" algn="l">
              <a:spcBef>
                <a:spcPts val="0"/>
              </a:spcBef>
              <a:spcAft>
                <a:spcPts val="0"/>
              </a:spcAft>
              <a:buClr>
                <a:schemeClr val="dk1"/>
              </a:buClr>
              <a:buSzPts val="275"/>
              <a:buFont typeface="Arial"/>
              <a:buNone/>
            </a:pPr>
            <a:r>
              <a:t/>
            </a:r>
            <a:endParaRPr b="0" i="0" sz="1100" u="none" cap="none" strike="noStrike"/>
          </a:p>
          <a:p>
            <a:pPr indent="0" lvl="0" marL="0" marR="0" rtl="0" algn="l">
              <a:lnSpc>
                <a:spcPct val="100000"/>
              </a:lnSpc>
              <a:spcBef>
                <a:spcPts val="0"/>
              </a:spcBef>
              <a:spcAft>
                <a:spcPts val="0"/>
              </a:spcAft>
              <a:buClr>
                <a:schemeClr val="lt1"/>
              </a:buClr>
              <a:buSzPts val="275"/>
              <a:buFont typeface="Courier New"/>
              <a:buNone/>
            </a:pPr>
            <a:r>
              <a:rPr i="0" lang="en-US" sz="1100" u="none" cap="none" strike="noStrike">
                <a:solidFill>
                  <a:srgbClr val="FFFF00"/>
                </a:solidFill>
                <a:latin typeface="Courier"/>
                <a:ea typeface="Courier"/>
                <a:cs typeface="Courier"/>
                <a:sym typeface="Courier"/>
              </a:rPr>
              <a:t>for</a:t>
            </a:r>
            <a:r>
              <a:rPr i="0" lang="en-US" sz="1100" u="none" cap="none" strike="noStrike">
                <a:solidFill>
                  <a:schemeClr val="lt1"/>
                </a:solidFill>
                <a:latin typeface="Courier"/>
                <a:ea typeface="Courier"/>
                <a:cs typeface="Courier"/>
                <a:sym typeface="Courier"/>
              </a:rPr>
              <a:t> </a:t>
            </a:r>
            <a:r>
              <a:rPr i="0" lang="en-US" sz="1100" u="none" cap="none" strike="noStrike">
                <a:solidFill>
                  <a:srgbClr val="00FFFF"/>
                </a:solidFill>
                <a:latin typeface="Courier"/>
                <a:ea typeface="Courier"/>
                <a:cs typeface="Courier"/>
                <a:sym typeface="Courier"/>
              </a:rPr>
              <a:t>iter</a:t>
            </a:r>
            <a:r>
              <a:rPr i="0" lang="en-US" sz="1100" u="none" cap="none" strike="noStrike">
                <a:solidFill>
                  <a:schemeClr val="lt1"/>
                </a:solidFill>
                <a:latin typeface="Courier"/>
                <a:ea typeface="Courier"/>
                <a:cs typeface="Courier"/>
                <a:sym typeface="Courier"/>
              </a:rPr>
              <a:t> </a:t>
            </a:r>
            <a:r>
              <a:rPr i="0" lang="en-US" sz="1100" u="none" cap="none" strike="noStrike">
                <a:solidFill>
                  <a:srgbClr val="FFFF00"/>
                </a:solidFill>
                <a:latin typeface="Courier"/>
                <a:ea typeface="Courier"/>
                <a:cs typeface="Courier"/>
                <a:sym typeface="Courier"/>
              </a:rPr>
              <a:t>in</a:t>
            </a:r>
            <a:r>
              <a:rPr i="0" lang="en-US" sz="1100" u="none" cap="none" strike="noStrike">
                <a:solidFill>
                  <a:schemeClr val="lt1"/>
                </a:solidFill>
                <a:latin typeface="Courier"/>
                <a:ea typeface="Courier"/>
                <a:cs typeface="Courier"/>
                <a:sym typeface="Courier"/>
              </a:rPr>
              <a:t> </a:t>
            </a:r>
            <a:r>
              <a:rPr i="0" lang="en-US" sz="1100" u="none" cap="none" strike="noStrike">
                <a:solidFill>
                  <a:srgbClr val="FF00FF"/>
                </a:solidFill>
                <a:latin typeface="Courier"/>
                <a:ea typeface="Courier"/>
                <a:cs typeface="Courier"/>
                <a:sym typeface="Courier"/>
              </a:rPr>
              <a:t>y</a:t>
            </a:r>
            <a:r>
              <a:rPr i="0" lang="en-US" sz="1100" u="none" cap="none" strike="noStrike">
                <a:solidFill>
                  <a:schemeClr val="lt1"/>
                </a:solidFill>
                <a:latin typeface="Courier"/>
                <a:ea typeface="Courier"/>
                <a:cs typeface="Courier"/>
                <a:sym typeface="Courier"/>
              </a:rPr>
              <a:t>:</a:t>
            </a:r>
            <a:endParaRPr/>
          </a:p>
          <a:p>
            <a:pPr indent="0" lvl="0" marL="0" marR="0" rtl="0" algn="l">
              <a:lnSpc>
                <a:spcPct val="100000"/>
              </a:lnSpc>
              <a:spcBef>
                <a:spcPts val="0"/>
              </a:spcBef>
              <a:spcAft>
                <a:spcPts val="0"/>
              </a:spcAft>
              <a:buClr>
                <a:schemeClr val="lt1"/>
              </a:buClr>
              <a:buSzPts val="275"/>
              <a:buFont typeface="Courier New"/>
              <a:buNone/>
            </a:pPr>
            <a:r>
              <a:rPr i="0" lang="en-US" sz="1100" u="none" cap="none" strike="noStrike">
                <a:solidFill>
                  <a:srgbClr val="FFFF00"/>
                </a:solidFill>
                <a:latin typeface="Courier"/>
                <a:ea typeface="Courier"/>
                <a:cs typeface="Courier"/>
                <a:sym typeface="Courier"/>
              </a:rPr>
              <a:t>    print(</a:t>
            </a:r>
            <a:r>
              <a:rPr i="0" lang="en-US" sz="1100" u="none" cap="none" strike="noStrike">
                <a:solidFill>
                  <a:srgbClr val="00FFFF"/>
                </a:solidFill>
                <a:latin typeface="Courier"/>
                <a:ea typeface="Courier"/>
                <a:cs typeface="Courier"/>
                <a:sym typeface="Courier"/>
              </a:rPr>
              <a:t>iter</a:t>
            </a:r>
            <a:r>
              <a:rPr i="0" lang="en-US" sz="1100" u="none" cap="none" strike="noStrike">
                <a:solidFill>
                  <a:srgbClr val="FFFF00"/>
                </a:solidFill>
                <a:latin typeface="Courier"/>
                <a:ea typeface="Courier"/>
                <a:cs typeface="Courier"/>
                <a:sym typeface="Courier"/>
              </a:rPr>
              <a:t>)</a:t>
            </a:r>
            <a:endParaRPr/>
          </a:p>
          <a:p>
            <a:pPr indent="0" lvl="0" marL="0" marR="0" rtl="0" algn="l">
              <a:lnSpc>
                <a:spcPct val="100000"/>
              </a:lnSpc>
              <a:spcBef>
                <a:spcPts val="0"/>
              </a:spcBef>
              <a:spcAft>
                <a:spcPts val="0"/>
              </a:spcAft>
              <a:buClr>
                <a:schemeClr val="lt1"/>
              </a:buClr>
              <a:buSzPts val="275"/>
              <a:buFont typeface="Courier New"/>
              <a:buNone/>
            </a:pPr>
            <a:r>
              <a:t/>
            </a:r>
            <a:endParaRPr i="0" sz="1100" u="none" cap="none" strike="noStrike">
              <a:solidFill>
                <a:schemeClr val="lt1"/>
              </a:solidFill>
              <a:latin typeface="Courier"/>
              <a:ea typeface="Courier"/>
              <a:cs typeface="Courier"/>
              <a:sym typeface="Courier"/>
            </a:endParaRPr>
          </a:p>
          <a:p>
            <a:pPr indent="0" lvl="0" marL="0" marR="0" rtl="0" algn="l">
              <a:lnSpc>
                <a:spcPct val="100000"/>
              </a:lnSpc>
              <a:spcBef>
                <a:spcPts val="0"/>
              </a:spcBef>
              <a:spcAft>
                <a:spcPts val="0"/>
              </a:spcAft>
              <a:buClr>
                <a:schemeClr val="lt1"/>
              </a:buClr>
              <a:buSzPts val="275"/>
              <a:buFont typeface="Courier New"/>
              <a:buNone/>
            </a:pPr>
            <a:r>
              <a:rPr i="0" lang="en-US" sz="1100" u="none" cap="none" strike="noStrike">
                <a:solidFill>
                  <a:schemeClr val="lt1"/>
                </a:solidFill>
                <a:latin typeface="Courier"/>
                <a:ea typeface="Courier"/>
                <a:cs typeface="Courier"/>
                <a:sym typeface="Courier"/>
              </a:rPr>
              <a:t>1</a:t>
            </a:r>
            <a:endParaRPr/>
          </a:p>
          <a:p>
            <a:pPr indent="0" lvl="0" marL="0" marR="0" rtl="0" algn="l">
              <a:lnSpc>
                <a:spcPct val="100000"/>
              </a:lnSpc>
              <a:spcBef>
                <a:spcPts val="0"/>
              </a:spcBef>
              <a:spcAft>
                <a:spcPts val="0"/>
              </a:spcAft>
              <a:buClr>
                <a:schemeClr val="lt1"/>
              </a:buClr>
              <a:buSzPts val="275"/>
              <a:buFont typeface="Courier New"/>
              <a:buNone/>
            </a:pPr>
            <a:r>
              <a:rPr i="0" lang="en-US" sz="1100" u="none" cap="none" strike="noStrike">
                <a:solidFill>
                  <a:schemeClr val="lt1"/>
                </a:solidFill>
                <a:latin typeface="Courier"/>
                <a:ea typeface="Courier"/>
                <a:cs typeface="Courier"/>
                <a:sym typeface="Courier"/>
              </a:rPr>
              <a:t>9</a:t>
            </a:r>
            <a:endParaRPr/>
          </a:p>
          <a:p>
            <a:pPr indent="0" lvl="0" marL="0" marR="0" rtl="0" algn="l">
              <a:lnSpc>
                <a:spcPct val="100000"/>
              </a:lnSpc>
              <a:spcBef>
                <a:spcPts val="0"/>
              </a:spcBef>
              <a:spcAft>
                <a:spcPts val="0"/>
              </a:spcAft>
              <a:buClr>
                <a:schemeClr val="lt1"/>
              </a:buClr>
              <a:buSzPts val="275"/>
              <a:buFont typeface="Courier New"/>
              <a:buNone/>
            </a:pPr>
            <a:r>
              <a:rPr i="0" lang="en-US" sz="1100" u="none" cap="none" strike="noStrike">
                <a:solidFill>
                  <a:schemeClr val="lt1"/>
                </a:solidFill>
                <a:latin typeface="Courier"/>
                <a:ea typeface="Courier"/>
                <a:cs typeface="Courier"/>
                <a:sym typeface="Courier"/>
              </a:rPr>
              <a:t>2</a:t>
            </a:r>
            <a:endParaRPr/>
          </a:p>
          <a:p>
            <a:pPr indent="0" lvl="0" marL="0" marR="0" rtl="0" algn="l">
              <a:spcBef>
                <a:spcPts val="0"/>
              </a:spcBef>
              <a:spcAft>
                <a:spcPts val="0"/>
              </a:spcAft>
              <a:buClr>
                <a:schemeClr val="dk1"/>
              </a:buClr>
              <a:buSzPts val="275"/>
              <a:buFont typeface="Arial"/>
              <a:buNone/>
            </a:pPr>
            <a:r>
              <a:t/>
            </a:r>
            <a:endParaRPr b="0" i="0" sz="1100" u="none" cap="none" strike="noStrike"/>
          </a:p>
          <a:p>
            <a:pPr indent="0" lvl="0" marL="0" marR="0" rtl="0" algn="l">
              <a:spcBef>
                <a:spcPts val="0"/>
              </a:spcBef>
              <a:spcAft>
                <a:spcPts val="0"/>
              </a:spcAft>
              <a:buClr>
                <a:schemeClr val="dk1"/>
              </a:buClr>
              <a:buSzPts val="275"/>
              <a:buFont typeface="Arial"/>
              <a:buNone/>
            </a:pPr>
            <a:r>
              <a:rPr b="0" i="0" lang="en-US" sz="1100" u="none" cap="none" strike="noStrike"/>
              <a:t>We note that most list operators also work on tuples. The bracket operator, for example, indexes an element. The slice operator selects a range of elements.</a:t>
            </a:r>
            <a:endParaRPr b="0" i="0" sz="1100" u="none" cap="none" strike="noStrike"/>
          </a:p>
          <a:p>
            <a:pPr indent="0" lvl="0" marL="0" marR="0" rtl="0" algn="l">
              <a:spcBef>
                <a:spcPts val="0"/>
              </a:spcBef>
              <a:spcAft>
                <a:spcPts val="0"/>
              </a:spcAft>
              <a:buClr>
                <a:schemeClr val="dk1"/>
              </a:buClr>
              <a:buSzPts val="275"/>
              <a:buFont typeface="Arial"/>
              <a:buNone/>
            </a:pPr>
            <a:r>
              <a:t/>
            </a:r>
            <a:endParaRPr b="0" i="0" sz="1100" u="none" cap="none" strike="noStrike"/>
          </a:p>
        </p:txBody>
      </p:sp>
      <p:sp>
        <p:nvSpPr>
          <p:cNvPr id="29" name="Google Shape;29;p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 name="Shape 35"/>
        <p:cNvGrpSpPr/>
        <p:nvPr/>
      </p:nvGrpSpPr>
      <p:grpSpPr>
        <a:xfrm>
          <a:off x="0" y="0"/>
          <a:ext cx="0" cy="0"/>
          <a:chOff x="0" y="0"/>
          <a:chExt cx="0" cy="0"/>
        </a:xfrm>
      </p:grpSpPr>
      <p:sp>
        <p:nvSpPr>
          <p:cNvPr id="36" name="Google Shape;36;p3:notes"/>
          <p:cNvSpPr txBox="1"/>
          <p:nvPr>
            <p:ph idx="1" type="body"/>
          </p:nvPr>
        </p:nvSpPr>
        <p:spPr>
          <a:xfrm>
            <a:off x="685800" y="4343400"/>
            <a:ext cx="5486399" cy="41148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75"/>
              <a:buFont typeface="Arial"/>
              <a:buNone/>
            </a:pPr>
            <a:r>
              <a:rPr b="0" i="0" lang="en-US" sz="1100" u="none" cap="none" strike="noStrike"/>
              <a:t>The important difference from a list is that tuples are immutable. Once you create a tuple, you cannot alter its contents. If you try do so, you will get a Traceback error:</a:t>
            </a:r>
            <a:endParaRPr/>
          </a:p>
          <a:p>
            <a:pPr indent="0" lvl="0" marL="0" marR="0" rtl="0" algn="l">
              <a:lnSpc>
                <a:spcPct val="100000"/>
              </a:lnSpc>
              <a:spcBef>
                <a:spcPts val="0"/>
              </a:spcBef>
              <a:spcAft>
                <a:spcPts val="0"/>
              </a:spcAft>
              <a:buClr>
                <a:schemeClr val="dk1"/>
              </a:buClr>
              <a:buSzPts val="275"/>
              <a:buFont typeface="Arial"/>
              <a:buNone/>
            </a:pPr>
            <a:r>
              <a:t/>
            </a:r>
            <a:endParaRPr b="0" i="0" sz="1100" u="none" cap="none" strike="noStrike"/>
          </a:p>
          <a:p>
            <a:pPr indent="0" lvl="0" marL="0" marR="0" rtl="0" algn="l">
              <a:lnSpc>
                <a:spcPct val="100000"/>
              </a:lnSpc>
              <a:spcBef>
                <a:spcPts val="0"/>
              </a:spcBef>
              <a:spcAft>
                <a:spcPts val="0"/>
              </a:spcAft>
              <a:buClr>
                <a:schemeClr val="lt1"/>
              </a:buClr>
              <a:buSzPts val="275"/>
              <a:buFont typeface="Courier New"/>
              <a:buNone/>
            </a:pPr>
            <a:r>
              <a:rPr i="0" lang="en-US" sz="1100" u="none" cap="none" strike="noStrike">
                <a:solidFill>
                  <a:srgbClr val="00FF00"/>
                </a:solidFill>
                <a:latin typeface="Courier"/>
                <a:ea typeface="Courier"/>
                <a:cs typeface="Courier"/>
                <a:sym typeface="Courier"/>
              </a:rPr>
              <a:t>z</a:t>
            </a:r>
            <a:r>
              <a:rPr i="0" lang="en-US" sz="1100" u="none" cap="none" strike="noStrike">
                <a:solidFill>
                  <a:schemeClr val="lt1"/>
                </a:solidFill>
                <a:latin typeface="Courier"/>
                <a:ea typeface="Courier"/>
                <a:cs typeface="Courier"/>
                <a:sym typeface="Courier"/>
              </a:rPr>
              <a:t> = (5, 4, 3)</a:t>
            </a:r>
            <a:endParaRPr/>
          </a:p>
          <a:p>
            <a:pPr indent="0" lvl="0" marL="0" marR="0" rtl="0" algn="l">
              <a:lnSpc>
                <a:spcPct val="100000"/>
              </a:lnSpc>
              <a:spcBef>
                <a:spcPts val="0"/>
              </a:spcBef>
              <a:spcAft>
                <a:spcPts val="0"/>
              </a:spcAft>
              <a:buClr>
                <a:schemeClr val="lt1"/>
              </a:buClr>
              <a:buSzPts val="275"/>
              <a:buFont typeface="Courier New"/>
              <a:buNone/>
            </a:pPr>
            <a:r>
              <a:rPr i="0" lang="en-US" sz="1100" u="none" cap="none" strike="noStrike">
                <a:solidFill>
                  <a:srgbClr val="00FF00"/>
                </a:solidFill>
                <a:latin typeface="Courier"/>
                <a:ea typeface="Courier"/>
                <a:cs typeface="Courier"/>
                <a:sym typeface="Courier"/>
              </a:rPr>
              <a:t>z</a:t>
            </a:r>
            <a:r>
              <a:rPr i="0" lang="en-US" sz="1100" u="none" cap="none" strike="noStrike">
                <a:solidFill>
                  <a:srgbClr val="00FFFF"/>
                </a:solidFill>
                <a:latin typeface="Courier"/>
                <a:ea typeface="Courier"/>
                <a:cs typeface="Courier"/>
                <a:sym typeface="Courier"/>
              </a:rPr>
              <a:t>[2]</a:t>
            </a:r>
            <a:r>
              <a:rPr i="0" lang="en-US" sz="1100" u="none" cap="none" strike="noStrike">
                <a:solidFill>
                  <a:schemeClr val="lt1"/>
                </a:solidFill>
                <a:latin typeface="Courier"/>
                <a:ea typeface="Courier"/>
                <a:cs typeface="Courier"/>
                <a:sym typeface="Courier"/>
              </a:rPr>
              <a:t> = 0</a:t>
            </a:r>
            <a:endParaRPr/>
          </a:p>
          <a:p>
            <a:pPr indent="0" lvl="0" marL="0" marR="0" rtl="0" algn="l">
              <a:lnSpc>
                <a:spcPct val="100000"/>
              </a:lnSpc>
              <a:spcBef>
                <a:spcPts val="0"/>
              </a:spcBef>
              <a:spcAft>
                <a:spcPts val="0"/>
              </a:spcAft>
              <a:buClr>
                <a:srgbClr val="FF66FF"/>
              </a:buClr>
              <a:buSzPts val="275"/>
              <a:buFont typeface="Courier New"/>
              <a:buNone/>
            </a:pPr>
            <a:r>
              <a:rPr i="0" lang="en-US" sz="1100" u="none" cap="none" strike="noStrike">
                <a:solidFill>
                  <a:srgbClr val="FF66FF"/>
                </a:solidFill>
                <a:latin typeface="Courier"/>
                <a:ea typeface="Courier"/>
                <a:cs typeface="Courier"/>
                <a:sym typeface="Courier"/>
              </a:rPr>
              <a:t>Traceback:'tuple' object does  not support </a:t>
            </a:r>
            <a:r>
              <a:rPr i="0" lang="en-US" sz="1100" u="none" cap="none" strike="noStrike">
                <a:solidFill>
                  <a:srgbClr val="00FFFF"/>
                </a:solidFill>
                <a:latin typeface="Courier"/>
                <a:ea typeface="Courier"/>
                <a:cs typeface="Courier"/>
                <a:sym typeface="Courier"/>
              </a:rPr>
              <a:t>item</a:t>
            </a:r>
            <a:r>
              <a:rPr i="0" lang="en-US" sz="1100" u="none" cap="none" strike="noStrike">
                <a:solidFill>
                  <a:srgbClr val="FF66FF"/>
                </a:solidFill>
                <a:latin typeface="Courier"/>
                <a:ea typeface="Courier"/>
                <a:cs typeface="Courier"/>
                <a:sym typeface="Courier"/>
              </a:rPr>
              <a:t> Assignment</a:t>
            </a:r>
            <a:endParaRPr/>
          </a:p>
          <a:p>
            <a:pPr indent="0" lvl="0" marL="0" marR="0" rtl="0" algn="l">
              <a:lnSpc>
                <a:spcPct val="100000"/>
              </a:lnSpc>
              <a:spcBef>
                <a:spcPts val="0"/>
              </a:spcBef>
              <a:spcAft>
                <a:spcPts val="0"/>
              </a:spcAft>
              <a:buClr>
                <a:schemeClr val="dk1"/>
              </a:buClr>
              <a:buSzPts val="275"/>
              <a:buFont typeface="Arial"/>
              <a:buNone/>
            </a:pPr>
            <a:r>
              <a:t/>
            </a:r>
            <a:endParaRPr b="0" i="0" sz="1100" u="none" cap="none" strike="noStrike"/>
          </a:p>
        </p:txBody>
      </p:sp>
      <p:sp>
        <p:nvSpPr>
          <p:cNvPr id="37" name="Google Shape;37;p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 name="Shape 43"/>
        <p:cNvGrpSpPr/>
        <p:nvPr/>
      </p:nvGrpSpPr>
      <p:grpSpPr>
        <a:xfrm>
          <a:off x="0" y="0"/>
          <a:ext cx="0" cy="0"/>
          <a:chOff x="0" y="0"/>
          <a:chExt cx="0" cy="0"/>
        </a:xfrm>
      </p:grpSpPr>
      <p:sp>
        <p:nvSpPr>
          <p:cNvPr id="44" name="Google Shape;44;p4:notes"/>
          <p:cNvSpPr txBox="1"/>
          <p:nvPr>
            <p:ph idx="1" type="body"/>
          </p:nvPr>
        </p:nvSpPr>
        <p:spPr>
          <a:xfrm>
            <a:off x="685800" y="4343400"/>
            <a:ext cx="5486399" cy="4114800"/>
          </a:xfrm>
          <a:prstGeom prst="rect">
            <a:avLst/>
          </a:prstGeom>
          <a:no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275"/>
              <a:buFont typeface="Arial"/>
              <a:buNone/>
            </a:pPr>
            <a:r>
              <a:rPr b="0" i="0" lang="en-US" sz="1100" u="none" cap="none" strike="noStrike">
                <a:solidFill>
                  <a:schemeClr val="dk1"/>
                </a:solidFill>
                <a:latin typeface="Arial"/>
                <a:ea typeface="Arial"/>
                <a:cs typeface="Arial"/>
                <a:sym typeface="Arial"/>
              </a:rPr>
              <a:t>List objects have many methods in Python. However, there are only 2 tuple methods that tuple objects can call: count and index! You can see these using dir() function to create a list of available methods on Python objects:</a:t>
            </a:r>
            <a:endParaRPr/>
          </a:p>
          <a:p>
            <a:pPr indent="0" lvl="0" marL="0" marR="0" rtl="0" algn="l">
              <a:spcBef>
                <a:spcPts val="0"/>
              </a:spcBef>
              <a:spcAft>
                <a:spcPts val="0"/>
              </a:spcAft>
              <a:buClr>
                <a:schemeClr val="dk1"/>
              </a:buClr>
              <a:buSzPts val="275"/>
              <a:buFont typeface="Arial"/>
              <a:buNone/>
            </a:pPr>
            <a:r>
              <a:t/>
            </a:r>
            <a:endParaRPr b="0" i="0" sz="11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lt1"/>
              </a:buClr>
              <a:buSzPts val="275"/>
              <a:buFont typeface="Courier New"/>
              <a:buNone/>
            </a:pPr>
            <a:r>
              <a:rPr i="0" lang="en-US" sz="1100" u="none" cap="none" strike="noStrike">
                <a:solidFill>
                  <a:srgbClr val="00FF00"/>
                </a:solidFill>
                <a:latin typeface="Courier"/>
                <a:ea typeface="Courier"/>
                <a:cs typeface="Courier"/>
                <a:sym typeface="Courier"/>
              </a:rPr>
              <a:t>l</a:t>
            </a:r>
            <a:r>
              <a:rPr i="0" lang="en-US" sz="1100" u="none" cap="none" strike="noStrike">
                <a:solidFill>
                  <a:schemeClr val="lt1"/>
                </a:solidFill>
                <a:latin typeface="Courier"/>
                <a:ea typeface="Courier"/>
                <a:cs typeface="Courier"/>
                <a:sym typeface="Courier"/>
              </a:rPr>
              <a:t> = </a:t>
            </a:r>
            <a:r>
              <a:rPr i="0" lang="en-US" sz="1100" u="none" cap="none" strike="noStrike">
                <a:solidFill>
                  <a:srgbClr val="FF00FF"/>
                </a:solidFill>
                <a:latin typeface="Courier"/>
                <a:ea typeface="Courier"/>
                <a:cs typeface="Courier"/>
                <a:sym typeface="Courier"/>
              </a:rPr>
              <a:t>list</a:t>
            </a:r>
            <a:r>
              <a:rPr i="0" lang="en-US" sz="1100" u="none" cap="none" strike="noStrike">
                <a:solidFill>
                  <a:schemeClr val="lt1"/>
                </a:solidFill>
                <a:latin typeface="Courier"/>
                <a:ea typeface="Courier"/>
                <a:cs typeface="Courier"/>
                <a:sym typeface="Courier"/>
              </a:rPr>
              <a:t>()</a:t>
            </a:r>
            <a:endParaRPr/>
          </a:p>
          <a:p>
            <a:pPr indent="0" lvl="0" marL="0" marR="0" rtl="0" algn="l">
              <a:lnSpc>
                <a:spcPct val="100000"/>
              </a:lnSpc>
              <a:spcBef>
                <a:spcPts val="0"/>
              </a:spcBef>
              <a:spcAft>
                <a:spcPts val="0"/>
              </a:spcAft>
              <a:buClr>
                <a:schemeClr val="lt1"/>
              </a:buClr>
              <a:buSzPts val="275"/>
              <a:buFont typeface="Courier New"/>
              <a:buNone/>
            </a:pPr>
            <a:r>
              <a:rPr i="0" lang="en-US" sz="1100" u="none" cap="none" strike="noStrike">
                <a:solidFill>
                  <a:srgbClr val="FF00FF"/>
                </a:solidFill>
                <a:latin typeface="Courier"/>
                <a:ea typeface="Courier"/>
                <a:cs typeface="Courier"/>
                <a:sym typeface="Courier"/>
              </a:rPr>
              <a:t>dir</a:t>
            </a:r>
            <a:r>
              <a:rPr i="0" lang="en-US" sz="1100" u="none" cap="none" strike="noStrike">
                <a:solidFill>
                  <a:schemeClr val="lt1"/>
                </a:solidFill>
                <a:latin typeface="Courier"/>
                <a:ea typeface="Courier"/>
                <a:cs typeface="Courier"/>
                <a:sym typeface="Courier"/>
              </a:rPr>
              <a:t>(</a:t>
            </a:r>
            <a:r>
              <a:rPr i="0" lang="en-US" sz="1100" u="none" cap="none" strike="noStrike">
                <a:solidFill>
                  <a:srgbClr val="00FF00"/>
                </a:solidFill>
                <a:latin typeface="Courier"/>
                <a:ea typeface="Courier"/>
                <a:cs typeface="Courier"/>
                <a:sym typeface="Courier"/>
              </a:rPr>
              <a:t>l</a:t>
            </a:r>
            <a:r>
              <a:rPr i="0" lang="en-US" sz="1100" u="none" cap="none" strike="noStrike">
                <a:solidFill>
                  <a:schemeClr val="lt1"/>
                </a:solidFill>
                <a:latin typeface="Courier"/>
                <a:ea typeface="Courier"/>
                <a:cs typeface="Courier"/>
                <a:sym typeface="Courier"/>
              </a:rPr>
              <a:t>)</a:t>
            </a:r>
            <a:endParaRPr/>
          </a:p>
          <a:p>
            <a:pPr indent="0" lvl="0" marL="0" marR="0" rtl="0" algn="l">
              <a:lnSpc>
                <a:spcPct val="100000"/>
              </a:lnSpc>
              <a:spcBef>
                <a:spcPts val="0"/>
              </a:spcBef>
              <a:spcAft>
                <a:spcPts val="0"/>
              </a:spcAft>
              <a:buClr>
                <a:schemeClr val="lt1"/>
              </a:buClr>
              <a:buSzPts val="275"/>
              <a:buFont typeface="Courier New"/>
              <a:buNone/>
            </a:pPr>
            <a:r>
              <a:rPr i="0" lang="en-US" sz="1100" u="none" cap="none" strike="noStrike">
                <a:solidFill>
                  <a:schemeClr val="lt1"/>
                </a:solidFill>
                <a:latin typeface="Courier"/>
                <a:ea typeface="Courier"/>
                <a:cs typeface="Courier"/>
                <a:sym typeface="Courier"/>
              </a:rPr>
              <a:t>['append', 'count', 'extend', 'index', 'insert', 'pop', 'remove', 'reverse', 'sort']</a:t>
            </a:r>
            <a:endParaRPr/>
          </a:p>
          <a:p>
            <a:pPr indent="0" lvl="0" marL="0" marR="0" rtl="0" algn="ctr">
              <a:lnSpc>
                <a:spcPct val="100000"/>
              </a:lnSpc>
              <a:spcBef>
                <a:spcPts val="0"/>
              </a:spcBef>
              <a:spcAft>
                <a:spcPts val="0"/>
              </a:spcAft>
              <a:buClr>
                <a:srgbClr val="000000"/>
              </a:buClr>
              <a:buSzPts val="1100"/>
              <a:buFont typeface="Arial"/>
              <a:buNone/>
            </a:pPr>
            <a:r>
              <a:t/>
            </a:r>
            <a:endParaRPr i="0" sz="1100" u="none" cap="none" strike="noStrike">
              <a:solidFill>
                <a:schemeClr val="lt1"/>
              </a:solidFill>
              <a:latin typeface="Courier"/>
              <a:ea typeface="Courier"/>
              <a:cs typeface="Courier"/>
              <a:sym typeface="Courier"/>
            </a:endParaRPr>
          </a:p>
          <a:p>
            <a:pPr indent="0" lvl="0" marL="0" marR="0" rtl="0" algn="l">
              <a:lnSpc>
                <a:spcPct val="100000"/>
              </a:lnSpc>
              <a:spcBef>
                <a:spcPts val="0"/>
              </a:spcBef>
              <a:spcAft>
                <a:spcPts val="0"/>
              </a:spcAft>
              <a:buClr>
                <a:schemeClr val="lt1"/>
              </a:buClr>
              <a:buSzPts val="275"/>
              <a:buFont typeface="Courier New"/>
              <a:buNone/>
            </a:pPr>
            <a:r>
              <a:rPr i="0" lang="en-US" sz="1100" u="none" cap="none" strike="noStrike">
                <a:solidFill>
                  <a:srgbClr val="00FF00"/>
                </a:solidFill>
                <a:latin typeface="Courier"/>
                <a:ea typeface="Courier"/>
                <a:cs typeface="Courier"/>
                <a:sym typeface="Courier"/>
              </a:rPr>
              <a:t>t</a:t>
            </a:r>
            <a:r>
              <a:rPr i="0" lang="en-US" sz="1100" u="none" cap="none" strike="noStrike">
                <a:solidFill>
                  <a:schemeClr val="lt1"/>
                </a:solidFill>
                <a:latin typeface="Courier"/>
                <a:ea typeface="Courier"/>
                <a:cs typeface="Courier"/>
                <a:sym typeface="Courier"/>
              </a:rPr>
              <a:t> = </a:t>
            </a:r>
            <a:r>
              <a:rPr i="0" lang="en-US" sz="1100" u="none" cap="none" strike="noStrike">
                <a:solidFill>
                  <a:srgbClr val="FF00FF"/>
                </a:solidFill>
                <a:latin typeface="Courier"/>
                <a:ea typeface="Courier"/>
                <a:cs typeface="Courier"/>
                <a:sym typeface="Courier"/>
              </a:rPr>
              <a:t>tuple</a:t>
            </a:r>
            <a:r>
              <a:rPr i="0" lang="en-US" sz="1100" u="none" cap="none" strike="noStrike">
                <a:solidFill>
                  <a:schemeClr val="lt1"/>
                </a:solidFill>
                <a:latin typeface="Courier"/>
                <a:ea typeface="Courier"/>
                <a:cs typeface="Courier"/>
                <a:sym typeface="Courier"/>
              </a:rPr>
              <a:t>()</a:t>
            </a:r>
            <a:endParaRPr/>
          </a:p>
          <a:p>
            <a:pPr indent="0" lvl="0" marL="0" marR="0" rtl="0" algn="l">
              <a:lnSpc>
                <a:spcPct val="100000"/>
              </a:lnSpc>
              <a:spcBef>
                <a:spcPts val="0"/>
              </a:spcBef>
              <a:spcAft>
                <a:spcPts val="0"/>
              </a:spcAft>
              <a:buClr>
                <a:schemeClr val="lt1"/>
              </a:buClr>
              <a:buSzPts val="275"/>
              <a:buFont typeface="Courier New"/>
              <a:buNone/>
            </a:pPr>
            <a:r>
              <a:rPr i="0" lang="en-US" sz="1100" u="none" cap="none" strike="noStrike">
                <a:solidFill>
                  <a:srgbClr val="FF00FF"/>
                </a:solidFill>
                <a:latin typeface="Courier"/>
                <a:ea typeface="Courier"/>
                <a:cs typeface="Courier"/>
                <a:sym typeface="Courier"/>
              </a:rPr>
              <a:t>dir</a:t>
            </a:r>
            <a:r>
              <a:rPr i="0" lang="en-US" sz="1100" u="none" cap="none" strike="noStrike">
                <a:solidFill>
                  <a:schemeClr val="lt1"/>
                </a:solidFill>
                <a:latin typeface="Courier"/>
                <a:ea typeface="Courier"/>
                <a:cs typeface="Courier"/>
                <a:sym typeface="Courier"/>
              </a:rPr>
              <a:t>(</a:t>
            </a:r>
            <a:r>
              <a:rPr i="0" lang="en-US" sz="1100" u="none" cap="none" strike="noStrike">
                <a:solidFill>
                  <a:srgbClr val="00FF00"/>
                </a:solidFill>
                <a:latin typeface="Courier"/>
                <a:ea typeface="Courier"/>
                <a:cs typeface="Courier"/>
                <a:sym typeface="Courier"/>
              </a:rPr>
              <a:t>t</a:t>
            </a:r>
            <a:r>
              <a:rPr i="0" lang="en-US" sz="1100" u="none" cap="none" strike="noStrike">
                <a:solidFill>
                  <a:schemeClr val="lt1"/>
                </a:solidFill>
                <a:latin typeface="Courier"/>
                <a:ea typeface="Courier"/>
                <a:cs typeface="Courier"/>
                <a:sym typeface="Courier"/>
              </a:rPr>
              <a:t>)</a:t>
            </a:r>
            <a:endParaRPr/>
          </a:p>
          <a:p>
            <a:pPr indent="0" lvl="0" marL="0" marR="0" rtl="0" algn="l">
              <a:lnSpc>
                <a:spcPct val="100000"/>
              </a:lnSpc>
              <a:spcBef>
                <a:spcPts val="0"/>
              </a:spcBef>
              <a:spcAft>
                <a:spcPts val="0"/>
              </a:spcAft>
              <a:buClr>
                <a:schemeClr val="lt1"/>
              </a:buClr>
              <a:buSzPts val="275"/>
              <a:buFont typeface="Courier New"/>
              <a:buNone/>
            </a:pPr>
            <a:r>
              <a:rPr i="0" lang="en-US" sz="1100" u="none" cap="none" strike="noStrike">
                <a:solidFill>
                  <a:schemeClr val="lt1"/>
                </a:solidFill>
                <a:latin typeface="Courier"/>
                <a:ea typeface="Courier"/>
                <a:cs typeface="Courier"/>
                <a:sym typeface="Courier"/>
              </a:rPr>
              <a:t>['count', 'index']</a:t>
            </a:r>
            <a:endParaRPr/>
          </a:p>
          <a:p>
            <a:pPr indent="0" lvl="0" marL="0" marR="0" rtl="0" algn="l">
              <a:spcBef>
                <a:spcPts val="0"/>
              </a:spcBef>
              <a:spcAft>
                <a:spcPts val="0"/>
              </a:spcAft>
              <a:buClr>
                <a:schemeClr val="dk1"/>
              </a:buClr>
              <a:buSzPts val="275"/>
              <a:buFont typeface="Arial"/>
              <a:buNone/>
            </a:pPr>
            <a:r>
              <a:t/>
            </a:r>
            <a:endParaRPr b="0" i="0" sz="1100" u="none" cap="none" strike="noStrike">
              <a:solidFill>
                <a:schemeClr val="dk1"/>
              </a:solidFill>
              <a:latin typeface="Arial"/>
              <a:ea typeface="Arial"/>
              <a:cs typeface="Arial"/>
              <a:sym typeface="Arial"/>
            </a:endParaRPr>
          </a:p>
        </p:txBody>
      </p:sp>
      <p:sp>
        <p:nvSpPr>
          <p:cNvPr id="45" name="Google Shape;45;p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 name="Shape 49"/>
        <p:cNvGrpSpPr/>
        <p:nvPr/>
      </p:nvGrpSpPr>
      <p:grpSpPr>
        <a:xfrm>
          <a:off x="0" y="0"/>
          <a:ext cx="0" cy="0"/>
          <a:chOff x="0" y="0"/>
          <a:chExt cx="0" cy="0"/>
        </a:xfrm>
      </p:grpSpPr>
      <p:sp>
        <p:nvSpPr>
          <p:cNvPr id="50" name="Google Shape;50;p5:notes"/>
          <p:cNvSpPr txBox="1"/>
          <p:nvPr>
            <p:ph idx="1" type="body"/>
          </p:nvPr>
        </p:nvSpPr>
        <p:spPr>
          <a:xfrm>
            <a:off x="685800" y="4343400"/>
            <a:ext cx="5486399" cy="41148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lt1"/>
              </a:buClr>
              <a:buSzPts val="275"/>
              <a:buFont typeface="Arial"/>
              <a:buNone/>
            </a:pPr>
            <a:r>
              <a:rPr lang="en-US" sz="1100" u="none" cap="none" strike="noStrike">
                <a:solidFill>
                  <a:schemeClr val="lt1"/>
                </a:solidFill>
                <a:latin typeface="Arial"/>
                <a:ea typeface="Arial"/>
                <a:cs typeface="Arial"/>
                <a:sym typeface="Arial"/>
              </a:rPr>
              <a:t>Since Python does not have to build tuple structures to be modifiable, they are simpler and more efficient in terms of memory use and performance than lists. Therefore, if you are making temporary variables, you should prefer using tuples over lists in storing such temporary variables for memory/performance efficiency! </a:t>
            </a:r>
            <a:endParaRPr sz="1100" u="none" cap="none" strike="noStrike">
              <a:solidFill>
                <a:schemeClr val="lt1"/>
              </a:solidFill>
              <a:latin typeface="Arial"/>
              <a:ea typeface="Arial"/>
              <a:cs typeface="Arial"/>
              <a:sym typeface="Arial"/>
            </a:endParaRPr>
          </a:p>
          <a:p>
            <a:pPr indent="0" lvl="0" marL="0" marR="0" rtl="0" algn="l">
              <a:spcBef>
                <a:spcPts val="0"/>
              </a:spcBef>
              <a:spcAft>
                <a:spcPts val="0"/>
              </a:spcAft>
              <a:buClr>
                <a:schemeClr val="dk1"/>
              </a:buClr>
              <a:buSzPts val="275"/>
              <a:buFont typeface="Arial"/>
              <a:buNone/>
            </a:pPr>
            <a:r>
              <a:t/>
            </a:r>
            <a:endParaRPr b="0" i="0" sz="1100" u="none" cap="none" strike="noStrike"/>
          </a:p>
        </p:txBody>
      </p:sp>
      <p:sp>
        <p:nvSpPr>
          <p:cNvPr id="51" name="Google Shape;51;p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p6:notes"/>
          <p:cNvSpPr txBox="1"/>
          <p:nvPr>
            <p:ph idx="1" type="body"/>
          </p:nvPr>
        </p:nvSpPr>
        <p:spPr>
          <a:xfrm>
            <a:off x="685800" y="4343400"/>
            <a:ext cx="5486399" cy="4114800"/>
          </a:xfrm>
          <a:prstGeom prst="rect">
            <a:avLst/>
          </a:prstGeom>
          <a:no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275"/>
              <a:buFont typeface="Arial"/>
              <a:buNone/>
            </a:pPr>
            <a:r>
              <a:rPr b="0" i="0" lang="en-US" sz="1100" u="none" cap="none" strike="noStrike"/>
              <a:t>One of the unique features of the Python language is the ability to have a tuple on the left side of an assignment statement. This allows you to assign more than one variable at a time when the left side is a sequence. You can even omit the parentheses in doing so. For example,</a:t>
            </a:r>
            <a:endParaRPr/>
          </a:p>
          <a:p>
            <a:pPr indent="0" lvl="0" marL="0" marR="0" rtl="0" algn="l">
              <a:spcBef>
                <a:spcPts val="0"/>
              </a:spcBef>
              <a:spcAft>
                <a:spcPts val="0"/>
              </a:spcAft>
              <a:buClr>
                <a:schemeClr val="dk1"/>
              </a:buClr>
              <a:buSzPts val="275"/>
              <a:buFont typeface="Arial"/>
              <a:buNone/>
            </a:pPr>
            <a:r>
              <a:t/>
            </a:r>
            <a:endParaRPr b="0" i="0" sz="1100" u="none" cap="none" strike="noStrike"/>
          </a:p>
          <a:p>
            <a:pPr indent="0" lvl="0" marL="0" marR="0" rtl="0" algn="l">
              <a:lnSpc>
                <a:spcPct val="100000"/>
              </a:lnSpc>
              <a:spcBef>
                <a:spcPts val="0"/>
              </a:spcBef>
              <a:spcAft>
                <a:spcPts val="0"/>
              </a:spcAft>
              <a:buClr>
                <a:schemeClr val="lt1"/>
              </a:buClr>
              <a:buSzPts val="275"/>
              <a:buFont typeface="Courier New"/>
              <a:buNone/>
            </a:pPr>
            <a:r>
              <a:rPr i="0" lang="en-US" sz="1100" u="none" cap="none" strike="noStrike">
                <a:solidFill>
                  <a:srgbClr val="FF7F00"/>
                </a:solidFill>
                <a:latin typeface="Courier"/>
                <a:ea typeface="Courier"/>
                <a:cs typeface="Courier"/>
                <a:sym typeface="Courier"/>
              </a:rPr>
              <a:t>(x, y)</a:t>
            </a:r>
            <a:r>
              <a:rPr i="0" lang="en-US" sz="1100" u="none" cap="none" strike="noStrike">
                <a:solidFill>
                  <a:schemeClr val="lt1"/>
                </a:solidFill>
                <a:latin typeface="Courier"/>
                <a:ea typeface="Courier"/>
                <a:cs typeface="Courier"/>
                <a:sym typeface="Courier"/>
              </a:rPr>
              <a:t> = </a:t>
            </a:r>
            <a:r>
              <a:rPr i="0" lang="en-US" sz="1100" u="none" cap="none" strike="noStrike">
                <a:solidFill>
                  <a:srgbClr val="FF7F00"/>
                </a:solidFill>
                <a:latin typeface="Courier"/>
                <a:ea typeface="Courier"/>
                <a:cs typeface="Courier"/>
                <a:sym typeface="Courier"/>
              </a:rPr>
              <a:t>(4, 'fred')</a:t>
            </a:r>
            <a:endParaRPr/>
          </a:p>
          <a:p>
            <a:pPr indent="0" lvl="0" marL="0" rtl="0" algn="l">
              <a:spcBef>
                <a:spcPts val="0"/>
              </a:spcBef>
              <a:spcAft>
                <a:spcPts val="0"/>
              </a:spcAft>
              <a:buClr>
                <a:schemeClr val="lt1"/>
              </a:buClr>
              <a:buSzPts val="275"/>
              <a:buFont typeface="Courier"/>
              <a:buNone/>
            </a:pPr>
            <a:r>
              <a:rPr i="0" lang="en-US" sz="1100" u="none" cap="none" strike="noStrike">
                <a:solidFill>
                  <a:srgbClr val="FFFF00"/>
                </a:solidFill>
                <a:latin typeface="Courier"/>
                <a:ea typeface="Courier"/>
                <a:cs typeface="Courier"/>
                <a:sym typeface="Courier"/>
              </a:rPr>
              <a:t>print(</a:t>
            </a:r>
            <a:r>
              <a:rPr i="0" lang="en-US" sz="1100" u="none" cap="none" strike="noStrike">
                <a:solidFill>
                  <a:srgbClr val="00FF00"/>
                </a:solidFill>
                <a:latin typeface="Courier"/>
                <a:ea typeface="Courier"/>
                <a:cs typeface="Courier"/>
                <a:sym typeface="Courier"/>
              </a:rPr>
              <a:t>y</a:t>
            </a:r>
            <a:r>
              <a:rPr lang="en-US" sz="1100">
                <a:solidFill>
                  <a:srgbClr val="FFFF00"/>
                </a:solidFill>
                <a:latin typeface="Courier"/>
                <a:ea typeface="Courier"/>
                <a:cs typeface="Courier"/>
                <a:sym typeface="Courier"/>
              </a:rPr>
              <a:t>)</a:t>
            </a:r>
            <a:endParaRPr i="0" sz="1100" u="none" cap="none" strike="noStrike">
              <a:solidFill>
                <a:srgbClr val="00FF00"/>
              </a:solidFill>
              <a:latin typeface="Courier"/>
              <a:ea typeface="Courier"/>
              <a:cs typeface="Courier"/>
              <a:sym typeface="Courier"/>
            </a:endParaRPr>
          </a:p>
          <a:p>
            <a:pPr indent="0" lvl="0" marL="0" marR="0" rtl="0" algn="l">
              <a:lnSpc>
                <a:spcPct val="100000"/>
              </a:lnSpc>
              <a:spcBef>
                <a:spcPts val="0"/>
              </a:spcBef>
              <a:spcAft>
                <a:spcPts val="0"/>
              </a:spcAft>
              <a:buClr>
                <a:schemeClr val="lt1"/>
              </a:buClr>
              <a:buSzPts val="275"/>
              <a:buFont typeface="Courier New"/>
              <a:buNone/>
            </a:pPr>
            <a:r>
              <a:rPr i="0" lang="en-US" sz="1100" u="none" cap="none" strike="noStrike">
                <a:solidFill>
                  <a:schemeClr val="lt1"/>
                </a:solidFill>
                <a:latin typeface="Courier"/>
                <a:ea typeface="Courier"/>
                <a:cs typeface="Courier"/>
                <a:sym typeface="Courier"/>
              </a:rPr>
              <a:t>Fred</a:t>
            </a:r>
            <a:endParaRPr/>
          </a:p>
          <a:p>
            <a:pPr indent="0" lvl="0" marL="0" marR="0" rtl="0" algn="l">
              <a:lnSpc>
                <a:spcPct val="100000"/>
              </a:lnSpc>
              <a:spcBef>
                <a:spcPts val="0"/>
              </a:spcBef>
              <a:spcAft>
                <a:spcPts val="0"/>
              </a:spcAft>
              <a:buClr>
                <a:schemeClr val="lt1"/>
              </a:buClr>
              <a:buSzPts val="275"/>
              <a:buFont typeface="Courier New"/>
              <a:buNone/>
            </a:pPr>
            <a:r>
              <a:t/>
            </a:r>
            <a:endParaRPr i="0" sz="1100" u="none" cap="none" strike="noStrike">
              <a:solidFill>
                <a:schemeClr val="lt1"/>
              </a:solidFill>
              <a:latin typeface="Courier"/>
              <a:ea typeface="Courier"/>
              <a:cs typeface="Courier"/>
              <a:sym typeface="Courier"/>
            </a:endParaRPr>
          </a:p>
          <a:p>
            <a:pPr indent="0" lvl="0" marL="0" marR="0" rtl="0" algn="l">
              <a:lnSpc>
                <a:spcPct val="100000"/>
              </a:lnSpc>
              <a:spcBef>
                <a:spcPts val="0"/>
              </a:spcBef>
              <a:spcAft>
                <a:spcPts val="0"/>
              </a:spcAft>
              <a:buClr>
                <a:schemeClr val="lt1"/>
              </a:buClr>
              <a:buSzPts val="275"/>
              <a:buFont typeface="Courier New"/>
              <a:buNone/>
            </a:pPr>
            <a:r>
              <a:rPr i="0" lang="en-US" sz="1100" u="none" cap="none" strike="noStrike">
                <a:solidFill>
                  <a:srgbClr val="FF7F00"/>
                </a:solidFill>
                <a:latin typeface="Courier"/>
                <a:ea typeface="Courier"/>
                <a:cs typeface="Courier"/>
                <a:sym typeface="Courier"/>
              </a:rPr>
              <a:t>(a, b)</a:t>
            </a:r>
            <a:r>
              <a:rPr i="0" lang="en-US" sz="1100" u="none" cap="none" strike="noStrike">
                <a:solidFill>
                  <a:schemeClr val="lt1"/>
                </a:solidFill>
                <a:latin typeface="Courier"/>
                <a:ea typeface="Courier"/>
                <a:cs typeface="Courier"/>
                <a:sym typeface="Courier"/>
              </a:rPr>
              <a:t> = </a:t>
            </a:r>
            <a:r>
              <a:rPr i="0" lang="en-US" sz="1100" u="none" cap="none" strike="noStrike">
                <a:solidFill>
                  <a:srgbClr val="FF7F00"/>
                </a:solidFill>
                <a:latin typeface="Courier"/>
                <a:ea typeface="Courier"/>
                <a:cs typeface="Courier"/>
                <a:sym typeface="Courier"/>
              </a:rPr>
              <a:t>(99, 98)</a:t>
            </a:r>
            <a:endParaRPr/>
          </a:p>
          <a:p>
            <a:pPr indent="0" lvl="0" marL="0" rtl="0" algn="l">
              <a:spcBef>
                <a:spcPts val="0"/>
              </a:spcBef>
              <a:spcAft>
                <a:spcPts val="0"/>
              </a:spcAft>
              <a:buClr>
                <a:schemeClr val="lt1"/>
              </a:buClr>
              <a:buSzPts val="275"/>
              <a:buFont typeface="Courier"/>
              <a:buNone/>
            </a:pPr>
            <a:r>
              <a:rPr i="0" lang="en-US" sz="1100" u="none" cap="none" strike="noStrike">
                <a:solidFill>
                  <a:srgbClr val="FFFF00"/>
                </a:solidFill>
                <a:latin typeface="Courier"/>
                <a:ea typeface="Courier"/>
                <a:cs typeface="Courier"/>
                <a:sym typeface="Courier"/>
              </a:rPr>
              <a:t>print(</a:t>
            </a:r>
            <a:r>
              <a:rPr i="0" lang="en-US" sz="1100" u="none" cap="none" strike="noStrike">
                <a:solidFill>
                  <a:srgbClr val="00FF00"/>
                </a:solidFill>
                <a:latin typeface="Courier"/>
                <a:ea typeface="Courier"/>
                <a:cs typeface="Courier"/>
                <a:sym typeface="Courier"/>
              </a:rPr>
              <a:t>a</a:t>
            </a:r>
            <a:r>
              <a:rPr lang="en-US" sz="1100">
                <a:solidFill>
                  <a:srgbClr val="FFFF00"/>
                </a:solidFill>
                <a:latin typeface="Courier"/>
                <a:ea typeface="Courier"/>
                <a:cs typeface="Courier"/>
                <a:sym typeface="Courier"/>
              </a:rPr>
              <a:t>)</a:t>
            </a:r>
            <a:endParaRPr i="0" sz="1100" u="none" cap="none" strike="noStrike">
              <a:solidFill>
                <a:srgbClr val="00FF00"/>
              </a:solidFill>
              <a:latin typeface="Courier"/>
              <a:ea typeface="Courier"/>
              <a:cs typeface="Courier"/>
              <a:sym typeface="Courier"/>
            </a:endParaRPr>
          </a:p>
          <a:p>
            <a:pPr indent="0" lvl="0" marL="0" marR="0" rtl="0" algn="l">
              <a:lnSpc>
                <a:spcPct val="100000"/>
              </a:lnSpc>
              <a:spcBef>
                <a:spcPts val="0"/>
              </a:spcBef>
              <a:spcAft>
                <a:spcPts val="0"/>
              </a:spcAft>
              <a:buClr>
                <a:schemeClr val="lt1"/>
              </a:buClr>
              <a:buSzPts val="275"/>
              <a:buFont typeface="Courier New"/>
              <a:buNone/>
            </a:pPr>
            <a:r>
              <a:rPr i="0" lang="en-US" sz="1100" u="none" cap="none" strike="noStrike">
                <a:solidFill>
                  <a:schemeClr val="lt1"/>
                </a:solidFill>
                <a:latin typeface="Courier"/>
                <a:ea typeface="Courier"/>
                <a:cs typeface="Courier"/>
                <a:sym typeface="Courier"/>
              </a:rPr>
              <a:t>99</a:t>
            </a:r>
            <a:endParaRPr/>
          </a:p>
          <a:p>
            <a:pPr indent="0" lvl="0" marL="0" marR="0" rtl="0" algn="l">
              <a:spcBef>
                <a:spcPts val="0"/>
              </a:spcBef>
              <a:spcAft>
                <a:spcPts val="0"/>
              </a:spcAft>
              <a:buClr>
                <a:schemeClr val="dk1"/>
              </a:buClr>
              <a:buSzPts val="275"/>
              <a:buFont typeface="Arial"/>
              <a:buNone/>
            </a:pPr>
            <a:r>
              <a:t/>
            </a:r>
            <a:endParaRPr b="0" i="0" sz="1100" u="none" cap="none" strike="noStrike"/>
          </a:p>
        </p:txBody>
      </p:sp>
      <p:sp>
        <p:nvSpPr>
          <p:cNvPr id="57" name="Google Shape;57;p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p7:notes"/>
          <p:cNvSpPr txBox="1"/>
          <p:nvPr>
            <p:ph idx="1" type="body"/>
          </p:nvPr>
        </p:nvSpPr>
        <p:spPr>
          <a:xfrm>
            <a:off x="685800" y="4343400"/>
            <a:ext cx="5486399" cy="4114800"/>
          </a:xfrm>
          <a:prstGeom prst="rect">
            <a:avLst/>
          </a:prstGeom>
          <a:no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275"/>
              <a:buFont typeface="Arial"/>
              <a:buNone/>
            </a:pPr>
            <a:r>
              <a:rPr b="0" i="0" lang="en-US" sz="1100" u="none" cap="none" strike="noStrike"/>
              <a:t>Dictionaries have a method called items that returns a list of tuples, where each tuple is a key-value pair: </a:t>
            </a:r>
            <a:endParaRPr/>
          </a:p>
          <a:p>
            <a:pPr indent="0" lvl="0" marL="0" marR="0" rtl="0" algn="l">
              <a:spcBef>
                <a:spcPts val="0"/>
              </a:spcBef>
              <a:spcAft>
                <a:spcPts val="0"/>
              </a:spcAft>
              <a:buClr>
                <a:schemeClr val="dk1"/>
              </a:buClr>
              <a:buSzPts val="275"/>
              <a:buFont typeface="Arial"/>
              <a:buNone/>
            </a:pPr>
            <a:r>
              <a:t/>
            </a:r>
            <a:endParaRPr b="0" i="0" sz="1100" u="none" cap="none" strike="noStrike"/>
          </a:p>
          <a:p>
            <a:pPr indent="0" lvl="0" marL="0" marR="0" rtl="0" algn="l">
              <a:lnSpc>
                <a:spcPct val="100000"/>
              </a:lnSpc>
              <a:spcBef>
                <a:spcPts val="0"/>
              </a:spcBef>
              <a:spcAft>
                <a:spcPts val="0"/>
              </a:spcAft>
              <a:buClr>
                <a:schemeClr val="lt1"/>
              </a:buClr>
              <a:buSzPts val="275"/>
              <a:buFont typeface="Courier New"/>
              <a:buNone/>
            </a:pPr>
            <a:r>
              <a:rPr i="0" lang="en-US" sz="1100" u="none" cap="none" strike="noStrike">
                <a:solidFill>
                  <a:schemeClr val="lt1"/>
                </a:solidFill>
                <a:latin typeface="Courier"/>
                <a:ea typeface="Courier"/>
                <a:cs typeface="Courier"/>
                <a:sym typeface="Courier"/>
              </a:rPr>
              <a:t>d = dict()</a:t>
            </a:r>
            <a:endParaRPr/>
          </a:p>
          <a:p>
            <a:pPr indent="0" lvl="0" marL="0" marR="0" rtl="0" algn="l">
              <a:lnSpc>
                <a:spcPct val="100000"/>
              </a:lnSpc>
              <a:spcBef>
                <a:spcPts val="0"/>
              </a:spcBef>
              <a:spcAft>
                <a:spcPts val="0"/>
              </a:spcAft>
              <a:buClr>
                <a:schemeClr val="lt1"/>
              </a:buClr>
              <a:buSzPts val="275"/>
              <a:buFont typeface="Courier New"/>
              <a:buNone/>
            </a:pPr>
            <a:r>
              <a:rPr i="0" lang="en-US" sz="1100" u="none" cap="none" strike="noStrike">
                <a:solidFill>
                  <a:srgbClr val="00FF00"/>
                </a:solidFill>
                <a:latin typeface="Courier"/>
                <a:ea typeface="Courier"/>
                <a:cs typeface="Courier"/>
                <a:sym typeface="Courier"/>
              </a:rPr>
              <a:t>d</a:t>
            </a:r>
            <a:r>
              <a:rPr i="0" lang="en-US" sz="1100" u="none" cap="none" strike="noStrike">
                <a:solidFill>
                  <a:srgbClr val="00FFFF"/>
                </a:solidFill>
                <a:latin typeface="Courier"/>
                <a:ea typeface="Courier"/>
                <a:cs typeface="Courier"/>
                <a:sym typeface="Courier"/>
              </a:rPr>
              <a:t>[’a']</a:t>
            </a:r>
            <a:r>
              <a:rPr i="0" lang="en-US" sz="1100" u="none" cap="none" strike="noStrike">
                <a:solidFill>
                  <a:schemeClr val="lt1"/>
                </a:solidFill>
                <a:latin typeface="Courier"/>
                <a:ea typeface="Courier"/>
                <a:cs typeface="Courier"/>
                <a:sym typeface="Courier"/>
              </a:rPr>
              <a:t> = 2</a:t>
            </a:r>
            <a:endParaRPr/>
          </a:p>
          <a:p>
            <a:pPr indent="0" lvl="0" marL="0" marR="0" rtl="0" algn="l">
              <a:lnSpc>
                <a:spcPct val="100000"/>
              </a:lnSpc>
              <a:spcBef>
                <a:spcPts val="0"/>
              </a:spcBef>
              <a:spcAft>
                <a:spcPts val="0"/>
              </a:spcAft>
              <a:buClr>
                <a:schemeClr val="lt1"/>
              </a:buClr>
              <a:buSzPts val="275"/>
              <a:buFont typeface="Courier New"/>
              <a:buNone/>
            </a:pPr>
            <a:r>
              <a:rPr i="0" lang="en-US" sz="1100" u="none" cap="none" strike="noStrike">
                <a:solidFill>
                  <a:srgbClr val="00FF00"/>
                </a:solidFill>
                <a:latin typeface="Courier"/>
                <a:ea typeface="Courier"/>
                <a:cs typeface="Courier"/>
                <a:sym typeface="Courier"/>
              </a:rPr>
              <a:t>d</a:t>
            </a:r>
            <a:r>
              <a:rPr i="0" lang="en-US" sz="1100" u="none" cap="none" strike="noStrike">
                <a:solidFill>
                  <a:srgbClr val="00FFFF"/>
                </a:solidFill>
                <a:latin typeface="Courier"/>
                <a:ea typeface="Courier"/>
                <a:cs typeface="Courier"/>
                <a:sym typeface="Courier"/>
              </a:rPr>
              <a:t>[’b']</a:t>
            </a:r>
            <a:r>
              <a:rPr i="0" lang="en-US" sz="1100" u="none" cap="none" strike="noStrike">
                <a:solidFill>
                  <a:schemeClr val="lt1"/>
                </a:solidFill>
                <a:latin typeface="Courier"/>
                <a:ea typeface="Courier"/>
                <a:cs typeface="Courier"/>
                <a:sym typeface="Courier"/>
              </a:rPr>
              <a:t> = 4</a:t>
            </a:r>
            <a:endParaRPr/>
          </a:p>
          <a:p>
            <a:pPr indent="0" lvl="0" marL="0" marR="0" rtl="0" algn="l">
              <a:spcBef>
                <a:spcPts val="0"/>
              </a:spcBef>
              <a:spcAft>
                <a:spcPts val="0"/>
              </a:spcAft>
              <a:buClr>
                <a:schemeClr val="dk1"/>
              </a:buClr>
              <a:buSzPts val="275"/>
              <a:buFont typeface="Arial"/>
              <a:buNone/>
            </a:pPr>
            <a:r>
              <a:rPr b="0" i="0" lang="en-US" sz="1100" u="none" cap="none" strike="noStrike"/>
              <a:t>print(d) </a:t>
            </a:r>
            <a:endParaRPr/>
          </a:p>
          <a:p>
            <a:pPr indent="0" lvl="0" marL="0" marR="0" rtl="0" algn="l">
              <a:spcBef>
                <a:spcPts val="0"/>
              </a:spcBef>
              <a:spcAft>
                <a:spcPts val="0"/>
              </a:spcAft>
              <a:buClr>
                <a:schemeClr val="dk1"/>
              </a:buClr>
              <a:buSzPts val="275"/>
              <a:buFont typeface="Arial"/>
              <a:buNone/>
            </a:pPr>
            <a:r>
              <a:rPr b="0" i="0" lang="en-US" sz="1100" u="none" cap="none" strike="noStrike"/>
              <a:t>{'a':2, 'b':4} </a:t>
            </a:r>
            <a:endParaRPr b="0" i="0" sz="1100" u="none" cap="none" strike="noStrike"/>
          </a:p>
          <a:p>
            <a:pPr indent="0" lvl="0" marL="0" marR="0" rtl="0" algn="l">
              <a:spcBef>
                <a:spcPts val="0"/>
              </a:spcBef>
              <a:spcAft>
                <a:spcPts val="0"/>
              </a:spcAft>
              <a:buClr>
                <a:schemeClr val="dk1"/>
              </a:buClr>
              <a:buSzPts val="275"/>
              <a:buFont typeface="Arial"/>
              <a:buNone/>
            </a:pPr>
            <a:r>
              <a:t/>
            </a:r>
            <a:endParaRPr b="0" i="0" sz="1100" u="none" cap="none" strike="noStrike"/>
          </a:p>
          <a:p>
            <a:pPr indent="0" lvl="0" marL="0" marR="0" rtl="0" algn="l">
              <a:lnSpc>
                <a:spcPct val="100000"/>
              </a:lnSpc>
              <a:spcBef>
                <a:spcPts val="0"/>
              </a:spcBef>
              <a:spcAft>
                <a:spcPts val="0"/>
              </a:spcAft>
              <a:buClr>
                <a:schemeClr val="lt1"/>
              </a:buClr>
              <a:buSzPts val="275"/>
              <a:buFont typeface="Courier New"/>
              <a:buNone/>
            </a:pPr>
            <a:r>
              <a:rPr i="0" lang="en-US" sz="1100" u="none" cap="none" strike="noStrike">
                <a:solidFill>
                  <a:srgbClr val="00FF00"/>
                </a:solidFill>
                <a:latin typeface="Courier"/>
                <a:ea typeface="Courier"/>
                <a:cs typeface="Courier"/>
                <a:sym typeface="Courier"/>
              </a:rPr>
              <a:t>tups</a:t>
            </a:r>
            <a:r>
              <a:rPr i="0" lang="en-US" sz="1100" u="none" cap="none" strike="noStrike">
                <a:solidFill>
                  <a:schemeClr val="lt1"/>
                </a:solidFill>
                <a:latin typeface="Courier"/>
                <a:ea typeface="Courier"/>
                <a:cs typeface="Courier"/>
                <a:sym typeface="Courier"/>
              </a:rPr>
              <a:t> = </a:t>
            </a:r>
            <a:r>
              <a:rPr i="0" lang="en-US" sz="1100" u="none" cap="none" strike="noStrike">
                <a:solidFill>
                  <a:srgbClr val="00FF00"/>
                </a:solidFill>
                <a:latin typeface="Courier"/>
                <a:ea typeface="Courier"/>
                <a:cs typeface="Courier"/>
                <a:sym typeface="Courier"/>
              </a:rPr>
              <a:t>d</a:t>
            </a:r>
            <a:r>
              <a:rPr i="0" lang="en-US" sz="1100" u="none" cap="none" strike="noStrike">
                <a:solidFill>
                  <a:srgbClr val="FF00FF"/>
                </a:solidFill>
                <a:latin typeface="Courier"/>
                <a:ea typeface="Courier"/>
                <a:cs typeface="Courier"/>
                <a:sym typeface="Courier"/>
              </a:rPr>
              <a:t>.items</a:t>
            </a:r>
            <a:r>
              <a:rPr i="0" lang="en-US" sz="1100" u="none" cap="none" strike="noStrike">
                <a:solidFill>
                  <a:schemeClr val="lt1"/>
                </a:solidFill>
                <a:latin typeface="Courier"/>
                <a:ea typeface="Courier"/>
                <a:cs typeface="Courier"/>
                <a:sym typeface="Courier"/>
              </a:rPr>
              <a:t>()</a:t>
            </a:r>
            <a:endParaRPr/>
          </a:p>
          <a:p>
            <a:pPr indent="0" lvl="0" marL="0" rtl="0" algn="l">
              <a:spcBef>
                <a:spcPts val="0"/>
              </a:spcBef>
              <a:spcAft>
                <a:spcPts val="0"/>
              </a:spcAft>
              <a:buClr>
                <a:schemeClr val="lt1"/>
              </a:buClr>
              <a:buSzPts val="275"/>
              <a:buFont typeface="Courier"/>
              <a:buNone/>
            </a:pPr>
            <a:r>
              <a:rPr i="0" lang="en-US" sz="1100" u="none" cap="none" strike="noStrike">
                <a:solidFill>
                  <a:srgbClr val="FFFF00"/>
                </a:solidFill>
                <a:latin typeface="Courier"/>
                <a:ea typeface="Courier"/>
                <a:cs typeface="Courier"/>
                <a:sym typeface="Courier"/>
              </a:rPr>
              <a:t>print(</a:t>
            </a:r>
            <a:r>
              <a:rPr i="0" lang="en-US" sz="1100" u="none" cap="none" strike="noStrike">
                <a:solidFill>
                  <a:srgbClr val="00FF00"/>
                </a:solidFill>
                <a:latin typeface="Courier"/>
                <a:ea typeface="Courier"/>
                <a:cs typeface="Courier"/>
                <a:sym typeface="Courier"/>
              </a:rPr>
              <a:t>tups</a:t>
            </a:r>
            <a:r>
              <a:rPr lang="en-US" sz="1100">
                <a:solidFill>
                  <a:srgbClr val="FFFF00"/>
                </a:solidFill>
                <a:latin typeface="Courier"/>
                <a:ea typeface="Courier"/>
                <a:cs typeface="Courier"/>
                <a:sym typeface="Courier"/>
              </a:rPr>
              <a:t>)</a:t>
            </a:r>
            <a:endParaRPr i="0" sz="1100" u="none" cap="none" strike="noStrike">
              <a:solidFill>
                <a:srgbClr val="00FF00"/>
              </a:solidFill>
              <a:latin typeface="Courier"/>
              <a:ea typeface="Courier"/>
              <a:cs typeface="Courier"/>
              <a:sym typeface="Courier"/>
            </a:endParaRPr>
          </a:p>
          <a:p>
            <a:pPr indent="0" lvl="0" marL="0" marR="0" rtl="0" algn="l">
              <a:lnSpc>
                <a:spcPct val="100000"/>
              </a:lnSpc>
              <a:spcBef>
                <a:spcPts val="0"/>
              </a:spcBef>
              <a:spcAft>
                <a:spcPts val="0"/>
              </a:spcAft>
              <a:buClr>
                <a:schemeClr val="lt1"/>
              </a:buClr>
              <a:buSzPts val="275"/>
              <a:buFont typeface="Courier New"/>
              <a:buNone/>
            </a:pPr>
            <a:r>
              <a:rPr i="0" lang="en-US" sz="1100" u="none" cap="none" strike="noStrike">
                <a:solidFill>
                  <a:schemeClr val="lt1"/>
                </a:solidFill>
                <a:latin typeface="Courier"/>
                <a:ea typeface="Courier"/>
                <a:cs typeface="Courier"/>
                <a:sym typeface="Courier"/>
              </a:rPr>
              <a:t>dict_items([</a:t>
            </a:r>
            <a:r>
              <a:rPr i="0" lang="en-US" sz="1100" u="none" cap="none" strike="noStrike">
                <a:solidFill>
                  <a:srgbClr val="FF7F00"/>
                </a:solidFill>
                <a:latin typeface="Courier"/>
                <a:ea typeface="Courier"/>
                <a:cs typeface="Courier"/>
                <a:sym typeface="Courier"/>
              </a:rPr>
              <a:t>(’a', 2)</a:t>
            </a:r>
            <a:r>
              <a:rPr i="0" lang="en-US" sz="1100" u="none" cap="none" strike="noStrike">
                <a:solidFill>
                  <a:schemeClr val="lt1"/>
                </a:solidFill>
                <a:latin typeface="Courier"/>
                <a:ea typeface="Courier"/>
                <a:cs typeface="Courier"/>
                <a:sym typeface="Courier"/>
              </a:rPr>
              <a:t>, </a:t>
            </a:r>
            <a:r>
              <a:rPr i="0" lang="en-US" sz="1100" u="none" cap="none" strike="noStrike">
                <a:solidFill>
                  <a:srgbClr val="FF7F00"/>
                </a:solidFill>
                <a:latin typeface="Courier"/>
                <a:ea typeface="Courier"/>
                <a:cs typeface="Courier"/>
                <a:sym typeface="Courier"/>
              </a:rPr>
              <a:t>(’b', 4)</a:t>
            </a:r>
            <a:r>
              <a:rPr i="0" lang="en-US" sz="1100" u="none" cap="none" strike="noStrike">
                <a:solidFill>
                  <a:schemeClr val="lt1"/>
                </a:solidFill>
                <a:latin typeface="Courier"/>
                <a:ea typeface="Courier"/>
                <a:cs typeface="Courier"/>
                <a:sym typeface="Courier"/>
              </a:rPr>
              <a:t>])</a:t>
            </a:r>
            <a:endParaRPr/>
          </a:p>
          <a:p>
            <a:pPr indent="0" lvl="0" marL="0" marR="0" rtl="0" algn="l">
              <a:spcBef>
                <a:spcPts val="0"/>
              </a:spcBef>
              <a:spcAft>
                <a:spcPts val="0"/>
              </a:spcAft>
              <a:buClr>
                <a:schemeClr val="dk1"/>
              </a:buClr>
              <a:buSzPts val="275"/>
              <a:buFont typeface="Arial"/>
              <a:buNone/>
            </a:pPr>
            <a:r>
              <a:t/>
            </a:r>
            <a:endParaRPr b="0" i="0" sz="1100" u="none" cap="none" strike="noStrike"/>
          </a:p>
          <a:p>
            <a:pPr indent="0" lvl="0" marL="0" marR="0" rtl="0" algn="l">
              <a:spcBef>
                <a:spcPts val="0"/>
              </a:spcBef>
              <a:spcAft>
                <a:spcPts val="0"/>
              </a:spcAft>
              <a:buClr>
                <a:schemeClr val="dk1"/>
              </a:buClr>
              <a:buSzPts val="275"/>
              <a:buFont typeface="Arial"/>
              <a:buNone/>
            </a:pPr>
            <a:r>
              <a:t/>
            </a:r>
            <a:endParaRPr b="0" i="0" sz="1100" u="none" cap="none" strike="noStrike"/>
          </a:p>
          <a:p>
            <a:pPr indent="0" lvl="0" marL="0" marR="0" rtl="0" algn="l">
              <a:spcBef>
                <a:spcPts val="0"/>
              </a:spcBef>
              <a:spcAft>
                <a:spcPts val="0"/>
              </a:spcAft>
              <a:buClr>
                <a:schemeClr val="dk1"/>
              </a:buClr>
              <a:buSzPts val="275"/>
              <a:buFont typeface="Arial"/>
              <a:buNone/>
            </a:pPr>
            <a:r>
              <a:t/>
            </a:r>
            <a:endParaRPr b="0" i="0" sz="1100" u="none" cap="none" strike="noStrike"/>
          </a:p>
          <a:p>
            <a:pPr indent="0" lvl="0" marL="0" marR="0" rtl="0" algn="l">
              <a:spcBef>
                <a:spcPts val="0"/>
              </a:spcBef>
              <a:spcAft>
                <a:spcPts val="0"/>
              </a:spcAft>
              <a:buClr>
                <a:schemeClr val="dk1"/>
              </a:buClr>
              <a:buSzPts val="275"/>
              <a:buFont typeface="Arial"/>
              <a:buNone/>
            </a:pPr>
            <a:r>
              <a:t/>
            </a:r>
            <a:endParaRPr b="0" i="0" sz="1100" u="none" cap="none" strike="noStrike"/>
          </a:p>
          <a:p>
            <a:pPr indent="0" lvl="0" marL="0" marR="0" rtl="0" algn="l">
              <a:spcBef>
                <a:spcPts val="0"/>
              </a:spcBef>
              <a:spcAft>
                <a:spcPts val="0"/>
              </a:spcAft>
              <a:buClr>
                <a:schemeClr val="dk1"/>
              </a:buClr>
              <a:buSzPts val="275"/>
              <a:buFont typeface="Arial"/>
              <a:buNone/>
            </a:pPr>
            <a:r>
              <a:t/>
            </a:r>
            <a:endParaRPr b="0" i="0" sz="1100" u="none" cap="none" strike="noStrike"/>
          </a:p>
          <a:p>
            <a:pPr indent="0" lvl="0" marL="0" marR="0" rtl="0" algn="l">
              <a:spcBef>
                <a:spcPts val="0"/>
              </a:spcBef>
              <a:spcAft>
                <a:spcPts val="0"/>
              </a:spcAft>
              <a:buClr>
                <a:schemeClr val="dk1"/>
              </a:buClr>
              <a:buSzPts val="275"/>
              <a:buFont typeface="Arial"/>
              <a:buNone/>
            </a:pPr>
            <a:r>
              <a:rPr b="0" i="0" lang="en-US" sz="1100" u="none" cap="none" strike="noStrike"/>
              <a:t>d = {'a':10, 'b':1, 'c':22} &gt;&gt;&gt; t = list(d.items()) &gt;&gt;&gt; print(t) [('b', 1), ('a', 10), ('c', 22)]</a:t>
            </a:r>
            <a:endParaRPr b="0" i="0" sz="1100" u="none" cap="none" strike="noStrike"/>
          </a:p>
        </p:txBody>
      </p:sp>
      <p:sp>
        <p:nvSpPr>
          <p:cNvPr id="64" name="Google Shape;64;p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 name="Shape 69"/>
        <p:cNvGrpSpPr/>
        <p:nvPr/>
      </p:nvGrpSpPr>
      <p:grpSpPr>
        <a:xfrm>
          <a:off x="0" y="0"/>
          <a:ext cx="0" cy="0"/>
          <a:chOff x="0" y="0"/>
          <a:chExt cx="0" cy="0"/>
        </a:xfrm>
      </p:grpSpPr>
      <p:sp>
        <p:nvSpPr>
          <p:cNvPr id="70" name="Google Shape;70;p8:notes"/>
          <p:cNvSpPr txBox="1"/>
          <p:nvPr>
            <p:ph idx="1" type="body"/>
          </p:nvPr>
        </p:nvSpPr>
        <p:spPr>
          <a:xfrm>
            <a:off x="685800" y="4343400"/>
            <a:ext cx="5486399" cy="4114800"/>
          </a:xfrm>
          <a:prstGeom prst="rect">
            <a:avLst/>
          </a:prstGeom>
          <a:no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275"/>
              <a:buFont typeface="Arial"/>
              <a:buNone/>
            </a:pPr>
            <a:r>
              <a:rPr b="0" i="0" lang="en-US" sz="1100" u="none" cap="none" strike="noStrike"/>
              <a:t>Tuples are comparable. The comparison operators work with tuples and other sequences. Python starts by comparing the first element from each sequence. If they are equal, it goes on to the next element, and so on, until it finds elements that differ. Subsequent elements are not considered. For example,</a:t>
            </a:r>
            <a:endParaRPr/>
          </a:p>
          <a:p>
            <a:pPr indent="0" lvl="0" marL="0" marR="0" rtl="0" algn="l">
              <a:spcBef>
                <a:spcPts val="0"/>
              </a:spcBef>
              <a:spcAft>
                <a:spcPts val="0"/>
              </a:spcAft>
              <a:buClr>
                <a:schemeClr val="dk1"/>
              </a:buClr>
              <a:buSzPts val="275"/>
              <a:buFont typeface="Arial"/>
              <a:buNone/>
            </a:pPr>
            <a:r>
              <a:t/>
            </a:r>
            <a:endParaRPr b="0" i="0" sz="1100" u="none" cap="none" strike="noStrike"/>
          </a:p>
          <a:p>
            <a:pPr indent="0" lvl="0" marL="0" marR="0" rtl="0" algn="l">
              <a:lnSpc>
                <a:spcPct val="100000"/>
              </a:lnSpc>
              <a:spcBef>
                <a:spcPts val="0"/>
              </a:spcBef>
              <a:spcAft>
                <a:spcPts val="0"/>
              </a:spcAft>
              <a:buClr>
                <a:schemeClr val="lt1"/>
              </a:buClr>
              <a:buSzPts val="275"/>
              <a:buFont typeface="Courier New"/>
              <a:buNone/>
            </a:pPr>
            <a:r>
              <a:rPr i="0" lang="en-US" sz="1100" u="none" cap="none" strike="noStrike">
                <a:solidFill>
                  <a:srgbClr val="FF7F00"/>
                </a:solidFill>
                <a:latin typeface="Courier"/>
                <a:ea typeface="Courier"/>
                <a:cs typeface="Courier"/>
                <a:sym typeface="Courier"/>
              </a:rPr>
              <a:t>(0, 1, 2) </a:t>
            </a:r>
            <a:r>
              <a:rPr i="0" lang="en-US" sz="1100" u="none" cap="none" strike="noStrike">
                <a:solidFill>
                  <a:srgbClr val="00FFFF"/>
                </a:solidFill>
                <a:latin typeface="Courier"/>
                <a:ea typeface="Courier"/>
                <a:cs typeface="Courier"/>
                <a:sym typeface="Courier"/>
              </a:rPr>
              <a:t>&lt;</a:t>
            </a:r>
            <a:r>
              <a:rPr i="0" lang="en-US" sz="1100" u="none" cap="none" strike="noStrike">
                <a:solidFill>
                  <a:srgbClr val="FF7F00"/>
                </a:solidFill>
                <a:latin typeface="Courier"/>
                <a:ea typeface="Courier"/>
                <a:cs typeface="Courier"/>
                <a:sym typeface="Courier"/>
              </a:rPr>
              <a:t> (5, 1, 2)</a:t>
            </a:r>
            <a:endParaRPr/>
          </a:p>
          <a:p>
            <a:pPr indent="0" lvl="0" marL="0" marR="0" rtl="0" algn="l">
              <a:lnSpc>
                <a:spcPct val="100000"/>
              </a:lnSpc>
              <a:spcBef>
                <a:spcPts val="0"/>
              </a:spcBef>
              <a:spcAft>
                <a:spcPts val="0"/>
              </a:spcAft>
              <a:buClr>
                <a:schemeClr val="lt1"/>
              </a:buClr>
              <a:buSzPts val="275"/>
              <a:buFont typeface="Courier New"/>
              <a:buNone/>
            </a:pPr>
            <a:r>
              <a:rPr i="0" lang="en-US" sz="1100" u="none" cap="none" strike="noStrike">
                <a:solidFill>
                  <a:schemeClr val="lt1"/>
                </a:solidFill>
                <a:latin typeface="Courier"/>
                <a:ea typeface="Courier"/>
                <a:cs typeface="Courier"/>
                <a:sym typeface="Courier"/>
              </a:rPr>
              <a:t>True</a:t>
            </a:r>
            <a:endParaRPr/>
          </a:p>
          <a:p>
            <a:pPr indent="0" lvl="0" marL="0" marR="0" rtl="0" algn="l">
              <a:spcBef>
                <a:spcPts val="0"/>
              </a:spcBef>
              <a:spcAft>
                <a:spcPts val="0"/>
              </a:spcAft>
              <a:buClr>
                <a:schemeClr val="dk1"/>
              </a:buClr>
              <a:buSzPts val="275"/>
              <a:buFont typeface="Arial"/>
              <a:buNone/>
            </a:pPr>
            <a:r>
              <a:t/>
            </a:r>
            <a:endParaRPr b="0" i="0" sz="1100" u="none" cap="none" strike="noStrike"/>
          </a:p>
          <a:p>
            <a:pPr indent="0" lvl="0" marL="0" marR="0" rtl="0" algn="l">
              <a:lnSpc>
                <a:spcPct val="100000"/>
              </a:lnSpc>
              <a:spcBef>
                <a:spcPts val="0"/>
              </a:spcBef>
              <a:spcAft>
                <a:spcPts val="0"/>
              </a:spcAft>
              <a:buClr>
                <a:schemeClr val="lt1"/>
              </a:buClr>
              <a:buSzPts val="275"/>
              <a:buFont typeface="Courier New"/>
              <a:buNone/>
            </a:pPr>
            <a:r>
              <a:rPr i="0" lang="en-US" sz="1100" u="none" cap="none" strike="noStrike">
                <a:solidFill>
                  <a:srgbClr val="FF7F00"/>
                </a:solidFill>
                <a:latin typeface="Courier"/>
                <a:ea typeface="Courier"/>
                <a:cs typeface="Courier"/>
                <a:sym typeface="Courier"/>
              </a:rPr>
              <a:t>(0, 1, 2000000) </a:t>
            </a:r>
            <a:r>
              <a:rPr i="0" lang="en-US" sz="1100" u="none" cap="none" strike="noStrike">
                <a:solidFill>
                  <a:srgbClr val="00FFFF"/>
                </a:solidFill>
                <a:latin typeface="Courier"/>
                <a:ea typeface="Courier"/>
                <a:cs typeface="Courier"/>
                <a:sym typeface="Courier"/>
              </a:rPr>
              <a:t>&lt;</a:t>
            </a:r>
            <a:r>
              <a:rPr i="0" lang="en-US" sz="1100" u="none" cap="none" strike="noStrike">
                <a:solidFill>
                  <a:srgbClr val="FF7F00"/>
                </a:solidFill>
                <a:latin typeface="Courier"/>
                <a:ea typeface="Courier"/>
                <a:cs typeface="Courier"/>
                <a:sym typeface="Courier"/>
              </a:rPr>
              <a:t> (0, 3, 4)</a:t>
            </a:r>
            <a:endParaRPr/>
          </a:p>
          <a:p>
            <a:pPr indent="0" lvl="0" marL="0" marR="0" rtl="0" algn="l">
              <a:lnSpc>
                <a:spcPct val="100000"/>
              </a:lnSpc>
              <a:spcBef>
                <a:spcPts val="0"/>
              </a:spcBef>
              <a:spcAft>
                <a:spcPts val="0"/>
              </a:spcAft>
              <a:buClr>
                <a:schemeClr val="lt1"/>
              </a:buClr>
              <a:buSzPts val="275"/>
              <a:buFont typeface="Courier New"/>
              <a:buNone/>
            </a:pPr>
            <a:r>
              <a:rPr i="0" lang="en-US" sz="1100" u="none" cap="none" strike="noStrike">
                <a:solidFill>
                  <a:schemeClr val="lt1"/>
                </a:solidFill>
                <a:latin typeface="Courier"/>
                <a:ea typeface="Courier"/>
                <a:cs typeface="Courier"/>
                <a:sym typeface="Courier"/>
              </a:rPr>
              <a:t>True</a:t>
            </a:r>
            <a:endParaRPr/>
          </a:p>
          <a:p>
            <a:pPr indent="0" lvl="0" marL="0" marR="0" rtl="0" algn="l">
              <a:spcBef>
                <a:spcPts val="0"/>
              </a:spcBef>
              <a:spcAft>
                <a:spcPts val="0"/>
              </a:spcAft>
              <a:buClr>
                <a:schemeClr val="dk1"/>
              </a:buClr>
              <a:buSzPts val="275"/>
              <a:buFont typeface="Arial"/>
              <a:buNone/>
            </a:pPr>
            <a:r>
              <a:t/>
            </a:r>
            <a:endParaRPr b="0" i="0" sz="1100" u="none" cap="none" strike="noStrike"/>
          </a:p>
          <a:p>
            <a:pPr indent="0" lvl="0" marL="0" marR="0" rtl="0" algn="l">
              <a:lnSpc>
                <a:spcPct val="100000"/>
              </a:lnSpc>
              <a:spcBef>
                <a:spcPts val="0"/>
              </a:spcBef>
              <a:spcAft>
                <a:spcPts val="0"/>
              </a:spcAft>
              <a:buClr>
                <a:schemeClr val="lt1"/>
              </a:buClr>
              <a:buSzPts val="275"/>
              <a:buFont typeface="Courier New"/>
              <a:buNone/>
            </a:pPr>
            <a:r>
              <a:rPr i="0" lang="en-US" sz="1100" u="none" cap="none" strike="noStrike">
                <a:solidFill>
                  <a:srgbClr val="FF7F00"/>
                </a:solidFill>
                <a:latin typeface="Courier"/>
                <a:ea typeface="Courier"/>
                <a:cs typeface="Courier"/>
                <a:sym typeface="Courier"/>
              </a:rPr>
              <a:t>(0, 1, 2000000) </a:t>
            </a:r>
            <a:r>
              <a:rPr i="0" lang="en-US" sz="1100" u="none" cap="none" strike="noStrike">
                <a:solidFill>
                  <a:srgbClr val="00FFFF"/>
                </a:solidFill>
                <a:latin typeface="Courier"/>
                <a:ea typeface="Courier"/>
                <a:cs typeface="Courier"/>
                <a:sym typeface="Courier"/>
              </a:rPr>
              <a:t>&lt;</a:t>
            </a:r>
            <a:r>
              <a:rPr i="0" lang="en-US" sz="1100" u="none" cap="none" strike="noStrike">
                <a:solidFill>
                  <a:srgbClr val="FF7F00"/>
                </a:solidFill>
                <a:latin typeface="Courier"/>
                <a:ea typeface="Courier"/>
                <a:cs typeface="Courier"/>
                <a:sym typeface="Courier"/>
              </a:rPr>
              <a:t> (0, 3, 4)</a:t>
            </a:r>
            <a:endParaRPr/>
          </a:p>
          <a:p>
            <a:pPr indent="0" lvl="0" marL="0" marR="0" rtl="0" algn="l">
              <a:lnSpc>
                <a:spcPct val="100000"/>
              </a:lnSpc>
              <a:spcBef>
                <a:spcPts val="0"/>
              </a:spcBef>
              <a:spcAft>
                <a:spcPts val="0"/>
              </a:spcAft>
              <a:buClr>
                <a:schemeClr val="lt1"/>
              </a:buClr>
              <a:buSzPts val="275"/>
              <a:buFont typeface="Courier New"/>
              <a:buNone/>
            </a:pPr>
            <a:r>
              <a:rPr i="0" lang="en-US" sz="1100" u="none" cap="none" strike="noStrike">
                <a:solidFill>
                  <a:schemeClr val="lt1"/>
                </a:solidFill>
                <a:latin typeface="Courier"/>
                <a:ea typeface="Courier"/>
                <a:cs typeface="Courier"/>
                <a:sym typeface="Courier"/>
              </a:rPr>
              <a:t>True</a:t>
            </a:r>
            <a:endParaRPr/>
          </a:p>
          <a:p>
            <a:pPr indent="0" lvl="0" marL="0" marR="0" rtl="0" algn="l">
              <a:spcBef>
                <a:spcPts val="0"/>
              </a:spcBef>
              <a:spcAft>
                <a:spcPts val="0"/>
              </a:spcAft>
              <a:buClr>
                <a:schemeClr val="dk1"/>
              </a:buClr>
              <a:buSzPts val="275"/>
              <a:buFont typeface="Arial"/>
              <a:buNone/>
            </a:pPr>
            <a:r>
              <a:t/>
            </a:r>
            <a:endParaRPr b="0" i="0" sz="1100" u="none" cap="none" strike="noStrike"/>
          </a:p>
          <a:p>
            <a:pPr indent="0" lvl="0" marL="0" marR="0" rtl="0" algn="l">
              <a:lnSpc>
                <a:spcPct val="100000"/>
              </a:lnSpc>
              <a:spcBef>
                <a:spcPts val="0"/>
              </a:spcBef>
              <a:spcAft>
                <a:spcPts val="0"/>
              </a:spcAft>
              <a:buClr>
                <a:schemeClr val="lt1"/>
              </a:buClr>
              <a:buSzPts val="275"/>
              <a:buFont typeface="Courier New"/>
              <a:buNone/>
            </a:pPr>
            <a:r>
              <a:rPr i="0" lang="en-US" sz="1100" u="none" cap="none" strike="noStrike">
                <a:solidFill>
                  <a:srgbClr val="FF7F00"/>
                </a:solidFill>
                <a:latin typeface="Courier"/>
                <a:ea typeface="Courier"/>
                <a:cs typeface="Courier"/>
                <a:sym typeface="Courier"/>
              </a:rPr>
              <a:t>( 'Jones', 'Sally' ) </a:t>
            </a:r>
            <a:r>
              <a:rPr i="0" lang="en-US" sz="1100" u="none" cap="none" strike="noStrike">
                <a:solidFill>
                  <a:srgbClr val="00FFFF"/>
                </a:solidFill>
                <a:latin typeface="Courier"/>
                <a:ea typeface="Courier"/>
                <a:cs typeface="Courier"/>
                <a:sym typeface="Courier"/>
              </a:rPr>
              <a:t>&lt;</a:t>
            </a:r>
            <a:r>
              <a:rPr i="0" lang="en-US" sz="1100" u="none" cap="none" strike="noStrike">
                <a:solidFill>
                  <a:srgbClr val="FF7F00"/>
                </a:solidFill>
                <a:latin typeface="Courier"/>
                <a:ea typeface="Courier"/>
                <a:cs typeface="Courier"/>
                <a:sym typeface="Courier"/>
              </a:rPr>
              <a:t> ('Jones', 'Sam')</a:t>
            </a:r>
            <a:endParaRPr/>
          </a:p>
          <a:p>
            <a:pPr indent="0" lvl="0" marL="0" marR="0" rtl="0" algn="l">
              <a:lnSpc>
                <a:spcPct val="100000"/>
              </a:lnSpc>
              <a:spcBef>
                <a:spcPts val="0"/>
              </a:spcBef>
              <a:spcAft>
                <a:spcPts val="0"/>
              </a:spcAft>
              <a:buClr>
                <a:schemeClr val="lt1"/>
              </a:buClr>
              <a:buSzPts val="275"/>
              <a:buFont typeface="Courier New"/>
              <a:buNone/>
            </a:pPr>
            <a:r>
              <a:rPr i="0" lang="en-US" sz="1100" u="none" cap="none" strike="noStrike">
                <a:solidFill>
                  <a:schemeClr val="lt1"/>
                </a:solidFill>
                <a:latin typeface="Courier"/>
                <a:ea typeface="Courier"/>
                <a:cs typeface="Courier"/>
                <a:sym typeface="Courier"/>
              </a:rPr>
              <a:t>True</a:t>
            </a:r>
            <a:endParaRPr/>
          </a:p>
          <a:p>
            <a:pPr indent="0" lvl="0" marL="0" marR="0" rtl="0" algn="l">
              <a:spcBef>
                <a:spcPts val="0"/>
              </a:spcBef>
              <a:spcAft>
                <a:spcPts val="0"/>
              </a:spcAft>
              <a:buClr>
                <a:schemeClr val="dk1"/>
              </a:buClr>
              <a:buSzPts val="275"/>
              <a:buFont typeface="Arial"/>
              <a:buNone/>
            </a:pPr>
            <a:r>
              <a:t/>
            </a:r>
            <a:endParaRPr b="0" i="0" sz="1100" u="none" cap="none" strike="noStrike"/>
          </a:p>
          <a:p>
            <a:pPr indent="0" lvl="0" marL="0" marR="0" rtl="0" algn="l">
              <a:spcBef>
                <a:spcPts val="0"/>
              </a:spcBef>
              <a:spcAft>
                <a:spcPts val="0"/>
              </a:spcAft>
              <a:buClr>
                <a:schemeClr val="dk1"/>
              </a:buClr>
              <a:buSzPts val="275"/>
              <a:buFont typeface="Arial"/>
              <a:buNone/>
            </a:pPr>
            <a:r>
              <a:t/>
            </a:r>
            <a:endParaRPr b="0" i="0" sz="1100" u="none" cap="none" strike="noStrike"/>
          </a:p>
          <a:p>
            <a:pPr indent="0" lvl="0" marL="0" marR="0" rtl="0" algn="l">
              <a:lnSpc>
                <a:spcPct val="100000"/>
              </a:lnSpc>
              <a:spcBef>
                <a:spcPts val="0"/>
              </a:spcBef>
              <a:spcAft>
                <a:spcPts val="0"/>
              </a:spcAft>
              <a:buClr>
                <a:schemeClr val="lt1"/>
              </a:buClr>
              <a:buSzPts val="275"/>
              <a:buFont typeface="Courier New"/>
              <a:buNone/>
            </a:pPr>
            <a:r>
              <a:rPr i="0" lang="en-US" sz="1100" u="none" cap="none" strike="noStrike">
                <a:solidFill>
                  <a:srgbClr val="FF7F00"/>
                </a:solidFill>
                <a:latin typeface="Courier"/>
                <a:ea typeface="Courier"/>
                <a:cs typeface="Courier"/>
                <a:sym typeface="Courier"/>
              </a:rPr>
              <a:t>( 'Jones', 'Sally') </a:t>
            </a:r>
            <a:r>
              <a:rPr i="0" lang="en-US" sz="1100" u="none" cap="none" strike="noStrike">
                <a:solidFill>
                  <a:srgbClr val="00FFFF"/>
                </a:solidFill>
                <a:latin typeface="Courier"/>
                <a:ea typeface="Courier"/>
                <a:cs typeface="Courier"/>
                <a:sym typeface="Courier"/>
              </a:rPr>
              <a:t>&gt;</a:t>
            </a:r>
            <a:r>
              <a:rPr i="0" lang="en-US" sz="1100" u="none" cap="none" strike="noStrike">
                <a:solidFill>
                  <a:srgbClr val="FF7F00"/>
                </a:solidFill>
                <a:latin typeface="Courier"/>
                <a:ea typeface="Courier"/>
                <a:cs typeface="Courier"/>
                <a:sym typeface="Courier"/>
              </a:rPr>
              <a:t> ('Adams', 'Sam')</a:t>
            </a:r>
            <a:endParaRPr/>
          </a:p>
          <a:p>
            <a:pPr indent="0" lvl="0" marL="0" marR="0" rtl="0" algn="l">
              <a:lnSpc>
                <a:spcPct val="100000"/>
              </a:lnSpc>
              <a:spcBef>
                <a:spcPts val="0"/>
              </a:spcBef>
              <a:spcAft>
                <a:spcPts val="0"/>
              </a:spcAft>
              <a:buClr>
                <a:schemeClr val="lt1"/>
              </a:buClr>
              <a:buSzPts val="275"/>
              <a:buFont typeface="Courier New"/>
              <a:buNone/>
            </a:pPr>
            <a:r>
              <a:rPr i="0" lang="en-US" sz="1100" u="none" cap="none" strike="noStrike">
                <a:solidFill>
                  <a:schemeClr val="lt1"/>
                </a:solidFill>
                <a:latin typeface="Courier"/>
                <a:ea typeface="Courier"/>
                <a:cs typeface="Courier"/>
                <a:sym typeface="Courier"/>
              </a:rPr>
              <a:t>True</a:t>
            </a:r>
            <a:endParaRPr/>
          </a:p>
          <a:p>
            <a:pPr indent="0" lvl="0" marL="0" marR="0" rtl="0" algn="l">
              <a:spcBef>
                <a:spcPts val="0"/>
              </a:spcBef>
              <a:spcAft>
                <a:spcPts val="0"/>
              </a:spcAft>
              <a:buClr>
                <a:schemeClr val="dk1"/>
              </a:buClr>
              <a:buSzPts val="275"/>
              <a:buFont typeface="Arial"/>
              <a:buNone/>
            </a:pPr>
            <a:r>
              <a:t/>
            </a:r>
            <a:endParaRPr b="0" i="0" sz="1100" u="none" cap="none" strike="noStrike"/>
          </a:p>
        </p:txBody>
      </p:sp>
      <p:sp>
        <p:nvSpPr>
          <p:cNvPr id="71" name="Google Shape;71;p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p9:notes"/>
          <p:cNvSpPr txBox="1"/>
          <p:nvPr>
            <p:ph idx="1" type="body"/>
          </p:nvPr>
        </p:nvSpPr>
        <p:spPr>
          <a:xfrm>
            <a:off x="685800" y="4343400"/>
            <a:ext cx="5486399" cy="41148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275"/>
              <a:buFont typeface="Arial"/>
              <a:buNone/>
            </a:pPr>
            <a:r>
              <a:rPr b="0" i="0" lang="en-US" sz="1100" u="none" cap="none" strike="noStrike"/>
              <a:t>As we indicated earlier, dictionaries have a method called items that returns a list of tuples, where each tuple is a key-value pair. As you should expect from a dictionary, the resulting items are in no particular order. However, since the list of tuples is a list, and tuples are comparable, we can now sort the list of tuples. Therefore, converting a dictionary to a list of tuples is a way for us to output the contents of a dictionary sorted by key. For example, we can use sorted() function</a:t>
            </a:r>
            <a:endParaRPr b="0" i="0" sz="1100" u="none" cap="none" strike="noStrike"/>
          </a:p>
          <a:p>
            <a:pPr indent="0" lvl="0" marL="0" marR="0" rtl="0" algn="l">
              <a:lnSpc>
                <a:spcPct val="100000"/>
              </a:lnSpc>
              <a:spcBef>
                <a:spcPts val="0"/>
              </a:spcBef>
              <a:spcAft>
                <a:spcPts val="0"/>
              </a:spcAft>
              <a:buClr>
                <a:schemeClr val="dk1"/>
              </a:buClr>
              <a:buSzPts val="275"/>
              <a:buFont typeface="Arial"/>
              <a:buNone/>
            </a:pPr>
            <a:r>
              <a:t/>
            </a:r>
            <a:endParaRPr b="0" i="0" sz="1100" u="none" cap="none" strike="noStrike"/>
          </a:p>
          <a:p>
            <a:pPr indent="0" lvl="0" marL="0" marR="0" rtl="0" algn="l">
              <a:lnSpc>
                <a:spcPct val="100000"/>
              </a:lnSpc>
              <a:spcBef>
                <a:spcPts val="0"/>
              </a:spcBef>
              <a:spcAft>
                <a:spcPts val="0"/>
              </a:spcAft>
              <a:buClr>
                <a:schemeClr val="lt1"/>
              </a:buClr>
              <a:buSzPts val="275"/>
              <a:buFont typeface="Courier New"/>
              <a:buNone/>
            </a:pPr>
            <a:r>
              <a:rPr i="0" lang="en-US" sz="1100" u="none" cap="none" strike="noStrike">
                <a:solidFill>
                  <a:srgbClr val="00FF00"/>
                </a:solidFill>
                <a:latin typeface="Courier"/>
                <a:ea typeface="Courier"/>
                <a:cs typeface="Courier"/>
                <a:sym typeface="Courier"/>
              </a:rPr>
              <a:t>d</a:t>
            </a:r>
            <a:r>
              <a:rPr i="0" lang="en-US" sz="1100" u="none" cap="none" strike="noStrike">
                <a:solidFill>
                  <a:schemeClr val="lt1"/>
                </a:solidFill>
                <a:latin typeface="Courier"/>
                <a:ea typeface="Courier"/>
                <a:cs typeface="Courier"/>
                <a:sym typeface="Courier"/>
              </a:rPr>
              <a:t> = {'a':10, 'b':1, 'c':22}</a:t>
            </a:r>
            <a:endParaRPr/>
          </a:p>
          <a:p>
            <a:pPr indent="0" lvl="0" marL="0" marR="0" rtl="0" algn="l">
              <a:lnSpc>
                <a:spcPct val="100000"/>
              </a:lnSpc>
              <a:spcBef>
                <a:spcPts val="0"/>
              </a:spcBef>
              <a:spcAft>
                <a:spcPts val="0"/>
              </a:spcAft>
              <a:buClr>
                <a:schemeClr val="lt1"/>
              </a:buClr>
              <a:buSzPts val="275"/>
              <a:buFont typeface="Courier New"/>
              <a:buNone/>
            </a:pPr>
            <a:r>
              <a:rPr i="0" lang="en-US" sz="1100" u="none" cap="none" strike="noStrike">
                <a:solidFill>
                  <a:srgbClr val="00FF00"/>
                </a:solidFill>
                <a:latin typeface="Courier"/>
                <a:ea typeface="Courier"/>
                <a:cs typeface="Courier"/>
                <a:sym typeface="Courier"/>
              </a:rPr>
              <a:t>d</a:t>
            </a:r>
            <a:r>
              <a:rPr i="0" lang="en-US" sz="1100" u="none" cap="none" strike="noStrike">
                <a:solidFill>
                  <a:srgbClr val="FF00FF"/>
                </a:solidFill>
                <a:latin typeface="Courier"/>
                <a:ea typeface="Courier"/>
                <a:cs typeface="Courier"/>
                <a:sym typeface="Courier"/>
              </a:rPr>
              <a:t>.items</a:t>
            </a:r>
            <a:r>
              <a:rPr i="0" lang="en-US" sz="1100" u="none" cap="none" strike="noStrike">
                <a:solidFill>
                  <a:schemeClr val="lt1"/>
                </a:solidFill>
                <a:latin typeface="Courier"/>
                <a:ea typeface="Courier"/>
                <a:cs typeface="Courier"/>
                <a:sym typeface="Courier"/>
              </a:rPr>
              <a:t>()</a:t>
            </a:r>
            <a:endParaRPr/>
          </a:p>
          <a:p>
            <a:pPr indent="0" lvl="0" marL="0" marR="0" rtl="0" algn="l">
              <a:lnSpc>
                <a:spcPct val="100000"/>
              </a:lnSpc>
              <a:spcBef>
                <a:spcPts val="0"/>
              </a:spcBef>
              <a:spcAft>
                <a:spcPts val="0"/>
              </a:spcAft>
              <a:buClr>
                <a:schemeClr val="lt1"/>
              </a:buClr>
              <a:buSzPts val="275"/>
              <a:buFont typeface="Courier New"/>
              <a:buNone/>
            </a:pPr>
            <a:r>
              <a:rPr i="0" lang="en-US" sz="1100" u="none" cap="none" strike="noStrike">
                <a:solidFill>
                  <a:schemeClr val="lt1"/>
                </a:solidFill>
                <a:latin typeface="Courier"/>
                <a:ea typeface="Courier"/>
                <a:cs typeface="Courier"/>
                <a:sym typeface="Courier"/>
              </a:rPr>
              <a:t>dict_items([</a:t>
            </a:r>
            <a:r>
              <a:rPr i="0" lang="en-US" sz="1100" u="none" cap="none" strike="noStrike">
                <a:solidFill>
                  <a:srgbClr val="FF7F00"/>
                </a:solidFill>
                <a:latin typeface="Courier"/>
                <a:ea typeface="Courier"/>
                <a:cs typeface="Courier"/>
                <a:sym typeface="Courier"/>
              </a:rPr>
              <a:t>('a', 10)</a:t>
            </a:r>
            <a:r>
              <a:rPr i="0" lang="en-US" sz="1100" u="none" cap="none" strike="noStrike">
                <a:solidFill>
                  <a:schemeClr val="lt1"/>
                </a:solidFill>
                <a:latin typeface="Courier"/>
                <a:ea typeface="Courier"/>
                <a:cs typeface="Courier"/>
                <a:sym typeface="Courier"/>
              </a:rPr>
              <a:t>, </a:t>
            </a:r>
            <a:r>
              <a:rPr i="0" lang="en-US" sz="1100" u="none" cap="none" strike="noStrike">
                <a:solidFill>
                  <a:srgbClr val="FF7F00"/>
                </a:solidFill>
                <a:latin typeface="Courier"/>
                <a:ea typeface="Courier"/>
                <a:cs typeface="Courier"/>
                <a:sym typeface="Courier"/>
              </a:rPr>
              <a:t>('c', 22)</a:t>
            </a:r>
            <a:r>
              <a:rPr i="0" lang="en-US" sz="1100" u="none" cap="none" strike="noStrike">
                <a:solidFill>
                  <a:schemeClr val="lt1"/>
                </a:solidFill>
                <a:latin typeface="Courier"/>
                <a:ea typeface="Courier"/>
                <a:cs typeface="Courier"/>
                <a:sym typeface="Courier"/>
              </a:rPr>
              <a:t>, </a:t>
            </a:r>
            <a:r>
              <a:rPr i="0" lang="en-US" sz="1100" u="none" cap="none" strike="noStrike">
                <a:solidFill>
                  <a:srgbClr val="FF7F00"/>
                </a:solidFill>
                <a:latin typeface="Courier"/>
                <a:ea typeface="Courier"/>
                <a:cs typeface="Courier"/>
                <a:sym typeface="Courier"/>
              </a:rPr>
              <a:t>('b', 1)</a:t>
            </a:r>
            <a:r>
              <a:rPr i="0" lang="en-US" sz="1100" u="none" cap="none" strike="noStrike">
                <a:solidFill>
                  <a:schemeClr val="lt1"/>
                </a:solidFill>
                <a:latin typeface="Courier"/>
                <a:ea typeface="Courier"/>
                <a:cs typeface="Courier"/>
                <a:sym typeface="Courier"/>
              </a:rPr>
              <a:t>])</a:t>
            </a:r>
            <a:endParaRPr/>
          </a:p>
          <a:p>
            <a:pPr indent="0" lvl="0" marL="0" rtl="0" algn="l">
              <a:spcBef>
                <a:spcPts val="0"/>
              </a:spcBef>
              <a:spcAft>
                <a:spcPts val="0"/>
              </a:spcAft>
              <a:buClr>
                <a:schemeClr val="lt1"/>
              </a:buClr>
              <a:buSzPts val="275"/>
              <a:buFont typeface="Courier"/>
              <a:buNone/>
            </a:pPr>
            <a:r>
              <a:rPr lang="en-US" sz="1100">
                <a:solidFill>
                  <a:srgbClr val="FFFF00"/>
                </a:solidFill>
                <a:latin typeface="Courier"/>
                <a:ea typeface="Courier"/>
                <a:cs typeface="Courier"/>
                <a:sym typeface="Courier"/>
              </a:rPr>
              <a:t>sorted(</a:t>
            </a:r>
            <a:r>
              <a:rPr lang="en-US" sz="1100">
                <a:solidFill>
                  <a:srgbClr val="00FF00"/>
                </a:solidFill>
                <a:latin typeface="Courier"/>
                <a:ea typeface="Courier"/>
                <a:cs typeface="Courier"/>
                <a:sym typeface="Courier"/>
              </a:rPr>
              <a:t>d</a:t>
            </a:r>
            <a:r>
              <a:rPr lang="en-US" sz="1100">
                <a:solidFill>
                  <a:srgbClr val="FF00FF"/>
                </a:solidFill>
                <a:latin typeface="Courier"/>
                <a:ea typeface="Courier"/>
                <a:cs typeface="Courier"/>
                <a:sym typeface="Courier"/>
              </a:rPr>
              <a:t>.items</a:t>
            </a:r>
            <a:r>
              <a:rPr lang="en-US" sz="1100">
                <a:solidFill>
                  <a:schemeClr val="lt1"/>
                </a:solidFill>
                <a:latin typeface="Courier"/>
                <a:ea typeface="Courier"/>
                <a:cs typeface="Courier"/>
                <a:sym typeface="Courier"/>
              </a:rPr>
              <a:t>()</a:t>
            </a:r>
            <a:r>
              <a:rPr lang="en-US" sz="1100">
                <a:solidFill>
                  <a:srgbClr val="FFFC00"/>
                </a:solidFill>
                <a:latin typeface="Courier"/>
                <a:ea typeface="Courier"/>
                <a:cs typeface="Courier"/>
                <a:sym typeface="Courier"/>
              </a:rPr>
              <a:t>)</a:t>
            </a:r>
            <a:endParaRPr i="0" sz="1100" u="none" cap="none" strike="noStrike">
              <a:solidFill>
                <a:srgbClr val="FFFC00"/>
              </a:solidFill>
              <a:latin typeface="Courier"/>
              <a:ea typeface="Courier"/>
              <a:cs typeface="Courier"/>
              <a:sym typeface="Courier"/>
            </a:endParaRPr>
          </a:p>
          <a:p>
            <a:pPr indent="0" lvl="0" marL="0" marR="0" rtl="0" algn="l">
              <a:lnSpc>
                <a:spcPct val="100000"/>
              </a:lnSpc>
              <a:spcBef>
                <a:spcPts val="0"/>
              </a:spcBef>
              <a:spcAft>
                <a:spcPts val="0"/>
              </a:spcAft>
              <a:buClr>
                <a:schemeClr val="lt1"/>
              </a:buClr>
              <a:buSzPts val="275"/>
              <a:buFont typeface="Courier New"/>
              <a:buNone/>
            </a:pPr>
            <a:r>
              <a:rPr i="0" lang="en-US" sz="1100" u="none" cap="none" strike="noStrike">
                <a:solidFill>
                  <a:schemeClr val="lt1"/>
                </a:solidFill>
                <a:latin typeface="Courier"/>
                <a:ea typeface="Courier"/>
                <a:cs typeface="Courier"/>
                <a:sym typeface="Courier"/>
              </a:rPr>
              <a:t>[</a:t>
            </a:r>
            <a:r>
              <a:rPr i="0" lang="en-US" sz="1100" u="none" cap="none" strike="noStrike">
                <a:solidFill>
                  <a:srgbClr val="FF7F00"/>
                </a:solidFill>
                <a:latin typeface="Courier"/>
                <a:ea typeface="Courier"/>
                <a:cs typeface="Courier"/>
                <a:sym typeface="Courier"/>
              </a:rPr>
              <a:t>('a', 10)</a:t>
            </a:r>
            <a:r>
              <a:rPr i="0" lang="en-US" sz="1100" u="none" cap="none" strike="noStrike">
                <a:solidFill>
                  <a:schemeClr val="lt1"/>
                </a:solidFill>
                <a:latin typeface="Courier"/>
                <a:ea typeface="Courier"/>
                <a:cs typeface="Courier"/>
                <a:sym typeface="Courier"/>
              </a:rPr>
              <a:t>, </a:t>
            </a:r>
            <a:r>
              <a:rPr i="0" lang="en-US" sz="1100" u="none" cap="none" strike="noStrike">
                <a:solidFill>
                  <a:srgbClr val="FF7F00"/>
                </a:solidFill>
                <a:latin typeface="Courier"/>
                <a:ea typeface="Courier"/>
                <a:cs typeface="Courier"/>
                <a:sym typeface="Courier"/>
              </a:rPr>
              <a:t>('b', 1)</a:t>
            </a:r>
            <a:r>
              <a:rPr i="0" lang="en-US" sz="1100" u="none" cap="none" strike="noStrike">
                <a:solidFill>
                  <a:schemeClr val="lt1"/>
                </a:solidFill>
                <a:latin typeface="Courier"/>
                <a:ea typeface="Courier"/>
                <a:cs typeface="Courier"/>
                <a:sym typeface="Courier"/>
              </a:rPr>
              <a:t>, </a:t>
            </a:r>
            <a:r>
              <a:rPr i="0" lang="en-US" sz="1100" u="none" cap="none" strike="noStrike">
                <a:solidFill>
                  <a:srgbClr val="FF7F00"/>
                </a:solidFill>
                <a:latin typeface="Courier"/>
                <a:ea typeface="Courier"/>
                <a:cs typeface="Courier"/>
                <a:sym typeface="Courier"/>
              </a:rPr>
              <a:t>('c', 22)</a:t>
            </a:r>
            <a:r>
              <a:rPr i="0" lang="en-US" sz="1100" u="none" cap="none" strike="noStrike">
                <a:solidFill>
                  <a:schemeClr val="lt1"/>
                </a:solidFill>
                <a:latin typeface="Courier"/>
                <a:ea typeface="Courier"/>
                <a:cs typeface="Courier"/>
                <a:sym typeface="Courier"/>
              </a:rPr>
              <a:t>]</a:t>
            </a:r>
            <a:endParaRPr/>
          </a:p>
          <a:p>
            <a:pPr indent="0" lvl="0" marL="0" marR="0" rtl="0" algn="l">
              <a:lnSpc>
                <a:spcPct val="100000"/>
              </a:lnSpc>
              <a:spcBef>
                <a:spcPts val="0"/>
              </a:spcBef>
              <a:spcAft>
                <a:spcPts val="0"/>
              </a:spcAft>
              <a:buClr>
                <a:schemeClr val="dk1"/>
              </a:buClr>
              <a:buSzPts val="275"/>
              <a:buFont typeface="Arial"/>
              <a:buNone/>
            </a:pPr>
            <a:r>
              <a:t/>
            </a:r>
            <a:endParaRPr b="0" i="0" sz="1100" u="none" cap="none" strike="noStrike"/>
          </a:p>
        </p:txBody>
      </p:sp>
      <p:sp>
        <p:nvSpPr>
          <p:cNvPr id="78" name="Google Shape;78;p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p10:notes"/>
          <p:cNvSpPr txBox="1"/>
          <p:nvPr>
            <p:ph idx="1" type="body"/>
          </p:nvPr>
        </p:nvSpPr>
        <p:spPr>
          <a:xfrm>
            <a:off x="685800" y="4343400"/>
            <a:ext cx="5486399" cy="4114800"/>
          </a:xfrm>
          <a:prstGeom prst="rect">
            <a:avLst/>
          </a:prstGeom>
          <a:no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275"/>
              <a:buFont typeface="Arial"/>
              <a:buNone/>
            </a:pPr>
            <a:r>
              <a:rPr b="0" i="0" lang="en-US" sz="1100" u="none" cap="none" strike="noStrike"/>
              <a:t>Combining items, tuple assignment, and for loop, you can see a nice code pattern for traversing the keys and values of a dictionary in a single loop: </a:t>
            </a:r>
            <a:endParaRPr/>
          </a:p>
          <a:p>
            <a:pPr indent="0" lvl="0" marL="0" marR="0" rtl="0" algn="l">
              <a:spcBef>
                <a:spcPts val="0"/>
              </a:spcBef>
              <a:spcAft>
                <a:spcPts val="0"/>
              </a:spcAft>
              <a:buClr>
                <a:schemeClr val="dk1"/>
              </a:buClr>
              <a:buSzPts val="275"/>
              <a:buFont typeface="Arial"/>
              <a:buNone/>
            </a:pPr>
            <a:r>
              <a:t/>
            </a:r>
            <a:endParaRPr b="0" i="0" sz="1100" u="none" cap="none" strike="noStrike">
              <a:solidFill>
                <a:srgbClr val="00FF00"/>
              </a:solidFill>
              <a:latin typeface="Courier"/>
              <a:ea typeface="Courier"/>
              <a:cs typeface="Courier"/>
              <a:sym typeface="Courier"/>
            </a:endParaRPr>
          </a:p>
          <a:p>
            <a:pPr indent="0" lvl="0" marL="0" marR="0" rtl="0" algn="l">
              <a:spcBef>
                <a:spcPts val="0"/>
              </a:spcBef>
              <a:spcAft>
                <a:spcPts val="0"/>
              </a:spcAft>
              <a:buClr>
                <a:srgbClr val="00FF00"/>
              </a:buClr>
              <a:buSzPts val="750"/>
              <a:buFont typeface="Arial"/>
              <a:buNone/>
            </a:pPr>
            <a:r>
              <a:rPr i="0" lang="en-US" sz="3000" u="none" cap="none" strike="noStrike">
                <a:solidFill>
                  <a:srgbClr val="00FF00"/>
                </a:solidFill>
                <a:latin typeface="Courier"/>
                <a:ea typeface="Courier"/>
                <a:cs typeface="Courier"/>
                <a:sym typeface="Courier"/>
              </a:rPr>
              <a:t>c</a:t>
            </a:r>
            <a:r>
              <a:rPr i="0" lang="en-US" sz="3000" u="none" cap="none" strike="noStrike">
                <a:solidFill>
                  <a:schemeClr val="lt1"/>
                </a:solidFill>
                <a:latin typeface="Courier"/>
                <a:ea typeface="Courier"/>
                <a:cs typeface="Courier"/>
                <a:sym typeface="Courier"/>
              </a:rPr>
              <a:t> = {'a':10, 'b':1, 'c':22}</a:t>
            </a:r>
            <a:endParaRPr/>
          </a:p>
          <a:p>
            <a:pPr indent="0" lvl="0" marL="0" marR="0" rtl="0" algn="l">
              <a:spcBef>
                <a:spcPts val="0"/>
              </a:spcBef>
              <a:spcAft>
                <a:spcPts val="0"/>
              </a:spcAft>
              <a:buClr>
                <a:srgbClr val="00FF00"/>
              </a:buClr>
              <a:buSzPts val="750"/>
              <a:buFont typeface="Arial"/>
              <a:buNone/>
            </a:pPr>
            <a:r>
              <a:rPr i="0" lang="en-US" sz="3000" u="none" cap="none" strike="noStrike">
                <a:solidFill>
                  <a:srgbClr val="00FF00"/>
                </a:solidFill>
                <a:latin typeface="Courier"/>
                <a:ea typeface="Courier"/>
                <a:cs typeface="Courier"/>
                <a:sym typeface="Courier"/>
              </a:rPr>
              <a:t>tmp</a:t>
            </a:r>
            <a:r>
              <a:rPr i="0" lang="en-US" sz="3000" u="none" cap="none" strike="noStrike">
                <a:solidFill>
                  <a:schemeClr val="lt1"/>
                </a:solidFill>
                <a:latin typeface="Courier"/>
                <a:ea typeface="Courier"/>
                <a:cs typeface="Courier"/>
                <a:sym typeface="Courier"/>
              </a:rPr>
              <a:t> = </a:t>
            </a:r>
            <a:r>
              <a:rPr i="0" lang="en-US" sz="3000" u="none" cap="none" strike="noStrike">
                <a:solidFill>
                  <a:srgbClr val="FF00FF"/>
                </a:solidFill>
                <a:latin typeface="Courier"/>
                <a:ea typeface="Courier"/>
                <a:cs typeface="Courier"/>
                <a:sym typeface="Courier"/>
              </a:rPr>
              <a:t>list</a:t>
            </a:r>
            <a:r>
              <a:rPr i="0" lang="en-US" sz="3000" u="none" cap="none" strike="noStrike">
                <a:solidFill>
                  <a:schemeClr val="lt1"/>
                </a:solidFill>
                <a:latin typeface="Courier"/>
                <a:ea typeface="Courier"/>
                <a:cs typeface="Courier"/>
                <a:sym typeface="Courier"/>
              </a:rPr>
              <a:t>()</a:t>
            </a:r>
            <a:endParaRPr/>
          </a:p>
          <a:p>
            <a:pPr indent="0" lvl="0" marL="0" marR="0" rtl="0" algn="l">
              <a:spcBef>
                <a:spcPts val="0"/>
              </a:spcBef>
              <a:spcAft>
                <a:spcPts val="0"/>
              </a:spcAft>
              <a:buClr>
                <a:srgbClr val="FFFF00"/>
              </a:buClr>
              <a:buSzPts val="750"/>
              <a:buFont typeface="Arial"/>
              <a:buNone/>
            </a:pPr>
            <a:r>
              <a:rPr i="0" lang="en-US" sz="3000" u="none" cap="none" strike="noStrike">
                <a:solidFill>
                  <a:srgbClr val="FFFF00"/>
                </a:solidFill>
                <a:latin typeface="Courier"/>
                <a:ea typeface="Courier"/>
                <a:cs typeface="Courier"/>
                <a:sym typeface="Courier"/>
              </a:rPr>
              <a:t>for</a:t>
            </a:r>
            <a:r>
              <a:rPr i="0" lang="en-US" sz="3000" u="none" cap="none" strike="noStrike">
                <a:solidFill>
                  <a:schemeClr val="lt1"/>
                </a:solidFill>
                <a:latin typeface="Courier"/>
                <a:ea typeface="Courier"/>
                <a:cs typeface="Courier"/>
                <a:sym typeface="Courier"/>
              </a:rPr>
              <a:t> </a:t>
            </a:r>
            <a:r>
              <a:rPr i="0" lang="en-US" sz="3000" u="none" cap="none" strike="noStrike">
                <a:solidFill>
                  <a:srgbClr val="FF7F00"/>
                </a:solidFill>
                <a:latin typeface="Courier"/>
                <a:ea typeface="Courier"/>
                <a:cs typeface="Courier"/>
                <a:sym typeface="Courier"/>
              </a:rPr>
              <a:t>k, v</a:t>
            </a:r>
            <a:r>
              <a:rPr i="0" lang="en-US" sz="3000" u="none" cap="none" strike="noStrike">
                <a:solidFill>
                  <a:schemeClr val="lt1"/>
                </a:solidFill>
                <a:latin typeface="Courier"/>
                <a:ea typeface="Courier"/>
                <a:cs typeface="Courier"/>
                <a:sym typeface="Courier"/>
              </a:rPr>
              <a:t> </a:t>
            </a:r>
            <a:r>
              <a:rPr i="0" lang="en-US" sz="3000" u="none" cap="none" strike="noStrike">
                <a:solidFill>
                  <a:srgbClr val="FFFF00"/>
                </a:solidFill>
                <a:latin typeface="Courier"/>
                <a:ea typeface="Courier"/>
                <a:cs typeface="Courier"/>
                <a:sym typeface="Courier"/>
              </a:rPr>
              <a:t>in</a:t>
            </a:r>
            <a:r>
              <a:rPr i="0" lang="en-US" sz="3000" u="none" cap="none" strike="noStrike">
                <a:solidFill>
                  <a:schemeClr val="lt1"/>
                </a:solidFill>
                <a:latin typeface="Courier"/>
                <a:ea typeface="Courier"/>
                <a:cs typeface="Courier"/>
                <a:sym typeface="Courier"/>
              </a:rPr>
              <a:t> </a:t>
            </a:r>
            <a:r>
              <a:rPr i="0" lang="en-US" sz="3000" u="none" cap="none" strike="noStrike">
                <a:solidFill>
                  <a:srgbClr val="00FF00"/>
                </a:solidFill>
                <a:latin typeface="Courier"/>
                <a:ea typeface="Courier"/>
                <a:cs typeface="Courier"/>
                <a:sym typeface="Courier"/>
              </a:rPr>
              <a:t>c</a:t>
            </a:r>
            <a:r>
              <a:rPr i="0" lang="en-US" sz="3000" u="none" cap="none" strike="noStrike">
                <a:solidFill>
                  <a:srgbClr val="FF00FF"/>
                </a:solidFill>
                <a:latin typeface="Courier"/>
                <a:ea typeface="Courier"/>
                <a:cs typeface="Courier"/>
                <a:sym typeface="Courier"/>
              </a:rPr>
              <a:t>.items</a:t>
            </a:r>
            <a:r>
              <a:rPr i="0" lang="en-US" sz="3000" u="none" cap="none" strike="noStrike">
                <a:solidFill>
                  <a:schemeClr val="lt1"/>
                </a:solidFill>
                <a:latin typeface="Courier"/>
                <a:ea typeface="Courier"/>
                <a:cs typeface="Courier"/>
                <a:sym typeface="Courier"/>
              </a:rPr>
              <a:t>():</a:t>
            </a:r>
            <a:endParaRPr/>
          </a:p>
          <a:p>
            <a:pPr indent="0" lvl="0" marL="0" marR="0" rtl="0" algn="l">
              <a:spcBef>
                <a:spcPts val="0"/>
              </a:spcBef>
              <a:spcAft>
                <a:spcPts val="0"/>
              </a:spcAft>
              <a:buClr>
                <a:schemeClr val="lt1"/>
              </a:buClr>
              <a:buSzPts val="750"/>
              <a:buFont typeface="Arial"/>
              <a:buNone/>
            </a:pPr>
            <a:r>
              <a:rPr i="0" lang="en-US" sz="3000" u="none" cap="none" strike="noStrike">
                <a:solidFill>
                  <a:schemeClr val="lt1"/>
                </a:solidFill>
                <a:latin typeface="Courier"/>
                <a:ea typeface="Courier"/>
                <a:cs typeface="Courier"/>
                <a:sym typeface="Courier"/>
              </a:rPr>
              <a:t>    </a:t>
            </a:r>
            <a:r>
              <a:rPr i="0" lang="en-US" sz="3000" u="none" cap="none" strike="noStrike">
                <a:solidFill>
                  <a:srgbClr val="00FF00"/>
                </a:solidFill>
                <a:latin typeface="Courier"/>
                <a:ea typeface="Courier"/>
                <a:cs typeface="Courier"/>
                <a:sym typeface="Courier"/>
              </a:rPr>
              <a:t>tmp</a:t>
            </a:r>
            <a:r>
              <a:rPr i="0" lang="en-US" sz="3000" u="none" cap="none" strike="noStrike">
                <a:solidFill>
                  <a:srgbClr val="FF00FF"/>
                </a:solidFill>
                <a:latin typeface="Courier"/>
                <a:ea typeface="Courier"/>
                <a:cs typeface="Courier"/>
                <a:sym typeface="Courier"/>
              </a:rPr>
              <a:t>.append</a:t>
            </a:r>
            <a:r>
              <a:rPr i="0" lang="en-US" sz="3000" u="none" cap="none" strike="noStrike">
                <a:solidFill>
                  <a:schemeClr val="lt1"/>
                </a:solidFill>
                <a:latin typeface="Courier"/>
                <a:ea typeface="Courier"/>
                <a:cs typeface="Courier"/>
                <a:sym typeface="Courier"/>
              </a:rPr>
              <a:t>( </a:t>
            </a:r>
            <a:r>
              <a:rPr i="0" lang="en-US" sz="3000" u="none" cap="none" strike="noStrike">
                <a:solidFill>
                  <a:srgbClr val="FF7F00"/>
                </a:solidFill>
                <a:latin typeface="Courier"/>
                <a:ea typeface="Courier"/>
                <a:cs typeface="Courier"/>
                <a:sym typeface="Courier"/>
              </a:rPr>
              <a:t>(v, k)</a:t>
            </a:r>
            <a:r>
              <a:rPr i="0" lang="en-US" sz="3000" u="none" cap="none" strike="noStrike">
                <a:solidFill>
                  <a:schemeClr val="lt1"/>
                </a:solidFill>
                <a:latin typeface="Courier"/>
                <a:ea typeface="Courier"/>
                <a:cs typeface="Courier"/>
                <a:sym typeface="Courier"/>
              </a:rPr>
              <a:t> )</a:t>
            </a:r>
            <a:endParaRPr/>
          </a:p>
          <a:p>
            <a:pPr indent="0" lvl="0" marL="0" marR="0" rtl="0" algn="l">
              <a:spcBef>
                <a:spcPts val="0"/>
              </a:spcBef>
              <a:spcAft>
                <a:spcPts val="0"/>
              </a:spcAft>
              <a:buClr>
                <a:schemeClr val="dk1"/>
              </a:buClr>
              <a:buSzPts val="750"/>
              <a:buFont typeface="Arial"/>
              <a:buNone/>
            </a:pPr>
            <a:r>
              <a:t/>
            </a:r>
            <a:endParaRPr i="0" sz="3000" u="none" cap="none" strike="noStrike">
              <a:solidFill>
                <a:schemeClr val="lt1"/>
              </a:solidFill>
              <a:latin typeface="Courier"/>
              <a:ea typeface="Courier"/>
              <a:cs typeface="Courier"/>
              <a:sym typeface="Courier"/>
            </a:endParaRPr>
          </a:p>
          <a:p>
            <a:pPr indent="0" lvl="0" marL="0" marR="0" rtl="0" algn="l">
              <a:spcBef>
                <a:spcPts val="0"/>
              </a:spcBef>
              <a:spcAft>
                <a:spcPts val="0"/>
              </a:spcAft>
              <a:buClr>
                <a:srgbClr val="FFFF00"/>
              </a:buClr>
              <a:buSzPts val="750"/>
              <a:buFont typeface="Arial"/>
              <a:buNone/>
            </a:pPr>
            <a:r>
              <a:rPr i="0" lang="en-US" sz="3000" u="none" cap="none" strike="noStrike">
                <a:solidFill>
                  <a:srgbClr val="FFFF00"/>
                </a:solidFill>
                <a:latin typeface="Courier"/>
                <a:ea typeface="Courier"/>
                <a:cs typeface="Courier"/>
                <a:sym typeface="Courier"/>
              </a:rPr>
              <a:t>print</a:t>
            </a:r>
            <a:r>
              <a:rPr lang="en-US" sz="3000">
                <a:solidFill>
                  <a:schemeClr val="lt1"/>
                </a:solidFill>
                <a:latin typeface="Courier"/>
                <a:ea typeface="Courier"/>
                <a:cs typeface="Courier"/>
                <a:sym typeface="Courier"/>
              </a:rPr>
              <a:t>(</a:t>
            </a:r>
            <a:r>
              <a:rPr i="0" lang="en-US" sz="3000" u="none" cap="none" strike="noStrike">
                <a:solidFill>
                  <a:srgbClr val="00FF00"/>
                </a:solidFill>
                <a:latin typeface="Courier"/>
                <a:ea typeface="Courier"/>
                <a:cs typeface="Courier"/>
                <a:sym typeface="Courier"/>
              </a:rPr>
              <a:t>tmp</a:t>
            </a:r>
            <a:r>
              <a:rPr lang="en-US" sz="3000">
                <a:solidFill>
                  <a:srgbClr val="FFFF00"/>
                </a:solidFill>
                <a:latin typeface="Courier"/>
                <a:ea typeface="Courier"/>
                <a:cs typeface="Courier"/>
                <a:sym typeface="Courier"/>
              </a:rPr>
              <a:t>)</a:t>
            </a:r>
            <a:endParaRPr i="0" sz="3000" u="none" cap="none" strike="noStrike">
              <a:solidFill>
                <a:srgbClr val="00FF00"/>
              </a:solidFill>
              <a:latin typeface="Courier"/>
              <a:ea typeface="Courier"/>
              <a:cs typeface="Courier"/>
              <a:sym typeface="Courier"/>
            </a:endParaRPr>
          </a:p>
          <a:p>
            <a:pPr indent="0" lvl="0" marL="0" marR="0" rtl="0" algn="l">
              <a:spcBef>
                <a:spcPts val="0"/>
              </a:spcBef>
              <a:spcAft>
                <a:spcPts val="0"/>
              </a:spcAft>
              <a:buClr>
                <a:schemeClr val="lt1"/>
              </a:buClr>
              <a:buSzPts val="750"/>
              <a:buFont typeface="Arial"/>
              <a:buNone/>
            </a:pPr>
            <a:r>
              <a:rPr i="0" lang="en-US" sz="3000" u="none" cap="none" strike="noStrike">
                <a:solidFill>
                  <a:schemeClr val="lt1"/>
                </a:solidFill>
                <a:latin typeface="Courier"/>
                <a:ea typeface="Courier"/>
                <a:cs typeface="Courier"/>
                <a:sym typeface="Courier"/>
              </a:rPr>
              <a:t>[(10, 'a'), (22, 'c'), (1, 'b')]</a:t>
            </a:r>
            <a:endParaRPr/>
          </a:p>
          <a:p>
            <a:pPr indent="0" lvl="0" marL="0" marR="0" rtl="0" algn="l">
              <a:spcBef>
                <a:spcPts val="0"/>
              </a:spcBef>
              <a:spcAft>
                <a:spcPts val="0"/>
              </a:spcAft>
              <a:buClr>
                <a:schemeClr val="dk1"/>
              </a:buClr>
              <a:buSzPts val="750"/>
              <a:buFont typeface="Arial"/>
              <a:buNone/>
            </a:pPr>
            <a:r>
              <a:t/>
            </a:r>
            <a:endParaRPr i="0" sz="3000" u="none" cap="none" strike="noStrike">
              <a:solidFill>
                <a:schemeClr val="lt1"/>
              </a:solidFill>
              <a:latin typeface="Courier"/>
              <a:ea typeface="Courier"/>
              <a:cs typeface="Courier"/>
              <a:sym typeface="Courier"/>
            </a:endParaRPr>
          </a:p>
          <a:p>
            <a:pPr indent="0" lvl="0" marL="0" marR="0" rtl="0" algn="l">
              <a:spcBef>
                <a:spcPts val="0"/>
              </a:spcBef>
              <a:spcAft>
                <a:spcPts val="0"/>
              </a:spcAft>
              <a:buClr>
                <a:schemeClr val="lt1"/>
              </a:buClr>
              <a:buSzPts val="750"/>
              <a:buFont typeface="Arial"/>
              <a:buNone/>
            </a:pPr>
            <a:r>
              <a:rPr i="0" lang="en-US" sz="3000" u="none" cap="none" strike="noStrike">
                <a:solidFill>
                  <a:schemeClr val="lt1"/>
                </a:solidFill>
                <a:latin typeface="Courier"/>
                <a:ea typeface="Courier"/>
                <a:cs typeface="Courier"/>
                <a:sym typeface="Courier"/>
              </a:rPr>
              <a:t>This loop has two iteration variables because items method returns a list of tuples and key, val is a tuple assignment that successively iterates through each of the key-value pairs in the dictionary. </a:t>
            </a:r>
            <a:endParaRPr/>
          </a:p>
          <a:p>
            <a:pPr indent="0" lvl="0" marL="0" marR="0" rtl="0" algn="l">
              <a:spcBef>
                <a:spcPts val="0"/>
              </a:spcBef>
              <a:spcAft>
                <a:spcPts val="0"/>
              </a:spcAft>
              <a:buClr>
                <a:schemeClr val="lt1"/>
              </a:buClr>
              <a:buSzPts val="750"/>
              <a:buFont typeface="Arial"/>
              <a:buNone/>
            </a:pPr>
            <a:r>
              <a:rPr i="0" lang="en-US" sz="3000" u="none" cap="none" strike="noStrike">
                <a:solidFill>
                  <a:schemeClr val="lt1"/>
                </a:solidFill>
                <a:latin typeface="Courier"/>
                <a:ea typeface="Courier"/>
                <a:cs typeface="Courier"/>
                <a:sym typeface="Courier"/>
              </a:rPr>
              <a:t>We first make a list of tuples where each tuple is (value, key). The items method would give us a list of (key, value) tuples, but this time we want to sort by value, not key. Once we have constructed the list with the value-key tuples, it is a simple matter to sort the list in reverse order and print out the new, sorted list.</a:t>
            </a:r>
            <a:endParaRPr/>
          </a:p>
          <a:p>
            <a:pPr indent="0" lvl="0" marL="0" marR="0" rtl="0" algn="l">
              <a:spcBef>
                <a:spcPts val="0"/>
              </a:spcBef>
              <a:spcAft>
                <a:spcPts val="0"/>
              </a:spcAft>
              <a:buClr>
                <a:schemeClr val="dk1"/>
              </a:buClr>
              <a:buSzPts val="750"/>
              <a:buFont typeface="Arial"/>
              <a:buNone/>
            </a:pPr>
            <a:r>
              <a:t/>
            </a:r>
            <a:endParaRPr i="0" sz="3000" u="none" cap="none" strike="noStrike">
              <a:solidFill>
                <a:schemeClr val="lt1"/>
              </a:solidFill>
              <a:latin typeface="Courier"/>
              <a:ea typeface="Courier"/>
              <a:cs typeface="Courier"/>
              <a:sym typeface="Courier"/>
            </a:endParaRPr>
          </a:p>
          <a:p>
            <a:pPr indent="0" lvl="0" marL="0" marR="0" rtl="0" algn="l">
              <a:spcBef>
                <a:spcPts val="0"/>
              </a:spcBef>
              <a:spcAft>
                <a:spcPts val="0"/>
              </a:spcAft>
              <a:buClr>
                <a:srgbClr val="00FA00"/>
              </a:buClr>
              <a:buSzPts val="750"/>
              <a:buFont typeface="Arial"/>
              <a:buNone/>
            </a:pPr>
            <a:r>
              <a:rPr i="0" lang="en-US" sz="3000" u="none" cap="none" strike="noStrike">
                <a:solidFill>
                  <a:srgbClr val="00FA00"/>
                </a:solidFill>
                <a:latin typeface="Courier"/>
                <a:ea typeface="Courier"/>
                <a:cs typeface="Courier"/>
                <a:sym typeface="Courier"/>
              </a:rPr>
              <a:t>tmp </a:t>
            </a:r>
            <a:r>
              <a:rPr i="0" lang="en-US" sz="3000" u="none" cap="none" strike="noStrike">
                <a:solidFill>
                  <a:schemeClr val="lt1"/>
                </a:solidFill>
                <a:latin typeface="Courier"/>
                <a:ea typeface="Courier"/>
                <a:cs typeface="Courier"/>
                <a:sym typeface="Courier"/>
              </a:rPr>
              <a:t>= </a:t>
            </a:r>
            <a:r>
              <a:rPr i="0" lang="en-US" sz="3000" u="none" cap="none" strike="noStrike">
                <a:solidFill>
                  <a:srgbClr val="FFFF00"/>
                </a:solidFill>
                <a:latin typeface="Courier"/>
                <a:ea typeface="Courier"/>
                <a:cs typeface="Courier"/>
                <a:sym typeface="Courier"/>
              </a:rPr>
              <a:t>sorted(</a:t>
            </a:r>
            <a:r>
              <a:rPr i="0" lang="en-US" sz="3000" u="none" cap="none" strike="noStrike">
                <a:solidFill>
                  <a:srgbClr val="00FF00"/>
                </a:solidFill>
                <a:latin typeface="Courier"/>
                <a:ea typeface="Courier"/>
                <a:cs typeface="Courier"/>
                <a:sym typeface="Courier"/>
              </a:rPr>
              <a:t>tmp</a:t>
            </a:r>
            <a:r>
              <a:rPr i="0" lang="en-US" sz="3000" u="none" cap="none" strike="noStrike">
                <a:solidFill>
                  <a:srgbClr val="FF00FF"/>
                </a:solidFill>
                <a:latin typeface="Courier"/>
                <a:ea typeface="Courier"/>
                <a:cs typeface="Courier"/>
                <a:sym typeface="Courier"/>
              </a:rPr>
              <a:t>, reverse=True</a:t>
            </a:r>
            <a:r>
              <a:rPr i="0" lang="en-US" sz="3000" u="none" cap="none" strike="noStrike">
                <a:solidFill>
                  <a:srgbClr val="FFFF00"/>
                </a:solidFill>
                <a:latin typeface="Courier"/>
                <a:ea typeface="Courier"/>
                <a:cs typeface="Courier"/>
                <a:sym typeface="Courier"/>
              </a:rPr>
              <a:t>)</a:t>
            </a:r>
            <a:endParaRPr/>
          </a:p>
          <a:p>
            <a:pPr indent="0" lvl="0" marL="0" marR="0" rtl="0" algn="l">
              <a:spcBef>
                <a:spcPts val="0"/>
              </a:spcBef>
              <a:spcAft>
                <a:spcPts val="0"/>
              </a:spcAft>
              <a:buClr>
                <a:srgbClr val="FFFF00"/>
              </a:buClr>
              <a:buSzPts val="750"/>
              <a:buFont typeface="Arial"/>
              <a:buNone/>
            </a:pPr>
            <a:r>
              <a:rPr i="0" lang="en-US" sz="3000" u="none" cap="none" strike="noStrike">
                <a:solidFill>
                  <a:srgbClr val="FFFF00"/>
                </a:solidFill>
                <a:latin typeface="Courier"/>
                <a:ea typeface="Courier"/>
                <a:cs typeface="Courier"/>
                <a:sym typeface="Courier"/>
              </a:rPr>
              <a:t>print(</a:t>
            </a:r>
            <a:r>
              <a:rPr i="0" lang="en-US" sz="3000" u="none" cap="none" strike="noStrike">
                <a:solidFill>
                  <a:srgbClr val="00FF00"/>
                </a:solidFill>
                <a:latin typeface="Courier"/>
                <a:ea typeface="Courier"/>
                <a:cs typeface="Courier"/>
                <a:sym typeface="Courier"/>
              </a:rPr>
              <a:t>tmp</a:t>
            </a:r>
            <a:r>
              <a:rPr lang="en-US" sz="3000">
                <a:solidFill>
                  <a:srgbClr val="FFFF00"/>
                </a:solidFill>
                <a:latin typeface="Courier"/>
                <a:ea typeface="Courier"/>
                <a:cs typeface="Courier"/>
                <a:sym typeface="Courier"/>
              </a:rPr>
              <a:t>)</a:t>
            </a:r>
            <a:endParaRPr i="0" sz="3000" u="none" cap="none" strike="noStrike">
              <a:solidFill>
                <a:srgbClr val="00FF00"/>
              </a:solidFill>
              <a:latin typeface="Courier"/>
              <a:ea typeface="Courier"/>
              <a:cs typeface="Courier"/>
              <a:sym typeface="Courier"/>
            </a:endParaRPr>
          </a:p>
          <a:p>
            <a:pPr indent="0" lvl="0" marL="0" marR="0" rtl="0" algn="l">
              <a:spcBef>
                <a:spcPts val="0"/>
              </a:spcBef>
              <a:spcAft>
                <a:spcPts val="0"/>
              </a:spcAft>
              <a:buClr>
                <a:schemeClr val="lt1"/>
              </a:buClr>
              <a:buSzPts val="750"/>
              <a:buFont typeface="Arial"/>
              <a:buNone/>
            </a:pPr>
            <a:r>
              <a:rPr i="0" lang="en-US" sz="3000" u="none" cap="none" strike="noStrike">
                <a:solidFill>
                  <a:schemeClr val="lt1"/>
                </a:solidFill>
                <a:latin typeface="Courier"/>
                <a:ea typeface="Courier"/>
                <a:cs typeface="Courier"/>
                <a:sym typeface="Courier"/>
              </a:rPr>
              <a:t>[(22, 'c'), (10, 'a'), (1, 'b')]</a:t>
            </a:r>
            <a:endParaRPr/>
          </a:p>
          <a:p>
            <a:pPr indent="0" lvl="0" marL="0" marR="0" rtl="0" algn="l">
              <a:spcBef>
                <a:spcPts val="0"/>
              </a:spcBef>
              <a:spcAft>
                <a:spcPts val="0"/>
              </a:spcAft>
              <a:buClr>
                <a:schemeClr val="dk1"/>
              </a:buClr>
              <a:buSzPts val="750"/>
              <a:buFont typeface="Arial"/>
              <a:buNone/>
            </a:pPr>
            <a:r>
              <a:t/>
            </a:r>
            <a:endParaRPr i="0" sz="3000" u="none" cap="none" strike="noStrike">
              <a:solidFill>
                <a:schemeClr val="lt1"/>
              </a:solidFill>
              <a:latin typeface="Courier"/>
              <a:ea typeface="Courier"/>
              <a:cs typeface="Courier"/>
              <a:sym typeface="Courier"/>
            </a:endParaRPr>
          </a:p>
          <a:p>
            <a:pPr indent="0" lvl="1" marL="457200" rtl="0" algn="l">
              <a:spcBef>
                <a:spcPts val="0"/>
              </a:spcBef>
              <a:spcAft>
                <a:spcPts val="0"/>
              </a:spcAft>
              <a:buClr>
                <a:schemeClr val="lt1"/>
              </a:buClr>
              <a:buSzPts val="750"/>
              <a:buFont typeface="Courier New"/>
              <a:buNone/>
            </a:pPr>
            <a:r>
              <a:t/>
            </a:r>
            <a:endParaRPr i="0" sz="3000" u="none" cap="none" strike="noStrike">
              <a:solidFill>
                <a:schemeClr val="lt1"/>
              </a:solidFill>
              <a:latin typeface="Courier"/>
              <a:ea typeface="Courier"/>
              <a:cs typeface="Courier"/>
              <a:sym typeface="Courier"/>
            </a:endParaRPr>
          </a:p>
          <a:p>
            <a:pPr indent="0" lvl="0" marL="0" marR="0" rtl="0" algn="l">
              <a:spcBef>
                <a:spcPts val="0"/>
              </a:spcBef>
              <a:spcAft>
                <a:spcPts val="0"/>
              </a:spcAft>
              <a:buClr>
                <a:schemeClr val="dk1"/>
              </a:buClr>
              <a:buSzPts val="275"/>
              <a:buFont typeface="Arial"/>
              <a:buNone/>
            </a:pPr>
            <a:r>
              <a:t/>
            </a:r>
            <a:endParaRPr b="0" i="0" sz="1100" u="none" cap="none" strike="noStrike"/>
          </a:p>
        </p:txBody>
      </p:sp>
      <p:sp>
        <p:nvSpPr>
          <p:cNvPr id="85" name="Google Shape;85;p1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p11:notes"/>
          <p:cNvSpPr txBox="1"/>
          <p:nvPr>
            <p:ph idx="1" type="body"/>
          </p:nvPr>
        </p:nvSpPr>
        <p:spPr>
          <a:xfrm>
            <a:off x="685800" y="4343400"/>
            <a:ext cx="5486399" cy="4114800"/>
          </a:xfrm>
          <a:prstGeom prst="rect">
            <a:avLst/>
          </a:prstGeom>
          <a:no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275"/>
              <a:buFont typeface="Arial"/>
              <a:buNone/>
            </a:pPr>
            <a:r>
              <a:rPr b="0" i="0" lang="en-US" sz="1100" u="none" cap="none" strike="noStrike"/>
              <a:t>The following Python code finds the top 10 most commonly occurring words in romeo.txt file. This is a good example of how we can use tuples and dictionaries along with a for loop. The first part of the program: it reads the file and computes the dictionary that maps each word to the count of words in the document. However, instead of simply printing out counts and ending the program, we construct a list of (val, key) tuples and then sort the list in reverse order. Since the value is first, it will be used for the comparisons. If there is more than one tuple with the same value, it will look at the second element (the key).  Thus, tuples where the value is the same will be further sorted by the alphabetical order of the key. At the end of the program, we write a nice for loop which does a multiple assignment iteration and prints out the ten most common words by iterating through a slice of the list (lst[:10]).</a:t>
            </a:r>
            <a:endParaRPr/>
          </a:p>
          <a:p>
            <a:pPr indent="0" lvl="0" marL="0" marR="0" rtl="0" algn="l">
              <a:spcBef>
                <a:spcPts val="0"/>
              </a:spcBef>
              <a:spcAft>
                <a:spcPts val="0"/>
              </a:spcAft>
              <a:buClr>
                <a:schemeClr val="dk1"/>
              </a:buClr>
              <a:buSzPts val="275"/>
              <a:buFont typeface="Arial"/>
              <a:buNone/>
            </a:pPr>
            <a:r>
              <a:t/>
            </a:r>
            <a:endParaRPr b="0" i="0" sz="1100" u="none" cap="none" strike="noStrike"/>
          </a:p>
          <a:p>
            <a:pPr indent="0" lvl="0" marL="0" marR="0" rtl="0" algn="l">
              <a:spcBef>
                <a:spcPts val="0"/>
              </a:spcBef>
              <a:spcAft>
                <a:spcPts val="0"/>
              </a:spcAft>
              <a:buClr>
                <a:schemeClr val="dk1"/>
              </a:buClr>
              <a:buSzPts val="275"/>
              <a:buFont typeface="Arial"/>
              <a:buNone/>
            </a:pPr>
            <a:r>
              <a:t/>
            </a:r>
            <a:endParaRPr b="0" i="0" sz="1100" u="none" cap="none" strike="noStrike"/>
          </a:p>
          <a:p>
            <a:pPr indent="0" lvl="0" marL="0" marR="0" rtl="0" algn="l">
              <a:lnSpc>
                <a:spcPct val="100000"/>
              </a:lnSpc>
              <a:spcBef>
                <a:spcPts val="0"/>
              </a:spcBef>
              <a:spcAft>
                <a:spcPts val="0"/>
              </a:spcAft>
              <a:buClr>
                <a:srgbClr val="00FF00"/>
              </a:buClr>
              <a:buSzPts val="275"/>
              <a:buFont typeface="Courier New"/>
              <a:buNone/>
            </a:pPr>
            <a:r>
              <a:rPr i="0" lang="en-US" sz="1100" u="none" cap="none" strike="noStrike">
                <a:solidFill>
                  <a:srgbClr val="00FF00"/>
                </a:solidFill>
                <a:latin typeface="Courier"/>
                <a:ea typeface="Courier"/>
                <a:cs typeface="Courier"/>
                <a:sym typeface="Courier"/>
              </a:rPr>
              <a:t>fhand</a:t>
            </a:r>
            <a:r>
              <a:rPr i="0" lang="en-US" sz="1100" u="none" cap="none" strike="noStrike">
                <a:solidFill>
                  <a:schemeClr val="lt1"/>
                </a:solidFill>
                <a:latin typeface="Courier"/>
                <a:ea typeface="Courier"/>
                <a:cs typeface="Courier"/>
                <a:sym typeface="Courier"/>
              </a:rPr>
              <a:t> = </a:t>
            </a:r>
            <a:r>
              <a:rPr i="0" lang="en-US" sz="1100" u="none" cap="none" strike="noStrike">
                <a:solidFill>
                  <a:srgbClr val="FF00FF"/>
                </a:solidFill>
                <a:latin typeface="Courier"/>
                <a:ea typeface="Courier"/>
                <a:cs typeface="Courier"/>
                <a:sym typeface="Courier"/>
              </a:rPr>
              <a:t>open</a:t>
            </a:r>
            <a:r>
              <a:rPr i="0" lang="en-US" sz="1100" u="none" cap="none" strike="noStrike">
                <a:solidFill>
                  <a:schemeClr val="lt1"/>
                </a:solidFill>
                <a:latin typeface="Courier"/>
                <a:ea typeface="Courier"/>
                <a:cs typeface="Courier"/>
                <a:sym typeface="Courier"/>
              </a:rPr>
              <a:t>('romeo.txt')</a:t>
            </a:r>
            <a:endParaRPr/>
          </a:p>
          <a:p>
            <a:pPr indent="0" lvl="0" marL="0" marR="0" rtl="0" algn="l">
              <a:lnSpc>
                <a:spcPct val="100000"/>
              </a:lnSpc>
              <a:spcBef>
                <a:spcPts val="0"/>
              </a:spcBef>
              <a:spcAft>
                <a:spcPts val="0"/>
              </a:spcAft>
              <a:buClr>
                <a:srgbClr val="00FF00"/>
              </a:buClr>
              <a:buSzPts val="275"/>
              <a:buFont typeface="Courier New"/>
              <a:buNone/>
            </a:pPr>
            <a:r>
              <a:rPr i="0" lang="en-US" sz="1100" u="none" cap="none" strike="noStrike">
                <a:solidFill>
                  <a:srgbClr val="00FF00"/>
                </a:solidFill>
                <a:latin typeface="Courier"/>
                <a:ea typeface="Courier"/>
                <a:cs typeface="Courier"/>
                <a:sym typeface="Courier"/>
              </a:rPr>
              <a:t>counts</a:t>
            </a:r>
            <a:r>
              <a:rPr i="0" lang="en-US" sz="1100" u="none" cap="none" strike="noStrike">
                <a:solidFill>
                  <a:schemeClr val="lt1"/>
                </a:solidFill>
                <a:latin typeface="Courier"/>
                <a:ea typeface="Courier"/>
                <a:cs typeface="Courier"/>
                <a:sym typeface="Courier"/>
              </a:rPr>
              <a:t> = </a:t>
            </a:r>
            <a:r>
              <a:rPr i="0" lang="en-US" sz="1100" u="none" cap="none" strike="noStrike">
                <a:solidFill>
                  <a:srgbClr val="FF00FF"/>
                </a:solidFill>
                <a:latin typeface="Courier"/>
                <a:ea typeface="Courier"/>
                <a:cs typeface="Courier"/>
                <a:sym typeface="Courier"/>
              </a:rPr>
              <a:t>{}</a:t>
            </a:r>
            <a:endParaRPr i="0" sz="1100" u="none" cap="none" strike="noStrike">
              <a:solidFill>
                <a:schemeClr val="lt1"/>
              </a:solidFill>
              <a:latin typeface="Courier"/>
              <a:ea typeface="Courier"/>
              <a:cs typeface="Courier"/>
              <a:sym typeface="Courier"/>
            </a:endParaRPr>
          </a:p>
          <a:p>
            <a:pPr indent="0" lvl="0" marL="0" marR="0" rtl="0" algn="l">
              <a:lnSpc>
                <a:spcPct val="100000"/>
              </a:lnSpc>
              <a:spcBef>
                <a:spcPts val="0"/>
              </a:spcBef>
              <a:spcAft>
                <a:spcPts val="0"/>
              </a:spcAft>
              <a:buClr>
                <a:srgbClr val="FFFF00"/>
              </a:buClr>
              <a:buSzPts val="275"/>
              <a:buFont typeface="Courier New"/>
              <a:buNone/>
            </a:pPr>
            <a:r>
              <a:rPr i="0" lang="en-US" sz="1100" u="none" cap="none" strike="noStrike">
                <a:solidFill>
                  <a:srgbClr val="FFFF00"/>
                </a:solidFill>
                <a:latin typeface="Courier"/>
                <a:ea typeface="Courier"/>
                <a:cs typeface="Courier"/>
                <a:sym typeface="Courier"/>
              </a:rPr>
              <a:t>for</a:t>
            </a:r>
            <a:r>
              <a:rPr i="0" lang="en-US" sz="1100" u="none" cap="none" strike="noStrike">
                <a:solidFill>
                  <a:schemeClr val="lt1"/>
                </a:solidFill>
                <a:latin typeface="Courier"/>
                <a:ea typeface="Courier"/>
                <a:cs typeface="Courier"/>
                <a:sym typeface="Courier"/>
              </a:rPr>
              <a:t> </a:t>
            </a:r>
            <a:r>
              <a:rPr i="0" lang="en-US" sz="1100" u="none" cap="none" strike="noStrike">
                <a:solidFill>
                  <a:srgbClr val="00FF00"/>
                </a:solidFill>
                <a:latin typeface="Courier"/>
                <a:ea typeface="Courier"/>
                <a:cs typeface="Courier"/>
                <a:sym typeface="Courier"/>
              </a:rPr>
              <a:t>line</a:t>
            </a:r>
            <a:r>
              <a:rPr i="0" lang="en-US" sz="1100" u="none" cap="none" strike="noStrike">
                <a:solidFill>
                  <a:schemeClr val="lt1"/>
                </a:solidFill>
                <a:latin typeface="Courier"/>
                <a:ea typeface="Courier"/>
                <a:cs typeface="Courier"/>
                <a:sym typeface="Courier"/>
              </a:rPr>
              <a:t> </a:t>
            </a:r>
            <a:r>
              <a:rPr i="0" lang="en-US" sz="1100" u="none" cap="none" strike="noStrike">
                <a:solidFill>
                  <a:srgbClr val="FFFF00"/>
                </a:solidFill>
                <a:latin typeface="Courier"/>
                <a:ea typeface="Courier"/>
                <a:cs typeface="Courier"/>
                <a:sym typeface="Courier"/>
              </a:rPr>
              <a:t>in</a:t>
            </a:r>
            <a:r>
              <a:rPr i="0" lang="en-US" sz="1100" u="none" cap="none" strike="noStrike">
                <a:solidFill>
                  <a:schemeClr val="lt1"/>
                </a:solidFill>
                <a:latin typeface="Courier"/>
                <a:ea typeface="Courier"/>
                <a:cs typeface="Courier"/>
                <a:sym typeface="Courier"/>
              </a:rPr>
              <a:t> </a:t>
            </a:r>
            <a:r>
              <a:rPr i="0" lang="en-US" sz="1100" u="none" cap="none" strike="noStrike">
                <a:solidFill>
                  <a:srgbClr val="00FF00"/>
                </a:solidFill>
                <a:latin typeface="Courier"/>
                <a:ea typeface="Courier"/>
                <a:cs typeface="Courier"/>
                <a:sym typeface="Courier"/>
              </a:rPr>
              <a:t>fhand</a:t>
            </a:r>
            <a:r>
              <a:rPr i="0" lang="en-US" sz="1100" u="none" cap="none" strike="noStrike">
                <a:solidFill>
                  <a:schemeClr val="lt1"/>
                </a:solidFill>
                <a:latin typeface="Courier"/>
                <a:ea typeface="Courier"/>
                <a:cs typeface="Courier"/>
                <a:sym typeface="Courier"/>
              </a:rPr>
              <a:t>:</a:t>
            </a:r>
            <a:endParaRPr/>
          </a:p>
          <a:p>
            <a:pPr indent="0" lvl="0" marL="0" marR="0" rtl="0" algn="l">
              <a:lnSpc>
                <a:spcPct val="100000"/>
              </a:lnSpc>
              <a:spcBef>
                <a:spcPts val="0"/>
              </a:spcBef>
              <a:spcAft>
                <a:spcPts val="0"/>
              </a:spcAft>
              <a:buClr>
                <a:schemeClr val="lt1"/>
              </a:buClr>
              <a:buSzPts val="275"/>
              <a:buFont typeface="Courier New"/>
              <a:buNone/>
            </a:pPr>
            <a:r>
              <a:rPr i="0" lang="en-US" sz="1100" u="none" cap="none" strike="noStrike">
                <a:solidFill>
                  <a:schemeClr val="lt1"/>
                </a:solidFill>
                <a:latin typeface="Courier"/>
                <a:ea typeface="Courier"/>
                <a:cs typeface="Courier"/>
                <a:sym typeface="Courier"/>
              </a:rPr>
              <a:t>    </a:t>
            </a:r>
            <a:r>
              <a:rPr i="0" lang="en-US" sz="1100" u="none" cap="none" strike="noStrike">
                <a:solidFill>
                  <a:srgbClr val="00FF00"/>
                </a:solidFill>
                <a:latin typeface="Courier"/>
                <a:ea typeface="Courier"/>
                <a:cs typeface="Courier"/>
                <a:sym typeface="Courier"/>
              </a:rPr>
              <a:t>words</a:t>
            </a:r>
            <a:r>
              <a:rPr i="0" lang="en-US" sz="1100" u="none" cap="none" strike="noStrike">
                <a:solidFill>
                  <a:schemeClr val="lt1"/>
                </a:solidFill>
                <a:latin typeface="Courier"/>
                <a:ea typeface="Courier"/>
                <a:cs typeface="Courier"/>
                <a:sym typeface="Courier"/>
              </a:rPr>
              <a:t> = </a:t>
            </a:r>
            <a:r>
              <a:rPr i="0" lang="en-US" sz="1100" u="none" cap="none" strike="noStrike">
                <a:solidFill>
                  <a:srgbClr val="00FF00"/>
                </a:solidFill>
                <a:latin typeface="Courier"/>
                <a:ea typeface="Courier"/>
                <a:cs typeface="Courier"/>
                <a:sym typeface="Courier"/>
              </a:rPr>
              <a:t>line</a:t>
            </a:r>
            <a:r>
              <a:rPr i="0" lang="en-US" sz="1100" u="none" cap="none" strike="noStrike">
                <a:solidFill>
                  <a:srgbClr val="FF00FF"/>
                </a:solidFill>
                <a:latin typeface="Courier"/>
                <a:ea typeface="Courier"/>
                <a:cs typeface="Courier"/>
                <a:sym typeface="Courier"/>
              </a:rPr>
              <a:t>.split</a:t>
            </a:r>
            <a:r>
              <a:rPr i="0" lang="en-US" sz="1100" u="none" cap="none" strike="noStrike">
                <a:solidFill>
                  <a:schemeClr val="lt1"/>
                </a:solidFill>
                <a:latin typeface="Courier"/>
                <a:ea typeface="Courier"/>
                <a:cs typeface="Courier"/>
                <a:sym typeface="Courier"/>
              </a:rPr>
              <a:t>()</a:t>
            </a:r>
            <a:endParaRPr/>
          </a:p>
          <a:p>
            <a:pPr indent="0" lvl="0" marL="0" marR="0" rtl="0" algn="l">
              <a:lnSpc>
                <a:spcPct val="100000"/>
              </a:lnSpc>
              <a:spcBef>
                <a:spcPts val="0"/>
              </a:spcBef>
              <a:spcAft>
                <a:spcPts val="0"/>
              </a:spcAft>
              <a:buClr>
                <a:schemeClr val="lt1"/>
              </a:buClr>
              <a:buSzPts val="275"/>
              <a:buFont typeface="Courier New"/>
              <a:buNone/>
            </a:pPr>
            <a:r>
              <a:rPr i="0" lang="en-US" sz="1100" u="none" cap="none" strike="noStrike">
                <a:solidFill>
                  <a:schemeClr val="lt1"/>
                </a:solidFill>
                <a:latin typeface="Courier"/>
                <a:ea typeface="Courier"/>
                <a:cs typeface="Courier"/>
                <a:sym typeface="Courier"/>
              </a:rPr>
              <a:t>    </a:t>
            </a:r>
            <a:r>
              <a:rPr i="0" lang="en-US" sz="1100" u="none" cap="none" strike="noStrike">
                <a:solidFill>
                  <a:srgbClr val="FFFF00"/>
                </a:solidFill>
                <a:latin typeface="Courier"/>
                <a:ea typeface="Courier"/>
                <a:cs typeface="Courier"/>
                <a:sym typeface="Courier"/>
              </a:rPr>
              <a:t>for</a:t>
            </a:r>
            <a:r>
              <a:rPr i="0" lang="en-US" sz="1100" u="none" cap="none" strike="noStrike">
                <a:solidFill>
                  <a:schemeClr val="lt1"/>
                </a:solidFill>
                <a:latin typeface="Courier"/>
                <a:ea typeface="Courier"/>
                <a:cs typeface="Courier"/>
                <a:sym typeface="Courier"/>
              </a:rPr>
              <a:t> </a:t>
            </a:r>
            <a:r>
              <a:rPr i="0" lang="en-US" sz="1100" u="none" cap="none" strike="noStrike">
                <a:solidFill>
                  <a:srgbClr val="00FF00"/>
                </a:solidFill>
                <a:latin typeface="Courier"/>
                <a:ea typeface="Courier"/>
                <a:cs typeface="Courier"/>
                <a:sym typeface="Courier"/>
              </a:rPr>
              <a:t>word</a:t>
            </a:r>
            <a:r>
              <a:rPr i="0" lang="en-US" sz="1100" u="none" cap="none" strike="noStrike">
                <a:solidFill>
                  <a:schemeClr val="lt1"/>
                </a:solidFill>
                <a:latin typeface="Courier"/>
                <a:ea typeface="Courier"/>
                <a:cs typeface="Courier"/>
                <a:sym typeface="Courier"/>
              </a:rPr>
              <a:t> </a:t>
            </a:r>
            <a:r>
              <a:rPr i="0" lang="en-US" sz="1100" u="none" cap="none" strike="noStrike">
                <a:solidFill>
                  <a:srgbClr val="FFFF00"/>
                </a:solidFill>
                <a:latin typeface="Courier"/>
                <a:ea typeface="Courier"/>
                <a:cs typeface="Courier"/>
                <a:sym typeface="Courier"/>
              </a:rPr>
              <a:t>in</a:t>
            </a:r>
            <a:r>
              <a:rPr i="0" lang="en-US" sz="1100" u="none" cap="none" strike="noStrike">
                <a:solidFill>
                  <a:schemeClr val="lt1"/>
                </a:solidFill>
                <a:latin typeface="Courier"/>
                <a:ea typeface="Courier"/>
                <a:cs typeface="Courier"/>
                <a:sym typeface="Courier"/>
              </a:rPr>
              <a:t> </a:t>
            </a:r>
            <a:r>
              <a:rPr i="0" lang="en-US" sz="1100" u="none" cap="none" strike="noStrike">
                <a:solidFill>
                  <a:srgbClr val="00FF00"/>
                </a:solidFill>
                <a:latin typeface="Courier"/>
                <a:ea typeface="Courier"/>
                <a:cs typeface="Courier"/>
                <a:sym typeface="Courier"/>
              </a:rPr>
              <a:t>words</a:t>
            </a:r>
            <a:r>
              <a:rPr i="0" lang="en-US" sz="1100" u="none" cap="none" strike="noStrike">
                <a:solidFill>
                  <a:schemeClr val="lt1"/>
                </a:solidFill>
                <a:latin typeface="Courier"/>
                <a:ea typeface="Courier"/>
                <a:cs typeface="Courier"/>
                <a:sym typeface="Courier"/>
              </a:rPr>
              <a:t>:</a:t>
            </a:r>
            <a:endParaRPr/>
          </a:p>
          <a:p>
            <a:pPr indent="0" lvl="0" marL="0" marR="0" rtl="0" algn="l">
              <a:lnSpc>
                <a:spcPct val="100000"/>
              </a:lnSpc>
              <a:spcBef>
                <a:spcPts val="0"/>
              </a:spcBef>
              <a:spcAft>
                <a:spcPts val="0"/>
              </a:spcAft>
              <a:buClr>
                <a:schemeClr val="lt1"/>
              </a:buClr>
              <a:buSzPts val="275"/>
              <a:buFont typeface="Courier New"/>
              <a:buNone/>
            </a:pPr>
            <a:r>
              <a:rPr i="0" lang="en-US" sz="1100" u="none" cap="none" strike="noStrike">
                <a:solidFill>
                  <a:schemeClr val="lt1"/>
                </a:solidFill>
                <a:latin typeface="Courier"/>
                <a:ea typeface="Courier"/>
                <a:cs typeface="Courier"/>
                <a:sym typeface="Courier"/>
              </a:rPr>
              <a:t>        </a:t>
            </a:r>
            <a:r>
              <a:rPr i="0" lang="en-US" sz="1100" u="none" cap="none" strike="noStrike">
                <a:solidFill>
                  <a:srgbClr val="00FF00"/>
                </a:solidFill>
                <a:latin typeface="Courier"/>
                <a:ea typeface="Courier"/>
                <a:cs typeface="Courier"/>
                <a:sym typeface="Courier"/>
              </a:rPr>
              <a:t>counts</a:t>
            </a:r>
            <a:r>
              <a:rPr i="0" lang="en-US" sz="1100" u="none" cap="none" strike="noStrike">
                <a:solidFill>
                  <a:srgbClr val="00FFFF"/>
                </a:solidFill>
                <a:latin typeface="Courier"/>
                <a:ea typeface="Courier"/>
                <a:cs typeface="Courier"/>
                <a:sym typeface="Courier"/>
              </a:rPr>
              <a:t>[word]</a:t>
            </a:r>
            <a:r>
              <a:rPr i="0" lang="en-US" sz="1100" u="none" cap="none" strike="noStrike">
                <a:solidFill>
                  <a:schemeClr val="lt1"/>
                </a:solidFill>
                <a:latin typeface="Courier"/>
                <a:ea typeface="Courier"/>
                <a:cs typeface="Courier"/>
                <a:sym typeface="Courier"/>
              </a:rPr>
              <a:t> = </a:t>
            </a:r>
            <a:r>
              <a:rPr i="0" lang="en-US" sz="1100" u="none" cap="none" strike="noStrike">
                <a:solidFill>
                  <a:srgbClr val="00FF00"/>
                </a:solidFill>
                <a:latin typeface="Courier"/>
                <a:ea typeface="Courier"/>
                <a:cs typeface="Courier"/>
                <a:sym typeface="Courier"/>
              </a:rPr>
              <a:t>counts</a:t>
            </a:r>
            <a:r>
              <a:rPr i="0" lang="en-US" sz="1100" u="none" cap="none" strike="noStrike">
                <a:solidFill>
                  <a:srgbClr val="FF00FF"/>
                </a:solidFill>
                <a:latin typeface="Courier"/>
                <a:ea typeface="Courier"/>
                <a:cs typeface="Courier"/>
                <a:sym typeface="Courier"/>
              </a:rPr>
              <a:t>.get</a:t>
            </a:r>
            <a:r>
              <a:rPr i="0" lang="en-US" sz="1100" u="none" cap="none" strike="noStrike">
                <a:solidFill>
                  <a:schemeClr val="lt1"/>
                </a:solidFill>
                <a:latin typeface="Courier"/>
                <a:ea typeface="Courier"/>
                <a:cs typeface="Courier"/>
                <a:sym typeface="Courier"/>
              </a:rPr>
              <a:t>(</a:t>
            </a:r>
            <a:r>
              <a:rPr i="0" lang="en-US" sz="1100" u="none" cap="none" strike="noStrike">
                <a:solidFill>
                  <a:srgbClr val="00FFFF"/>
                </a:solidFill>
                <a:latin typeface="Courier"/>
                <a:ea typeface="Courier"/>
                <a:cs typeface="Courier"/>
                <a:sym typeface="Courier"/>
              </a:rPr>
              <a:t>word</a:t>
            </a:r>
            <a:r>
              <a:rPr i="0" lang="en-US" sz="1100" u="none" cap="none" strike="noStrike">
                <a:solidFill>
                  <a:schemeClr val="lt1"/>
                </a:solidFill>
                <a:latin typeface="Courier"/>
                <a:ea typeface="Courier"/>
                <a:cs typeface="Courier"/>
                <a:sym typeface="Courier"/>
              </a:rPr>
              <a:t>, 0 ) + 1</a:t>
            </a:r>
            <a:endParaRPr/>
          </a:p>
          <a:p>
            <a:pPr indent="0" lvl="0" marL="0" marR="0" rtl="0" algn="ctr">
              <a:lnSpc>
                <a:spcPct val="100000"/>
              </a:lnSpc>
              <a:spcBef>
                <a:spcPts val="0"/>
              </a:spcBef>
              <a:spcAft>
                <a:spcPts val="0"/>
              </a:spcAft>
              <a:buClr>
                <a:srgbClr val="000000"/>
              </a:buClr>
              <a:buSzPts val="1100"/>
              <a:buFont typeface="Arial"/>
              <a:buNone/>
            </a:pPr>
            <a:r>
              <a:t/>
            </a:r>
            <a:endParaRPr i="0" sz="1100" u="none" cap="none" strike="noStrike">
              <a:solidFill>
                <a:schemeClr val="lt1"/>
              </a:solidFill>
              <a:latin typeface="Courier"/>
              <a:ea typeface="Courier"/>
              <a:cs typeface="Courier"/>
              <a:sym typeface="Courier"/>
            </a:endParaRPr>
          </a:p>
          <a:p>
            <a:pPr indent="0" lvl="0" marL="0" marR="0" rtl="0" algn="l">
              <a:lnSpc>
                <a:spcPct val="100000"/>
              </a:lnSpc>
              <a:spcBef>
                <a:spcPts val="0"/>
              </a:spcBef>
              <a:spcAft>
                <a:spcPts val="0"/>
              </a:spcAft>
              <a:buClr>
                <a:srgbClr val="00FF00"/>
              </a:buClr>
              <a:buSzPts val="275"/>
              <a:buFont typeface="Courier New"/>
              <a:buNone/>
            </a:pPr>
            <a:r>
              <a:rPr i="0" lang="en-US" sz="1100" u="none" cap="none" strike="noStrike">
                <a:solidFill>
                  <a:srgbClr val="00FF00"/>
                </a:solidFill>
                <a:latin typeface="Courier"/>
                <a:ea typeface="Courier"/>
                <a:cs typeface="Courier"/>
                <a:sym typeface="Courier"/>
              </a:rPr>
              <a:t>lst</a:t>
            </a:r>
            <a:r>
              <a:rPr i="0" lang="en-US" sz="1100" u="none" cap="none" strike="noStrike">
                <a:solidFill>
                  <a:schemeClr val="lt1"/>
                </a:solidFill>
                <a:latin typeface="Courier"/>
                <a:ea typeface="Courier"/>
                <a:cs typeface="Courier"/>
                <a:sym typeface="Courier"/>
              </a:rPr>
              <a:t> = </a:t>
            </a:r>
            <a:r>
              <a:rPr i="0" lang="en-US" sz="1100" u="none" cap="none" strike="noStrike">
                <a:solidFill>
                  <a:srgbClr val="FF00FF"/>
                </a:solidFill>
                <a:latin typeface="Courier"/>
                <a:ea typeface="Courier"/>
                <a:cs typeface="Courier"/>
                <a:sym typeface="Courier"/>
              </a:rPr>
              <a:t>[]</a:t>
            </a:r>
            <a:endParaRPr i="0" sz="1100" u="none" cap="none" strike="noStrike">
              <a:solidFill>
                <a:schemeClr val="lt1"/>
              </a:solidFill>
              <a:latin typeface="Courier"/>
              <a:ea typeface="Courier"/>
              <a:cs typeface="Courier"/>
              <a:sym typeface="Courier"/>
            </a:endParaRPr>
          </a:p>
          <a:p>
            <a:pPr indent="0" lvl="0" marL="0" marR="0" rtl="0" algn="l">
              <a:lnSpc>
                <a:spcPct val="100000"/>
              </a:lnSpc>
              <a:spcBef>
                <a:spcPts val="0"/>
              </a:spcBef>
              <a:spcAft>
                <a:spcPts val="0"/>
              </a:spcAft>
              <a:buClr>
                <a:srgbClr val="FFFF00"/>
              </a:buClr>
              <a:buSzPts val="275"/>
              <a:buFont typeface="Courier New"/>
              <a:buNone/>
            </a:pPr>
            <a:r>
              <a:rPr i="0" lang="en-US" sz="1100" u="none" cap="none" strike="noStrike">
                <a:solidFill>
                  <a:srgbClr val="FFFF00"/>
                </a:solidFill>
                <a:latin typeface="Courier"/>
                <a:ea typeface="Courier"/>
                <a:cs typeface="Courier"/>
                <a:sym typeface="Courier"/>
              </a:rPr>
              <a:t>for</a:t>
            </a:r>
            <a:r>
              <a:rPr i="0" lang="en-US" sz="1100" u="none" cap="none" strike="noStrike">
                <a:solidFill>
                  <a:schemeClr val="lt1"/>
                </a:solidFill>
                <a:latin typeface="Courier"/>
                <a:ea typeface="Courier"/>
                <a:cs typeface="Courier"/>
                <a:sym typeface="Courier"/>
              </a:rPr>
              <a:t> </a:t>
            </a:r>
            <a:r>
              <a:rPr i="0" lang="en-US" sz="1100" u="none" cap="none" strike="noStrike">
                <a:solidFill>
                  <a:srgbClr val="FF7F00"/>
                </a:solidFill>
                <a:latin typeface="Courier"/>
                <a:ea typeface="Courier"/>
                <a:cs typeface="Courier"/>
                <a:sym typeface="Courier"/>
              </a:rPr>
              <a:t>key, val</a:t>
            </a:r>
            <a:r>
              <a:rPr i="0" lang="en-US" sz="1100" u="none" cap="none" strike="noStrike">
                <a:solidFill>
                  <a:schemeClr val="lt1"/>
                </a:solidFill>
                <a:latin typeface="Courier"/>
                <a:ea typeface="Courier"/>
                <a:cs typeface="Courier"/>
                <a:sym typeface="Courier"/>
              </a:rPr>
              <a:t> </a:t>
            </a:r>
            <a:r>
              <a:rPr i="0" lang="en-US" sz="1100" u="none" cap="none" strike="noStrike">
                <a:solidFill>
                  <a:srgbClr val="FFFF00"/>
                </a:solidFill>
                <a:latin typeface="Courier"/>
                <a:ea typeface="Courier"/>
                <a:cs typeface="Courier"/>
                <a:sym typeface="Courier"/>
              </a:rPr>
              <a:t>in</a:t>
            </a:r>
            <a:r>
              <a:rPr i="0" lang="en-US" sz="1100" u="none" cap="none" strike="noStrike">
                <a:solidFill>
                  <a:schemeClr val="lt1"/>
                </a:solidFill>
                <a:latin typeface="Courier"/>
                <a:ea typeface="Courier"/>
                <a:cs typeface="Courier"/>
                <a:sym typeface="Courier"/>
              </a:rPr>
              <a:t> </a:t>
            </a:r>
            <a:r>
              <a:rPr i="0" lang="en-US" sz="1100" u="none" cap="none" strike="noStrike">
                <a:solidFill>
                  <a:srgbClr val="00FF00"/>
                </a:solidFill>
                <a:latin typeface="Courier"/>
                <a:ea typeface="Courier"/>
                <a:cs typeface="Courier"/>
                <a:sym typeface="Courier"/>
              </a:rPr>
              <a:t>counts</a:t>
            </a:r>
            <a:r>
              <a:rPr i="0" lang="en-US" sz="1100" u="none" cap="none" strike="noStrike">
                <a:solidFill>
                  <a:srgbClr val="FF00FF"/>
                </a:solidFill>
                <a:latin typeface="Courier"/>
                <a:ea typeface="Courier"/>
                <a:cs typeface="Courier"/>
                <a:sym typeface="Courier"/>
              </a:rPr>
              <a:t>.items</a:t>
            </a:r>
            <a:r>
              <a:rPr i="0" lang="en-US" sz="1100" u="none" cap="none" strike="noStrike">
                <a:solidFill>
                  <a:schemeClr val="lt1"/>
                </a:solidFill>
                <a:latin typeface="Courier"/>
                <a:ea typeface="Courier"/>
                <a:cs typeface="Courier"/>
                <a:sym typeface="Courier"/>
              </a:rPr>
              <a:t>():</a:t>
            </a:r>
            <a:endParaRPr/>
          </a:p>
          <a:p>
            <a:pPr indent="0" lvl="0" marL="0" rtl="0" algn="l">
              <a:spcBef>
                <a:spcPts val="0"/>
              </a:spcBef>
              <a:spcAft>
                <a:spcPts val="0"/>
              </a:spcAft>
              <a:buClr>
                <a:srgbClr val="FFFF00"/>
              </a:buClr>
              <a:buSzPts val="275"/>
              <a:buFont typeface="Courier"/>
              <a:buNone/>
            </a:pPr>
            <a:r>
              <a:rPr lang="en-US" sz="1100">
                <a:solidFill>
                  <a:schemeClr val="lt1"/>
                </a:solidFill>
                <a:latin typeface="Courier"/>
                <a:ea typeface="Courier"/>
                <a:cs typeface="Courier"/>
                <a:sym typeface="Courier"/>
              </a:rPr>
              <a:t>	</a:t>
            </a:r>
            <a:r>
              <a:rPr lang="en-US" sz="1100">
                <a:solidFill>
                  <a:srgbClr val="00FA00"/>
                </a:solidFill>
                <a:latin typeface="Courier"/>
                <a:ea typeface="Courier"/>
                <a:cs typeface="Courier"/>
                <a:sym typeface="Courier"/>
              </a:rPr>
              <a:t>newtup </a:t>
            </a:r>
            <a:r>
              <a:rPr lang="en-US" sz="1100">
                <a:solidFill>
                  <a:schemeClr val="lt1"/>
                </a:solidFill>
                <a:latin typeface="Courier"/>
                <a:ea typeface="Courier"/>
                <a:cs typeface="Courier"/>
                <a:sym typeface="Courier"/>
              </a:rPr>
              <a:t>= </a:t>
            </a:r>
            <a:r>
              <a:rPr lang="en-US" sz="1100">
                <a:solidFill>
                  <a:srgbClr val="FF7F00"/>
                </a:solidFill>
                <a:latin typeface="Courier"/>
                <a:ea typeface="Courier"/>
                <a:cs typeface="Courier"/>
                <a:sym typeface="Courier"/>
              </a:rPr>
              <a:t>(val, key)</a:t>
            </a:r>
            <a:r>
              <a:rPr lang="en-US" sz="1100">
                <a:solidFill>
                  <a:schemeClr val="lt1"/>
                </a:solidFill>
                <a:latin typeface="Courier"/>
                <a:ea typeface="Courier"/>
                <a:cs typeface="Courier"/>
                <a:sym typeface="Courier"/>
              </a:rPr>
              <a:t> </a:t>
            </a:r>
            <a:endParaRPr i="0" sz="1100" u="none" cap="none" strike="noStrike">
              <a:solidFill>
                <a:schemeClr val="lt1"/>
              </a:solidFill>
              <a:latin typeface="Courier"/>
              <a:ea typeface="Courier"/>
              <a:cs typeface="Courier"/>
              <a:sym typeface="Courier"/>
            </a:endParaRPr>
          </a:p>
          <a:p>
            <a:pPr indent="0" lvl="0" marL="0" marR="0" rtl="0" algn="l">
              <a:lnSpc>
                <a:spcPct val="100000"/>
              </a:lnSpc>
              <a:spcBef>
                <a:spcPts val="0"/>
              </a:spcBef>
              <a:spcAft>
                <a:spcPts val="0"/>
              </a:spcAft>
              <a:buClr>
                <a:schemeClr val="lt1"/>
              </a:buClr>
              <a:buSzPts val="275"/>
              <a:buFont typeface="Courier New"/>
              <a:buNone/>
            </a:pPr>
            <a:r>
              <a:rPr i="0" lang="en-US" sz="1100" u="none" cap="none" strike="noStrike">
                <a:solidFill>
                  <a:schemeClr val="lt1"/>
                </a:solidFill>
                <a:latin typeface="Courier"/>
                <a:ea typeface="Courier"/>
                <a:cs typeface="Courier"/>
                <a:sym typeface="Courier"/>
              </a:rPr>
              <a:t>    </a:t>
            </a:r>
            <a:r>
              <a:rPr i="0" lang="en-US" sz="1100" u="none" cap="none" strike="noStrike">
                <a:solidFill>
                  <a:srgbClr val="00FF00"/>
                </a:solidFill>
                <a:latin typeface="Courier"/>
                <a:ea typeface="Courier"/>
                <a:cs typeface="Courier"/>
                <a:sym typeface="Courier"/>
              </a:rPr>
              <a:t>lst</a:t>
            </a:r>
            <a:r>
              <a:rPr i="0" lang="en-US" sz="1100" u="none" cap="none" strike="noStrike">
                <a:solidFill>
                  <a:srgbClr val="FF00FF"/>
                </a:solidFill>
                <a:latin typeface="Courier"/>
                <a:ea typeface="Courier"/>
                <a:cs typeface="Courier"/>
                <a:sym typeface="Courier"/>
              </a:rPr>
              <a:t>.append</a:t>
            </a:r>
            <a:r>
              <a:rPr i="0" lang="en-US" sz="1100" u="none" cap="none" strike="noStrike">
                <a:solidFill>
                  <a:schemeClr val="lt1"/>
                </a:solidFill>
                <a:latin typeface="Courier"/>
                <a:ea typeface="Courier"/>
                <a:cs typeface="Courier"/>
                <a:sym typeface="Courier"/>
              </a:rPr>
              <a:t>(</a:t>
            </a:r>
            <a:r>
              <a:rPr i="0" lang="en-US" sz="1100" u="none" cap="none" strike="noStrike">
                <a:solidFill>
                  <a:srgbClr val="00FA00"/>
                </a:solidFill>
                <a:latin typeface="Courier"/>
                <a:ea typeface="Courier"/>
                <a:cs typeface="Courier"/>
                <a:sym typeface="Courier"/>
              </a:rPr>
              <a:t>newtup</a:t>
            </a:r>
            <a:r>
              <a:rPr i="0" lang="en-US" sz="1100" u="none" cap="none" strike="noStrike">
                <a:solidFill>
                  <a:schemeClr val="lt1"/>
                </a:solidFill>
                <a:latin typeface="Courier"/>
                <a:ea typeface="Courier"/>
                <a:cs typeface="Courier"/>
                <a:sym typeface="Courier"/>
              </a:rPr>
              <a:t>)</a:t>
            </a:r>
            <a:endParaRPr/>
          </a:p>
          <a:p>
            <a:pPr indent="0" lvl="0" marL="0" marR="0" rtl="0" algn="l">
              <a:lnSpc>
                <a:spcPct val="100000"/>
              </a:lnSpc>
              <a:spcBef>
                <a:spcPts val="0"/>
              </a:spcBef>
              <a:spcAft>
                <a:spcPts val="0"/>
              </a:spcAft>
              <a:buClr>
                <a:schemeClr val="lt1"/>
              </a:buClr>
              <a:buSzPts val="1100"/>
              <a:buFont typeface="Courier New"/>
              <a:buNone/>
            </a:pPr>
            <a:r>
              <a:t/>
            </a:r>
            <a:endParaRPr i="0" sz="1100" u="none" cap="none" strike="noStrike">
              <a:solidFill>
                <a:schemeClr val="lt1"/>
              </a:solidFill>
              <a:latin typeface="Courier"/>
              <a:ea typeface="Courier"/>
              <a:cs typeface="Courier"/>
              <a:sym typeface="Courier"/>
            </a:endParaRPr>
          </a:p>
          <a:p>
            <a:pPr indent="0" lvl="0" marL="0" rtl="0" algn="l">
              <a:spcBef>
                <a:spcPts val="0"/>
              </a:spcBef>
              <a:spcAft>
                <a:spcPts val="0"/>
              </a:spcAft>
              <a:buClr>
                <a:srgbClr val="00FF00"/>
              </a:buClr>
              <a:buSzPts val="275"/>
              <a:buFont typeface="Courier"/>
              <a:buNone/>
            </a:pPr>
            <a:r>
              <a:rPr lang="en-US" sz="1100">
                <a:solidFill>
                  <a:srgbClr val="00FF00"/>
                </a:solidFill>
                <a:latin typeface="Courier"/>
                <a:ea typeface="Courier"/>
                <a:cs typeface="Courier"/>
                <a:sym typeface="Courier"/>
              </a:rPr>
              <a:t>lst = </a:t>
            </a:r>
            <a:r>
              <a:rPr lang="en-US" sz="1100">
                <a:solidFill>
                  <a:srgbClr val="FF40FF"/>
                </a:solidFill>
                <a:latin typeface="Courier"/>
                <a:ea typeface="Courier"/>
                <a:cs typeface="Courier"/>
                <a:sym typeface="Courier"/>
              </a:rPr>
              <a:t>sorted(</a:t>
            </a:r>
            <a:r>
              <a:rPr lang="en-US" sz="1100">
                <a:solidFill>
                  <a:srgbClr val="00FF00"/>
                </a:solidFill>
                <a:latin typeface="Courier"/>
                <a:ea typeface="Courier"/>
                <a:cs typeface="Courier"/>
                <a:sym typeface="Courier"/>
              </a:rPr>
              <a:t>lst</a:t>
            </a:r>
            <a:r>
              <a:rPr i="0" lang="en-US" sz="1100" u="none" cap="none" strike="noStrike">
                <a:solidFill>
                  <a:srgbClr val="FF00FF"/>
                </a:solidFill>
                <a:latin typeface="Courier"/>
                <a:ea typeface="Courier"/>
                <a:cs typeface="Courier"/>
                <a:sym typeface="Courier"/>
              </a:rPr>
              <a:t>, reverse=True</a:t>
            </a:r>
            <a:r>
              <a:rPr i="0" lang="en-US" sz="1100" u="none" cap="none" strike="noStrike">
                <a:solidFill>
                  <a:srgbClr val="FF40FF"/>
                </a:solidFill>
                <a:latin typeface="Courier"/>
                <a:ea typeface="Courier"/>
                <a:cs typeface="Courier"/>
                <a:sym typeface="Courier"/>
              </a:rPr>
              <a:t>)</a:t>
            </a:r>
            <a:endParaRPr/>
          </a:p>
          <a:p>
            <a:pPr indent="0" lvl="0" marL="0" marR="0" rtl="0" algn="l">
              <a:lnSpc>
                <a:spcPct val="100000"/>
              </a:lnSpc>
              <a:spcBef>
                <a:spcPts val="0"/>
              </a:spcBef>
              <a:spcAft>
                <a:spcPts val="0"/>
              </a:spcAft>
              <a:buClr>
                <a:srgbClr val="FFFF00"/>
              </a:buClr>
              <a:buSzPts val="1100"/>
              <a:buFont typeface="Courier New"/>
              <a:buNone/>
            </a:pPr>
            <a:r>
              <a:t/>
            </a:r>
            <a:endParaRPr i="0" sz="1100" u="none" cap="none" strike="noStrike">
              <a:solidFill>
                <a:srgbClr val="FFFF00"/>
              </a:solidFill>
              <a:latin typeface="Courier"/>
              <a:ea typeface="Courier"/>
              <a:cs typeface="Courier"/>
              <a:sym typeface="Courier"/>
            </a:endParaRPr>
          </a:p>
          <a:p>
            <a:pPr indent="0" lvl="0" marL="0" marR="0" rtl="0" algn="l">
              <a:lnSpc>
                <a:spcPct val="100000"/>
              </a:lnSpc>
              <a:spcBef>
                <a:spcPts val="0"/>
              </a:spcBef>
              <a:spcAft>
                <a:spcPts val="0"/>
              </a:spcAft>
              <a:buClr>
                <a:srgbClr val="FFFF00"/>
              </a:buClr>
              <a:buSzPts val="275"/>
              <a:buFont typeface="Courier New"/>
              <a:buNone/>
            </a:pPr>
            <a:r>
              <a:rPr i="0" lang="en-US" sz="1100" u="none" cap="none" strike="noStrike">
                <a:solidFill>
                  <a:srgbClr val="FFFF00"/>
                </a:solidFill>
                <a:latin typeface="Courier"/>
                <a:ea typeface="Courier"/>
                <a:cs typeface="Courier"/>
                <a:sym typeface="Courier"/>
              </a:rPr>
              <a:t>for</a:t>
            </a:r>
            <a:r>
              <a:rPr i="0" lang="en-US" sz="1100" u="none" cap="none" strike="noStrike">
                <a:solidFill>
                  <a:schemeClr val="lt1"/>
                </a:solidFill>
                <a:latin typeface="Courier"/>
                <a:ea typeface="Courier"/>
                <a:cs typeface="Courier"/>
                <a:sym typeface="Courier"/>
              </a:rPr>
              <a:t> </a:t>
            </a:r>
            <a:r>
              <a:rPr i="0" lang="en-US" sz="1100" u="none" cap="none" strike="noStrike">
                <a:solidFill>
                  <a:srgbClr val="FF7F00"/>
                </a:solidFill>
                <a:latin typeface="Courier"/>
                <a:ea typeface="Courier"/>
                <a:cs typeface="Courier"/>
                <a:sym typeface="Courier"/>
              </a:rPr>
              <a:t>val, key</a:t>
            </a:r>
            <a:r>
              <a:rPr i="0" lang="en-US" sz="1100" u="none" cap="none" strike="noStrike">
                <a:solidFill>
                  <a:schemeClr val="lt1"/>
                </a:solidFill>
                <a:latin typeface="Courier"/>
                <a:ea typeface="Courier"/>
                <a:cs typeface="Courier"/>
                <a:sym typeface="Courier"/>
              </a:rPr>
              <a:t> </a:t>
            </a:r>
            <a:r>
              <a:rPr i="0" lang="en-US" sz="1100" u="none" cap="none" strike="noStrike">
                <a:solidFill>
                  <a:srgbClr val="FFFF00"/>
                </a:solidFill>
                <a:latin typeface="Courier"/>
                <a:ea typeface="Courier"/>
                <a:cs typeface="Courier"/>
                <a:sym typeface="Courier"/>
              </a:rPr>
              <a:t>in</a:t>
            </a:r>
            <a:r>
              <a:rPr i="0" lang="en-US" sz="1100" u="none" cap="none" strike="noStrike">
                <a:solidFill>
                  <a:schemeClr val="lt1"/>
                </a:solidFill>
                <a:latin typeface="Courier"/>
                <a:ea typeface="Courier"/>
                <a:cs typeface="Courier"/>
                <a:sym typeface="Courier"/>
              </a:rPr>
              <a:t> </a:t>
            </a:r>
            <a:r>
              <a:rPr i="0" lang="en-US" sz="1100" u="none" cap="none" strike="noStrike">
                <a:solidFill>
                  <a:srgbClr val="FF00FF"/>
                </a:solidFill>
                <a:latin typeface="Courier"/>
                <a:ea typeface="Courier"/>
                <a:cs typeface="Courier"/>
                <a:sym typeface="Courier"/>
              </a:rPr>
              <a:t>lst</a:t>
            </a:r>
            <a:r>
              <a:rPr i="0" lang="en-US" sz="1100" u="none" cap="none" strike="noStrike">
                <a:solidFill>
                  <a:srgbClr val="00FFFF"/>
                </a:solidFill>
                <a:latin typeface="Courier"/>
                <a:ea typeface="Courier"/>
                <a:cs typeface="Courier"/>
                <a:sym typeface="Courier"/>
              </a:rPr>
              <a:t>[:10]</a:t>
            </a:r>
            <a:r>
              <a:rPr i="0" lang="en-US" sz="1100" u="none" cap="none" strike="noStrike">
                <a:solidFill>
                  <a:schemeClr val="lt1"/>
                </a:solidFill>
                <a:latin typeface="Courier"/>
                <a:ea typeface="Courier"/>
                <a:cs typeface="Courier"/>
                <a:sym typeface="Courier"/>
              </a:rPr>
              <a:t> :</a:t>
            </a:r>
            <a:endParaRPr/>
          </a:p>
          <a:p>
            <a:pPr indent="0" lvl="0" marL="0" rtl="0" algn="l">
              <a:spcBef>
                <a:spcPts val="0"/>
              </a:spcBef>
              <a:spcAft>
                <a:spcPts val="0"/>
              </a:spcAft>
              <a:buClr>
                <a:schemeClr val="lt1"/>
              </a:buClr>
              <a:buSzPts val="275"/>
              <a:buFont typeface="Courier"/>
              <a:buNone/>
            </a:pPr>
            <a:r>
              <a:rPr i="0" lang="en-US" sz="1100" u="none" cap="none" strike="noStrike">
                <a:solidFill>
                  <a:schemeClr val="lt1"/>
                </a:solidFill>
                <a:latin typeface="Courier"/>
                <a:ea typeface="Courier"/>
                <a:cs typeface="Courier"/>
                <a:sym typeface="Courier"/>
              </a:rPr>
              <a:t>    </a:t>
            </a:r>
            <a:r>
              <a:rPr i="0" lang="en-US" sz="1100" u="none" cap="none" strike="noStrike">
                <a:solidFill>
                  <a:srgbClr val="FFFF00"/>
                </a:solidFill>
                <a:latin typeface="Courier"/>
                <a:ea typeface="Courier"/>
                <a:cs typeface="Courier"/>
                <a:sym typeface="Courier"/>
              </a:rPr>
              <a:t>print(</a:t>
            </a:r>
            <a:r>
              <a:rPr i="0" lang="en-US" sz="1100" u="none" cap="none" strike="noStrike">
                <a:solidFill>
                  <a:srgbClr val="00FF00"/>
                </a:solidFill>
                <a:latin typeface="Courier"/>
                <a:ea typeface="Courier"/>
                <a:cs typeface="Courier"/>
                <a:sym typeface="Courier"/>
              </a:rPr>
              <a:t>key</a:t>
            </a:r>
            <a:r>
              <a:rPr i="0" lang="en-US" sz="1100" u="none" cap="none" strike="noStrike">
                <a:solidFill>
                  <a:schemeClr val="lt1"/>
                </a:solidFill>
                <a:latin typeface="Courier"/>
                <a:ea typeface="Courier"/>
                <a:cs typeface="Courier"/>
                <a:sym typeface="Courier"/>
              </a:rPr>
              <a:t>, </a:t>
            </a:r>
            <a:r>
              <a:rPr i="0" lang="en-US" sz="1100" u="none" cap="none" strike="noStrike">
                <a:solidFill>
                  <a:srgbClr val="00FF00"/>
                </a:solidFill>
                <a:latin typeface="Courier"/>
                <a:ea typeface="Courier"/>
                <a:cs typeface="Courier"/>
                <a:sym typeface="Courier"/>
              </a:rPr>
              <a:t>val</a:t>
            </a:r>
            <a:r>
              <a:rPr lang="en-US" sz="1100">
                <a:solidFill>
                  <a:srgbClr val="FFFF00"/>
                </a:solidFill>
                <a:latin typeface="Courier"/>
                <a:ea typeface="Courier"/>
                <a:cs typeface="Courier"/>
                <a:sym typeface="Courier"/>
              </a:rPr>
              <a:t>)</a:t>
            </a:r>
            <a:endParaRPr i="0" sz="1100" u="none" cap="none" strike="noStrike">
              <a:solidFill>
                <a:srgbClr val="00FF00"/>
              </a:solidFill>
              <a:latin typeface="Courier"/>
              <a:ea typeface="Courier"/>
              <a:cs typeface="Courier"/>
              <a:sym typeface="Courier"/>
            </a:endParaRPr>
          </a:p>
          <a:p>
            <a:pPr indent="0" lvl="0" marL="0" marR="0" rtl="0" algn="l">
              <a:spcBef>
                <a:spcPts val="0"/>
              </a:spcBef>
              <a:spcAft>
                <a:spcPts val="0"/>
              </a:spcAft>
              <a:buClr>
                <a:schemeClr val="dk1"/>
              </a:buClr>
              <a:buSzPts val="275"/>
              <a:buFont typeface="Arial"/>
              <a:buNone/>
            </a:pPr>
            <a:r>
              <a:t/>
            </a:r>
            <a:endParaRPr b="0" i="0" sz="1100" u="none" cap="none" strike="noStrike"/>
          </a:p>
          <a:p>
            <a:pPr indent="0" lvl="0" marL="0" marR="0" rtl="0" algn="l">
              <a:spcBef>
                <a:spcPts val="0"/>
              </a:spcBef>
              <a:spcAft>
                <a:spcPts val="0"/>
              </a:spcAft>
              <a:buClr>
                <a:schemeClr val="dk1"/>
              </a:buClr>
              <a:buSzPts val="275"/>
              <a:buFont typeface="Arial"/>
              <a:buNone/>
            </a:pPr>
            <a:r>
              <a:t/>
            </a:r>
            <a:endParaRPr b="0" i="0" sz="1100" u="none" cap="none" strike="noStrike"/>
          </a:p>
          <a:p>
            <a:pPr indent="0" lvl="0" marL="0" marR="0" rtl="0" algn="l">
              <a:spcBef>
                <a:spcPts val="0"/>
              </a:spcBef>
              <a:spcAft>
                <a:spcPts val="0"/>
              </a:spcAft>
              <a:buClr>
                <a:schemeClr val="dk1"/>
              </a:buClr>
              <a:buSzPts val="275"/>
              <a:buFont typeface="Arial"/>
              <a:buNone/>
            </a:pPr>
            <a:r>
              <a:rPr b="0" i="0" lang="en-US" sz="1100" u="none" cap="none" strike="noStrike"/>
              <a:t>We note that this complex data parsing and analysis can be done with an easy-to-understand 19-line Python program. This is one reason why Python is a good choice as a language for exploring data!</a:t>
            </a:r>
            <a:endParaRPr b="0" i="0" sz="1100" u="none" cap="none" strike="noStrike"/>
          </a:p>
        </p:txBody>
      </p:sp>
      <p:sp>
        <p:nvSpPr>
          <p:cNvPr id="92" name="Google Shape;92;p1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p12:notes"/>
          <p:cNvSpPr txBox="1"/>
          <p:nvPr>
            <p:ph idx="1" type="body"/>
          </p:nvPr>
        </p:nvSpPr>
        <p:spPr>
          <a:xfrm>
            <a:off x="685800" y="4343400"/>
            <a:ext cx="5486399" cy="4114800"/>
          </a:xfrm>
          <a:prstGeom prst="rect">
            <a:avLst/>
          </a:prstGeom>
          <a:no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275"/>
              <a:buFont typeface="Arial"/>
              <a:buNone/>
            </a:pPr>
            <a:r>
              <a:rPr b="0" i="0" lang="en-US" sz="1100" u="none" cap="none" strike="noStrike"/>
              <a:t>There is even a shorter version for sorting a list of tuples by values using list comprehension. It creates a dynamic list! We make a list of reversed tuples dynamically using list comprehension and then sort it. For example,</a:t>
            </a:r>
            <a:endParaRPr/>
          </a:p>
          <a:p>
            <a:pPr indent="0" lvl="0" marL="0" marR="0" rtl="0" algn="l">
              <a:spcBef>
                <a:spcPts val="0"/>
              </a:spcBef>
              <a:spcAft>
                <a:spcPts val="0"/>
              </a:spcAft>
              <a:buClr>
                <a:schemeClr val="dk1"/>
              </a:buClr>
              <a:buSzPts val="275"/>
              <a:buFont typeface="Arial"/>
              <a:buNone/>
            </a:pPr>
            <a:r>
              <a:t/>
            </a:r>
            <a:endParaRPr b="0" i="0" sz="1100" u="none" cap="none" strike="noStrike"/>
          </a:p>
          <a:p>
            <a:pPr indent="0" lvl="0" marL="0" marR="0" rtl="0" algn="l">
              <a:lnSpc>
                <a:spcPct val="100000"/>
              </a:lnSpc>
              <a:spcBef>
                <a:spcPts val="0"/>
              </a:spcBef>
              <a:spcAft>
                <a:spcPts val="0"/>
              </a:spcAft>
              <a:buClr>
                <a:schemeClr val="lt1"/>
              </a:buClr>
              <a:buSzPts val="275"/>
              <a:buFont typeface="Courier New"/>
              <a:buNone/>
            </a:pPr>
            <a:r>
              <a:rPr i="0" lang="en-US" sz="1100" u="none" cap="none" strike="noStrike">
                <a:solidFill>
                  <a:srgbClr val="00FF00"/>
                </a:solidFill>
                <a:latin typeface="Courier"/>
                <a:ea typeface="Courier"/>
                <a:cs typeface="Courier"/>
                <a:sym typeface="Courier"/>
              </a:rPr>
              <a:t>c</a:t>
            </a:r>
            <a:r>
              <a:rPr i="0" lang="en-US" sz="1100" u="none" cap="none" strike="noStrike">
                <a:solidFill>
                  <a:schemeClr val="lt1"/>
                </a:solidFill>
                <a:latin typeface="Courier"/>
                <a:ea typeface="Courier"/>
                <a:cs typeface="Courier"/>
                <a:sym typeface="Courier"/>
              </a:rPr>
              <a:t> = {'a':10, 'b':1, 'c':22}</a:t>
            </a:r>
            <a:endParaRPr/>
          </a:p>
          <a:p>
            <a:pPr indent="0" lvl="0" marL="0" marR="0" rtl="0" algn="ctr">
              <a:lnSpc>
                <a:spcPct val="100000"/>
              </a:lnSpc>
              <a:spcBef>
                <a:spcPts val="0"/>
              </a:spcBef>
              <a:spcAft>
                <a:spcPts val="0"/>
              </a:spcAft>
              <a:buClr>
                <a:srgbClr val="000000"/>
              </a:buClr>
              <a:buSzPts val="1100"/>
              <a:buFont typeface="Arial"/>
              <a:buNone/>
            </a:pPr>
            <a:r>
              <a:t/>
            </a:r>
            <a:endParaRPr i="0" sz="1100" u="none" cap="none" strike="noStrike">
              <a:solidFill>
                <a:schemeClr val="lt1"/>
              </a:solidFill>
              <a:latin typeface="Courier"/>
              <a:ea typeface="Courier"/>
              <a:cs typeface="Courier"/>
              <a:sym typeface="Courier"/>
            </a:endParaRPr>
          </a:p>
          <a:p>
            <a:pPr indent="0" lvl="0" marL="0" marR="0" rtl="0" algn="l">
              <a:lnSpc>
                <a:spcPct val="100000"/>
              </a:lnSpc>
              <a:spcBef>
                <a:spcPts val="0"/>
              </a:spcBef>
              <a:spcAft>
                <a:spcPts val="0"/>
              </a:spcAft>
              <a:buClr>
                <a:schemeClr val="lt1"/>
              </a:buClr>
              <a:buSzPts val="275"/>
              <a:buFont typeface="Courier New"/>
              <a:buNone/>
            </a:pPr>
            <a:r>
              <a:rPr i="0" lang="en-US" sz="1100" u="none" cap="none" strike="noStrike">
                <a:solidFill>
                  <a:srgbClr val="FFFF00"/>
                </a:solidFill>
                <a:latin typeface="Courier"/>
                <a:ea typeface="Courier"/>
                <a:cs typeface="Courier"/>
                <a:sym typeface="Courier"/>
              </a:rPr>
              <a:t>print(</a:t>
            </a:r>
            <a:r>
              <a:rPr lang="en-US" sz="1100">
                <a:solidFill>
                  <a:srgbClr val="00FF00"/>
                </a:solidFill>
                <a:latin typeface="Courier"/>
                <a:ea typeface="Courier"/>
                <a:cs typeface="Courier"/>
                <a:sym typeface="Courier"/>
              </a:rPr>
              <a:t> </a:t>
            </a:r>
            <a:r>
              <a:rPr i="0" lang="en-US" sz="1100" u="none" cap="none" strike="noStrike">
                <a:solidFill>
                  <a:srgbClr val="FF00FF"/>
                </a:solidFill>
                <a:latin typeface="Courier"/>
                <a:ea typeface="Courier"/>
                <a:cs typeface="Courier"/>
                <a:sym typeface="Courier"/>
              </a:rPr>
              <a:t>sorted</a:t>
            </a:r>
            <a:r>
              <a:rPr i="0" lang="en-US" sz="1100" u="none" cap="none" strike="noStrike">
                <a:solidFill>
                  <a:schemeClr val="lt1"/>
                </a:solidFill>
                <a:latin typeface="Courier"/>
                <a:ea typeface="Courier"/>
                <a:cs typeface="Courier"/>
                <a:sym typeface="Courier"/>
              </a:rPr>
              <a:t>(</a:t>
            </a:r>
            <a:r>
              <a:rPr i="0" lang="en-US" sz="1100" u="none" cap="none" strike="noStrike">
                <a:solidFill>
                  <a:srgbClr val="00FF00"/>
                </a:solidFill>
                <a:latin typeface="Courier"/>
                <a:ea typeface="Courier"/>
                <a:cs typeface="Courier"/>
                <a:sym typeface="Courier"/>
              </a:rPr>
              <a:t> </a:t>
            </a:r>
            <a:r>
              <a:rPr i="0" lang="en-US" sz="1100" u="none" cap="none" strike="noStrike">
                <a:solidFill>
                  <a:srgbClr val="00FFFF"/>
                </a:solidFill>
                <a:latin typeface="Courier"/>
                <a:ea typeface="Courier"/>
                <a:cs typeface="Courier"/>
                <a:sym typeface="Courier"/>
              </a:rPr>
              <a:t>[</a:t>
            </a:r>
            <a:r>
              <a:rPr i="0" lang="en-US" sz="1100" u="none" cap="none" strike="noStrike">
                <a:solidFill>
                  <a:schemeClr val="lt1"/>
                </a:solidFill>
                <a:latin typeface="Courier"/>
                <a:ea typeface="Courier"/>
                <a:cs typeface="Courier"/>
                <a:sym typeface="Courier"/>
              </a:rPr>
              <a:t> </a:t>
            </a:r>
            <a:r>
              <a:rPr i="0" lang="en-US" sz="1100" u="none" cap="none" strike="noStrike">
                <a:solidFill>
                  <a:srgbClr val="FF7F00"/>
                </a:solidFill>
                <a:latin typeface="Courier"/>
                <a:ea typeface="Courier"/>
                <a:cs typeface="Courier"/>
                <a:sym typeface="Courier"/>
              </a:rPr>
              <a:t>(v,k)</a:t>
            </a:r>
            <a:r>
              <a:rPr i="0" lang="en-US" sz="1100" u="none" cap="none" strike="noStrike">
                <a:solidFill>
                  <a:schemeClr val="lt1"/>
                </a:solidFill>
                <a:latin typeface="Courier"/>
                <a:ea typeface="Courier"/>
                <a:cs typeface="Courier"/>
                <a:sym typeface="Courier"/>
              </a:rPr>
              <a:t> </a:t>
            </a:r>
            <a:r>
              <a:rPr i="0" lang="en-US" sz="1100" u="none" cap="none" strike="noStrike">
                <a:solidFill>
                  <a:srgbClr val="FFFF00"/>
                </a:solidFill>
                <a:latin typeface="Courier"/>
                <a:ea typeface="Courier"/>
                <a:cs typeface="Courier"/>
                <a:sym typeface="Courier"/>
              </a:rPr>
              <a:t>for</a:t>
            </a:r>
            <a:r>
              <a:rPr i="0" lang="en-US" sz="1100" u="none" cap="none" strike="noStrike">
                <a:solidFill>
                  <a:schemeClr val="lt1"/>
                </a:solidFill>
                <a:latin typeface="Courier"/>
                <a:ea typeface="Courier"/>
                <a:cs typeface="Courier"/>
                <a:sym typeface="Courier"/>
              </a:rPr>
              <a:t> </a:t>
            </a:r>
            <a:r>
              <a:rPr i="0" lang="en-US" sz="1100" u="none" cap="none" strike="noStrike">
                <a:solidFill>
                  <a:srgbClr val="FF7F00"/>
                </a:solidFill>
                <a:latin typeface="Courier"/>
                <a:ea typeface="Courier"/>
                <a:cs typeface="Courier"/>
                <a:sym typeface="Courier"/>
              </a:rPr>
              <a:t>k,v</a:t>
            </a:r>
            <a:r>
              <a:rPr i="0" lang="en-US" sz="1100" u="none" cap="none" strike="noStrike">
                <a:solidFill>
                  <a:schemeClr val="lt1"/>
                </a:solidFill>
                <a:latin typeface="Courier"/>
                <a:ea typeface="Courier"/>
                <a:cs typeface="Courier"/>
                <a:sym typeface="Courier"/>
              </a:rPr>
              <a:t> </a:t>
            </a:r>
            <a:r>
              <a:rPr i="0" lang="en-US" sz="1100" u="none" cap="none" strike="noStrike">
                <a:solidFill>
                  <a:srgbClr val="FFFF00"/>
                </a:solidFill>
                <a:latin typeface="Courier"/>
                <a:ea typeface="Courier"/>
                <a:cs typeface="Courier"/>
                <a:sym typeface="Courier"/>
              </a:rPr>
              <a:t>in</a:t>
            </a:r>
            <a:r>
              <a:rPr i="0" lang="en-US" sz="1100" u="none" cap="none" strike="noStrike">
                <a:solidFill>
                  <a:schemeClr val="lt1"/>
                </a:solidFill>
                <a:latin typeface="Courier"/>
                <a:ea typeface="Courier"/>
                <a:cs typeface="Courier"/>
                <a:sym typeface="Courier"/>
              </a:rPr>
              <a:t> </a:t>
            </a:r>
            <a:r>
              <a:rPr i="0" lang="en-US" sz="1100" u="none" cap="none" strike="noStrike">
                <a:solidFill>
                  <a:srgbClr val="00FF00"/>
                </a:solidFill>
                <a:latin typeface="Courier"/>
                <a:ea typeface="Courier"/>
                <a:cs typeface="Courier"/>
                <a:sym typeface="Courier"/>
              </a:rPr>
              <a:t>c</a:t>
            </a:r>
            <a:r>
              <a:rPr i="0" lang="en-US" sz="1100" u="none" cap="none" strike="noStrike">
                <a:solidFill>
                  <a:srgbClr val="FF00FF"/>
                </a:solidFill>
                <a:latin typeface="Courier"/>
                <a:ea typeface="Courier"/>
                <a:cs typeface="Courier"/>
                <a:sym typeface="Courier"/>
              </a:rPr>
              <a:t>.items</a:t>
            </a:r>
            <a:r>
              <a:rPr i="0" lang="en-US" sz="1100" u="none" cap="none" strike="noStrike">
                <a:solidFill>
                  <a:schemeClr val="lt1"/>
                </a:solidFill>
                <a:latin typeface="Courier"/>
                <a:ea typeface="Courier"/>
                <a:cs typeface="Courier"/>
                <a:sym typeface="Courier"/>
              </a:rPr>
              <a:t>() </a:t>
            </a:r>
            <a:r>
              <a:rPr i="0" lang="en-US" sz="1100" u="none" cap="none" strike="noStrike">
                <a:solidFill>
                  <a:srgbClr val="00FFFF"/>
                </a:solidFill>
                <a:latin typeface="Courier"/>
                <a:ea typeface="Courier"/>
                <a:cs typeface="Courier"/>
                <a:sym typeface="Courier"/>
              </a:rPr>
              <a:t>]</a:t>
            </a:r>
            <a:r>
              <a:rPr i="0" lang="en-US" sz="1100" u="none" cap="none" strike="noStrike">
                <a:solidFill>
                  <a:schemeClr val="lt1"/>
                </a:solidFill>
                <a:latin typeface="Courier"/>
                <a:ea typeface="Courier"/>
                <a:cs typeface="Courier"/>
                <a:sym typeface="Courier"/>
              </a:rPr>
              <a:t> ) </a:t>
            </a:r>
            <a:r>
              <a:rPr i="0" lang="en-US" sz="1100" u="none" cap="none" strike="noStrike">
                <a:solidFill>
                  <a:srgbClr val="FFFF00"/>
                </a:solidFill>
                <a:latin typeface="Courier"/>
                <a:ea typeface="Courier"/>
                <a:cs typeface="Courier"/>
                <a:sym typeface="Courier"/>
              </a:rPr>
              <a:t>)</a:t>
            </a:r>
            <a:endParaRPr/>
          </a:p>
          <a:p>
            <a:pPr indent="0" lvl="0" marL="0" marR="0" rtl="0" algn="ctr">
              <a:lnSpc>
                <a:spcPct val="100000"/>
              </a:lnSpc>
              <a:spcBef>
                <a:spcPts val="0"/>
              </a:spcBef>
              <a:spcAft>
                <a:spcPts val="0"/>
              </a:spcAft>
              <a:buClr>
                <a:srgbClr val="000000"/>
              </a:buClr>
              <a:buSzPts val="1100"/>
              <a:buFont typeface="Arial"/>
              <a:buNone/>
            </a:pPr>
            <a:r>
              <a:t/>
            </a:r>
            <a:endParaRPr i="0" sz="1100" u="none" cap="none" strike="noStrike">
              <a:solidFill>
                <a:schemeClr val="lt1"/>
              </a:solidFill>
              <a:latin typeface="Courier"/>
              <a:ea typeface="Courier"/>
              <a:cs typeface="Courier"/>
              <a:sym typeface="Courier"/>
            </a:endParaRPr>
          </a:p>
          <a:p>
            <a:pPr indent="0" lvl="0" marL="0" marR="0" rtl="0" algn="l">
              <a:lnSpc>
                <a:spcPct val="100000"/>
              </a:lnSpc>
              <a:spcBef>
                <a:spcPts val="0"/>
              </a:spcBef>
              <a:spcAft>
                <a:spcPts val="0"/>
              </a:spcAft>
              <a:buClr>
                <a:schemeClr val="lt1"/>
              </a:buClr>
              <a:buSzPts val="275"/>
              <a:buFont typeface="Courier New"/>
              <a:buNone/>
            </a:pPr>
            <a:r>
              <a:rPr i="0" lang="en-US" sz="1100" u="none" cap="none" strike="noStrike">
                <a:solidFill>
                  <a:schemeClr val="lt1"/>
                </a:solidFill>
                <a:latin typeface="Courier"/>
                <a:ea typeface="Courier"/>
                <a:cs typeface="Courier"/>
                <a:sym typeface="Courier"/>
              </a:rPr>
              <a:t>[(1, 'b'), (10, 'a'), (22, 'c')]</a:t>
            </a:r>
            <a:endParaRPr/>
          </a:p>
          <a:p>
            <a:pPr indent="0" lvl="0" marL="0" marR="0" rtl="0" algn="l">
              <a:spcBef>
                <a:spcPts val="0"/>
              </a:spcBef>
              <a:spcAft>
                <a:spcPts val="0"/>
              </a:spcAft>
              <a:buClr>
                <a:schemeClr val="dk1"/>
              </a:buClr>
              <a:buSzPts val="275"/>
              <a:buFont typeface="Arial"/>
              <a:buNone/>
            </a:pPr>
            <a:r>
              <a:t/>
            </a:r>
            <a:endParaRPr b="0" i="0" sz="1100" u="none" cap="none" strike="noStrike"/>
          </a:p>
        </p:txBody>
      </p:sp>
      <p:sp>
        <p:nvSpPr>
          <p:cNvPr id="98" name="Google Shape;98;p1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p13:notes"/>
          <p:cNvSpPr txBox="1"/>
          <p:nvPr>
            <p:ph idx="1" type="body"/>
          </p:nvPr>
        </p:nvSpPr>
        <p:spPr>
          <a:xfrm>
            <a:off x="685800" y="4343400"/>
            <a:ext cx="5486399" cy="4114800"/>
          </a:xfrm>
          <a:prstGeom prst="rect">
            <a:avLst/>
          </a:prstGeom>
          <a:no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275"/>
              <a:buFont typeface="Arial"/>
              <a:buNone/>
            </a:pPr>
            <a:r>
              <a:t/>
            </a:r>
            <a:endParaRPr b="0" i="0" sz="1100" u="none" cap="none" strike="noStrike"/>
          </a:p>
        </p:txBody>
      </p:sp>
      <p:sp>
        <p:nvSpPr>
          <p:cNvPr id="106" name="Google Shape;106;p1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p1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3" name="Google Shape;113;p14:notes"/>
          <p:cNvSpPr txBox="1"/>
          <p:nvPr>
            <p:ph idx="1" type="body"/>
          </p:nvPr>
        </p:nvSpPr>
        <p:spPr>
          <a:xfrm>
            <a:off x="685800" y="4343400"/>
            <a:ext cx="5486399" cy="4114800"/>
          </a:xfrm>
          <a:prstGeom prst="rect">
            <a:avLst/>
          </a:prstGeom>
          <a:no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275"/>
              <a:buFont typeface="Arial"/>
              <a:buNone/>
            </a:pPr>
            <a:r>
              <a:t/>
            </a:r>
            <a:endParaRPr b="0" i="0" sz="1100" u="none" cap="none" strike="noStrike"/>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pening Title" type="obj">
  <p:cSld name="OBJECT">
    <p:spTree>
      <p:nvGrpSpPr>
        <p:cNvPr id="10" name="Shape 10"/>
        <p:cNvGrpSpPr/>
        <p:nvPr/>
      </p:nvGrpSpPr>
      <p:grpSpPr>
        <a:xfrm>
          <a:off x="0" y="0"/>
          <a:ext cx="0" cy="0"/>
          <a:chOff x="0" y="0"/>
          <a:chExt cx="0" cy="0"/>
        </a:xfrm>
      </p:grpSpPr>
      <p:sp>
        <p:nvSpPr>
          <p:cNvPr id="11" name="Google Shape;11;p2"/>
          <p:cNvSpPr txBox="1"/>
          <p:nvPr>
            <p:ph type="title"/>
          </p:nvPr>
        </p:nvSpPr>
        <p:spPr>
          <a:xfrm>
            <a:off x="1155700" y="1536700"/>
            <a:ext cx="13931900" cy="3086098"/>
          </a:xfrm>
          <a:prstGeom prst="rect">
            <a:avLst/>
          </a:prstGeom>
          <a:noFill/>
          <a:ln>
            <a:noFill/>
          </a:ln>
        </p:spPr>
        <p:txBody>
          <a:bodyPr anchorCtr="0" anchor="b" bIns="91425" lIns="91425" spcFirstLastPara="1" rIns="91425" wrap="square" tIns="91425">
            <a:noAutofit/>
          </a:bodyPr>
          <a:lstStyle>
            <a:lvl1pPr lvl="0" marR="0" algn="ctr">
              <a:lnSpc>
                <a:spcPct val="100000"/>
              </a:lnSpc>
              <a:spcBef>
                <a:spcPts val="0"/>
              </a:spcBef>
              <a:spcAft>
                <a:spcPts val="0"/>
              </a:spcAft>
              <a:buClr>
                <a:srgbClr val="000000"/>
              </a:buClr>
              <a:buSzPts val="6000"/>
              <a:buFont typeface="Arial"/>
              <a:buNone/>
              <a:defRPr b="0" i="0" sz="6000" u="none" cap="none" strike="noStrike">
                <a:solidFill>
                  <a:srgbClr val="FFFC00"/>
                </a:solidFill>
                <a:latin typeface="Arial"/>
                <a:ea typeface="Arial"/>
                <a:cs typeface="Arial"/>
                <a:sym typeface="Arial"/>
              </a:defRPr>
            </a:lvl1pPr>
            <a:lvl2pPr lvl="1" marR="0" algn="ctr">
              <a:spcBef>
                <a:spcPts val="0"/>
              </a:spcBef>
              <a:spcAft>
                <a:spcPts val="0"/>
              </a:spcAft>
              <a:buSzPts val="1800"/>
              <a:buNone/>
              <a:defRPr sz="1800"/>
            </a:lvl2pPr>
            <a:lvl3pPr lvl="2" marR="0" algn="ctr">
              <a:spcBef>
                <a:spcPts val="0"/>
              </a:spcBef>
              <a:spcAft>
                <a:spcPts val="0"/>
              </a:spcAft>
              <a:buSzPts val="1800"/>
              <a:buNone/>
              <a:defRPr sz="1800"/>
            </a:lvl3pPr>
            <a:lvl4pPr lvl="3" marR="0" algn="ctr">
              <a:spcBef>
                <a:spcPts val="0"/>
              </a:spcBef>
              <a:spcAft>
                <a:spcPts val="0"/>
              </a:spcAft>
              <a:buSzPts val="1800"/>
              <a:buNone/>
              <a:defRPr sz="1800"/>
            </a:lvl4pPr>
            <a:lvl5pPr lvl="4" marR="0" algn="ctr">
              <a:spcBef>
                <a:spcPts val="0"/>
              </a:spcBef>
              <a:spcAft>
                <a:spcPts val="0"/>
              </a:spcAft>
              <a:buSzPts val="1800"/>
              <a:buNone/>
              <a:defRPr sz="1800"/>
            </a:lvl5pPr>
            <a:lvl6pPr lvl="5" marR="0" algn="ctr">
              <a:spcBef>
                <a:spcPts val="0"/>
              </a:spcBef>
              <a:spcAft>
                <a:spcPts val="0"/>
              </a:spcAft>
              <a:buSzPts val="1800"/>
              <a:buNone/>
              <a:defRPr sz="1800"/>
            </a:lvl6pPr>
            <a:lvl7pPr lvl="6" marR="0" algn="ctr">
              <a:spcBef>
                <a:spcPts val="0"/>
              </a:spcBef>
              <a:spcAft>
                <a:spcPts val="0"/>
              </a:spcAft>
              <a:buSzPts val="1800"/>
              <a:buNone/>
              <a:defRPr sz="1800"/>
            </a:lvl7pPr>
            <a:lvl8pPr lvl="7" marR="0" algn="ctr">
              <a:spcBef>
                <a:spcPts val="0"/>
              </a:spcBef>
              <a:spcAft>
                <a:spcPts val="0"/>
              </a:spcAft>
              <a:buSzPts val="1800"/>
              <a:buNone/>
              <a:defRPr sz="1800"/>
            </a:lvl8pPr>
            <a:lvl9pPr lvl="8" marR="0" algn="ctr">
              <a:spcBef>
                <a:spcPts val="0"/>
              </a:spcBef>
              <a:spcAft>
                <a:spcPts val="0"/>
              </a:spcAft>
              <a:buSzPts val="1800"/>
              <a:buNone/>
              <a:defRPr sz="1800"/>
            </a:lvl9pPr>
          </a:lstStyle>
          <a:p/>
        </p:txBody>
      </p:sp>
      <p:sp>
        <p:nvSpPr>
          <p:cNvPr id="12" name="Google Shape;12;p2"/>
          <p:cNvSpPr txBox="1"/>
          <p:nvPr>
            <p:ph idx="1" type="body"/>
          </p:nvPr>
        </p:nvSpPr>
        <p:spPr>
          <a:xfrm>
            <a:off x="1155700" y="4711700"/>
            <a:ext cx="13931900" cy="1054100"/>
          </a:xfrm>
          <a:prstGeom prst="rect">
            <a:avLst/>
          </a:prstGeom>
          <a:noFill/>
          <a:ln>
            <a:noFill/>
          </a:ln>
        </p:spPr>
        <p:txBody>
          <a:bodyPr anchorCtr="0" anchor="t" bIns="91425" lIns="91425" spcFirstLastPara="1" rIns="91425" wrap="square" tIns="91425">
            <a:noAutofit/>
          </a:bodyPr>
          <a:lstStyle>
            <a:lvl1pPr indent="-228600" lvl="0" marL="457200" marR="0" algn="ctr">
              <a:lnSpc>
                <a:spcPct val="100000"/>
              </a:lnSpc>
              <a:spcBef>
                <a:spcPts val="0"/>
              </a:spcBef>
              <a:spcAft>
                <a:spcPts val="0"/>
              </a:spcAft>
              <a:buClr>
                <a:srgbClr val="000000"/>
              </a:buClr>
              <a:buSzPts val="2800"/>
              <a:buFont typeface="Arial"/>
              <a:buNone/>
              <a:defRPr b="0" i="0" sz="2800" u="none" cap="none" strike="noStrike">
                <a:solidFill>
                  <a:srgbClr val="000000"/>
                </a:solidFill>
                <a:latin typeface="Arial"/>
                <a:ea typeface="Arial"/>
                <a:cs typeface="Arial"/>
                <a:sym typeface="Arial"/>
              </a:defRPr>
            </a:lvl1pPr>
            <a:lvl2pPr indent="-228600" lvl="1" marL="914400" marR="0" algn="ct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indent="-228600" lvl="2" marL="1371600" marR="0" algn="ct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indent="-228600" lvl="3" marL="1828800" marR="0" algn="ct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indent="-228600" lvl="4" marL="2286000" marR="0" algn="ct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228600" lvl="5" marL="2743200" marR="0" algn="ct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228600" lvl="6" marL="3200400" marR="0" algn="ct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228600" lvl="7" marL="3657600" marR="0" algn="ct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228600" lvl="8" marL="4114800" marR="0" algn="ct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spTree>
      <p:nvGrpSpPr>
        <p:cNvPr id="13" name="Shape 13"/>
        <p:cNvGrpSpPr/>
        <p:nvPr/>
      </p:nvGrpSpPr>
      <p:grpSpPr>
        <a:xfrm>
          <a:off x="0" y="0"/>
          <a:ext cx="0" cy="0"/>
          <a:chOff x="0" y="0"/>
          <a:chExt cx="0" cy="0"/>
        </a:xfrm>
      </p:grpSpPr>
      <p:sp>
        <p:nvSpPr>
          <p:cNvPr id="14" name="Google Shape;14;p3"/>
          <p:cNvSpPr txBox="1"/>
          <p:nvPr>
            <p:ph type="title"/>
          </p:nvPr>
        </p:nvSpPr>
        <p:spPr>
          <a:xfrm>
            <a:off x="1155700" y="789708"/>
            <a:ext cx="13932000" cy="1750191"/>
          </a:xfrm>
          <a:prstGeom prst="rect">
            <a:avLst/>
          </a:prstGeom>
          <a:noFill/>
          <a:ln>
            <a:noFill/>
          </a:ln>
        </p:spPr>
        <p:txBody>
          <a:bodyPr anchorCtr="0" anchor="ctr" bIns="91425" lIns="91425" spcFirstLastPara="1" rIns="91425" wrap="square" tIns="91425">
            <a:noAutofit/>
          </a:bodyPr>
          <a:lstStyle>
            <a:lvl1pPr lvl="0" marR="0" algn="ctr">
              <a:lnSpc>
                <a:spcPct val="100000"/>
              </a:lnSpc>
              <a:spcBef>
                <a:spcPts val="0"/>
              </a:spcBef>
              <a:spcAft>
                <a:spcPts val="0"/>
              </a:spcAft>
              <a:buClr>
                <a:srgbClr val="000000"/>
              </a:buClr>
              <a:buSzPts val="6000"/>
              <a:buFont typeface="Arial"/>
              <a:buNone/>
              <a:defRPr b="0" i="0" sz="6000" u="none" cap="none" strike="noStrike">
                <a:solidFill>
                  <a:srgbClr val="FFFC00"/>
                </a:solidFill>
                <a:latin typeface="Arial"/>
                <a:ea typeface="Arial"/>
                <a:cs typeface="Arial"/>
                <a:sym typeface="Arial"/>
              </a:defRPr>
            </a:lvl1pPr>
            <a:lvl2pPr lvl="1" marR="0" algn="ctr">
              <a:spcBef>
                <a:spcPts val="0"/>
              </a:spcBef>
              <a:spcAft>
                <a:spcPts val="0"/>
              </a:spcAft>
              <a:buSzPts val="1800"/>
              <a:buNone/>
              <a:defRPr sz="1800"/>
            </a:lvl2pPr>
            <a:lvl3pPr lvl="2" marR="0" algn="ctr">
              <a:spcBef>
                <a:spcPts val="0"/>
              </a:spcBef>
              <a:spcAft>
                <a:spcPts val="0"/>
              </a:spcAft>
              <a:buSzPts val="1800"/>
              <a:buNone/>
              <a:defRPr sz="1800"/>
            </a:lvl3pPr>
            <a:lvl4pPr lvl="3" marR="0" algn="ctr">
              <a:spcBef>
                <a:spcPts val="0"/>
              </a:spcBef>
              <a:spcAft>
                <a:spcPts val="0"/>
              </a:spcAft>
              <a:buSzPts val="1800"/>
              <a:buNone/>
              <a:defRPr sz="1800"/>
            </a:lvl4pPr>
            <a:lvl5pPr lvl="4" marR="0" algn="ctr">
              <a:spcBef>
                <a:spcPts val="0"/>
              </a:spcBef>
              <a:spcAft>
                <a:spcPts val="0"/>
              </a:spcAft>
              <a:buSzPts val="1800"/>
              <a:buNone/>
              <a:defRPr sz="1800"/>
            </a:lvl5pPr>
            <a:lvl6pPr lvl="5" marR="0" algn="ctr">
              <a:spcBef>
                <a:spcPts val="0"/>
              </a:spcBef>
              <a:spcAft>
                <a:spcPts val="0"/>
              </a:spcAft>
              <a:buSzPts val="1800"/>
              <a:buNone/>
              <a:defRPr sz="1800"/>
            </a:lvl6pPr>
            <a:lvl7pPr lvl="6" marR="0" algn="ctr">
              <a:spcBef>
                <a:spcPts val="0"/>
              </a:spcBef>
              <a:spcAft>
                <a:spcPts val="0"/>
              </a:spcAft>
              <a:buSzPts val="1800"/>
              <a:buNone/>
              <a:defRPr sz="1800"/>
            </a:lvl7pPr>
            <a:lvl8pPr lvl="7" marR="0" algn="ctr">
              <a:spcBef>
                <a:spcPts val="0"/>
              </a:spcBef>
              <a:spcAft>
                <a:spcPts val="0"/>
              </a:spcAft>
              <a:buSzPts val="1800"/>
              <a:buNone/>
              <a:defRPr sz="1800"/>
            </a:lvl8pPr>
            <a:lvl9pPr lvl="8" marR="0" algn="ctr">
              <a:spcBef>
                <a:spcPts val="0"/>
              </a:spcBef>
              <a:spcAft>
                <a:spcPts val="0"/>
              </a:spcAft>
              <a:buSzPts val="1800"/>
              <a:buNone/>
              <a:defRPr sz="1800"/>
            </a:lvl9pPr>
          </a:lstStyle>
          <a:p/>
        </p:txBody>
      </p:sp>
      <p:sp>
        <p:nvSpPr>
          <p:cNvPr id="15" name="Google Shape;15;p3"/>
          <p:cNvSpPr txBox="1"/>
          <p:nvPr>
            <p:ph idx="1" type="body"/>
          </p:nvPr>
        </p:nvSpPr>
        <p:spPr>
          <a:xfrm>
            <a:off x="1155700" y="2603500"/>
            <a:ext cx="13932000" cy="5702398"/>
          </a:xfrm>
          <a:prstGeom prst="rect">
            <a:avLst/>
          </a:prstGeom>
          <a:noFill/>
          <a:ln>
            <a:noFill/>
          </a:ln>
        </p:spPr>
        <p:txBody>
          <a:bodyPr anchorCtr="0" anchor="t" bIns="91425" lIns="91425" spcFirstLastPara="1" rIns="91425" wrap="square" tIns="91425">
            <a:noAutofit/>
          </a:bodyPr>
          <a:lstStyle>
            <a:lvl1pPr indent="-431800" lvl="0" marL="457200" marR="0" algn="l">
              <a:lnSpc>
                <a:spcPct val="100000"/>
              </a:lnSpc>
              <a:spcBef>
                <a:spcPts val="3500"/>
              </a:spcBef>
              <a:spcAft>
                <a:spcPts val="0"/>
              </a:spcAft>
              <a:buClr>
                <a:schemeClr val="lt1"/>
              </a:buClr>
              <a:buSzPts val="3200"/>
              <a:buFont typeface="Arial"/>
              <a:buChar char="•"/>
              <a:defRPr b="0" i="0" sz="3200" u="none" cap="none" strike="noStrike">
                <a:solidFill>
                  <a:srgbClr val="000000"/>
                </a:solidFill>
                <a:latin typeface="Arial"/>
                <a:ea typeface="Arial"/>
                <a:cs typeface="Arial"/>
                <a:sym typeface="Arial"/>
              </a:defRPr>
            </a:lvl1pPr>
            <a:lvl2pPr indent="-317500" lvl="1" marL="914400" marR="0" algn="l">
              <a:lnSpc>
                <a:spcPct val="100000"/>
              </a:lnSpc>
              <a:spcBef>
                <a:spcPts val="3500"/>
              </a:spcBef>
              <a:spcAft>
                <a:spcPts val="0"/>
              </a:spcAft>
              <a:buClr>
                <a:schemeClr val="lt1"/>
              </a:buClr>
              <a:buSzPts val="1400"/>
              <a:buFont typeface="Cabin"/>
              <a:buChar char="•"/>
              <a:defRPr b="0" i="0" sz="1400" u="none" cap="none" strike="noStrike">
                <a:solidFill>
                  <a:srgbClr val="000000"/>
                </a:solidFill>
                <a:latin typeface="Arial"/>
                <a:ea typeface="Arial"/>
                <a:cs typeface="Arial"/>
                <a:sym typeface="Arial"/>
              </a:defRPr>
            </a:lvl2pPr>
            <a:lvl3pPr indent="-317500" lvl="2" marL="1371600" marR="0" algn="l">
              <a:lnSpc>
                <a:spcPct val="100000"/>
              </a:lnSpc>
              <a:spcBef>
                <a:spcPts val="3500"/>
              </a:spcBef>
              <a:spcAft>
                <a:spcPts val="0"/>
              </a:spcAft>
              <a:buClr>
                <a:schemeClr val="lt1"/>
              </a:buClr>
              <a:buSzPts val="1400"/>
              <a:buFont typeface="Cabin"/>
              <a:buChar char="•"/>
              <a:defRPr b="0" i="0" sz="1400" u="none" cap="none" strike="noStrike">
                <a:solidFill>
                  <a:srgbClr val="000000"/>
                </a:solidFill>
                <a:latin typeface="Arial"/>
                <a:ea typeface="Arial"/>
                <a:cs typeface="Arial"/>
                <a:sym typeface="Arial"/>
              </a:defRPr>
            </a:lvl3pPr>
            <a:lvl4pPr indent="-317500" lvl="3" marL="1828800" marR="0" algn="l">
              <a:lnSpc>
                <a:spcPct val="100000"/>
              </a:lnSpc>
              <a:spcBef>
                <a:spcPts val="3500"/>
              </a:spcBef>
              <a:spcAft>
                <a:spcPts val="0"/>
              </a:spcAft>
              <a:buClr>
                <a:schemeClr val="lt1"/>
              </a:buClr>
              <a:buSzPts val="1400"/>
              <a:buFont typeface="Cabin"/>
              <a:buChar char="•"/>
              <a:defRPr b="0" i="0" sz="1400" u="none" cap="none" strike="noStrike">
                <a:solidFill>
                  <a:srgbClr val="000000"/>
                </a:solidFill>
                <a:latin typeface="Arial"/>
                <a:ea typeface="Arial"/>
                <a:cs typeface="Arial"/>
                <a:sym typeface="Arial"/>
              </a:defRPr>
            </a:lvl4pPr>
            <a:lvl5pPr indent="-317500" lvl="4" marL="2286000" marR="0" algn="l">
              <a:lnSpc>
                <a:spcPct val="100000"/>
              </a:lnSpc>
              <a:spcBef>
                <a:spcPts val="3500"/>
              </a:spcBef>
              <a:spcAft>
                <a:spcPts val="0"/>
              </a:spcAft>
              <a:buClr>
                <a:schemeClr val="lt1"/>
              </a:buClr>
              <a:buSzPts val="1400"/>
              <a:buFont typeface="Cabin"/>
              <a:buChar char="•"/>
              <a:defRPr b="0" i="0" sz="1400" u="none" cap="none" strike="noStrike">
                <a:solidFill>
                  <a:srgbClr val="000000"/>
                </a:solidFill>
                <a:latin typeface="Arial"/>
                <a:ea typeface="Arial"/>
                <a:cs typeface="Arial"/>
                <a:sym typeface="Arial"/>
              </a:defRPr>
            </a:lvl5pPr>
            <a:lvl6pPr indent="-317500" lvl="5" marL="2743200" marR="0" algn="l">
              <a:lnSpc>
                <a:spcPct val="100000"/>
              </a:lnSpc>
              <a:spcBef>
                <a:spcPts val="3500"/>
              </a:spcBef>
              <a:spcAft>
                <a:spcPts val="0"/>
              </a:spcAft>
              <a:buClr>
                <a:schemeClr val="lt1"/>
              </a:buClr>
              <a:buSzPts val="1400"/>
              <a:buFont typeface="Cabin"/>
              <a:buChar char="•"/>
              <a:defRPr b="0" i="0" sz="1400" u="none" cap="none" strike="noStrike">
                <a:solidFill>
                  <a:srgbClr val="000000"/>
                </a:solidFill>
                <a:latin typeface="Arial"/>
                <a:ea typeface="Arial"/>
                <a:cs typeface="Arial"/>
                <a:sym typeface="Arial"/>
              </a:defRPr>
            </a:lvl6pPr>
            <a:lvl7pPr indent="-317500" lvl="6" marL="3200400" marR="0" algn="l">
              <a:lnSpc>
                <a:spcPct val="100000"/>
              </a:lnSpc>
              <a:spcBef>
                <a:spcPts val="3500"/>
              </a:spcBef>
              <a:spcAft>
                <a:spcPts val="0"/>
              </a:spcAft>
              <a:buClr>
                <a:schemeClr val="lt1"/>
              </a:buClr>
              <a:buSzPts val="1400"/>
              <a:buFont typeface="Cabin"/>
              <a:buChar char="•"/>
              <a:defRPr b="0" i="0" sz="1400" u="none" cap="none" strike="noStrike">
                <a:solidFill>
                  <a:srgbClr val="000000"/>
                </a:solidFill>
                <a:latin typeface="Arial"/>
                <a:ea typeface="Arial"/>
                <a:cs typeface="Arial"/>
                <a:sym typeface="Arial"/>
              </a:defRPr>
            </a:lvl7pPr>
            <a:lvl8pPr indent="-317500" lvl="7" marL="3657600" marR="0" algn="l">
              <a:lnSpc>
                <a:spcPct val="100000"/>
              </a:lnSpc>
              <a:spcBef>
                <a:spcPts val="3500"/>
              </a:spcBef>
              <a:spcAft>
                <a:spcPts val="0"/>
              </a:spcAft>
              <a:buClr>
                <a:schemeClr val="lt1"/>
              </a:buClr>
              <a:buSzPts val="1400"/>
              <a:buFont typeface="Cabin"/>
              <a:buChar char="•"/>
              <a:defRPr b="0" i="0" sz="1400" u="none" cap="none" strike="noStrike">
                <a:solidFill>
                  <a:srgbClr val="000000"/>
                </a:solidFill>
                <a:latin typeface="Arial"/>
                <a:ea typeface="Arial"/>
                <a:cs typeface="Arial"/>
                <a:sym typeface="Arial"/>
              </a:defRPr>
            </a:lvl8pPr>
            <a:lvl9pPr indent="-317500" lvl="8" marL="4114800" marR="0" algn="l">
              <a:lnSpc>
                <a:spcPct val="100000"/>
              </a:lnSpc>
              <a:spcBef>
                <a:spcPts val="3500"/>
              </a:spcBef>
              <a:spcAft>
                <a:spcPts val="0"/>
              </a:spcAft>
              <a:buClr>
                <a:schemeClr val="lt1"/>
              </a:buClr>
              <a:buSzPts val="1400"/>
              <a:buFont typeface="Cabin"/>
              <a:buChar char="•"/>
              <a:defRPr b="0" i="0" sz="1400" u="none" cap="none" strike="noStrike">
                <a:solidFill>
                  <a:srgbClr val="000000"/>
                </a:solidFill>
                <a:latin typeface="Arial"/>
                <a:ea typeface="Arial"/>
                <a:cs typeface="Arial"/>
                <a:sym typeface="Arial"/>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16" name="Shape 16"/>
        <p:cNvGrpSpPr/>
        <p:nvPr/>
      </p:nvGrpSpPr>
      <p:grpSpPr>
        <a:xfrm>
          <a:off x="0" y="0"/>
          <a:ext cx="0" cy="0"/>
          <a:chOff x="0" y="0"/>
          <a:chExt cx="0" cy="0"/>
        </a:xfrm>
      </p:grpSpPr>
      <p:sp>
        <p:nvSpPr>
          <p:cNvPr id="17" name="Google Shape;17;p4"/>
          <p:cNvSpPr txBox="1"/>
          <p:nvPr>
            <p:ph type="title"/>
          </p:nvPr>
        </p:nvSpPr>
        <p:spPr>
          <a:xfrm>
            <a:off x="1155700" y="789708"/>
            <a:ext cx="13932000" cy="1750191"/>
          </a:xfrm>
          <a:prstGeom prst="rect">
            <a:avLst/>
          </a:prstGeom>
          <a:noFill/>
          <a:ln>
            <a:noFill/>
          </a:ln>
        </p:spPr>
        <p:txBody>
          <a:bodyPr anchorCtr="0" anchor="ctr" bIns="91425" lIns="91425" spcFirstLastPara="1" rIns="91425" wrap="square" tIns="91425">
            <a:noAutofit/>
          </a:bodyPr>
          <a:lstStyle>
            <a:lvl1pPr lvl="0" marR="0" algn="ctr">
              <a:lnSpc>
                <a:spcPct val="100000"/>
              </a:lnSpc>
              <a:spcBef>
                <a:spcPts val="0"/>
              </a:spcBef>
              <a:spcAft>
                <a:spcPts val="0"/>
              </a:spcAft>
              <a:buClr>
                <a:srgbClr val="000000"/>
              </a:buClr>
              <a:buSzPts val="6000"/>
              <a:buFont typeface="Arial"/>
              <a:buNone/>
              <a:defRPr b="0" i="0" sz="6000" u="none" cap="none" strike="noStrike">
                <a:solidFill>
                  <a:srgbClr val="FFFC00"/>
                </a:solidFill>
                <a:latin typeface="Arial"/>
                <a:ea typeface="Arial"/>
                <a:cs typeface="Arial"/>
                <a:sym typeface="Arial"/>
              </a:defRPr>
            </a:lvl1pPr>
            <a:lvl2pPr lvl="1" marR="0" algn="ctr">
              <a:spcBef>
                <a:spcPts val="0"/>
              </a:spcBef>
              <a:spcAft>
                <a:spcPts val="0"/>
              </a:spcAft>
              <a:buSzPts val="1800"/>
              <a:buNone/>
              <a:defRPr sz="1800"/>
            </a:lvl2pPr>
            <a:lvl3pPr lvl="2" marR="0" algn="ctr">
              <a:spcBef>
                <a:spcPts val="0"/>
              </a:spcBef>
              <a:spcAft>
                <a:spcPts val="0"/>
              </a:spcAft>
              <a:buSzPts val="1800"/>
              <a:buNone/>
              <a:defRPr sz="1800"/>
            </a:lvl3pPr>
            <a:lvl4pPr lvl="3" marR="0" algn="ctr">
              <a:spcBef>
                <a:spcPts val="0"/>
              </a:spcBef>
              <a:spcAft>
                <a:spcPts val="0"/>
              </a:spcAft>
              <a:buSzPts val="1800"/>
              <a:buNone/>
              <a:defRPr sz="1800"/>
            </a:lvl4pPr>
            <a:lvl5pPr lvl="4" marR="0" algn="ctr">
              <a:spcBef>
                <a:spcPts val="0"/>
              </a:spcBef>
              <a:spcAft>
                <a:spcPts val="0"/>
              </a:spcAft>
              <a:buSzPts val="1800"/>
              <a:buNone/>
              <a:defRPr sz="1800"/>
            </a:lvl5pPr>
            <a:lvl6pPr lvl="5" marR="0" algn="ctr">
              <a:spcBef>
                <a:spcPts val="0"/>
              </a:spcBef>
              <a:spcAft>
                <a:spcPts val="0"/>
              </a:spcAft>
              <a:buSzPts val="1800"/>
              <a:buNone/>
              <a:defRPr sz="1800"/>
            </a:lvl6pPr>
            <a:lvl7pPr lvl="6" marR="0" algn="ctr">
              <a:spcBef>
                <a:spcPts val="0"/>
              </a:spcBef>
              <a:spcAft>
                <a:spcPts val="0"/>
              </a:spcAft>
              <a:buSzPts val="1800"/>
              <a:buNone/>
              <a:defRPr sz="1800"/>
            </a:lvl7pPr>
            <a:lvl8pPr lvl="7" marR="0" algn="ctr">
              <a:spcBef>
                <a:spcPts val="0"/>
              </a:spcBef>
              <a:spcAft>
                <a:spcPts val="0"/>
              </a:spcAft>
              <a:buSzPts val="1800"/>
              <a:buNone/>
              <a:defRPr sz="1800"/>
            </a:lvl8pPr>
            <a:lvl9pPr lvl="8" marR="0" algn="ctr">
              <a:spcBef>
                <a:spcPts val="0"/>
              </a:spcBef>
              <a:spcAft>
                <a:spcPts val="0"/>
              </a:spcAft>
              <a:buSzPts val="1800"/>
              <a:buNone/>
              <a:defRPr sz="1800"/>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18" name="Shape 18"/>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2"/>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1155700" y="1536700"/>
            <a:ext cx="13931900" cy="3086098"/>
          </a:xfrm>
          <a:prstGeom prst="rect">
            <a:avLst/>
          </a:prstGeom>
          <a:noFill/>
          <a:ln>
            <a:noFill/>
          </a:ln>
        </p:spPr>
        <p:txBody>
          <a:bodyPr anchorCtr="0" anchor="b" bIns="91425" lIns="91425" spcFirstLastPara="1" rIns="91425" wrap="square" tIns="91425">
            <a:noAutofit/>
          </a:bodyPr>
          <a:lstStyle>
            <a:lvl1pPr lvl="0" marR="0" rtl="0" algn="ct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lvl="1" marR="0" rtl="0" algn="ctr">
              <a:spcBef>
                <a:spcPts val="0"/>
              </a:spcBef>
              <a:spcAft>
                <a:spcPts val="0"/>
              </a:spcAft>
              <a:buSzPts val="1800"/>
              <a:buFont typeface="Arial"/>
              <a:buNone/>
              <a:defRPr sz="1800"/>
            </a:lvl2pPr>
            <a:lvl3pPr lvl="2" marR="0" rtl="0" algn="ctr">
              <a:spcBef>
                <a:spcPts val="0"/>
              </a:spcBef>
              <a:spcAft>
                <a:spcPts val="0"/>
              </a:spcAft>
              <a:buSzPts val="1800"/>
              <a:buFont typeface="Arial"/>
              <a:buNone/>
              <a:defRPr sz="1800"/>
            </a:lvl3pPr>
            <a:lvl4pPr lvl="3" marR="0" rtl="0" algn="ctr">
              <a:spcBef>
                <a:spcPts val="0"/>
              </a:spcBef>
              <a:spcAft>
                <a:spcPts val="0"/>
              </a:spcAft>
              <a:buSzPts val="1800"/>
              <a:buFont typeface="Arial"/>
              <a:buNone/>
              <a:defRPr sz="1800"/>
            </a:lvl4pPr>
            <a:lvl5pPr lvl="4" marR="0" rtl="0" algn="ctr">
              <a:spcBef>
                <a:spcPts val="0"/>
              </a:spcBef>
              <a:spcAft>
                <a:spcPts val="0"/>
              </a:spcAft>
              <a:buSzPts val="1800"/>
              <a:buFont typeface="Arial"/>
              <a:buNone/>
              <a:defRPr sz="1800"/>
            </a:lvl5pPr>
            <a:lvl6pPr lvl="5" marR="0" rtl="0" algn="ctr">
              <a:spcBef>
                <a:spcPts val="0"/>
              </a:spcBef>
              <a:spcAft>
                <a:spcPts val="0"/>
              </a:spcAft>
              <a:buSzPts val="1800"/>
              <a:buFont typeface="Arial"/>
              <a:buNone/>
              <a:defRPr sz="1800"/>
            </a:lvl6pPr>
            <a:lvl7pPr lvl="6" marR="0" rtl="0" algn="ctr">
              <a:spcBef>
                <a:spcPts val="0"/>
              </a:spcBef>
              <a:spcAft>
                <a:spcPts val="0"/>
              </a:spcAft>
              <a:buSzPts val="1800"/>
              <a:buFont typeface="Arial"/>
              <a:buNone/>
              <a:defRPr sz="1800"/>
            </a:lvl7pPr>
            <a:lvl8pPr lvl="7" marR="0" rtl="0" algn="ctr">
              <a:spcBef>
                <a:spcPts val="0"/>
              </a:spcBef>
              <a:spcAft>
                <a:spcPts val="0"/>
              </a:spcAft>
              <a:buSzPts val="1800"/>
              <a:buFont typeface="Arial"/>
              <a:buNone/>
              <a:defRPr sz="1800"/>
            </a:lvl8pPr>
            <a:lvl9pPr lvl="8" marR="0" rtl="0" algn="ctr">
              <a:spcBef>
                <a:spcPts val="0"/>
              </a:spcBef>
              <a:spcAft>
                <a:spcPts val="0"/>
              </a:spcAft>
              <a:buSzPts val="1800"/>
              <a:buFont typeface="Arial"/>
              <a:buNone/>
              <a:defRPr sz="1800"/>
            </a:lvl9pPr>
          </a:lstStyle>
          <a:p/>
        </p:txBody>
      </p:sp>
      <p:sp>
        <p:nvSpPr>
          <p:cNvPr id="7" name="Google Shape;7;p1"/>
          <p:cNvSpPr txBox="1"/>
          <p:nvPr>
            <p:ph idx="1" type="body"/>
          </p:nvPr>
        </p:nvSpPr>
        <p:spPr>
          <a:xfrm>
            <a:off x="1155700" y="4711700"/>
            <a:ext cx="13931900" cy="1054100"/>
          </a:xfrm>
          <a:prstGeom prst="rect">
            <a:avLst/>
          </a:prstGeom>
          <a:noFill/>
          <a:ln>
            <a:noFill/>
          </a:ln>
        </p:spPr>
        <p:txBody>
          <a:bodyPr anchorCtr="0" anchor="t" bIns="91425" lIns="91425" spcFirstLastPara="1" rIns="91425" wrap="square" tIns="91425">
            <a:noAutofit/>
          </a:bodyPr>
          <a:lstStyle>
            <a:lvl1pPr indent="-228600" lvl="0" marL="457200" marR="0" rtl="0" algn="ct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indent="-228600" lvl="1" marL="914400" marR="0" rtl="0" algn="ct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indent="-228600" lvl="2" marL="1371600" marR="0" rtl="0" algn="ct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indent="-228600" lvl="3" marL="1828800" marR="0" rtl="0" algn="ct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indent="-228600" lvl="4" marL="2286000" marR="0" rtl="0" algn="ct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228600" lvl="5" marL="2743200" marR="0" rtl="0" algn="ct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228600" lvl="6" marL="3200400" marR="0" rtl="0" algn="ct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228600" lvl="7" marL="3657600" marR="0" rtl="0" algn="ct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228600" lvl="8" marL="4114800" marR="0" rtl="0" algn="ct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8" name="Google Shape;8;p1"/>
          <p:cNvSpPr/>
          <p:nvPr/>
        </p:nvSpPr>
        <p:spPr>
          <a:xfrm>
            <a:off x="0" y="0"/>
            <a:ext cx="16256001" cy="768096"/>
          </a:xfrm>
          <a:prstGeom prst="rect">
            <a:avLst/>
          </a:prstGeom>
          <a:solidFill>
            <a:schemeClr val="dk2"/>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3600"/>
              <a:buFont typeface="Gill Sans"/>
              <a:buNone/>
            </a:pPr>
            <a:r>
              <a:t/>
            </a:r>
            <a:endParaRPr b="0" i="0" sz="3600" u="none" cap="none" strike="noStrike">
              <a:solidFill>
                <a:srgbClr val="FFFFFF"/>
              </a:solidFill>
              <a:latin typeface="Gill Sans"/>
              <a:ea typeface="Gill Sans"/>
              <a:cs typeface="Gill Sans"/>
              <a:sym typeface="Gill Sans"/>
            </a:endParaRPr>
          </a:p>
        </p:txBody>
      </p:sp>
      <p:sp>
        <p:nvSpPr>
          <p:cNvPr id="9" name="Google Shape;9;p1"/>
          <p:cNvSpPr/>
          <p:nvPr/>
        </p:nvSpPr>
        <p:spPr>
          <a:xfrm>
            <a:off x="0" y="8357616"/>
            <a:ext cx="16256001" cy="786384"/>
          </a:xfrm>
          <a:prstGeom prst="rect">
            <a:avLst/>
          </a:prstGeom>
          <a:solidFill>
            <a:schemeClr val="dk2"/>
          </a:solid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3600"/>
              <a:buFont typeface="Gill Sans"/>
              <a:buNone/>
            </a:pPr>
            <a:r>
              <a:t/>
            </a:r>
            <a:endParaRPr b="0" i="0" sz="3600" u="none" cap="none" strike="noStrike">
              <a:solidFill>
                <a:srgbClr val="FFFFFF"/>
              </a:solidFill>
              <a:latin typeface="Gill Sans"/>
              <a:ea typeface="Gill Sans"/>
              <a:cs typeface="Gill Sans"/>
              <a:sym typeface="Gill Sans"/>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hyperlink" Target="http://www.py4e.com/" TargetMode="External"/><Relationship Id="rId4" Type="http://schemas.openxmlformats.org/officeDocument/2006/relationships/hyperlink" Target="http://www.pythonlearn.com" TargetMode="External"/><Relationship Id="rId5"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hyperlink" Target="http://wiki.python.org/moin/HowTo/Sorting"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 Id="rId3" Type="http://schemas.openxmlformats.org/officeDocument/2006/relationships/hyperlink" Target="http://www.dr-chuck.com" TargetMode="External"/><Relationship Id="rId4" Type="http://schemas.openxmlformats.org/officeDocument/2006/relationships/hyperlink" Target="http://open.umich.edu/" TargetMode="External"/><Relationship Id="rId5"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 name="Shape 22"/>
        <p:cNvGrpSpPr/>
        <p:nvPr/>
      </p:nvGrpSpPr>
      <p:grpSpPr>
        <a:xfrm>
          <a:off x="0" y="0"/>
          <a:ext cx="0" cy="0"/>
          <a:chOff x="0" y="0"/>
          <a:chExt cx="0" cy="0"/>
        </a:xfrm>
      </p:grpSpPr>
      <p:sp>
        <p:nvSpPr>
          <p:cNvPr id="23" name="Google Shape;23;p6"/>
          <p:cNvSpPr txBox="1"/>
          <p:nvPr>
            <p:ph type="title"/>
          </p:nvPr>
        </p:nvSpPr>
        <p:spPr>
          <a:xfrm>
            <a:off x="1155700" y="1536700"/>
            <a:ext cx="13931900" cy="3086098"/>
          </a:xfrm>
          <a:prstGeom prst="rect">
            <a:avLst/>
          </a:prstGeom>
          <a:noFill/>
          <a:ln>
            <a:noFill/>
          </a:ln>
        </p:spPr>
        <p:txBody>
          <a:bodyPr anchorCtr="0" anchor="b" bIns="38100" lIns="38100" spcFirstLastPara="1" rIns="38100" wrap="square" tIns="38100">
            <a:noAutofit/>
          </a:bodyPr>
          <a:lstStyle/>
          <a:p>
            <a:pPr indent="0" lvl="0" marL="0" marR="0" rtl="0" algn="ctr">
              <a:lnSpc>
                <a:spcPct val="100000"/>
              </a:lnSpc>
              <a:spcBef>
                <a:spcPts val="0"/>
              </a:spcBef>
              <a:spcAft>
                <a:spcPts val="0"/>
              </a:spcAft>
              <a:buClr>
                <a:srgbClr val="FF00FF"/>
              </a:buClr>
              <a:buSzPts val="1900"/>
              <a:buFont typeface="Cabin"/>
              <a:buNone/>
            </a:pPr>
            <a:r>
              <a:rPr lang="en-US" sz="7600" u="none" cap="none" strike="noStrike">
                <a:solidFill>
                  <a:srgbClr val="FFD966"/>
                </a:solidFill>
                <a:latin typeface="Arial"/>
                <a:ea typeface="Arial"/>
                <a:cs typeface="Arial"/>
                <a:sym typeface="Arial"/>
              </a:rPr>
              <a:t>Tuples</a:t>
            </a:r>
            <a:endParaRPr/>
          </a:p>
        </p:txBody>
      </p:sp>
      <p:sp>
        <p:nvSpPr>
          <p:cNvPr id="24" name="Google Shape;24;p6"/>
          <p:cNvSpPr txBox="1"/>
          <p:nvPr>
            <p:ph idx="1" type="body"/>
          </p:nvPr>
        </p:nvSpPr>
        <p:spPr>
          <a:xfrm>
            <a:off x="1155700" y="4711700"/>
            <a:ext cx="13931900" cy="1054100"/>
          </a:xfrm>
          <a:prstGeom prst="rect">
            <a:avLst/>
          </a:prstGeom>
          <a:noFill/>
          <a:ln>
            <a:noFill/>
          </a:ln>
        </p:spPr>
        <p:txBody>
          <a:bodyPr anchorCtr="0" anchor="t" bIns="38100" lIns="38100" spcFirstLastPara="1" rIns="38100" wrap="square" tIns="38100">
            <a:noAutofit/>
          </a:bodyPr>
          <a:lstStyle/>
          <a:p>
            <a:pPr indent="0" lvl="0" marL="0" marR="0" rtl="0" algn="ctr">
              <a:lnSpc>
                <a:spcPct val="100000"/>
              </a:lnSpc>
              <a:spcBef>
                <a:spcPts val="0"/>
              </a:spcBef>
              <a:spcAft>
                <a:spcPts val="0"/>
              </a:spcAft>
              <a:buClr>
                <a:schemeClr val="lt1"/>
              </a:buClr>
              <a:buSzPts val="1200"/>
              <a:buFont typeface="Cabin"/>
              <a:buNone/>
            </a:pPr>
            <a:r>
              <a:rPr lang="en-US" sz="4800" u="none" cap="none" strike="noStrike">
                <a:solidFill>
                  <a:schemeClr val="lt1"/>
                </a:solidFill>
                <a:latin typeface="Arial"/>
                <a:ea typeface="Arial"/>
                <a:cs typeface="Arial"/>
                <a:sym typeface="Arial"/>
              </a:rPr>
              <a:t>Chapter 10</a:t>
            </a:r>
            <a:endParaRPr/>
          </a:p>
        </p:txBody>
      </p:sp>
      <p:sp>
        <p:nvSpPr>
          <p:cNvPr id="25" name="Google Shape;25;p6"/>
          <p:cNvSpPr txBox="1"/>
          <p:nvPr/>
        </p:nvSpPr>
        <p:spPr>
          <a:xfrm>
            <a:off x="3167825" y="7002457"/>
            <a:ext cx="9898499" cy="1016099"/>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00"/>
              </a:buClr>
              <a:buSzPts val="800"/>
              <a:buFont typeface="Cabin"/>
              <a:buNone/>
            </a:pPr>
            <a:r>
              <a:rPr b="0" i="0" lang="en-US" sz="3200" u="none" cap="none" strike="noStrike">
                <a:solidFill>
                  <a:srgbClr val="FFFF00"/>
                </a:solidFill>
                <a:latin typeface="Arial"/>
                <a:ea typeface="Arial"/>
                <a:cs typeface="Arial"/>
                <a:sym typeface="Arial"/>
              </a:rPr>
              <a:t>Python for Everybody</a:t>
            </a:r>
            <a:endParaRPr/>
          </a:p>
          <a:p>
            <a:pPr indent="0" lvl="0" marL="0" marR="0" rtl="0" algn="ctr">
              <a:lnSpc>
                <a:spcPct val="100000"/>
              </a:lnSpc>
              <a:spcBef>
                <a:spcPts val="0"/>
              </a:spcBef>
              <a:spcAft>
                <a:spcPts val="0"/>
              </a:spcAft>
              <a:buClr>
                <a:srgbClr val="FFFF00"/>
              </a:buClr>
              <a:buSzPts val="800"/>
              <a:buFont typeface="Cabin"/>
              <a:buNone/>
            </a:pPr>
            <a:r>
              <a:rPr b="0" i="0" lang="en-US" sz="3200" u="sng" cap="none" strike="noStrike">
                <a:solidFill>
                  <a:srgbClr val="FFFF00"/>
                </a:solidFill>
                <a:latin typeface="Arial"/>
                <a:ea typeface="Arial"/>
                <a:cs typeface="Arial"/>
                <a:sym typeface="Arial"/>
                <a:hlinkClick r:id="rId3">
                  <a:extLst>
                    <a:ext uri="{A12FA001-AC4F-418D-AE19-62706E023703}">
                      <ahyp:hlinkClr val="tx"/>
                    </a:ext>
                  </a:extLst>
                </a:hlinkClick>
              </a:rPr>
              <a:t>www.py4e.com</a:t>
            </a:r>
            <a:endParaRPr b="0" i="0" sz="3200" u="sng" cap="none" strike="noStrike">
              <a:solidFill>
                <a:schemeClr val="hlink"/>
              </a:solidFill>
              <a:latin typeface="Arial"/>
              <a:ea typeface="Arial"/>
              <a:cs typeface="Arial"/>
              <a:sym typeface="Arial"/>
              <a:hlinkClick r:id="rId4"/>
            </a:endParaRPr>
          </a:p>
        </p:txBody>
      </p:sp>
      <p:pic>
        <p:nvPicPr>
          <p:cNvPr id="26" name="Google Shape;26;p6"/>
          <p:cNvPicPr preferRelativeResize="0"/>
          <p:nvPr/>
        </p:nvPicPr>
        <p:blipFill rotWithShape="1">
          <a:blip r:embed="rId5">
            <a:alphaModFix/>
          </a:blip>
          <a:srcRect b="0" l="0" r="0" t="0"/>
          <a:stretch/>
        </p:blipFill>
        <p:spPr>
          <a:xfrm>
            <a:off x="13574713" y="7170732"/>
            <a:ext cx="1968500" cy="668337"/>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 name="Shape 30"/>
        <p:cNvGrpSpPr/>
        <p:nvPr/>
      </p:nvGrpSpPr>
      <p:grpSpPr>
        <a:xfrm>
          <a:off x="0" y="0"/>
          <a:ext cx="0" cy="0"/>
          <a:chOff x="0" y="0"/>
          <a:chExt cx="0" cy="0"/>
        </a:xfrm>
      </p:grpSpPr>
      <p:sp>
        <p:nvSpPr>
          <p:cNvPr id="31" name="Google Shape;31;p7"/>
          <p:cNvSpPr txBox="1"/>
          <p:nvPr>
            <p:ph type="title"/>
          </p:nvPr>
        </p:nvSpPr>
        <p:spPr>
          <a:xfrm>
            <a:off x="1155700" y="789708"/>
            <a:ext cx="13932000" cy="1750191"/>
          </a:xfrm>
          <a:prstGeom prst="rect">
            <a:avLst/>
          </a:prstGeom>
          <a:noFill/>
          <a:ln>
            <a:noFill/>
          </a:ln>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rgbClr val="00FF00"/>
              </a:buClr>
              <a:buSzPts val="1950"/>
              <a:buFont typeface="Cabin"/>
              <a:buNone/>
            </a:pPr>
            <a:r>
              <a:rPr lang="en-US" sz="7800" u="none" cap="none" strike="noStrike">
                <a:solidFill>
                  <a:srgbClr val="FFD966"/>
                </a:solidFill>
                <a:latin typeface="Arial"/>
                <a:ea typeface="Arial"/>
                <a:cs typeface="Arial"/>
                <a:sym typeface="Arial"/>
              </a:rPr>
              <a:t>Tuples Are Like Lists</a:t>
            </a:r>
            <a:endParaRPr/>
          </a:p>
        </p:txBody>
      </p:sp>
      <p:sp>
        <p:nvSpPr>
          <p:cNvPr id="32" name="Google Shape;32;p7"/>
          <p:cNvSpPr txBox="1"/>
          <p:nvPr>
            <p:ph idx="1" type="body"/>
          </p:nvPr>
        </p:nvSpPr>
        <p:spPr>
          <a:xfrm>
            <a:off x="750168" y="2603251"/>
            <a:ext cx="14051783" cy="1725613"/>
          </a:xfrm>
          <a:prstGeom prst="rect">
            <a:avLst/>
          </a:prstGeom>
          <a:noFill/>
          <a:ln>
            <a:noFill/>
          </a:ln>
        </p:spPr>
        <p:txBody>
          <a:bodyPr anchorCtr="0" anchor="ctr" bIns="50800" lIns="50800" spcFirstLastPara="1" rIns="50800" wrap="square" tIns="50800">
            <a:noAutofit/>
          </a:bodyPr>
          <a:lstStyle/>
          <a:p>
            <a:pPr indent="0" lvl="0" marL="495300" marR="0" rtl="0" algn="l">
              <a:lnSpc>
                <a:spcPct val="100000"/>
              </a:lnSpc>
              <a:spcBef>
                <a:spcPts val="0"/>
              </a:spcBef>
              <a:spcAft>
                <a:spcPts val="0"/>
              </a:spcAft>
              <a:buClr>
                <a:schemeClr val="lt1"/>
              </a:buClr>
              <a:buSzPts val="3600"/>
              <a:buNone/>
            </a:pPr>
            <a:r>
              <a:rPr lang="en-US" sz="3600" u="none" cap="none" strike="noStrike">
                <a:solidFill>
                  <a:schemeClr val="lt1"/>
                </a:solidFill>
                <a:latin typeface="Arial"/>
                <a:ea typeface="Arial"/>
                <a:cs typeface="Arial"/>
                <a:sym typeface="Arial"/>
              </a:rPr>
              <a:t>Tuples are another kind of sequence that operates similar to a list - they have elements which are indexed starting at 0</a:t>
            </a:r>
            <a:endParaRPr/>
          </a:p>
        </p:txBody>
      </p:sp>
      <p:sp>
        <p:nvSpPr>
          <p:cNvPr id="33" name="Google Shape;33;p7"/>
          <p:cNvSpPr txBox="1"/>
          <p:nvPr/>
        </p:nvSpPr>
        <p:spPr>
          <a:xfrm>
            <a:off x="1281325" y="4487751"/>
            <a:ext cx="9142498" cy="437915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lt1"/>
              </a:buClr>
              <a:buSzPts val="750"/>
              <a:buFont typeface="Courier New"/>
              <a:buNone/>
            </a:pPr>
            <a:r>
              <a:rPr b="0" i="0" lang="en-US" sz="3000" u="none" cap="none" strike="noStrike">
                <a:solidFill>
                  <a:srgbClr val="00FF00"/>
                </a:solidFill>
                <a:latin typeface="Courier"/>
                <a:ea typeface="Courier"/>
                <a:cs typeface="Courier"/>
                <a:sym typeface="Courier"/>
              </a:rPr>
              <a:t>x</a:t>
            </a:r>
            <a:r>
              <a:rPr b="0" i="0" lang="en-US" sz="3000" u="none" cap="none" strike="noStrike">
                <a:solidFill>
                  <a:schemeClr val="lt1"/>
                </a:solidFill>
                <a:latin typeface="Courier"/>
                <a:ea typeface="Courier"/>
                <a:cs typeface="Courier"/>
                <a:sym typeface="Courier"/>
              </a:rPr>
              <a:t> = ('Glenn', 'Sally', 'Joseph')</a:t>
            </a:r>
            <a:endParaRPr/>
          </a:p>
          <a:p>
            <a:pPr indent="0" lvl="0" marL="0" marR="0" rtl="0" algn="l">
              <a:lnSpc>
                <a:spcPct val="100000"/>
              </a:lnSpc>
              <a:spcBef>
                <a:spcPts val="0"/>
              </a:spcBef>
              <a:spcAft>
                <a:spcPts val="0"/>
              </a:spcAft>
              <a:buClr>
                <a:schemeClr val="lt1"/>
              </a:buClr>
              <a:buSzPts val="750"/>
              <a:buFont typeface="Courier"/>
              <a:buNone/>
            </a:pPr>
            <a:r>
              <a:rPr b="0" i="0" lang="en-US" sz="3000" u="none" cap="none" strike="noStrike">
                <a:solidFill>
                  <a:srgbClr val="FFFF00"/>
                </a:solidFill>
                <a:latin typeface="Courier"/>
                <a:ea typeface="Courier"/>
                <a:cs typeface="Courier"/>
                <a:sym typeface="Courier"/>
              </a:rPr>
              <a:t>print(</a:t>
            </a:r>
            <a:r>
              <a:rPr b="0" i="0" lang="en-US" sz="3000" u="none" cap="none" strike="noStrike">
                <a:solidFill>
                  <a:srgbClr val="00FF00"/>
                </a:solidFill>
                <a:latin typeface="Courier"/>
                <a:ea typeface="Courier"/>
                <a:cs typeface="Courier"/>
                <a:sym typeface="Courier"/>
              </a:rPr>
              <a:t>x</a:t>
            </a:r>
            <a:r>
              <a:rPr b="0" i="0" lang="en-US" sz="3000" u="none" cap="none" strike="noStrike">
                <a:solidFill>
                  <a:srgbClr val="00FFFF"/>
                </a:solidFill>
                <a:latin typeface="Courier"/>
                <a:ea typeface="Courier"/>
                <a:cs typeface="Courier"/>
                <a:sym typeface="Courier"/>
              </a:rPr>
              <a:t>[2]</a:t>
            </a:r>
            <a:r>
              <a:rPr b="0" i="0" lang="en-US" sz="3000" u="none" cap="none" strike="noStrike">
                <a:solidFill>
                  <a:srgbClr val="FFFF00"/>
                </a:solidFill>
                <a:latin typeface="Courier"/>
                <a:ea typeface="Courier"/>
                <a:cs typeface="Courier"/>
                <a:sym typeface="Courier"/>
              </a:rPr>
              <a:t>)</a:t>
            </a:r>
            <a:endParaRPr b="0" i="0" sz="3000" u="none" cap="none" strike="noStrike">
              <a:solidFill>
                <a:srgbClr val="00FFFF"/>
              </a:solidFill>
              <a:latin typeface="Courier"/>
              <a:ea typeface="Courier"/>
              <a:cs typeface="Courier"/>
              <a:sym typeface="Courier"/>
            </a:endParaRPr>
          </a:p>
          <a:p>
            <a:pPr indent="0" lvl="0" marL="0" marR="0" rtl="0" algn="l">
              <a:lnSpc>
                <a:spcPct val="100000"/>
              </a:lnSpc>
              <a:spcBef>
                <a:spcPts val="0"/>
              </a:spcBef>
              <a:spcAft>
                <a:spcPts val="0"/>
              </a:spcAft>
              <a:buClr>
                <a:schemeClr val="lt1"/>
              </a:buClr>
              <a:buSzPts val="750"/>
              <a:buFont typeface="Courier New"/>
              <a:buNone/>
            </a:pPr>
            <a:r>
              <a:rPr b="0" i="0" lang="en-US" sz="3000" u="none" cap="none" strike="noStrike">
                <a:solidFill>
                  <a:schemeClr val="lt1"/>
                </a:solidFill>
                <a:latin typeface="Courier"/>
                <a:ea typeface="Courier"/>
                <a:cs typeface="Courier"/>
                <a:sym typeface="Courier"/>
              </a:rPr>
              <a:t>Joseph</a:t>
            </a:r>
            <a:endParaRPr/>
          </a:p>
          <a:p>
            <a:pPr indent="0" lvl="0" marL="0" marR="0" rtl="0" algn="l">
              <a:lnSpc>
                <a:spcPct val="100000"/>
              </a:lnSpc>
              <a:spcBef>
                <a:spcPts val="0"/>
              </a:spcBef>
              <a:spcAft>
                <a:spcPts val="0"/>
              </a:spcAft>
              <a:buClr>
                <a:schemeClr val="lt1"/>
              </a:buClr>
              <a:buSzPts val="750"/>
              <a:buFont typeface="Courier New"/>
              <a:buNone/>
            </a:pPr>
            <a:r>
              <a:t/>
            </a:r>
            <a:endParaRPr b="0" i="0" sz="3000" u="none" cap="none" strike="noStrike">
              <a:solidFill>
                <a:schemeClr val="lt1"/>
              </a:solidFill>
              <a:latin typeface="Courier"/>
              <a:ea typeface="Courier"/>
              <a:cs typeface="Courier"/>
              <a:sym typeface="Courier"/>
            </a:endParaRPr>
          </a:p>
          <a:p>
            <a:pPr indent="0" lvl="0" marL="0" marR="0" rtl="0" algn="l">
              <a:lnSpc>
                <a:spcPct val="100000"/>
              </a:lnSpc>
              <a:spcBef>
                <a:spcPts val="0"/>
              </a:spcBef>
              <a:spcAft>
                <a:spcPts val="0"/>
              </a:spcAft>
              <a:buClr>
                <a:schemeClr val="lt1"/>
              </a:buClr>
              <a:buSzPts val="750"/>
              <a:buFont typeface="Courier New"/>
              <a:buNone/>
            </a:pPr>
            <a:r>
              <a:rPr b="0" i="0" lang="en-US" sz="3000" u="none" cap="none" strike="noStrike">
                <a:solidFill>
                  <a:srgbClr val="00FF00"/>
                </a:solidFill>
                <a:latin typeface="Courier"/>
                <a:ea typeface="Courier"/>
                <a:cs typeface="Courier"/>
                <a:sym typeface="Courier"/>
              </a:rPr>
              <a:t>y</a:t>
            </a:r>
            <a:r>
              <a:rPr b="0" i="0" lang="en-US" sz="3000" u="none" cap="none" strike="noStrike">
                <a:solidFill>
                  <a:schemeClr val="lt1"/>
                </a:solidFill>
                <a:latin typeface="Courier"/>
                <a:ea typeface="Courier"/>
                <a:cs typeface="Courier"/>
                <a:sym typeface="Courier"/>
              </a:rPr>
              <a:t> = ( 1, 9, 2 )</a:t>
            </a:r>
            <a:endParaRPr/>
          </a:p>
          <a:p>
            <a:pPr indent="0" lvl="0" marL="0" marR="0" rtl="0" algn="l">
              <a:lnSpc>
                <a:spcPct val="100000"/>
              </a:lnSpc>
              <a:spcBef>
                <a:spcPts val="0"/>
              </a:spcBef>
              <a:spcAft>
                <a:spcPts val="0"/>
              </a:spcAft>
              <a:buClr>
                <a:schemeClr val="lt1"/>
              </a:buClr>
              <a:buSzPts val="750"/>
              <a:buFont typeface="Courier"/>
              <a:buNone/>
            </a:pPr>
            <a:r>
              <a:rPr b="0" i="0" lang="en-US" sz="3000" u="none" cap="none" strike="noStrike">
                <a:solidFill>
                  <a:srgbClr val="FFFF00"/>
                </a:solidFill>
                <a:latin typeface="Courier"/>
                <a:ea typeface="Courier"/>
                <a:cs typeface="Courier"/>
                <a:sym typeface="Courier"/>
              </a:rPr>
              <a:t>print(</a:t>
            </a:r>
            <a:r>
              <a:rPr b="0" i="0" lang="en-US" sz="3000" u="none" cap="none" strike="noStrike">
                <a:solidFill>
                  <a:srgbClr val="00FF00"/>
                </a:solidFill>
                <a:latin typeface="Courier"/>
                <a:ea typeface="Courier"/>
                <a:cs typeface="Courier"/>
                <a:sym typeface="Courier"/>
              </a:rPr>
              <a:t>y</a:t>
            </a:r>
            <a:r>
              <a:rPr b="0" i="0" lang="en-US" sz="3000" u="none" cap="none" strike="noStrike">
                <a:solidFill>
                  <a:srgbClr val="FFFF00"/>
                </a:solidFill>
                <a:latin typeface="Courier"/>
                <a:ea typeface="Courier"/>
                <a:cs typeface="Courier"/>
                <a:sym typeface="Courier"/>
              </a:rPr>
              <a:t>)</a:t>
            </a:r>
            <a:endParaRPr b="0" i="0" sz="3000" u="none" cap="none" strike="noStrike">
              <a:solidFill>
                <a:srgbClr val="00FF00"/>
              </a:solidFill>
              <a:latin typeface="Courier"/>
              <a:ea typeface="Courier"/>
              <a:cs typeface="Courier"/>
              <a:sym typeface="Courier"/>
            </a:endParaRPr>
          </a:p>
          <a:p>
            <a:pPr indent="0" lvl="0" marL="0" marR="0" rtl="0" algn="l">
              <a:lnSpc>
                <a:spcPct val="100000"/>
              </a:lnSpc>
              <a:spcBef>
                <a:spcPts val="0"/>
              </a:spcBef>
              <a:spcAft>
                <a:spcPts val="0"/>
              </a:spcAft>
              <a:buClr>
                <a:schemeClr val="lt1"/>
              </a:buClr>
              <a:buSzPts val="750"/>
              <a:buFont typeface="Courier New"/>
              <a:buNone/>
            </a:pPr>
            <a:r>
              <a:rPr b="0" i="0" lang="en-US" sz="3000" u="none" cap="none" strike="noStrike">
                <a:solidFill>
                  <a:schemeClr val="lt1"/>
                </a:solidFill>
                <a:latin typeface="Courier"/>
                <a:ea typeface="Courier"/>
                <a:cs typeface="Courier"/>
                <a:sym typeface="Courier"/>
              </a:rPr>
              <a:t>(1, 9, 2)</a:t>
            </a:r>
            <a:endParaRPr/>
          </a:p>
          <a:p>
            <a:pPr indent="0" lvl="0" marL="0" marR="0" rtl="0" algn="l">
              <a:lnSpc>
                <a:spcPct val="100000"/>
              </a:lnSpc>
              <a:spcBef>
                <a:spcPts val="0"/>
              </a:spcBef>
              <a:spcAft>
                <a:spcPts val="0"/>
              </a:spcAft>
              <a:buClr>
                <a:schemeClr val="lt1"/>
              </a:buClr>
              <a:buSzPts val="750"/>
              <a:buFont typeface="Courier New"/>
              <a:buNone/>
            </a:pPr>
            <a:r>
              <a:t/>
            </a:r>
            <a:endParaRPr b="0" i="0" sz="3000" u="none" cap="none" strike="noStrike">
              <a:solidFill>
                <a:schemeClr val="lt1"/>
              </a:solidFill>
              <a:latin typeface="Courier"/>
              <a:ea typeface="Courier"/>
              <a:cs typeface="Courier"/>
              <a:sym typeface="Courier"/>
            </a:endParaRPr>
          </a:p>
          <a:p>
            <a:pPr indent="0" lvl="0" marL="0" marR="0" rtl="0" algn="l">
              <a:lnSpc>
                <a:spcPct val="100000"/>
              </a:lnSpc>
              <a:spcBef>
                <a:spcPts val="0"/>
              </a:spcBef>
              <a:spcAft>
                <a:spcPts val="0"/>
              </a:spcAft>
              <a:buClr>
                <a:schemeClr val="lt1"/>
              </a:buClr>
              <a:buSzPts val="750"/>
              <a:buFont typeface="Courier"/>
              <a:buNone/>
            </a:pPr>
            <a:r>
              <a:rPr b="0" i="0" lang="en-US" sz="3000" u="none" cap="none" strike="noStrike">
                <a:solidFill>
                  <a:srgbClr val="FFFF00"/>
                </a:solidFill>
                <a:latin typeface="Courier"/>
                <a:ea typeface="Courier"/>
                <a:cs typeface="Courier"/>
                <a:sym typeface="Courier"/>
              </a:rPr>
              <a:t>print(</a:t>
            </a:r>
            <a:r>
              <a:rPr b="0" i="0" lang="en-US" sz="3000" u="none" cap="none" strike="noStrike">
                <a:solidFill>
                  <a:srgbClr val="FF00FF"/>
                </a:solidFill>
                <a:latin typeface="Courier"/>
                <a:ea typeface="Courier"/>
                <a:cs typeface="Courier"/>
                <a:sym typeface="Courier"/>
              </a:rPr>
              <a:t>max</a:t>
            </a:r>
            <a:r>
              <a:rPr b="0" i="0" lang="en-US" sz="3000" u="none" cap="none" strike="noStrike">
                <a:solidFill>
                  <a:schemeClr val="lt1"/>
                </a:solidFill>
                <a:latin typeface="Courier"/>
                <a:ea typeface="Courier"/>
                <a:cs typeface="Courier"/>
                <a:sym typeface="Courier"/>
              </a:rPr>
              <a:t>(</a:t>
            </a:r>
            <a:r>
              <a:rPr b="0" i="0" lang="en-US" sz="3000" u="none" cap="none" strike="noStrike">
                <a:solidFill>
                  <a:srgbClr val="00FF00"/>
                </a:solidFill>
                <a:latin typeface="Courier"/>
                <a:ea typeface="Courier"/>
                <a:cs typeface="Courier"/>
                <a:sym typeface="Courier"/>
              </a:rPr>
              <a:t>y</a:t>
            </a:r>
            <a:r>
              <a:rPr b="0" i="0" lang="en-US" sz="3000" u="none" cap="none" strike="noStrike">
                <a:solidFill>
                  <a:schemeClr val="lt1"/>
                </a:solidFill>
                <a:latin typeface="Courier"/>
                <a:ea typeface="Courier"/>
                <a:cs typeface="Courier"/>
                <a:sym typeface="Courier"/>
              </a:rPr>
              <a:t>)</a:t>
            </a:r>
            <a:r>
              <a:rPr b="0" i="0" lang="en-US" sz="3000" u="none" cap="none" strike="noStrike">
                <a:solidFill>
                  <a:srgbClr val="FFFF00"/>
                </a:solidFill>
                <a:latin typeface="Courier"/>
                <a:ea typeface="Courier"/>
                <a:cs typeface="Courier"/>
                <a:sym typeface="Courier"/>
              </a:rPr>
              <a:t>)</a:t>
            </a:r>
            <a:endParaRPr b="0" i="0" sz="3000" u="none" cap="none" strike="noStrike">
              <a:solidFill>
                <a:schemeClr val="lt1"/>
              </a:solidFill>
              <a:latin typeface="Courier"/>
              <a:ea typeface="Courier"/>
              <a:cs typeface="Courier"/>
              <a:sym typeface="Courier"/>
            </a:endParaRPr>
          </a:p>
          <a:p>
            <a:pPr indent="0" lvl="0" marL="0" marR="0" rtl="0" algn="l">
              <a:lnSpc>
                <a:spcPct val="100000"/>
              </a:lnSpc>
              <a:spcBef>
                <a:spcPts val="0"/>
              </a:spcBef>
              <a:spcAft>
                <a:spcPts val="0"/>
              </a:spcAft>
              <a:buClr>
                <a:schemeClr val="lt1"/>
              </a:buClr>
              <a:buSzPts val="750"/>
              <a:buFont typeface="Courier New"/>
              <a:buNone/>
            </a:pPr>
            <a:r>
              <a:rPr b="0" i="0" lang="en-US" sz="3000" u="none" cap="none" strike="noStrike">
                <a:solidFill>
                  <a:schemeClr val="lt1"/>
                </a:solidFill>
                <a:latin typeface="Courier"/>
                <a:ea typeface="Courier"/>
                <a:cs typeface="Courier"/>
                <a:sym typeface="Courier"/>
              </a:rPr>
              <a:t>9</a:t>
            </a:r>
            <a:endParaRPr/>
          </a:p>
        </p:txBody>
      </p:sp>
      <p:sp>
        <p:nvSpPr>
          <p:cNvPr id="34" name="Google Shape;34;p7"/>
          <p:cNvSpPr txBox="1"/>
          <p:nvPr/>
        </p:nvSpPr>
        <p:spPr>
          <a:xfrm>
            <a:off x="10515700" y="4329113"/>
            <a:ext cx="4572000" cy="355589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lt1"/>
              </a:buClr>
              <a:buSzPts val="750"/>
              <a:buFont typeface="Courier New"/>
              <a:buNone/>
            </a:pPr>
            <a:r>
              <a:rPr b="0" i="0" lang="en-US" sz="3000" u="none" cap="none" strike="noStrike">
                <a:solidFill>
                  <a:srgbClr val="FFFF00"/>
                </a:solidFill>
                <a:latin typeface="Courier"/>
                <a:ea typeface="Courier"/>
                <a:cs typeface="Courier"/>
                <a:sym typeface="Courier"/>
              </a:rPr>
              <a:t>for</a:t>
            </a:r>
            <a:r>
              <a:rPr b="0" i="0" lang="en-US" sz="3000" u="none" cap="none" strike="noStrike">
                <a:solidFill>
                  <a:schemeClr val="lt1"/>
                </a:solidFill>
                <a:latin typeface="Courier"/>
                <a:ea typeface="Courier"/>
                <a:cs typeface="Courier"/>
                <a:sym typeface="Courier"/>
              </a:rPr>
              <a:t> </a:t>
            </a:r>
            <a:r>
              <a:rPr b="0" i="0" lang="en-US" sz="3000" u="none" cap="none" strike="noStrike">
                <a:solidFill>
                  <a:srgbClr val="00FFFF"/>
                </a:solidFill>
                <a:latin typeface="Courier"/>
                <a:ea typeface="Courier"/>
                <a:cs typeface="Courier"/>
                <a:sym typeface="Courier"/>
              </a:rPr>
              <a:t>iter</a:t>
            </a:r>
            <a:r>
              <a:rPr b="0" i="0" lang="en-US" sz="3000" u="none" cap="none" strike="noStrike">
                <a:solidFill>
                  <a:schemeClr val="lt1"/>
                </a:solidFill>
                <a:latin typeface="Courier"/>
                <a:ea typeface="Courier"/>
                <a:cs typeface="Courier"/>
                <a:sym typeface="Courier"/>
              </a:rPr>
              <a:t> </a:t>
            </a:r>
            <a:r>
              <a:rPr b="0" i="0" lang="en-US" sz="3000" u="none" cap="none" strike="noStrike">
                <a:solidFill>
                  <a:srgbClr val="FFFF00"/>
                </a:solidFill>
                <a:latin typeface="Courier"/>
                <a:ea typeface="Courier"/>
                <a:cs typeface="Courier"/>
                <a:sym typeface="Courier"/>
              </a:rPr>
              <a:t>in</a:t>
            </a:r>
            <a:r>
              <a:rPr b="0" i="0" lang="en-US" sz="3000" u="none" cap="none" strike="noStrike">
                <a:solidFill>
                  <a:schemeClr val="lt1"/>
                </a:solidFill>
                <a:latin typeface="Courier"/>
                <a:ea typeface="Courier"/>
                <a:cs typeface="Courier"/>
                <a:sym typeface="Courier"/>
              </a:rPr>
              <a:t> </a:t>
            </a:r>
            <a:r>
              <a:rPr b="0" i="0" lang="en-US" sz="3000" u="none" cap="none" strike="noStrike">
                <a:solidFill>
                  <a:srgbClr val="FF00FF"/>
                </a:solidFill>
                <a:latin typeface="Courier"/>
                <a:ea typeface="Courier"/>
                <a:cs typeface="Courier"/>
                <a:sym typeface="Courier"/>
              </a:rPr>
              <a:t>y</a:t>
            </a:r>
            <a:r>
              <a:rPr b="0" i="0" lang="en-US" sz="3000" u="none" cap="none" strike="noStrike">
                <a:solidFill>
                  <a:schemeClr val="lt1"/>
                </a:solidFill>
                <a:latin typeface="Courier"/>
                <a:ea typeface="Courier"/>
                <a:cs typeface="Courier"/>
                <a:sym typeface="Courier"/>
              </a:rPr>
              <a:t>:</a:t>
            </a:r>
            <a:endParaRPr/>
          </a:p>
          <a:p>
            <a:pPr indent="0" lvl="0" marL="0" marR="0" rtl="0" algn="l">
              <a:lnSpc>
                <a:spcPct val="100000"/>
              </a:lnSpc>
              <a:spcBef>
                <a:spcPts val="0"/>
              </a:spcBef>
              <a:spcAft>
                <a:spcPts val="0"/>
              </a:spcAft>
              <a:buClr>
                <a:schemeClr val="lt1"/>
              </a:buClr>
              <a:buSzPts val="750"/>
              <a:buFont typeface="Courier New"/>
              <a:buNone/>
            </a:pPr>
            <a:r>
              <a:rPr b="0" i="0" lang="en-US" sz="3000" u="none" cap="none" strike="noStrike">
                <a:solidFill>
                  <a:srgbClr val="FFFF00"/>
                </a:solidFill>
                <a:latin typeface="Courier"/>
                <a:ea typeface="Courier"/>
                <a:cs typeface="Courier"/>
                <a:sym typeface="Courier"/>
              </a:rPr>
              <a:t>    print(</a:t>
            </a:r>
            <a:r>
              <a:rPr b="0" i="0" lang="en-US" sz="3000" u="none" cap="none" strike="noStrike">
                <a:solidFill>
                  <a:srgbClr val="00FFFF"/>
                </a:solidFill>
                <a:latin typeface="Courier"/>
                <a:ea typeface="Courier"/>
                <a:cs typeface="Courier"/>
                <a:sym typeface="Courier"/>
              </a:rPr>
              <a:t>iter</a:t>
            </a:r>
            <a:r>
              <a:rPr b="0" i="0" lang="en-US" sz="3000" u="none" cap="none" strike="noStrike">
                <a:solidFill>
                  <a:srgbClr val="FFFF00"/>
                </a:solidFill>
                <a:latin typeface="Courier"/>
                <a:ea typeface="Courier"/>
                <a:cs typeface="Courier"/>
                <a:sym typeface="Courier"/>
              </a:rPr>
              <a:t>)</a:t>
            </a:r>
            <a:endParaRPr b="0" i="0" sz="3000" u="none" cap="none" strike="noStrike">
              <a:solidFill>
                <a:srgbClr val="FFFF00"/>
              </a:solidFill>
              <a:latin typeface="Courier"/>
              <a:ea typeface="Courier"/>
              <a:cs typeface="Courier"/>
              <a:sym typeface="Courier"/>
            </a:endParaRPr>
          </a:p>
          <a:p>
            <a:pPr indent="0" lvl="0" marL="0" marR="0" rtl="0" algn="l">
              <a:lnSpc>
                <a:spcPct val="100000"/>
              </a:lnSpc>
              <a:spcBef>
                <a:spcPts val="0"/>
              </a:spcBef>
              <a:spcAft>
                <a:spcPts val="0"/>
              </a:spcAft>
              <a:buClr>
                <a:schemeClr val="lt1"/>
              </a:buClr>
              <a:buSzPts val="750"/>
              <a:buFont typeface="Courier New"/>
              <a:buNone/>
            </a:pPr>
            <a:r>
              <a:t/>
            </a:r>
            <a:endParaRPr b="0" i="0" sz="3000" u="none" cap="none" strike="noStrike">
              <a:solidFill>
                <a:schemeClr val="lt1"/>
              </a:solidFill>
              <a:latin typeface="Courier"/>
              <a:ea typeface="Courier"/>
              <a:cs typeface="Courier"/>
              <a:sym typeface="Courier"/>
            </a:endParaRPr>
          </a:p>
          <a:p>
            <a:pPr indent="0" lvl="0" marL="0" marR="0" rtl="0" algn="l">
              <a:lnSpc>
                <a:spcPct val="100000"/>
              </a:lnSpc>
              <a:spcBef>
                <a:spcPts val="0"/>
              </a:spcBef>
              <a:spcAft>
                <a:spcPts val="0"/>
              </a:spcAft>
              <a:buClr>
                <a:schemeClr val="lt1"/>
              </a:buClr>
              <a:buSzPts val="750"/>
              <a:buFont typeface="Courier New"/>
              <a:buNone/>
            </a:pPr>
            <a:r>
              <a:rPr b="0" i="0" lang="en-US" sz="3000" u="none" cap="none" strike="noStrike">
                <a:solidFill>
                  <a:schemeClr val="lt1"/>
                </a:solidFill>
                <a:latin typeface="Courier"/>
                <a:ea typeface="Courier"/>
                <a:cs typeface="Courier"/>
                <a:sym typeface="Courier"/>
              </a:rPr>
              <a:t>1</a:t>
            </a:r>
            <a:endParaRPr/>
          </a:p>
          <a:p>
            <a:pPr indent="0" lvl="0" marL="0" marR="0" rtl="0" algn="l">
              <a:lnSpc>
                <a:spcPct val="100000"/>
              </a:lnSpc>
              <a:spcBef>
                <a:spcPts val="0"/>
              </a:spcBef>
              <a:spcAft>
                <a:spcPts val="0"/>
              </a:spcAft>
              <a:buClr>
                <a:schemeClr val="lt1"/>
              </a:buClr>
              <a:buSzPts val="750"/>
              <a:buFont typeface="Courier New"/>
              <a:buNone/>
            </a:pPr>
            <a:r>
              <a:rPr b="0" i="0" lang="en-US" sz="3000" u="none" cap="none" strike="noStrike">
                <a:solidFill>
                  <a:schemeClr val="lt1"/>
                </a:solidFill>
                <a:latin typeface="Courier"/>
                <a:ea typeface="Courier"/>
                <a:cs typeface="Courier"/>
                <a:sym typeface="Courier"/>
              </a:rPr>
              <a:t>9</a:t>
            </a:r>
            <a:endParaRPr/>
          </a:p>
          <a:p>
            <a:pPr indent="0" lvl="0" marL="0" marR="0" rtl="0" algn="l">
              <a:lnSpc>
                <a:spcPct val="100000"/>
              </a:lnSpc>
              <a:spcBef>
                <a:spcPts val="0"/>
              </a:spcBef>
              <a:spcAft>
                <a:spcPts val="0"/>
              </a:spcAft>
              <a:buClr>
                <a:schemeClr val="lt1"/>
              </a:buClr>
              <a:buSzPts val="750"/>
              <a:buFont typeface="Courier New"/>
              <a:buNone/>
            </a:pPr>
            <a:r>
              <a:rPr b="0" i="0" lang="en-US" sz="3000" u="none" cap="none" strike="noStrike">
                <a:solidFill>
                  <a:schemeClr val="lt1"/>
                </a:solidFill>
                <a:latin typeface="Courier"/>
                <a:ea typeface="Courier"/>
                <a:cs typeface="Courier"/>
                <a:sym typeface="Courier"/>
              </a:rPr>
              <a:t>2</a:t>
            </a:r>
            <a:endParaRPr/>
          </a:p>
          <a:p>
            <a:pPr indent="0" lvl="0" marL="0" marR="0" rtl="0" algn="l">
              <a:lnSpc>
                <a:spcPct val="100000"/>
              </a:lnSpc>
              <a:spcBef>
                <a:spcPts val="0"/>
              </a:spcBef>
              <a:spcAft>
                <a:spcPts val="0"/>
              </a:spcAft>
              <a:buClr>
                <a:schemeClr val="lt1"/>
              </a:buClr>
              <a:buSzPts val="750"/>
              <a:buFont typeface="Courier New"/>
              <a:buNone/>
            </a:pPr>
            <a:r>
              <a:t/>
            </a:r>
            <a:endParaRPr b="0" i="0" sz="3000" u="none" cap="none" strike="noStrike">
              <a:solidFill>
                <a:schemeClr val="lt1"/>
              </a:solidFill>
              <a:latin typeface="Courier"/>
              <a:ea typeface="Courier"/>
              <a:cs typeface="Courier"/>
              <a:sym typeface="Courie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 name="Shape 38"/>
        <p:cNvGrpSpPr/>
        <p:nvPr/>
      </p:nvGrpSpPr>
      <p:grpSpPr>
        <a:xfrm>
          <a:off x="0" y="0"/>
          <a:ext cx="0" cy="0"/>
          <a:chOff x="0" y="0"/>
          <a:chExt cx="0" cy="0"/>
        </a:xfrm>
      </p:grpSpPr>
      <p:sp>
        <p:nvSpPr>
          <p:cNvPr id="39" name="Google Shape;39;p8"/>
          <p:cNvSpPr txBox="1"/>
          <p:nvPr>
            <p:ph type="title"/>
          </p:nvPr>
        </p:nvSpPr>
        <p:spPr>
          <a:xfrm>
            <a:off x="1155700" y="789708"/>
            <a:ext cx="13932000" cy="1750191"/>
          </a:xfrm>
          <a:prstGeom prst="rect">
            <a:avLst/>
          </a:prstGeom>
          <a:noFill/>
          <a:ln>
            <a:noFill/>
          </a:ln>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rgbClr val="FF00FF"/>
              </a:buClr>
              <a:buSzPts val="1950"/>
              <a:buFont typeface="Cabin"/>
              <a:buNone/>
            </a:pPr>
            <a:r>
              <a:rPr lang="en-US" sz="7800" u="none" cap="none" strike="noStrike">
                <a:solidFill>
                  <a:srgbClr val="FFD966"/>
                </a:solidFill>
                <a:latin typeface="Arial"/>
                <a:ea typeface="Arial"/>
                <a:cs typeface="Arial"/>
                <a:sym typeface="Arial"/>
              </a:rPr>
              <a:t>but... Tuples are “immutable”</a:t>
            </a:r>
            <a:endParaRPr/>
          </a:p>
        </p:txBody>
      </p:sp>
      <p:sp>
        <p:nvSpPr>
          <p:cNvPr id="40" name="Google Shape;40;p8"/>
          <p:cNvSpPr txBox="1"/>
          <p:nvPr>
            <p:ph idx="1" type="body"/>
          </p:nvPr>
        </p:nvSpPr>
        <p:spPr>
          <a:xfrm>
            <a:off x="1155700" y="2603500"/>
            <a:ext cx="13932000" cy="1325563"/>
          </a:xfrm>
          <a:prstGeom prst="rect">
            <a:avLst/>
          </a:prstGeom>
          <a:noFill/>
          <a:ln>
            <a:noFill/>
          </a:ln>
        </p:spPr>
        <p:txBody>
          <a:bodyPr anchorCtr="0" anchor="ctr" bIns="50800" lIns="50800" spcFirstLastPara="1" rIns="50800" wrap="square" tIns="50800">
            <a:noAutofit/>
          </a:bodyPr>
          <a:lstStyle/>
          <a:p>
            <a:pPr indent="0" lvl="0" marL="317500" marR="0" rtl="0" algn="l">
              <a:lnSpc>
                <a:spcPct val="100000"/>
              </a:lnSpc>
              <a:spcBef>
                <a:spcPts val="0"/>
              </a:spcBef>
              <a:spcAft>
                <a:spcPts val="0"/>
              </a:spcAft>
              <a:buClr>
                <a:schemeClr val="lt1"/>
              </a:buClr>
              <a:buSzPts val="6498"/>
              <a:buNone/>
            </a:pPr>
            <a:r>
              <a:rPr lang="en-US" sz="3800" u="none" cap="none" strike="noStrike">
                <a:solidFill>
                  <a:schemeClr val="lt1"/>
                </a:solidFill>
                <a:latin typeface="Arial"/>
                <a:ea typeface="Arial"/>
                <a:cs typeface="Arial"/>
                <a:sym typeface="Arial"/>
              </a:rPr>
              <a:t>Unlike a list, once you create a </a:t>
            </a:r>
            <a:r>
              <a:rPr lang="en-US" sz="3800" u="none" cap="none" strike="noStrike">
                <a:solidFill>
                  <a:srgbClr val="FF00FF"/>
                </a:solidFill>
                <a:latin typeface="Arial"/>
                <a:ea typeface="Arial"/>
                <a:cs typeface="Arial"/>
                <a:sym typeface="Arial"/>
              </a:rPr>
              <a:t>tuple</a:t>
            </a:r>
            <a:r>
              <a:rPr lang="en-US" sz="3800" u="none" cap="none" strike="noStrike">
                <a:solidFill>
                  <a:schemeClr val="lt1"/>
                </a:solidFill>
                <a:latin typeface="Arial"/>
                <a:ea typeface="Arial"/>
                <a:cs typeface="Arial"/>
                <a:sym typeface="Arial"/>
              </a:rPr>
              <a:t>, you </a:t>
            </a:r>
            <a:r>
              <a:rPr lang="en-US" sz="3800" u="none" cap="none" strike="noStrike">
                <a:solidFill>
                  <a:srgbClr val="FF7F00"/>
                </a:solidFill>
                <a:latin typeface="Arial"/>
                <a:ea typeface="Arial"/>
                <a:cs typeface="Arial"/>
                <a:sym typeface="Arial"/>
              </a:rPr>
              <a:t>cannot alter</a:t>
            </a:r>
            <a:r>
              <a:rPr lang="en-US" sz="3800" u="none" cap="none" strike="noStrike">
                <a:solidFill>
                  <a:schemeClr val="lt1"/>
                </a:solidFill>
                <a:latin typeface="Arial"/>
                <a:ea typeface="Arial"/>
                <a:cs typeface="Arial"/>
                <a:sym typeface="Arial"/>
              </a:rPr>
              <a:t> its contents - similar to a string</a:t>
            </a:r>
            <a:endParaRPr/>
          </a:p>
        </p:txBody>
      </p:sp>
      <p:sp>
        <p:nvSpPr>
          <p:cNvPr id="41" name="Google Shape;41;p8"/>
          <p:cNvSpPr txBox="1"/>
          <p:nvPr/>
        </p:nvSpPr>
        <p:spPr>
          <a:xfrm>
            <a:off x="749300" y="4465898"/>
            <a:ext cx="5078400" cy="2438409"/>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lt1"/>
              </a:buClr>
              <a:buSzPts val="750"/>
              <a:buFont typeface="Courier New"/>
              <a:buNone/>
            </a:pPr>
            <a:r>
              <a:rPr b="0" i="0" lang="en-US" sz="3000" u="none" cap="none" strike="noStrike">
                <a:solidFill>
                  <a:srgbClr val="00FF00"/>
                </a:solidFill>
                <a:latin typeface="Courier"/>
                <a:ea typeface="Courier"/>
                <a:cs typeface="Courier"/>
                <a:sym typeface="Courier"/>
              </a:rPr>
              <a:t>x</a:t>
            </a:r>
            <a:r>
              <a:rPr b="0" i="0" lang="en-US" sz="3000" u="none" cap="none" strike="noStrike">
                <a:solidFill>
                  <a:schemeClr val="lt1"/>
                </a:solidFill>
                <a:latin typeface="Courier"/>
                <a:ea typeface="Courier"/>
                <a:cs typeface="Courier"/>
                <a:sym typeface="Courier"/>
              </a:rPr>
              <a:t> = [9, 8, 7]</a:t>
            </a:r>
            <a:endParaRPr/>
          </a:p>
          <a:p>
            <a:pPr indent="0" lvl="0" marL="0" marR="0" rtl="0" algn="l">
              <a:lnSpc>
                <a:spcPct val="100000"/>
              </a:lnSpc>
              <a:spcBef>
                <a:spcPts val="0"/>
              </a:spcBef>
              <a:spcAft>
                <a:spcPts val="0"/>
              </a:spcAft>
              <a:buClr>
                <a:schemeClr val="lt1"/>
              </a:buClr>
              <a:buSzPts val="750"/>
              <a:buFont typeface="Courier New"/>
              <a:buNone/>
            </a:pPr>
            <a:r>
              <a:rPr b="0" i="0" lang="en-US" sz="3000" u="none" cap="none" strike="noStrike">
                <a:solidFill>
                  <a:srgbClr val="00FF00"/>
                </a:solidFill>
                <a:latin typeface="Courier"/>
                <a:ea typeface="Courier"/>
                <a:cs typeface="Courier"/>
                <a:sym typeface="Courier"/>
              </a:rPr>
              <a:t>x</a:t>
            </a:r>
            <a:r>
              <a:rPr b="0" i="0" lang="en-US" sz="3000" u="none" cap="none" strike="noStrike">
                <a:solidFill>
                  <a:srgbClr val="00FFFF"/>
                </a:solidFill>
                <a:latin typeface="Courier"/>
                <a:ea typeface="Courier"/>
                <a:cs typeface="Courier"/>
                <a:sym typeface="Courier"/>
              </a:rPr>
              <a:t>[2]</a:t>
            </a:r>
            <a:r>
              <a:rPr b="0" i="0" lang="en-US" sz="3000" u="none" cap="none" strike="noStrike">
                <a:solidFill>
                  <a:schemeClr val="lt1"/>
                </a:solidFill>
                <a:latin typeface="Courier"/>
                <a:ea typeface="Courier"/>
                <a:cs typeface="Courier"/>
                <a:sym typeface="Courier"/>
              </a:rPr>
              <a:t> = 6</a:t>
            </a:r>
            <a:endParaRPr/>
          </a:p>
          <a:p>
            <a:pPr indent="0" lvl="0" marL="0" marR="0" rtl="0" algn="l">
              <a:lnSpc>
                <a:spcPct val="100000"/>
              </a:lnSpc>
              <a:spcBef>
                <a:spcPts val="0"/>
              </a:spcBef>
              <a:spcAft>
                <a:spcPts val="0"/>
              </a:spcAft>
              <a:buClr>
                <a:schemeClr val="lt1"/>
              </a:buClr>
              <a:buSzPts val="750"/>
              <a:buFont typeface="Courier"/>
              <a:buNone/>
            </a:pPr>
            <a:r>
              <a:rPr b="0" i="0" lang="en-US" sz="3000" u="none" cap="none" strike="noStrike">
                <a:solidFill>
                  <a:srgbClr val="FFFF00"/>
                </a:solidFill>
                <a:latin typeface="Courier"/>
                <a:ea typeface="Courier"/>
                <a:cs typeface="Courier"/>
                <a:sym typeface="Courier"/>
              </a:rPr>
              <a:t>print(</a:t>
            </a:r>
            <a:r>
              <a:rPr b="0" i="0" lang="en-US" sz="3000" u="none" cap="none" strike="noStrike">
                <a:solidFill>
                  <a:srgbClr val="00FF00"/>
                </a:solidFill>
                <a:latin typeface="Courier"/>
                <a:ea typeface="Courier"/>
                <a:cs typeface="Courier"/>
                <a:sym typeface="Courier"/>
              </a:rPr>
              <a:t>x</a:t>
            </a:r>
            <a:r>
              <a:rPr b="0" i="0" lang="en-US" sz="3000" u="none" cap="none" strike="noStrike">
                <a:solidFill>
                  <a:srgbClr val="FFFF00"/>
                </a:solidFill>
                <a:latin typeface="Courier"/>
                <a:ea typeface="Courier"/>
                <a:cs typeface="Courier"/>
                <a:sym typeface="Courier"/>
              </a:rPr>
              <a:t>)</a:t>
            </a:r>
            <a:endParaRPr b="0" i="0" sz="3000" u="none" cap="none" strike="noStrike">
              <a:solidFill>
                <a:srgbClr val="00FF00"/>
              </a:solidFill>
              <a:latin typeface="Courier"/>
              <a:ea typeface="Courier"/>
              <a:cs typeface="Courier"/>
              <a:sym typeface="Courier"/>
            </a:endParaRPr>
          </a:p>
          <a:p>
            <a:pPr indent="0" lvl="0" marL="0" marR="0" rtl="0" algn="l">
              <a:lnSpc>
                <a:spcPct val="100000"/>
              </a:lnSpc>
              <a:spcBef>
                <a:spcPts val="0"/>
              </a:spcBef>
              <a:spcAft>
                <a:spcPts val="0"/>
              </a:spcAft>
              <a:buClr>
                <a:schemeClr val="lt1"/>
              </a:buClr>
              <a:buSzPts val="750"/>
              <a:buFont typeface="Courier New"/>
              <a:buNone/>
            </a:pPr>
            <a:r>
              <a:rPr b="0" i="0" lang="en-US" sz="3000" u="none" cap="none" strike="noStrike">
                <a:solidFill>
                  <a:schemeClr val="lt1"/>
                </a:solidFill>
                <a:latin typeface="Courier"/>
                <a:ea typeface="Courier"/>
                <a:cs typeface="Courier"/>
                <a:sym typeface="Courier"/>
              </a:rPr>
              <a:t>[9, 8, 6]</a:t>
            </a:r>
            <a:endParaRPr/>
          </a:p>
          <a:p>
            <a:pPr indent="0" lvl="0" marL="0" marR="0" rtl="0" algn="l">
              <a:lnSpc>
                <a:spcPct val="100000"/>
              </a:lnSpc>
              <a:spcBef>
                <a:spcPts val="0"/>
              </a:spcBef>
              <a:spcAft>
                <a:spcPts val="0"/>
              </a:spcAft>
              <a:buClr>
                <a:schemeClr val="lt1"/>
              </a:buClr>
              <a:buSzPts val="750"/>
              <a:buFont typeface="Courier New"/>
              <a:buNone/>
            </a:pPr>
            <a:r>
              <a:t/>
            </a:r>
            <a:endParaRPr b="0" i="0" sz="3000" u="none" cap="none" strike="noStrike">
              <a:solidFill>
                <a:schemeClr val="lt1"/>
              </a:solidFill>
              <a:latin typeface="Courier"/>
              <a:ea typeface="Courier"/>
              <a:cs typeface="Courier"/>
              <a:sym typeface="Courier"/>
            </a:endParaRPr>
          </a:p>
        </p:txBody>
      </p:sp>
      <p:sp>
        <p:nvSpPr>
          <p:cNvPr id="42" name="Google Shape;42;p8"/>
          <p:cNvSpPr txBox="1"/>
          <p:nvPr/>
        </p:nvSpPr>
        <p:spPr>
          <a:xfrm>
            <a:off x="5827700" y="4465898"/>
            <a:ext cx="4927598" cy="3390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lt1"/>
              </a:buClr>
              <a:buSzPts val="750"/>
              <a:buFont typeface="Courier New"/>
              <a:buNone/>
            </a:pPr>
            <a:r>
              <a:rPr b="0" i="0" lang="en-US" sz="3000" u="none" cap="none" strike="noStrike">
                <a:solidFill>
                  <a:srgbClr val="00FF00"/>
                </a:solidFill>
                <a:latin typeface="Courier"/>
                <a:ea typeface="Courier"/>
                <a:cs typeface="Courier"/>
                <a:sym typeface="Courier"/>
              </a:rPr>
              <a:t>z</a:t>
            </a:r>
            <a:r>
              <a:rPr b="0" i="0" lang="en-US" sz="3000" u="none" cap="none" strike="noStrike">
                <a:solidFill>
                  <a:schemeClr val="lt1"/>
                </a:solidFill>
                <a:latin typeface="Courier"/>
                <a:ea typeface="Courier"/>
                <a:cs typeface="Courier"/>
                <a:sym typeface="Courier"/>
              </a:rPr>
              <a:t> = (5, 4, 3)</a:t>
            </a:r>
            <a:endParaRPr/>
          </a:p>
          <a:p>
            <a:pPr indent="0" lvl="0" marL="0" marR="0" rtl="0" algn="l">
              <a:lnSpc>
                <a:spcPct val="100000"/>
              </a:lnSpc>
              <a:spcBef>
                <a:spcPts val="0"/>
              </a:spcBef>
              <a:spcAft>
                <a:spcPts val="0"/>
              </a:spcAft>
              <a:buClr>
                <a:schemeClr val="lt1"/>
              </a:buClr>
              <a:buSzPts val="750"/>
              <a:buFont typeface="Courier New"/>
              <a:buNone/>
            </a:pPr>
            <a:r>
              <a:rPr b="0" i="0" lang="en-US" sz="3000" u="none" cap="none" strike="noStrike">
                <a:solidFill>
                  <a:srgbClr val="00FF00"/>
                </a:solidFill>
                <a:latin typeface="Courier"/>
                <a:ea typeface="Courier"/>
                <a:cs typeface="Courier"/>
                <a:sym typeface="Courier"/>
              </a:rPr>
              <a:t>z</a:t>
            </a:r>
            <a:r>
              <a:rPr b="0" i="0" lang="en-US" sz="3000" u="none" cap="none" strike="noStrike">
                <a:solidFill>
                  <a:srgbClr val="00FFFF"/>
                </a:solidFill>
                <a:latin typeface="Courier"/>
                <a:ea typeface="Courier"/>
                <a:cs typeface="Courier"/>
                <a:sym typeface="Courier"/>
              </a:rPr>
              <a:t>[2]</a:t>
            </a:r>
            <a:r>
              <a:rPr b="0" i="0" lang="en-US" sz="3000" u="none" cap="none" strike="noStrike">
                <a:solidFill>
                  <a:schemeClr val="lt1"/>
                </a:solidFill>
                <a:latin typeface="Courier"/>
                <a:ea typeface="Courier"/>
                <a:cs typeface="Courier"/>
                <a:sym typeface="Courier"/>
              </a:rPr>
              <a:t> = 0</a:t>
            </a:r>
            <a:endParaRPr/>
          </a:p>
          <a:p>
            <a:pPr indent="0" lvl="0" marL="0" marR="0" rtl="0" algn="l">
              <a:lnSpc>
                <a:spcPct val="100000"/>
              </a:lnSpc>
              <a:spcBef>
                <a:spcPts val="0"/>
              </a:spcBef>
              <a:spcAft>
                <a:spcPts val="0"/>
              </a:spcAft>
              <a:buClr>
                <a:srgbClr val="FF66FF"/>
              </a:buClr>
              <a:buSzPts val="750"/>
              <a:buFont typeface="Courier New"/>
              <a:buNone/>
            </a:pPr>
            <a:r>
              <a:rPr b="0" i="0" lang="en-US" sz="3000" u="none" cap="none" strike="noStrike">
                <a:solidFill>
                  <a:srgbClr val="FF66FF"/>
                </a:solidFill>
                <a:latin typeface="Courier"/>
                <a:ea typeface="Courier"/>
                <a:cs typeface="Courier"/>
                <a:sym typeface="Courier"/>
              </a:rPr>
              <a:t>Traceback:'tuple' object does </a:t>
            </a:r>
            <a:endParaRPr/>
          </a:p>
          <a:p>
            <a:pPr indent="0" lvl="0" marL="0" marR="0" rtl="0" algn="l">
              <a:lnSpc>
                <a:spcPct val="100000"/>
              </a:lnSpc>
              <a:spcBef>
                <a:spcPts val="0"/>
              </a:spcBef>
              <a:spcAft>
                <a:spcPts val="0"/>
              </a:spcAft>
              <a:buClr>
                <a:srgbClr val="FF66FF"/>
              </a:buClr>
              <a:buSzPts val="750"/>
              <a:buFont typeface="Courier New"/>
              <a:buNone/>
            </a:pPr>
            <a:r>
              <a:rPr b="0" i="0" lang="en-US" sz="3000" u="none" cap="none" strike="noStrike">
                <a:solidFill>
                  <a:srgbClr val="FF66FF"/>
                </a:solidFill>
                <a:latin typeface="Courier"/>
                <a:ea typeface="Courier"/>
                <a:cs typeface="Courier"/>
                <a:sym typeface="Courier"/>
              </a:rPr>
              <a:t>not support </a:t>
            </a:r>
            <a:r>
              <a:rPr b="0" i="0" lang="en-US" sz="3000" u="none" cap="none" strike="noStrike">
                <a:solidFill>
                  <a:srgbClr val="00FFFF"/>
                </a:solidFill>
                <a:latin typeface="Courier"/>
                <a:ea typeface="Courier"/>
                <a:cs typeface="Courier"/>
                <a:sym typeface="Courier"/>
              </a:rPr>
              <a:t>item</a:t>
            </a:r>
            <a:r>
              <a:rPr b="0" i="0" lang="en-US" sz="3000" u="none" cap="none" strike="noStrike">
                <a:solidFill>
                  <a:srgbClr val="FF66FF"/>
                </a:solidFill>
                <a:latin typeface="Courier"/>
                <a:ea typeface="Courier"/>
                <a:cs typeface="Courier"/>
                <a:sym typeface="Courier"/>
              </a:rPr>
              <a:t> </a:t>
            </a:r>
            <a:endParaRPr/>
          </a:p>
          <a:p>
            <a:pPr indent="0" lvl="0" marL="0" marR="0" rtl="0" algn="l">
              <a:lnSpc>
                <a:spcPct val="100000"/>
              </a:lnSpc>
              <a:spcBef>
                <a:spcPts val="0"/>
              </a:spcBef>
              <a:spcAft>
                <a:spcPts val="0"/>
              </a:spcAft>
              <a:buClr>
                <a:srgbClr val="FF66FF"/>
              </a:buClr>
              <a:buSzPts val="750"/>
              <a:buFont typeface="Courier New"/>
              <a:buNone/>
            </a:pPr>
            <a:r>
              <a:rPr b="0" i="0" lang="en-US" sz="3000" u="none" cap="none" strike="noStrike">
                <a:solidFill>
                  <a:srgbClr val="FF66FF"/>
                </a:solidFill>
                <a:latin typeface="Courier"/>
                <a:ea typeface="Courier"/>
                <a:cs typeface="Courier"/>
                <a:sym typeface="Courier"/>
              </a:rPr>
              <a:t>Assignment</a:t>
            </a:r>
            <a:endParaRPr/>
          </a:p>
          <a:p>
            <a:pPr indent="0" lvl="0" marL="0" marR="0" rtl="0" algn="l">
              <a:lnSpc>
                <a:spcPct val="100000"/>
              </a:lnSpc>
              <a:spcBef>
                <a:spcPts val="0"/>
              </a:spcBef>
              <a:spcAft>
                <a:spcPts val="0"/>
              </a:spcAft>
              <a:buClr>
                <a:schemeClr val="lt1"/>
              </a:buClr>
              <a:buSzPts val="750"/>
              <a:buFont typeface="Courier New"/>
              <a:buNone/>
            </a:pPr>
            <a:r>
              <a:t/>
            </a:r>
            <a:endParaRPr b="0" i="0" sz="3000" u="none" cap="none" strike="noStrike">
              <a:solidFill>
                <a:schemeClr val="lt1"/>
              </a:solidFill>
              <a:latin typeface="Courier"/>
              <a:ea typeface="Courier"/>
              <a:cs typeface="Courier"/>
              <a:sym typeface="Courie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 name="Shape 46"/>
        <p:cNvGrpSpPr/>
        <p:nvPr/>
      </p:nvGrpSpPr>
      <p:grpSpPr>
        <a:xfrm>
          <a:off x="0" y="0"/>
          <a:ext cx="0" cy="0"/>
          <a:chOff x="0" y="0"/>
          <a:chExt cx="0" cy="0"/>
        </a:xfrm>
      </p:grpSpPr>
      <p:sp>
        <p:nvSpPr>
          <p:cNvPr id="47" name="Google Shape;47;p9"/>
          <p:cNvSpPr txBox="1"/>
          <p:nvPr>
            <p:ph type="title"/>
          </p:nvPr>
        </p:nvSpPr>
        <p:spPr>
          <a:xfrm>
            <a:off x="1155700" y="789708"/>
            <a:ext cx="13932000" cy="1750191"/>
          </a:xfrm>
          <a:prstGeom prst="rect">
            <a:avLst/>
          </a:prstGeom>
          <a:noFill/>
          <a:ln>
            <a:noFill/>
          </a:ln>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rgbClr val="00FF00"/>
              </a:buClr>
              <a:buSzPts val="1950"/>
              <a:buFont typeface="Cabin"/>
              <a:buNone/>
            </a:pPr>
            <a:r>
              <a:rPr lang="en-US" sz="7800" u="none" cap="none" strike="noStrike">
                <a:solidFill>
                  <a:srgbClr val="FFD966"/>
                </a:solidFill>
                <a:latin typeface="Arial"/>
                <a:ea typeface="Arial"/>
                <a:cs typeface="Arial"/>
                <a:sym typeface="Arial"/>
              </a:rPr>
              <a:t>Only 2 Tuple Methods</a:t>
            </a:r>
            <a:endParaRPr sz="7800" u="none" cap="none" strike="noStrike">
              <a:solidFill>
                <a:srgbClr val="FFD966"/>
              </a:solidFill>
              <a:latin typeface="Arial"/>
              <a:ea typeface="Arial"/>
              <a:cs typeface="Arial"/>
              <a:sym typeface="Arial"/>
            </a:endParaRPr>
          </a:p>
        </p:txBody>
      </p:sp>
      <p:sp>
        <p:nvSpPr>
          <p:cNvPr id="48" name="Google Shape;48;p9"/>
          <p:cNvSpPr txBox="1"/>
          <p:nvPr/>
        </p:nvSpPr>
        <p:spPr>
          <a:xfrm>
            <a:off x="1765300" y="3454400"/>
            <a:ext cx="12712699" cy="386079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lt1"/>
              </a:buClr>
              <a:buSzPts val="750"/>
              <a:buFont typeface="Courier New"/>
              <a:buNone/>
            </a:pPr>
            <a:r>
              <a:rPr b="0" i="0" lang="en-US" sz="3000" u="none" cap="none" strike="noStrike">
                <a:solidFill>
                  <a:srgbClr val="00FF00"/>
                </a:solidFill>
                <a:latin typeface="Courier"/>
                <a:ea typeface="Courier"/>
                <a:cs typeface="Courier"/>
                <a:sym typeface="Courier"/>
              </a:rPr>
              <a:t>l</a:t>
            </a:r>
            <a:r>
              <a:rPr b="0" i="0" lang="en-US" sz="3000" u="none" cap="none" strike="noStrike">
                <a:solidFill>
                  <a:schemeClr val="lt1"/>
                </a:solidFill>
                <a:latin typeface="Courier"/>
                <a:ea typeface="Courier"/>
                <a:cs typeface="Courier"/>
                <a:sym typeface="Courier"/>
              </a:rPr>
              <a:t> = </a:t>
            </a:r>
            <a:r>
              <a:rPr b="0" i="0" lang="en-US" sz="3000" u="none" cap="none" strike="noStrike">
                <a:solidFill>
                  <a:srgbClr val="FF00FF"/>
                </a:solidFill>
                <a:latin typeface="Courier"/>
                <a:ea typeface="Courier"/>
                <a:cs typeface="Courier"/>
                <a:sym typeface="Courier"/>
              </a:rPr>
              <a:t>list</a:t>
            </a:r>
            <a:r>
              <a:rPr b="0" i="0" lang="en-US" sz="3000" u="none" cap="none" strike="noStrike">
                <a:solidFill>
                  <a:schemeClr val="lt1"/>
                </a:solidFill>
                <a:latin typeface="Courier"/>
                <a:ea typeface="Courier"/>
                <a:cs typeface="Courier"/>
                <a:sym typeface="Courier"/>
              </a:rPr>
              <a:t>()</a:t>
            </a:r>
            <a:endParaRPr/>
          </a:p>
          <a:p>
            <a:pPr indent="0" lvl="0" marL="0" marR="0" rtl="0" algn="l">
              <a:lnSpc>
                <a:spcPct val="100000"/>
              </a:lnSpc>
              <a:spcBef>
                <a:spcPts val="0"/>
              </a:spcBef>
              <a:spcAft>
                <a:spcPts val="0"/>
              </a:spcAft>
              <a:buClr>
                <a:schemeClr val="lt1"/>
              </a:buClr>
              <a:buSzPts val="750"/>
              <a:buFont typeface="Courier New"/>
              <a:buNone/>
            </a:pPr>
            <a:r>
              <a:rPr b="0" i="0" lang="en-US" sz="3000" u="none" cap="none" strike="noStrike">
                <a:solidFill>
                  <a:srgbClr val="FF00FF"/>
                </a:solidFill>
                <a:latin typeface="Courier"/>
                <a:ea typeface="Courier"/>
                <a:cs typeface="Courier"/>
                <a:sym typeface="Courier"/>
              </a:rPr>
              <a:t>dir</a:t>
            </a:r>
            <a:r>
              <a:rPr b="0" i="0" lang="en-US" sz="3000" u="none" cap="none" strike="noStrike">
                <a:solidFill>
                  <a:schemeClr val="lt1"/>
                </a:solidFill>
                <a:latin typeface="Courier"/>
                <a:ea typeface="Courier"/>
                <a:cs typeface="Courier"/>
                <a:sym typeface="Courier"/>
              </a:rPr>
              <a:t>(</a:t>
            </a:r>
            <a:r>
              <a:rPr b="0" i="0" lang="en-US" sz="3000" u="none" cap="none" strike="noStrike">
                <a:solidFill>
                  <a:srgbClr val="00FF00"/>
                </a:solidFill>
                <a:latin typeface="Courier"/>
                <a:ea typeface="Courier"/>
                <a:cs typeface="Courier"/>
                <a:sym typeface="Courier"/>
              </a:rPr>
              <a:t>l</a:t>
            </a:r>
            <a:r>
              <a:rPr b="0" i="0" lang="en-US" sz="3000" u="none" cap="none" strike="noStrike">
                <a:solidFill>
                  <a:schemeClr val="lt1"/>
                </a:solidFill>
                <a:latin typeface="Courier"/>
                <a:ea typeface="Courier"/>
                <a:cs typeface="Courier"/>
                <a:sym typeface="Courier"/>
              </a:rPr>
              <a:t>)</a:t>
            </a:r>
            <a:endParaRPr/>
          </a:p>
          <a:p>
            <a:pPr indent="0" lvl="0" marL="0" marR="0" rtl="0" algn="l">
              <a:lnSpc>
                <a:spcPct val="100000"/>
              </a:lnSpc>
              <a:spcBef>
                <a:spcPts val="0"/>
              </a:spcBef>
              <a:spcAft>
                <a:spcPts val="0"/>
              </a:spcAft>
              <a:buClr>
                <a:schemeClr val="lt1"/>
              </a:buClr>
              <a:buSzPts val="750"/>
              <a:buFont typeface="Courier New"/>
              <a:buNone/>
            </a:pPr>
            <a:r>
              <a:rPr b="0" i="0" lang="en-US" sz="3000" u="none" cap="none" strike="noStrike">
                <a:solidFill>
                  <a:schemeClr val="lt1"/>
                </a:solidFill>
                <a:latin typeface="Courier"/>
                <a:ea typeface="Courier"/>
                <a:cs typeface="Courier"/>
                <a:sym typeface="Courier"/>
              </a:rPr>
              <a:t>['append', 'count', 'extend', 'index', 'insert', 'pop', 'remove', 'reverse', 'sort']</a:t>
            </a:r>
            <a:endParaRPr/>
          </a:p>
          <a:p>
            <a:pPr indent="0" lvl="0" marL="0" marR="0" rtl="0" algn="ctr">
              <a:lnSpc>
                <a:spcPct val="100000"/>
              </a:lnSpc>
              <a:spcBef>
                <a:spcPts val="0"/>
              </a:spcBef>
              <a:spcAft>
                <a:spcPts val="0"/>
              </a:spcAft>
              <a:buClr>
                <a:srgbClr val="000000"/>
              </a:buClr>
              <a:buSzPts val="3000"/>
              <a:buFont typeface="Arial"/>
              <a:buNone/>
            </a:pPr>
            <a:r>
              <a:t/>
            </a:r>
            <a:endParaRPr b="0" i="0" sz="3000" u="none" cap="none" strike="noStrike">
              <a:solidFill>
                <a:schemeClr val="lt1"/>
              </a:solidFill>
              <a:latin typeface="Courier"/>
              <a:ea typeface="Courier"/>
              <a:cs typeface="Courier"/>
              <a:sym typeface="Courier"/>
            </a:endParaRPr>
          </a:p>
          <a:p>
            <a:pPr indent="0" lvl="0" marL="0" marR="0" rtl="0" algn="l">
              <a:lnSpc>
                <a:spcPct val="100000"/>
              </a:lnSpc>
              <a:spcBef>
                <a:spcPts val="0"/>
              </a:spcBef>
              <a:spcAft>
                <a:spcPts val="0"/>
              </a:spcAft>
              <a:buClr>
                <a:schemeClr val="lt1"/>
              </a:buClr>
              <a:buSzPts val="750"/>
              <a:buFont typeface="Courier New"/>
              <a:buNone/>
            </a:pPr>
            <a:r>
              <a:rPr b="0" i="0" lang="en-US" sz="3000" u="none" cap="none" strike="noStrike">
                <a:solidFill>
                  <a:srgbClr val="00FF00"/>
                </a:solidFill>
                <a:latin typeface="Courier"/>
                <a:ea typeface="Courier"/>
                <a:cs typeface="Courier"/>
                <a:sym typeface="Courier"/>
              </a:rPr>
              <a:t>t</a:t>
            </a:r>
            <a:r>
              <a:rPr b="0" i="0" lang="en-US" sz="3000" u="none" cap="none" strike="noStrike">
                <a:solidFill>
                  <a:schemeClr val="lt1"/>
                </a:solidFill>
                <a:latin typeface="Courier"/>
                <a:ea typeface="Courier"/>
                <a:cs typeface="Courier"/>
                <a:sym typeface="Courier"/>
              </a:rPr>
              <a:t> = </a:t>
            </a:r>
            <a:r>
              <a:rPr b="0" i="0" lang="en-US" sz="3000" u="none" cap="none" strike="noStrike">
                <a:solidFill>
                  <a:srgbClr val="FF00FF"/>
                </a:solidFill>
                <a:latin typeface="Courier"/>
                <a:ea typeface="Courier"/>
                <a:cs typeface="Courier"/>
                <a:sym typeface="Courier"/>
              </a:rPr>
              <a:t>tuple</a:t>
            </a:r>
            <a:r>
              <a:rPr b="0" i="0" lang="en-US" sz="3000" u="none" cap="none" strike="noStrike">
                <a:solidFill>
                  <a:schemeClr val="lt1"/>
                </a:solidFill>
                <a:latin typeface="Courier"/>
                <a:ea typeface="Courier"/>
                <a:cs typeface="Courier"/>
                <a:sym typeface="Courier"/>
              </a:rPr>
              <a:t>()</a:t>
            </a:r>
            <a:endParaRPr/>
          </a:p>
          <a:p>
            <a:pPr indent="0" lvl="0" marL="0" marR="0" rtl="0" algn="l">
              <a:lnSpc>
                <a:spcPct val="100000"/>
              </a:lnSpc>
              <a:spcBef>
                <a:spcPts val="0"/>
              </a:spcBef>
              <a:spcAft>
                <a:spcPts val="0"/>
              </a:spcAft>
              <a:buClr>
                <a:schemeClr val="lt1"/>
              </a:buClr>
              <a:buSzPts val="750"/>
              <a:buFont typeface="Courier New"/>
              <a:buNone/>
            </a:pPr>
            <a:r>
              <a:rPr b="0" i="0" lang="en-US" sz="3000" u="none" cap="none" strike="noStrike">
                <a:solidFill>
                  <a:srgbClr val="FF00FF"/>
                </a:solidFill>
                <a:latin typeface="Courier"/>
                <a:ea typeface="Courier"/>
                <a:cs typeface="Courier"/>
                <a:sym typeface="Courier"/>
              </a:rPr>
              <a:t>dir</a:t>
            </a:r>
            <a:r>
              <a:rPr b="0" i="0" lang="en-US" sz="3000" u="none" cap="none" strike="noStrike">
                <a:solidFill>
                  <a:schemeClr val="lt1"/>
                </a:solidFill>
                <a:latin typeface="Courier"/>
                <a:ea typeface="Courier"/>
                <a:cs typeface="Courier"/>
                <a:sym typeface="Courier"/>
              </a:rPr>
              <a:t>(</a:t>
            </a:r>
            <a:r>
              <a:rPr b="0" i="0" lang="en-US" sz="3000" u="none" cap="none" strike="noStrike">
                <a:solidFill>
                  <a:srgbClr val="00FF00"/>
                </a:solidFill>
                <a:latin typeface="Courier"/>
                <a:ea typeface="Courier"/>
                <a:cs typeface="Courier"/>
                <a:sym typeface="Courier"/>
              </a:rPr>
              <a:t>t</a:t>
            </a:r>
            <a:r>
              <a:rPr b="0" i="0" lang="en-US" sz="3000" u="none" cap="none" strike="noStrike">
                <a:solidFill>
                  <a:schemeClr val="lt1"/>
                </a:solidFill>
                <a:latin typeface="Courier"/>
                <a:ea typeface="Courier"/>
                <a:cs typeface="Courier"/>
                <a:sym typeface="Courier"/>
              </a:rPr>
              <a:t>)</a:t>
            </a:r>
            <a:endParaRPr/>
          </a:p>
          <a:p>
            <a:pPr indent="0" lvl="0" marL="0" marR="0" rtl="0" algn="l">
              <a:lnSpc>
                <a:spcPct val="100000"/>
              </a:lnSpc>
              <a:spcBef>
                <a:spcPts val="0"/>
              </a:spcBef>
              <a:spcAft>
                <a:spcPts val="0"/>
              </a:spcAft>
              <a:buClr>
                <a:schemeClr val="lt1"/>
              </a:buClr>
              <a:buSzPts val="750"/>
              <a:buFont typeface="Courier New"/>
              <a:buNone/>
            </a:pPr>
            <a:r>
              <a:rPr b="0" i="0" lang="en-US" sz="3000" u="none" cap="none" strike="noStrike">
                <a:solidFill>
                  <a:schemeClr val="lt1"/>
                </a:solidFill>
                <a:latin typeface="Courier"/>
                <a:ea typeface="Courier"/>
                <a:cs typeface="Courier"/>
                <a:sym typeface="Courier"/>
              </a:rPr>
              <a:t>['count', 'index']</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 name="Shape 52"/>
        <p:cNvGrpSpPr/>
        <p:nvPr/>
      </p:nvGrpSpPr>
      <p:grpSpPr>
        <a:xfrm>
          <a:off x="0" y="0"/>
          <a:ext cx="0" cy="0"/>
          <a:chOff x="0" y="0"/>
          <a:chExt cx="0" cy="0"/>
        </a:xfrm>
      </p:grpSpPr>
      <p:sp>
        <p:nvSpPr>
          <p:cNvPr id="53" name="Google Shape;53;p10"/>
          <p:cNvSpPr txBox="1"/>
          <p:nvPr>
            <p:ph type="title"/>
          </p:nvPr>
        </p:nvSpPr>
        <p:spPr>
          <a:xfrm>
            <a:off x="1155700" y="789708"/>
            <a:ext cx="13322300" cy="1750191"/>
          </a:xfrm>
          <a:prstGeom prst="rect">
            <a:avLst/>
          </a:prstGeom>
          <a:noFill/>
          <a:ln>
            <a:noFill/>
          </a:ln>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rgbClr val="00FF00"/>
              </a:buClr>
              <a:buSzPts val="1950"/>
              <a:buFont typeface="Cabin"/>
              <a:buNone/>
            </a:pPr>
            <a:r>
              <a:rPr lang="en-US" sz="7800" u="none" cap="none" strike="noStrike">
                <a:solidFill>
                  <a:srgbClr val="FFD966"/>
                </a:solidFill>
                <a:latin typeface="Arial"/>
                <a:ea typeface="Arial"/>
                <a:cs typeface="Arial"/>
                <a:sym typeface="Arial"/>
              </a:rPr>
              <a:t>Tuples are More Efficient</a:t>
            </a:r>
            <a:endParaRPr/>
          </a:p>
        </p:txBody>
      </p:sp>
      <p:sp>
        <p:nvSpPr>
          <p:cNvPr id="54" name="Google Shape;54;p10"/>
          <p:cNvSpPr txBox="1"/>
          <p:nvPr>
            <p:ph idx="1" type="body"/>
          </p:nvPr>
        </p:nvSpPr>
        <p:spPr>
          <a:xfrm>
            <a:off x="1155700" y="2603500"/>
            <a:ext cx="13932000" cy="4931562"/>
          </a:xfrm>
          <a:prstGeom prst="rect">
            <a:avLst/>
          </a:prstGeom>
          <a:noFill/>
          <a:ln>
            <a:noFill/>
          </a:ln>
        </p:spPr>
        <p:txBody>
          <a:bodyPr anchorCtr="0" anchor="ctr" bIns="50800" lIns="50800" spcFirstLastPara="1" rIns="50800" wrap="square" tIns="50800">
            <a:noAutofit/>
          </a:bodyPr>
          <a:lstStyle/>
          <a:p>
            <a:pPr indent="-609600" lvl="0" marL="1104900" marR="0" rtl="0" algn="l">
              <a:lnSpc>
                <a:spcPct val="100000"/>
              </a:lnSpc>
              <a:spcBef>
                <a:spcPts val="0"/>
              </a:spcBef>
              <a:spcAft>
                <a:spcPts val="0"/>
              </a:spcAft>
              <a:buClr>
                <a:schemeClr val="lt1"/>
              </a:buClr>
              <a:buSzPts val="3600"/>
              <a:buFont typeface="Cabin"/>
              <a:buChar char="•"/>
            </a:pPr>
            <a:r>
              <a:rPr lang="en-US" sz="3600" u="none" cap="none" strike="noStrike">
                <a:solidFill>
                  <a:schemeClr val="lt1"/>
                </a:solidFill>
                <a:latin typeface="Arial"/>
                <a:ea typeface="Arial"/>
                <a:cs typeface="Arial"/>
                <a:sym typeface="Arial"/>
              </a:rPr>
              <a:t>Since Python does not have to build tuple structures to be modifiable, they are simpler and more efficient in terms of memory use and performance than lists</a:t>
            </a:r>
            <a:endParaRPr/>
          </a:p>
          <a:p>
            <a:pPr indent="-609600" lvl="0" marL="1104900" marR="0" rtl="0" algn="l">
              <a:lnSpc>
                <a:spcPct val="100000"/>
              </a:lnSpc>
              <a:spcBef>
                <a:spcPts val="2300"/>
              </a:spcBef>
              <a:spcAft>
                <a:spcPts val="0"/>
              </a:spcAft>
              <a:buClr>
                <a:schemeClr val="lt1"/>
              </a:buClr>
              <a:buSzPts val="3600"/>
              <a:buFont typeface="Cabin"/>
              <a:buChar char="•"/>
            </a:pPr>
            <a:r>
              <a:rPr lang="en-US" sz="3600" u="none" cap="none" strike="noStrike">
                <a:solidFill>
                  <a:schemeClr val="lt1"/>
                </a:solidFill>
                <a:latin typeface="Arial"/>
                <a:ea typeface="Arial"/>
                <a:cs typeface="Arial"/>
                <a:sym typeface="Arial"/>
              </a:rPr>
              <a:t>So in our program when we are making “temporary variables” we prefer tuples over lists</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 name="Shape 58"/>
        <p:cNvGrpSpPr/>
        <p:nvPr/>
      </p:nvGrpSpPr>
      <p:grpSpPr>
        <a:xfrm>
          <a:off x="0" y="0"/>
          <a:ext cx="0" cy="0"/>
          <a:chOff x="0" y="0"/>
          <a:chExt cx="0" cy="0"/>
        </a:xfrm>
      </p:grpSpPr>
      <p:sp>
        <p:nvSpPr>
          <p:cNvPr id="59" name="Google Shape;59;p11"/>
          <p:cNvSpPr txBox="1"/>
          <p:nvPr>
            <p:ph type="title"/>
          </p:nvPr>
        </p:nvSpPr>
        <p:spPr>
          <a:xfrm>
            <a:off x="1155700" y="789708"/>
            <a:ext cx="13932000" cy="1750191"/>
          </a:xfrm>
          <a:prstGeom prst="rect">
            <a:avLst/>
          </a:prstGeom>
          <a:noFill/>
          <a:ln>
            <a:noFill/>
          </a:ln>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rgbClr val="FF7F00"/>
              </a:buClr>
              <a:buSzPts val="1950"/>
              <a:buFont typeface="Cabin"/>
              <a:buNone/>
            </a:pPr>
            <a:r>
              <a:rPr lang="en-US" sz="7800" u="none" cap="none" strike="noStrike">
                <a:solidFill>
                  <a:srgbClr val="FFD966"/>
                </a:solidFill>
                <a:latin typeface="Arial"/>
                <a:ea typeface="Arial"/>
                <a:cs typeface="Arial"/>
                <a:sym typeface="Arial"/>
              </a:rPr>
              <a:t>Tuples and Assignment</a:t>
            </a:r>
            <a:endParaRPr/>
          </a:p>
        </p:txBody>
      </p:sp>
      <p:sp>
        <p:nvSpPr>
          <p:cNvPr id="60" name="Google Shape;60;p11"/>
          <p:cNvSpPr txBox="1"/>
          <p:nvPr>
            <p:ph idx="1" type="body"/>
          </p:nvPr>
        </p:nvSpPr>
        <p:spPr>
          <a:xfrm>
            <a:off x="1155700" y="2603500"/>
            <a:ext cx="13932000" cy="1997075"/>
          </a:xfrm>
          <a:prstGeom prst="rect">
            <a:avLst/>
          </a:prstGeom>
          <a:noFill/>
          <a:ln>
            <a:noFill/>
          </a:ln>
        </p:spPr>
        <p:txBody>
          <a:bodyPr anchorCtr="0" anchor="ctr" bIns="50800" lIns="50800" spcFirstLastPara="1" rIns="50800" wrap="square" tIns="50800">
            <a:noAutofit/>
          </a:bodyPr>
          <a:lstStyle/>
          <a:p>
            <a:pPr indent="-609600" lvl="0" marL="1104900" marR="0" rtl="0" algn="l">
              <a:lnSpc>
                <a:spcPct val="100000"/>
              </a:lnSpc>
              <a:spcBef>
                <a:spcPts val="0"/>
              </a:spcBef>
              <a:spcAft>
                <a:spcPts val="0"/>
              </a:spcAft>
              <a:buClr>
                <a:schemeClr val="lt1"/>
              </a:buClr>
              <a:buSzPts val="3600"/>
              <a:buFont typeface="Cabin"/>
              <a:buChar char="•"/>
            </a:pPr>
            <a:r>
              <a:rPr lang="en-US" sz="3600" u="none" cap="none" strike="noStrike">
                <a:solidFill>
                  <a:schemeClr val="lt1"/>
                </a:solidFill>
                <a:latin typeface="Arial"/>
                <a:ea typeface="Arial"/>
                <a:cs typeface="Arial"/>
                <a:sym typeface="Arial"/>
              </a:rPr>
              <a:t>We can also put a </a:t>
            </a:r>
            <a:r>
              <a:rPr lang="en-US" sz="3600" u="none" cap="none" strike="noStrike">
                <a:solidFill>
                  <a:srgbClr val="FF7F00"/>
                </a:solidFill>
                <a:latin typeface="Arial"/>
                <a:ea typeface="Arial"/>
                <a:cs typeface="Arial"/>
                <a:sym typeface="Arial"/>
              </a:rPr>
              <a:t>tuple</a:t>
            </a:r>
            <a:r>
              <a:rPr lang="en-US" sz="3600" u="none" cap="none" strike="noStrike">
                <a:solidFill>
                  <a:schemeClr val="lt1"/>
                </a:solidFill>
                <a:latin typeface="Arial"/>
                <a:ea typeface="Arial"/>
                <a:cs typeface="Arial"/>
                <a:sym typeface="Arial"/>
              </a:rPr>
              <a:t> on the </a:t>
            </a:r>
            <a:r>
              <a:rPr lang="en-US" sz="3600" u="none" cap="none" strike="noStrike">
                <a:solidFill>
                  <a:srgbClr val="00FFFF"/>
                </a:solidFill>
                <a:latin typeface="Arial"/>
                <a:ea typeface="Arial"/>
                <a:cs typeface="Arial"/>
                <a:sym typeface="Arial"/>
              </a:rPr>
              <a:t>left-hand side</a:t>
            </a:r>
            <a:r>
              <a:rPr lang="en-US" sz="3600" u="none" cap="none" strike="noStrike">
                <a:solidFill>
                  <a:schemeClr val="lt1"/>
                </a:solidFill>
                <a:latin typeface="Arial"/>
                <a:ea typeface="Arial"/>
                <a:cs typeface="Arial"/>
                <a:sym typeface="Arial"/>
              </a:rPr>
              <a:t> of an assignment statement</a:t>
            </a:r>
            <a:endParaRPr/>
          </a:p>
          <a:p>
            <a:pPr indent="-609600" lvl="0" marL="1104900" marR="0" rtl="0" algn="l">
              <a:lnSpc>
                <a:spcPct val="100000"/>
              </a:lnSpc>
              <a:spcBef>
                <a:spcPts val="2300"/>
              </a:spcBef>
              <a:spcAft>
                <a:spcPts val="0"/>
              </a:spcAft>
              <a:buClr>
                <a:schemeClr val="lt1"/>
              </a:buClr>
              <a:buSzPts val="3600"/>
              <a:buFont typeface="Cabin"/>
              <a:buChar char="•"/>
            </a:pPr>
            <a:r>
              <a:rPr lang="en-US" sz="3600" u="none" cap="none" strike="noStrike">
                <a:solidFill>
                  <a:schemeClr val="lt1"/>
                </a:solidFill>
                <a:latin typeface="Arial"/>
                <a:ea typeface="Arial"/>
                <a:cs typeface="Arial"/>
                <a:sym typeface="Arial"/>
              </a:rPr>
              <a:t>We can even omit the parentheses</a:t>
            </a:r>
            <a:endParaRPr/>
          </a:p>
        </p:txBody>
      </p:sp>
      <p:sp>
        <p:nvSpPr>
          <p:cNvPr id="61" name="Google Shape;61;p11"/>
          <p:cNvSpPr txBox="1"/>
          <p:nvPr/>
        </p:nvSpPr>
        <p:spPr>
          <a:xfrm>
            <a:off x="4889500" y="4864966"/>
            <a:ext cx="7378699" cy="3891107"/>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lt1"/>
              </a:buClr>
              <a:buSzPts val="825"/>
              <a:buFont typeface="Courier New"/>
              <a:buNone/>
            </a:pPr>
            <a:r>
              <a:rPr b="0" i="0" lang="en-US" sz="3300" u="none" cap="none" strike="noStrike">
                <a:solidFill>
                  <a:srgbClr val="FF7F00"/>
                </a:solidFill>
                <a:latin typeface="Courier"/>
                <a:ea typeface="Courier"/>
                <a:cs typeface="Courier"/>
                <a:sym typeface="Courier"/>
              </a:rPr>
              <a:t>(x, y)</a:t>
            </a:r>
            <a:r>
              <a:rPr b="0" i="0" lang="en-US" sz="3300" u="none" cap="none" strike="noStrike">
                <a:solidFill>
                  <a:schemeClr val="lt1"/>
                </a:solidFill>
                <a:latin typeface="Courier"/>
                <a:ea typeface="Courier"/>
                <a:cs typeface="Courier"/>
                <a:sym typeface="Courier"/>
              </a:rPr>
              <a:t> = </a:t>
            </a:r>
            <a:r>
              <a:rPr b="0" i="0" lang="en-US" sz="3300" u="none" cap="none" strike="noStrike">
                <a:solidFill>
                  <a:srgbClr val="FF7F00"/>
                </a:solidFill>
                <a:latin typeface="Courier"/>
                <a:ea typeface="Courier"/>
                <a:cs typeface="Courier"/>
                <a:sym typeface="Courier"/>
              </a:rPr>
              <a:t>(4, 'fred')</a:t>
            </a:r>
            <a:endParaRPr/>
          </a:p>
          <a:p>
            <a:pPr indent="0" lvl="0" marL="0" marR="0" rtl="0" algn="l">
              <a:lnSpc>
                <a:spcPct val="100000"/>
              </a:lnSpc>
              <a:spcBef>
                <a:spcPts val="0"/>
              </a:spcBef>
              <a:spcAft>
                <a:spcPts val="0"/>
              </a:spcAft>
              <a:buClr>
                <a:schemeClr val="lt1"/>
              </a:buClr>
              <a:buSzPts val="825"/>
              <a:buFont typeface="Courier"/>
              <a:buNone/>
            </a:pPr>
            <a:r>
              <a:rPr b="0" i="0" lang="en-US" sz="3300" u="none" cap="none" strike="noStrike">
                <a:solidFill>
                  <a:srgbClr val="FFFF00"/>
                </a:solidFill>
                <a:latin typeface="Courier"/>
                <a:ea typeface="Courier"/>
                <a:cs typeface="Courier"/>
                <a:sym typeface="Courier"/>
              </a:rPr>
              <a:t>print(</a:t>
            </a:r>
            <a:r>
              <a:rPr b="0" i="0" lang="en-US" sz="3300" u="none" cap="none" strike="noStrike">
                <a:solidFill>
                  <a:srgbClr val="00FF00"/>
                </a:solidFill>
                <a:latin typeface="Courier"/>
                <a:ea typeface="Courier"/>
                <a:cs typeface="Courier"/>
                <a:sym typeface="Courier"/>
              </a:rPr>
              <a:t>y</a:t>
            </a:r>
            <a:r>
              <a:rPr b="0" i="0" lang="en-US" sz="3600" u="none" cap="none" strike="noStrike">
                <a:solidFill>
                  <a:srgbClr val="FFFF00"/>
                </a:solidFill>
                <a:latin typeface="Courier"/>
                <a:ea typeface="Courier"/>
                <a:cs typeface="Courier"/>
                <a:sym typeface="Courier"/>
              </a:rPr>
              <a:t>)</a:t>
            </a:r>
            <a:endParaRPr b="0" i="0" sz="3300" u="none" cap="none" strike="noStrike">
              <a:solidFill>
                <a:srgbClr val="00FF00"/>
              </a:solidFill>
              <a:latin typeface="Courier"/>
              <a:ea typeface="Courier"/>
              <a:cs typeface="Courier"/>
              <a:sym typeface="Courier"/>
            </a:endParaRPr>
          </a:p>
          <a:p>
            <a:pPr indent="0" lvl="0" marL="0" marR="0" rtl="0" algn="l">
              <a:lnSpc>
                <a:spcPct val="100000"/>
              </a:lnSpc>
              <a:spcBef>
                <a:spcPts val="0"/>
              </a:spcBef>
              <a:spcAft>
                <a:spcPts val="0"/>
              </a:spcAft>
              <a:buClr>
                <a:schemeClr val="lt1"/>
              </a:buClr>
              <a:buSzPts val="825"/>
              <a:buFont typeface="Courier New"/>
              <a:buNone/>
            </a:pPr>
            <a:r>
              <a:rPr b="0" i="0" lang="en-US" sz="3300" u="none" cap="none" strike="noStrike">
                <a:solidFill>
                  <a:schemeClr val="lt1"/>
                </a:solidFill>
                <a:latin typeface="Courier"/>
                <a:ea typeface="Courier"/>
                <a:cs typeface="Courier"/>
                <a:sym typeface="Courier"/>
              </a:rPr>
              <a:t>Fred</a:t>
            </a:r>
            <a:endParaRPr/>
          </a:p>
          <a:p>
            <a:pPr indent="0" lvl="0" marL="0" marR="0" rtl="0" algn="l">
              <a:lnSpc>
                <a:spcPct val="100000"/>
              </a:lnSpc>
              <a:spcBef>
                <a:spcPts val="0"/>
              </a:spcBef>
              <a:spcAft>
                <a:spcPts val="0"/>
              </a:spcAft>
              <a:buClr>
                <a:schemeClr val="lt1"/>
              </a:buClr>
              <a:buSzPts val="825"/>
              <a:buFont typeface="Courier New"/>
              <a:buNone/>
            </a:pPr>
            <a:r>
              <a:t/>
            </a:r>
            <a:endParaRPr b="0" i="0" sz="3300" u="none" cap="none" strike="noStrike">
              <a:solidFill>
                <a:schemeClr val="lt1"/>
              </a:solidFill>
              <a:latin typeface="Courier"/>
              <a:ea typeface="Courier"/>
              <a:cs typeface="Courier"/>
              <a:sym typeface="Courier"/>
            </a:endParaRPr>
          </a:p>
          <a:p>
            <a:pPr indent="0" lvl="0" marL="0" marR="0" rtl="0" algn="l">
              <a:lnSpc>
                <a:spcPct val="100000"/>
              </a:lnSpc>
              <a:spcBef>
                <a:spcPts val="0"/>
              </a:spcBef>
              <a:spcAft>
                <a:spcPts val="0"/>
              </a:spcAft>
              <a:buClr>
                <a:schemeClr val="lt1"/>
              </a:buClr>
              <a:buSzPts val="825"/>
              <a:buFont typeface="Courier New"/>
              <a:buNone/>
            </a:pPr>
            <a:r>
              <a:rPr b="0" i="0" lang="en-US" sz="3300" u="none" cap="none" strike="noStrike">
                <a:solidFill>
                  <a:srgbClr val="FF7F00"/>
                </a:solidFill>
                <a:latin typeface="Courier"/>
                <a:ea typeface="Courier"/>
                <a:cs typeface="Courier"/>
                <a:sym typeface="Courier"/>
              </a:rPr>
              <a:t>(a, b)</a:t>
            </a:r>
            <a:r>
              <a:rPr b="0" i="0" lang="en-US" sz="3300" u="none" cap="none" strike="noStrike">
                <a:solidFill>
                  <a:schemeClr val="lt1"/>
                </a:solidFill>
                <a:latin typeface="Courier"/>
                <a:ea typeface="Courier"/>
                <a:cs typeface="Courier"/>
                <a:sym typeface="Courier"/>
              </a:rPr>
              <a:t> = </a:t>
            </a:r>
            <a:r>
              <a:rPr b="0" i="0" lang="en-US" sz="3300" u="none" cap="none" strike="noStrike">
                <a:solidFill>
                  <a:srgbClr val="FF7F00"/>
                </a:solidFill>
                <a:latin typeface="Courier"/>
                <a:ea typeface="Courier"/>
                <a:cs typeface="Courier"/>
                <a:sym typeface="Courier"/>
              </a:rPr>
              <a:t>(99, 98)</a:t>
            </a:r>
            <a:endParaRPr/>
          </a:p>
          <a:p>
            <a:pPr indent="0" lvl="0" marL="0" marR="0" rtl="0" algn="l">
              <a:lnSpc>
                <a:spcPct val="100000"/>
              </a:lnSpc>
              <a:spcBef>
                <a:spcPts val="0"/>
              </a:spcBef>
              <a:spcAft>
                <a:spcPts val="0"/>
              </a:spcAft>
              <a:buClr>
                <a:schemeClr val="lt1"/>
              </a:buClr>
              <a:buSzPts val="825"/>
              <a:buFont typeface="Courier"/>
              <a:buNone/>
            </a:pPr>
            <a:r>
              <a:rPr b="0" i="0" lang="en-US" sz="3300" u="none" cap="none" strike="noStrike">
                <a:solidFill>
                  <a:srgbClr val="FFFF00"/>
                </a:solidFill>
                <a:latin typeface="Courier"/>
                <a:ea typeface="Courier"/>
                <a:cs typeface="Courier"/>
                <a:sym typeface="Courier"/>
              </a:rPr>
              <a:t>print(</a:t>
            </a:r>
            <a:r>
              <a:rPr b="0" i="0" lang="en-US" sz="3300" u="none" cap="none" strike="noStrike">
                <a:solidFill>
                  <a:srgbClr val="00FF00"/>
                </a:solidFill>
                <a:latin typeface="Courier"/>
                <a:ea typeface="Courier"/>
                <a:cs typeface="Courier"/>
                <a:sym typeface="Courier"/>
              </a:rPr>
              <a:t>a</a:t>
            </a:r>
            <a:r>
              <a:rPr b="0" i="0" lang="en-US" sz="3600" u="none" cap="none" strike="noStrike">
                <a:solidFill>
                  <a:srgbClr val="FFFF00"/>
                </a:solidFill>
                <a:latin typeface="Courier"/>
                <a:ea typeface="Courier"/>
                <a:cs typeface="Courier"/>
                <a:sym typeface="Courier"/>
              </a:rPr>
              <a:t>)</a:t>
            </a:r>
            <a:endParaRPr b="0" i="0" sz="3300" u="none" cap="none" strike="noStrike">
              <a:solidFill>
                <a:srgbClr val="00FF00"/>
              </a:solidFill>
              <a:latin typeface="Courier"/>
              <a:ea typeface="Courier"/>
              <a:cs typeface="Courier"/>
              <a:sym typeface="Courier"/>
            </a:endParaRPr>
          </a:p>
          <a:p>
            <a:pPr indent="0" lvl="0" marL="0" marR="0" rtl="0" algn="l">
              <a:lnSpc>
                <a:spcPct val="100000"/>
              </a:lnSpc>
              <a:spcBef>
                <a:spcPts val="0"/>
              </a:spcBef>
              <a:spcAft>
                <a:spcPts val="0"/>
              </a:spcAft>
              <a:buClr>
                <a:schemeClr val="lt1"/>
              </a:buClr>
              <a:buSzPts val="825"/>
              <a:buFont typeface="Courier New"/>
              <a:buNone/>
            </a:pPr>
            <a:r>
              <a:rPr b="0" i="0" lang="en-US" sz="3300" u="none" cap="none" strike="noStrike">
                <a:solidFill>
                  <a:schemeClr val="lt1"/>
                </a:solidFill>
                <a:latin typeface="Courier"/>
                <a:ea typeface="Courier"/>
                <a:cs typeface="Courier"/>
                <a:sym typeface="Courier"/>
              </a:rPr>
              <a:t>99</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12"/>
          <p:cNvSpPr txBox="1"/>
          <p:nvPr>
            <p:ph type="title"/>
          </p:nvPr>
        </p:nvSpPr>
        <p:spPr>
          <a:xfrm>
            <a:off x="1155700" y="789708"/>
            <a:ext cx="13932000" cy="1750191"/>
          </a:xfrm>
          <a:prstGeom prst="rect">
            <a:avLst/>
          </a:prstGeom>
          <a:noFill/>
          <a:ln>
            <a:noFill/>
          </a:ln>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rgbClr val="FF7F00"/>
              </a:buClr>
              <a:buSzPts val="1950"/>
              <a:buFont typeface="Cabin"/>
              <a:buNone/>
            </a:pPr>
            <a:r>
              <a:rPr lang="en-US" sz="7800" u="none" cap="none" strike="noStrike">
                <a:solidFill>
                  <a:srgbClr val="FFD966"/>
                </a:solidFill>
                <a:latin typeface="Arial"/>
                <a:ea typeface="Arial"/>
                <a:cs typeface="Arial"/>
                <a:sym typeface="Arial"/>
              </a:rPr>
              <a:t>Tuples and Dictionaries</a:t>
            </a:r>
            <a:endParaRPr/>
          </a:p>
        </p:txBody>
      </p:sp>
      <p:sp>
        <p:nvSpPr>
          <p:cNvPr id="67" name="Google Shape;67;p12"/>
          <p:cNvSpPr txBox="1"/>
          <p:nvPr>
            <p:ph idx="1" type="body"/>
          </p:nvPr>
        </p:nvSpPr>
        <p:spPr>
          <a:xfrm>
            <a:off x="1155701" y="2603500"/>
            <a:ext cx="4824476" cy="5113001"/>
          </a:xfrm>
          <a:prstGeom prst="rect">
            <a:avLst/>
          </a:prstGeom>
          <a:noFill/>
          <a:ln>
            <a:noFill/>
          </a:ln>
        </p:spPr>
        <p:txBody>
          <a:bodyPr anchorCtr="0" anchor="ctr" bIns="50800" lIns="50800" spcFirstLastPara="1" rIns="50800" wrap="square" tIns="50800">
            <a:noAutofit/>
          </a:bodyPr>
          <a:lstStyle/>
          <a:p>
            <a:pPr indent="0" lvl="0" marL="495300" marR="0" rtl="0" algn="l">
              <a:lnSpc>
                <a:spcPct val="100000"/>
              </a:lnSpc>
              <a:spcBef>
                <a:spcPts val="0"/>
              </a:spcBef>
              <a:spcAft>
                <a:spcPts val="0"/>
              </a:spcAft>
              <a:buClr>
                <a:schemeClr val="lt1"/>
              </a:buClr>
              <a:buSzPts val="3600"/>
              <a:buNone/>
            </a:pPr>
            <a:r>
              <a:rPr lang="en-US" sz="3600" u="none" cap="none" strike="noStrike">
                <a:solidFill>
                  <a:schemeClr val="lt1"/>
                </a:solidFill>
                <a:latin typeface="Arial"/>
                <a:ea typeface="Arial"/>
                <a:cs typeface="Arial"/>
                <a:sym typeface="Arial"/>
              </a:rPr>
              <a:t>The </a:t>
            </a:r>
            <a:r>
              <a:rPr lang="en-US" sz="3600" u="none" cap="none" strike="noStrike">
                <a:solidFill>
                  <a:srgbClr val="FF00FF"/>
                </a:solidFill>
                <a:latin typeface="Arial"/>
                <a:ea typeface="Arial"/>
                <a:cs typeface="Arial"/>
                <a:sym typeface="Arial"/>
              </a:rPr>
              <a:t>items</a:t>
            </a:r>
            <a:r>
              <a:rPr lang="en-US" sz="3600" u="none" cap="none" strike="noStrike">
                <a:solidFill>
                  <a:schemeClr val="lt1"/>
                </a:solidFill>
                <a:latin typeface="Arial"/>
                <a:ea typeface="Arial"/>
                <a:cs typeface="Arial"/>
                <a:sym typeface="Arial"/>
              </a:rPr>
              <a:t>() method in dictionaries returns a list of (key, value) </a:t>
            </a:r>
            <a:r>
              <a:rPr lang="en-US" sz="3600" u="none" cap="none" strike="noStrike">
                <a:solidFill>
                  <a:srgbClr val="FF7F00"/>
                </a:solidFill>
                <a:latin typeface="Arial"/>
                <a:ea typeface="Arial"/>
                <a:cs typeface="Arial"/>
                <a:sym typeface="Arial"/>
              </a:rPr>
              <a:t>tuples</a:t>
            </a:r>
            <a:endParaRPr/>
          </a:p>
        </p:txBody>
      </p:sp>
      <p:sp>
        <p:nvSpPr>
          <p:cNvPr id="68" name="Google Shape;68;p12"/>
          <p:cNvSpPr txBox="1"/>
          <p:nvPr/>
        </p:nvSpPr>
        <p:spPr>
          <a:xfrm>
            <a:off x="6786563" y="2182500"/>
            <a:ext cx="9469437" cy="6248399"/>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lt1"/>
              </a:buClr>
              <a:buSzPts val="800"/>
              <a:buFont typeface="Courier New"/>
              <a:buNone/>
            </a:pPr>
            <a:r>
              <a:rPr b="0" i="0" lang="en-US" sz="3200" u="none" cap="none" strike="noStrike">
                <a:solidFill>
                  <a:schemeClr val="lt1"/>
                </a:solidFill>
                <a:latin typeface="Courier"/>
                <a:ea typeface="Courier"/>
                <a:cs typeface="Courier"/>
                <a:sym typeface="Courier"/>
              </a:rPr>
              <a:t>d = dict()</a:t>
            </a:r>
            <a:endParaRPr/>
          </a:p>
          <a:p>
            <a:pPr indent="0" lvl="0" marL="0" marR="0" rtl="0" algn="l">
              <a:lnSpc>
                <a:spcPct val="100000"/>
              </a:lnSpc>
              <a:spcBef>
                <a:spcPts val="0"/>
              </a:spcBef>
              <a:spcAft>
                <a:spcPts val="0"/>
              </a:spcAft>
              <a:buClr>
                <a:schemeClr val="lt1"/>
              </a:buClr>
              <a:buSzPts val="800"/>
              <a:buFont typeface="Courier New"/>
              <a:buNone/>
            </a:pPr>
            <a:r>
              <a:rPr b="0" i="0" lang="en-US" sz="3200" u="none" cap="none" strike="noStrike">
                <a:solidFill>
                  <a:srgbClr val="00FF00"/>
                </a:solidFill>
                <a:latin typeface="Courier"/>
                <a:ea typeface="Courier"/>
                <a:cs typeface="Courier"/>
                <a:sym typeface="Courier"/>
              </a:rPr>
              <a:t>d</a:t>
            </a:r>
            <a:r>
              <a:rPr b="0" i="0" lang="en-US" sz="3200" u="none" cap="none" strike="noStrike">
                <a:solidFill>
                  <a:srgbClr val="00FFFF"/>
                </a:solidFill>
                <a:latin typeface="Courier"/>
                <a:ea typeface="Courier"/>
                <a:cs typeface="Courier"/>
                <a:sym typeface="Courier"/>
              </a:rPr>
              <a:t>[’a']</a:t>
            </a:r>
            <a:r>
              <a:rPr b="0" i="0" lang="en-US" sz="3200" u="none" cap="none" strike="noStrike">
                <a:solidFill>
                  <a:schemeClr val="lt1"/>
                </a:solidFill>
                <a:latin typeface="Courier"/>
                <a:ea typeface="Courier"/>
                <a:cs typeface="Courier"/>
                <a:sym typeface="Courier"/>
              </a:rPr>
              <a:t> = 2</a:t>
            </a:r>
            <a:endParaRPr/>
          </a:p>
          <a:p>
            <a:pPr indent="0" lvl="0" marL="0" marR="0" rtl="0" algn="l">
              <a:lnSpc>
                <a:spcPct val="100000"/>
              </a:lnSpc>
              <a:spcBef>
                <a:spcPts val="0"/>
              </a:spcBef>
              <a:spcAft>
                <a:spcPts val="0"/>
              </a:spcAft>
              <a:buClr>
                <a:schemeClr val="lt1"/>
              </a:buClr>
              <a:buSzPts val="800"/>
              <a:buFont typeface="Courier New"/>
              <a:buNone/>
            </a:pPr>
            <a:r>
              <a:rPr b="0" i="0" lang="en-US" sz="3200" u="none" cap="none" strike="noStrike">
                <a:solidFill>
                  <a:srgbClr val="00FF00"/>
                </a:solidFill>
                <a:latin typeface="Courier"/>
                <a:ea typeface="Courier"/>
                <a:cs typeface="Courier"/>
                <a:sym typeface="Courier"/>
              </a:rPr>
              <a:t>d</a:t>
            </a:r>
            <a:r>
              <a:rPr b="0" i="0" lang="en-US" sz="3200" u="none" cap="none" strike="noStrike">
                <a:solidFill>
                  <a:srgbClr val="00FFFF"/>
                </a:solidFill>
                <a:latin typeface="Courier"/>
                <a:ea typeface="Courier"/>
                <a:cs typeface="Courier"/>
                <a:sym typeface="Courier"/>
              </a:rPr>
              <a:t>[’b']</a:t>
            </a:r>
            <a:r>
              <a:rPr b="0" i="0" lang="en-US" sz="3200" u="none" cap="none" strike="noStrike">
                <a:solidFill>
                  <a:schemeClr val="lt1"/>
                </a:solidFill>
                <a:latin typeface="Courier"/>
                <a:ea typeface="Courier"/>
                <a:cs typeface="Courier"/>
                <a:sym typeface="Courier"/>
              </a:rPr>
              <a:t> = 4</a:t>
            </a:r>
            <a:endParaRPr/>
          </a:p>
          <a:p>
            <a:pPr indent="0" lvl="0" marL="0" marR="0" rtl="0" algn="l">
              <a:lnSpc>
                <a:spcPct val="100000"/>
              </a:lnSpc>
              <a:spcBef>
                <a:spcPts val="0"/>
              </a:spcBef>
              <a:spcAft>
                <a:spcPts val="0"/>
              </a:spcAft>
              <a:buClr>
                <a:schemeClr val="lt1"/>
              </a:buClr>
              <a:buSzPts val="800"/>
              <a:buFont typeface="Courier New"/>
              <a:buNone/>
            </a:pPr>
            <a:r>
              <a:rPr b="0" i="0" lang="en-US" sz="3200" u="none" cap="none" strike="noStrike">
                <a:solidFill>
                  <a:srgbClr val="FFFF00"/>
                </a:solidFill>
                <a:latin typeface="Courier"/>
                <a:ea typeface="Courier"/>
                <a:cs typeface="Courier"/>
                <a:sym typeface="Courier"/>
              </a:rPr>
              <a:t>for</a:t>
            </a:r>
            <a:r>
              <a:rPr b="0" i="0" lang="en-US" sz="3200" u="none" cap="none" strike="noStrike">
                <a:solidFill>
                  <a:schemeClr val="lt1"/>
                </a:solidFill>
                <a:latin typeface="Courier"/>
                <a:ea typeface="Courier"/>
                <a:cs typeface="Courier"/>
                <a:sym typeface="Courier"/>
              </a:rPr>
              <a:t> </a:t>
            </a:r>
            <a:r>
              <a:rPr b="0" i="0" lang="en-US" sz="3200" u="none" cap="none" strike="noStrike">
                <a:solidFill>
                  <a:srgbClr val="FF7F00"/>
                </a:solidFill>
                <a:latin typeface="Courier"/>
                <a:ea typeface="Courier"/>
                <a:cs typeface="Courier"/>
                <a:sym typeface="Courier"/>
              </a:rPr>
              <a:t>(k,v)</a:t>
            </a:r>
            <a:r>
              <a:rPr b="0" i="0" lang="en-US" sz="3200" u="none" cap="none" strike="noStrike">
                <a:solidFill>
                  <a:schemeClr val="lt1"/>
                </a:solidFill>
                <a:latin typeface="Courier"/>
                <a:ea typeface="Courier"/>
                <a:cs typeface="Courier"/>
                <a:sym typeface="Courier"/>
              </a:rPr>
              <a:t> in </a:t>
            </a:r>
            <a:r>
              <a:rPr b="0" i="0" lang="en-US" sz="3200" u="none" cap="none" strike="noStrike">
                <a:solidFill>
                  <a:srgbClr val="00FF00"/>
                </a:solidFill>
                <a:latin typeface="Courier"/>
                <a:ea typeface="Courier"/>
                <a:cs typeface="Courier"/>
                <a:sym typeface="Courier"/>
              </a:rPr>
              <a:t>d</a:t>
            </a:r>
            <a:r>
              <a:rPr b="0" i="0" lang="en-US" sz="3200" u="none" cap="none" strike="noStrike">
                <a:solidFill>
                  <a:srgbClr val="FF00FF"/>
                </a:solidFill>
                <a:latin typeface="Courier"/>
                <a:ea typeface="Courier"/>
                <a:cs typeface="Courier"/>
                <a:sym typeface="Courier"/>
              </a:rPr>
              <a:t>.items</a:t>
            </a:r>
            <a:r>
              <a:rPr b="0" i="0" lang="en-US" sz="3200" u="none" cap="none" strike="noStrike">
                <a:solidFill>
                  <a:schemeClr val="lt1"/>
                </a:solidFill>
                <a:latin typeface="Courier"/>
                <a:ea typeface="Courier"/>
                <a:cs typeface="Courier"/>
                <a:sym typeface="Courier"/>
              </a:rPr>
              <a:t>(): </a:t>
            </a:r>
            <a:endParaRPr b="0" i="0" sz="3200" u="none" cap="none" strike="noStrike">
              <a:solidFill>
                <a:schemeClr val="lt1"/>
              </a:solidFill>
              <a:latin typeface="Courier"/>
              <a:ea typeface="Courier"/>
              <a:cs typeface="Courier"/>
              <a:sym typeface="Courier"/>
            </a:endParaRPr>
          </a:p>
          <a:p>
            <a:pPr indent="0" lvl="0" marL="0" marR="0" rtl="0" algn="l">
              <a:lnSpc>
                <a:spcPct val="100000"/>
              </a:lnSpc>
              <a:spcBef>
                <a:spcPts val="0"/>
              </a:spcBef>
              <a:spcAft>
                <a:spcPts val="0"/>
              </a:spcAft>
              <a:buClr>
                <a:schemeClr val="lt1"/>
              </a:buClr>
              <a:buSzPts val="800"/>
              <a:buFont typeface="Courier New"/>
              <a:buNone/>
            </a:pPr>
            <a:r>
              <a:rPr b="0" i="0" lang="en-US" sz="3200" u="none" cap="none" strike="noStrike">
                <a:solidFill>
                  <a:schemeClr val="lt1"/>
                </a:solidFill>
                <a:latin typeface="Courier"/>
                <a:ea typeface="Courier"/>
                <a:cs typeface="Courier"/>
                <a:sym typeface="Courier"/>
              </a:rPr>
              <a:t>    </a:t>
            </a:r>
            <a:r>
              <a:rPr b="0" i="0" lang="en-US" sz="3200" u="none" cap="none" strike="noStrike">
                <a:solidFill>
                  <a:srgbClr val="FFFF00"/>
                </a:solidFill>
                <a:latin typeface="Courier"/>
                <a:ea typeface="Courier"/>
                <a:cs typeface="Courier"/>
                <a:sym typeface="Courier"/>
              </a:rPr>
              <a:t>print(</a:t>
            </a:r>
            <a:r>
              <a:rPr b="0" i="0" lang="en-US" sz="3200" u="none" cap="none" strike="noStrike">
                <a:solidFill>
                  <a:srgbClr val="00FF00"/>
                </a:solidFill>
                <a:latin typeface="Courier"/>
                <a:ea typeface="Courier"/>
                <a:cs typeface="Courier"/>
                <a:sym typeface="Courier"/>
              </a:rPr>
              <a:t>k</a:t>
            </a:r>
            <a:r>
              <a:rPr b="0" i="0" lang="en-US" sz="3200" u="none" cap="none" strike="noStrike">
                <a:solidFill>
                  <a:schemeClr val="lt1"/>
                </a:solidFill>
                <a:latin typeface="Courier"/>
                <a:ea typeface="Courier"/>
                <a:cs typeface="Courier"/>
                <a:sym typeface="Courier"/>
              </a:rPr>
              <a:t>, </a:t>
            </a:r>
            <a:r>
              <a:rPr b="0" i="0" lang="en-US" sz="3200" u="none" cap="none" strike="noStrike">
                <a:solidFill>
                  <a:srgbClr val="00FF00"/>
                </a:solidFill>
                <a:latin typeface="Courier"/>
                <a:ea typeface="Courier"/>
                <a:cs typeface="Courier"/>
                <a:sym typeface="Courier"/>
              </a:rPr>
              <a:t>v</a:t>
            </a:r>
            <a:r>
              <a:rPr b="0" i="0" lang="en-US" sz="3200" u="none" cap="none" strike="noStrike">
                <a:solidFill>
                  <a:srgbClr val="FFFF00"/>
                </a:solidFill>
                <a:latin typeface="Courier"/>
                <a:ea typeface="Courier"/>
                <a:cs typeface="Courier"/>
                <a:sym typeface="Courier"/>
              </a:rPr>
              <a:t>)</a:t>
            </a:r>
            <a:endParaRPr b="0" i="0" sz="3200" u="none" cap="none" strike="noStrike">
              <a:solidFill>
                <a:srgbClr val="00FF00"/>
              </a:solidFill>
              <a:latin typeface="Courier"/>
              <a:ea typeface="Courier"/>
              <a:cs typeface="Courier"/>
              <a:sym typeface="Courier"/>
            </a:endParaRPr>
          </a:p>
          <a:p>
            <a:pPr indent="0" lvl="0" marL="0" marR="0" rtl="0" algn="l">
              <a:lnSpc>
                <a:spcPct val="100000"/>
              </a:lnSpc>
              <a:spcBef>
                <a:spcPts val="0"/>
              </a:spcBef>
              <a:spcAft>
                <a:spcPts val="0"/>
              </a:spcAft>
              <a:buClr>
                <a:schemeClr val="lt1"/>
              </a:buClr>
              <a:buSzPts val="800"/>
              <a:buFont typeface="Courier New"/>
              <a:buNone/>
            </a:pPr>
            <a:r>
              <a:t/>
            </a:r>
            <a:endParaRPr b="0" i="0" sz="3200" u="none" cap="none" strike="noStrike">
              <a:solidFill>
                <a:schemeClr val="lt1"/>
              </a:solidFill>
              <a:latin typeface="Courier"/>
              <a:ea typeface="Courier"/>
              <a:cs typeface="Courier"/>
              <a:sym typeface="Courier"/>
            </a:endParaRPr>
          </a:p>
          <a:p>
            <a:pPr indent="0" lvl="0" marL="0" marR="0" rtl="0" algn="l">
              <a:lnSpc>
                <a:spcPct val="100000"/>
              </a:lnSpc>
              <a:spcBef>
                <a:spcPts val="0"/>
              </a:spcBef>
              <a:spcAft>
                <a:spcPts val="0"/>
              </a:spcAft>
              <a:buClr>
                <a:schemeClr val="lt1"/>
              </a:buClr>
              <a:buSzPts val="800"/>
              <a:buFont typeface="Courier New"/>
              <a:buNone/>
            </a:pPr>
            <a:r>
              <a:rPr b="0" i="0" lang="en-US" sz="3200" u="none" cap="none" strike="noStrike">
                <a:solidFill>
                  <a:schemeClr val="lt1"/>
                </a:solidFill>
                <a:latin typeface="Courier"/>
                <a:ea typeface="Courier"/>
                <a:cs typeface="Courier"/>
                <a:sym typeface="Courier"/>
              </a:rPr>
              <a:t>a 2</a:t>
            </a:r>
            <a:endParaRPr/>
          </a:p>
          <a:p>
            <a:pPr indent="0" lvl="0" marL="0" marR="0" rtl="0" algn="l">
              <a:lnSpc>
                <a:spcPct val="100000"/>
              </a:lnSpc>
              <a:spcBef>
                <a:spcPts val="0"/>
              </a:spcBef>
              <a:spcAft>
                <a:spcPts val="0"/>
              </a:spcAft>
              <a:buClr>
                <a:schemeClr val="lt1"/>
              </a:buClr>
              <a:buSzPts val="800"/>
              <a:buFont typeface="Courier New"/>
              <a:buNone/>
            </a:pPr>
            <a:r>
              <a:rPr b="0" i="0" lang="en-US" sz="3200" u="none" cap="none" strike="noStrike">
                <a:solidFill>
                  <a:schemeClr val="lt1"/>
                </a:solidFill>
                <a:latin typeface="Courier"/>
                <a:ea typeface="Courier"/>
                <a:cs typeface="Courier"/>
                <a:sym typeface="Courier"/>
              </a:rPr>
              <a:t>b 4</a:t>
            </a:r>
            <a:endParaRPr/>
          </a:p>
          <a:p>
            <a:pPr indent="0" lvl="0" marL="0" marR="0" rtl="0" algn="l">
              <a:lnSpc>
                <a:spcPct val="100000"/>
              </a:lnSpc>
              <a:spcBef>
                <a:spcPts val="0"/>
              </a:spcBef>
              <a:spcAft>
                <a:spcPts val="0"/>
              </a:spcAft>
              <a:buClr>
                <a:schemeClr val="lt1"/>
              </a:buClr>
              <a:buSzPts val="800"/>
              <a:buFont typeface="Courier New"/>
              <a:buNone/>
            </a:pPr>
            <a:r>
              <a:t/>
            </a:r>
            <a:endParaRPr b="0" i="0" sz="3200" u="none" cap="none" strike="noStrike">
              <a:solidFill>
                <a:schemeClr val="lt1"/>
              </a:solidFill>
              <a:latin typeface="Courier"/>
              <a:ea typeface="Courier"/>
              <a:cs typeface="Courier"/>
              <a:sym typeface="Courier"/>
            </a:endParaRPr>
          </a:p>
          <a:p>
            <a:pPr indent="0" lvl="0" marL="0" marR="0" rtl="0" algn="l">
              <a:lnSpc>
                <a:spcPct val="100000"/>
              </a:lnSpc>
              <a:spcBef>
                <a:spcPts val="0"/>
              </a:spcBef>
              <a:spcAft>
                <a:spcPts val="0"/>
              </a:spcAft>
              <a:buClr>
                <a:schemeClr val="lt1"/>
              </a:buClr>
              <a:buSzPts val="800"/>
              <a:buFont typeface="Courier New"/>
              <a:buNone/>
            </a:pPr>
            <a:r>
              <a:rPr b="0" i="0" lang="en-US" sz="3200" u="none" cap="none" strike="noStrike">
                <a:solidFill>
                  <a:srgbClr val="00FF00"/>
                </a:solidFill>
                <a:latin typeface="Courier"/>
                <a:ea typeface="Courier"/>
                <a:cs typeface="Courier"/>
                <a:sym typeface="Courier"/>
              </a:rPr>
              <a:t>tups</a:t>
            </a:r>
            <a:r>
              <a:rPr b="0" i="0" lang="en-US" sz="3200" u="none" cap="none" strike="noStrike">
                <a:solidFill>
                  <a:schemeClr val="lt1"/>
                </a:solidFill>
                <a:latin typeface="Courier"/>
                <a:ea typeface="Courier"/>
                <a:cs typeface="Courier"/>
                <a:sym typeface="Courier"/>
              </a:rPr>
              <a:t> = </a:t>
            </a:r>
            <a:r>
              <a:rPr b="0" i="0" lang="en-US" sz="3200" u="none" cap="none" strike="noStrike">
                <a:solidFill>
                  <a:srgbClr val="00FF00"/>
                </a:solidFill>
                <a:latin typeface="Courier"/>
                <a:ea typeface="Courier"/>
                <a:cs typeface="Courier"/>
                <a:sym typeface="Courier"/>
              </a:rPr>
              <a:t>d</a:t>
            </a:r>
            <a:r>
              <a:rPr b="0" i="0" lang="en-US" sz="3200" u="none" cap="none" strike="noStrike">
                <a:solidFill>
                  <a:srgbClr val="FF00FF"/>
                </a:solidFill>
                <a:latin typeface="Courier"/>
                <a:ea typeface="Courier"/>
                <a:cs typeface="Courier"/>
                <a:sym typeface="Courier"/>
              </a:rPr>
              <a:t>.items</a:t>
            </a:r>
            <a:r>
              <a:rPr b="0" i="0" lang="en-US" sz="3200" u="none" cap="none" strike="noStrike">
                <a:solidFill>
                  <a:schemeClr val="lt1"/>
                </a:solidFill>
                <a:latin typeface="Courier"/>
                <a:ea typeface="Courier"/>
                <a:cs typeface="Courier"/>
                <a:sym typeface="Courier"/>
              </a:rPr>
              <a:t>()</a:t>
            </a:r>
            <a:endParaRPr/>
          </a:p>
          <a:p>
            <a:pPr indent="0" lvl="0" marL="0" marR="0" rtl="0" algn="l">
              <a:lnSpc>
                <a:spcPct val="100000"/>
              </a:lnSpc>
              <a:spcBef>
                <a:spcPts val="0"/>
              </a:spcBef>
              <a:spcAft>
                <a:spcPts val="0"/>
              </a:spcAft>
              <a:buClr>
                <a:schemeClr val="lt1"/>
              </a:buClr>
              <a:buSzPts val="800"/>
              <a:buFont typeface="Courier"/>
              <a:buNone/>
            </a:pPr>
            <a:r>
              <a:rPr b="0" i="0" lang="en-US" sz="3200" u="none" cap="none" strike="noStrike">
                <a:solidFill>
                  <a:srgbClr val="FFFF00"/>
                </a:solidFill>
                <a:latin typeface="Courier"/>
                <a:ea typeface="Courier"/>
                <a:cs typeface="Courier"/>
                <a:sym typeface="Courier"/>
              </a:rPr>
              <a:t>print(</a:t>
            </a:r>
            <a:r>
              <a:rPr b="0" i="0" lang="en-US" sz="3200" u="none" cap="none" strike="noStrike">
                <a:solidFill>
                  <a:srgbClr val="00FF00"/>
                </a:solidFill>
                <a:latin typeface="Courier"/>
                <a:ea typeface="Courier"/>
                <a:cs typeface="Courier"/>
                <a:sym typeface="Courier"/>
              </a:rPr>
              <a:t>tups</a:t>
            </a:r>
            <a:r>
              <a:rPr b="0" i="0" lang="en-US" sz="3200" u="none" cap="none" strike="noStrike">
                <a:solidFill>
                  <a:srgbClr val="FFFF00"/>
                </a:solidFill>
                <a:latin typeface="Courier"/>
                <a:ea typeface="Courier"/>
                <a:cs typeface="Courier"/>
                <a:sym typeface="Courier"/>
              </a:rPr>
              <a:t>)</a:t>
            </a:r>
            <a:endParaRPr b="0" i="0" sz="3200" u="none" cap="none" strike="noStrike">
              <a:solidFill>
                <a:srgbClr val="00FF00"/>
              </a:solidFill>
              <a:latin typeface="Courier"/>
              <a:ea typeface="Courier"/>
              <a:cs typeface="Courier"/>
              <a:sym typeface="Courier"/>
            </a:endParaRPr>
          </a:p>
          <a:p>
            <a:pPr indent="0" lvl="0" marL="0" marR="0" rtl="0" algn="l">
              <a:lnSpc>
                <a:spcPct val="100000"/>
              </a:lnSpc>
              <a:spcBef>
                <a:spcPts val="0"/>
              </a:spcBef>
              <a:spcAft>
                <a:spcPts val="0"/>
              </a:spcAft>
              <a:buClr>
                <a:schemeClr val="lt1"/>
              </a:buClr>
              <a:buSzPts val="800"/>
              <a:buFont typeface="Courier New"/>
              <a:buNone/>
            </a:pPr>
            <a:r>
              <a:rPr b="0" i="0" lang="en-US" sz="3200" u="none" cap="none" strike="noStrike">
                <a:solidFill>
                  <a:schemeClr val="lt1"/>
                </a:solidFill>
                <a:latin typeface="Courier"/>
                <a:ea typeface="Courier"/>
                <a:cs typeface="Courier"/>
                <a:sym typeface="Courier"/>
              </a:rPr>
              <a:t>dict_items([</a:t>
            </a:r>
            <a:r>
              <a:rPr b="0" i="0" lang="en-US" sz="3200" u="none" cap="none" strike="noStrike">
                <a:solidFill>
                  <a:srgbClr val="FF7F00"/>
                </a:solidFill>
                <a:latin typeface="Courier"/>
                <a:ea typeface="Courier"/>
                <a:cs typeface="Courier"/>
                <a:sym typeface="Courier"/>
              </a:rPr>
              <a:t>(’a', 2)</a:t>
            </a:r>
            <a:r>
              <a:rPr b="0" i="0" lang="en-US" sz="3200" u="none" cap="none" strike="noStrike">
                <a:solidFill>
                  <a:schemeClr val="lt1"/>
                </a:solidFill>
                <a:latin typeface="Courier"/>
                <a:ea typeface="Courier"/>
                <a:cs typeface="Courier"/>
                <a:sym typeface="Courier"/>
              </a:rPr>
              <a:t>, </a:t>
            </a:r>
            <a:r>
              <a:rPr b="0" i="0" lang="en-US" sz="3200" u="none" cap="none" strike="noStrike">
                <a:solidFill>
                  <a:srgbClr val="FF7F00"/>
                </a:solidFill>
                <a:latin typeface="Courier"/>
                <a:ea typeface="Courier"/>
                <a:cs typeface="Courier"/>
                <a:sym typeface="Courier"/>
              </a:rPr>
              <a:t>(’b', 4)</a:t>
            </a:r>
            <a:r>
              <a:rPr b="0" i="0" lang="en-US" sz="3200" u="none" cap="none" strike="noStrike">
                <a:solidFill>
                  <a:schemeClr val="lt1"/>
                </a:solidFill>
                <a:latin typeface="Courier"/>
                <a:ea typeface="Courier"/>
                <a:cs typeface="Courier"/>
                <a:sym typeface="Courier"/>
              </a:rPr>
              <a:t>])</a:t>
            </a:r>
            <a:endParaRPr b="0" i="0" sz="3200" u="none" cap="none" strike="noStrike">
              <a:solidFill>
                <a:schemeClr val="lt1"/>
              </a:solidFill>
              <a:latin typeface="Courier"/>
              <a:ea typeface="Courier"/>
              <a:cs typeface="Courier"/>
              <a:sym typeface="Courie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 name="Shape 72"/>
        <p:cNvGrpSpPr/>
        <p:nvPr/>
      </p:nvGrpSpPr>
      <p:grpSpPr>
        <a:xfrm>
          <a:off x="0" y="0"/>
          <a:ext cx="0" cy="0"/>
          <a:chOff x="0" y="0"/>
          <a:chExt cx="0" cy="0"/>
        </a:xfrm>
      </p:grpSpPr>
      <p:sp>
        <p:nvSpPr>
          <p:cNvPr id="73" name="Google Shape;73;p13"/>
          <p:cNvSpPr txBox="1"/>
          <p:nvPr>
            <p:ph type="title"/>
          </p:nvPr>
        </p:nvSpPr>
        <p:spPr>
          <a:xfrm>
            <a:off x="1155700" y="235528"/>
            <a:ext cx="13932000" cy="1750191"/>
          </a:xfrm>
          <a:prstGeom prst="rect">
            <a:avLst/>
          </a:prstGeom>
          <a:noFill/>
          <a:ln>
            <a:noFill/>
          </a:ln>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rgbClr val="FF7F00"/>
              </a:buClr>
              <a:buSzPts val="1950"/>
              <a:buFont typeface="Cabin"/>
              <a:buNone/>
            </a:pPr>
            <a:r>
              <a:rPr lang="en-US" sz="7800" u="none" cap="none" strike="noStrike">
                <a:solidFill>
                  <a:srgbClr val="FFD966"/>
                </a:solidFill>
                <a:latin typeface="Arial"/>
                <a:ea typeface="Arial"/>
                <a:cs typeface="Arial"/>
                <a:sym typeface="Arial"/>
              </a:rPr>
              <a:t>Tuples are Comparable</a:t>
            </a:r>
            <a:endParaRPr/>
          </a:p>
        </p:txBody>
      </p:sp>
      <p:sp>
        <p:nvSpPr>
          <p:cNvPr id="74" name="Google Shape;74;p13"/>
          <p:cNvSpPr txBox="1"/>
          <p:nvPr>
            <p:ph idx="1" type="body"/>
          </p:nvPr>
        </p:nvSpPr>
        <p:spPr>
          <a:xfrm>
            <a:off x="1155700" y="1827648"/>
            <a:ext cx="13932000" cy="1554163"/>
          </a:xfrm>
          <a:prstGeom prst="rect">
            <a:avLst/>
          </a:prstGeom>
          <a:noFill/>
          <a:ln>
            <a:noFill/>
          </a:ln>
        </p:spPr>
        <p:txBody>
          <a:bodyPr anchorCtr="0" anchor="ctr" bIns="50800" lIns="50800" spcFirstLastPara="1" rIns="50800" wrap="square" tIns="50800">
            <a:noAutofit/>
          </a:bodyPr>
          <a:lstStyle/>
          <a:p>
            <a:pPr indent="0" lvl="0" marL="317500" marR="0" rtl="0" algn="l">
              <a:lnSpc>
                <a:spcPct val="100000"/>
              </a:lnSpc>
              <a:spcBef>
                <a:spcPts val="0"/>
              </a:spcBef>
              <a:spcAft>
                <a:spcPts val="0"/>
              </a:spcAft>
              <a:buClr>
                <a:schemeClr val="lt1"/>
              </a:buClr>
              <a:buSzPts val="6498"/>
              <a:buNone/>
            </a:pPr>
            <a:r>
              <a:rPr lang="en-US" sz="3800" u="none" cap="none" strike="noStrike">
                <a:solidFill>
                  <a:schemeClr val="lt1"/>
                </a:solidFill>
                <a:latin typeface="Arial"/>
                <a:ea typeface="Arial"/>
                <a:cs typeface="Arial"/>
                <a:sym typeface="Arial"/>
              </a:rPr>
              <a:t>The comparison </a:t>
            </a:r>
            <a:r>
              <a:rPr lang="en-US" sz="3800" u="none" cap="none" strike="noStrike">
                <a:solidFill>
                  <a:srgbClr val="00FFFF"/>
                </a:solidFill>
                <a:latin typeface="Arial"/>
                <a:ea typeface="Arial"/>
                <a:cs typeface="Arial"/>
                <a:sym typeface="Arial"/>
              </a:rPr>
              <a:t>operators</a:t>
            </a:r>
            <a:r>
              <a:rPr lang="en-US" sz="3800" u="none" cap="none" strike="noStrike">
                <a:solidFill>
                  <a:schemeClr val="lt1"/>
                </a:solidFill>
                <a:latin typeface="Arial"/>
                <a:ea typeface="Arial"/>
                <a:cs typeface="Arial"/>
                <a:sym typeface="Arial"/>
              </a:rPr>
              <a:t> work with </a:t>
            </a:r>
            <a:r>
              <a:rPr lang="en-US" sz="3800" u="none" cap="none" strike="noStrike">
                <a:solidFill>
                  <a:srgbClr val="FF7F00"/>
                </a:solidFill>
                <a:latin typeface="Arial"/>
                <a:ea typeface="Arial"/>
                <a:cs typeface="Arial"/>
                <a:sym typeface="Arial"/>
              </a:rPr>
              <a:t>tuples</a:t>
            </a:r>
            <a:r>
              <a:rPr lang="en-US" sz="3800" u="none" cap="none" strike="noStrike">
                <a:solidFill>
                  <a:schemeClr val="lt1"/>
                </a:solidFill>
                <a:latin typeface="Arial"/>
                <a:ea typeface="Arial"/>
                <a:cs typeface="Arial"/>
                <a:sym typeface="Arial"/>
              </a:rPr>
              <a:t> and other sequences. If the first item is equal, Python goes on to the next element,  and so on, until it finds elements that differ.</a:t>
            </a:r>
            <a:endParaRPr/>
          </a:p>
        </p:txBody>
      </p:sp>
      <p:sp>
        <p:nvSpPr>
          <p:cNvPr id="75" name="Google Shape;75;p13"/>
          <p:cNvSpPr txBox="1"/>
          <p:nvPr/>
        </p:nvSpPr>
        <p:spPr>
          <a:xfrm>
            <a:off x="2852738" y="3781284"/>
            <a:ext cx="11404500" cy="505791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lt1"/>
              </a:buClr>
              <a:buSzPts val="700"/>
              <a:buFont typeface="Courier New"/>
              <a:buNone/>
            </a:pPr>
            <a:r>
              <a:rPr b="0" i="0" lang="en-US" sz="2800" u="none" cap="none" strike="noStrike">
                <a:solidFill>
                  <a:srgbClr val="FF7F00"/>
                </a:solidFill>
                <a:latin typeface="Courier"/>
                <a:ea typeface="Courier"/>
                <a:cs typeface="Courier"/>
                <a:sym typeface="Courier"/>
              </a:rPr>
              <a:t>(0, 1, 2) </a:t>
            </a:r>
            <a:r>
              <a:rPr b="0" i="0" lang="en-US" sz="2800" u="none" cap="none" strike="noStrike">
                <a:solidFill>
                  <a:srgbClr val="00FFFF"/>
                </a:solidFill>
                <a:latin typeface="Courier"/>
                <a:ea typeface="Courier"/>
                <a:cs typeface="Courier"/>
                <a:sym typeface="Courier"/>
              </a:rPr>
              <a:t>&lt;</a:t>
            </a:r>
            <a:r>
              <a:rPr b="0" i="0" lang="en-US" sz="2800" u="none" cap="none" strike="noStrike">
                <a:solidFill>
                  <a:srgbClr val="FF7F00"/>
                </a:solidFill>
                <a:latin typeface="Courier"/>
                <a:ea typeface="Courier"/>
                <a:cs typeface="Courier"/>
                <a:sym typeface="Courier"/>
              </a:rPr>
              <a:t> (5, 1, 2)</a:t>
            </a:r>
            <a:endParaRPr/>
          </a:p>
          <a:p>
            <a:pPr indent="0" lvl="0" marL="0" marR="0" rtl="0" algn="l">
              <a:lnSpc>
                <a:spcPct val="100000"/>
              </a:lnSpc>
              <a:spcBef>
                <a:spcPts val="0"/>
              </a:spcBef>
              <a:spcAft>
                <a:spcPts val="0"/>
              </a:spcAft>
              <a:buClr>
                <a:schemeClr val="lt1"/>
              </a:buClr>
              <a:buSzPts val="700"/>
              <a:buFont typeface="Courier New"/>
              <a:buNone/>
            </a:pPr>
            <a:r>
              <a:rPr b="0" i="0" lang="en-US" sz="2800" u="none" cap="none" strike="noStrike">
                <a:solidFill>
                  <a:schemeClr val="lt1"/>
                </a:solidFill>
                <a:latin typeface="Courier"/>
                <a:ea typeface="Courier"/>
                <a:cs typeface="Courier"/>
                <a:sym typeface="Courier"/>
              </a:rPr>
              <a:t>True</a:t>
            </a:r>
            <a:endParaRPr/>
          </a:p>
          <a:p>
            <a:pPr indent="0" lvl="0" marL="0" marR="0" rtl="0" algn="l">
              <a:lnSpc>
                <a:spcPct val="100000"/>
              </a:lnSpc>
              <a:spcBef>
                <a:spcPts val="0"/>
              </a:spcBef>
              <a:spcAft>
                <a:spcPts val="0"/>
              </a:spcAft>
              <a:buClr>
                <a:schemeClr val="lt1"/>
              </a:buClr>
              <a:buSzPts val="700"/>
              <a:buFont typeface="Courier New"/>
              <a:buNone/>
            </a:pPr>
            <a:r>
              <a:t/>
            </a:r>
            <a:endParaRPr b="0" i="0" sz="2800" u="none" cap="none" strike="noStrike">
              <a:solidFill>
                <a:schemeClr val="lt1"/>
              </a:solidFill>
              <a:latin typeface="Courier"/>
              <a:ea typeface="Courier"/>
              <a:cs typeface="Courier"/>
              <a:sym typeface="Courier"/>
            </a:endParaRPr>
          </a:p>
          <a:p>
            <a:pPr indent="0" lvl="0" marL="0" marR="0" rtl="0" algn="l">
              <a:lnSpc>
                <a:spcPct val="100000"/>
              </a:lnSpc>
              <a:spcBef>
                <a:spcPts val="0"/>
              </a:spcBef>
              <a:spcAft>
                <a:spcPts val="0"/>
              </a:spcAft>
              <a:buClr>
                <a:schemeClr val="lt1"/>
              </a:buClr>
              <a:buSzPts val="700"/>
              <a:buFont typeface="Courier New"/>
              <a:buNone/>
            </a:pPr>
            <a:r>
              <a:rPr b="0" i="0" lang="en-US" sz="2800" u="none" cap="none" strike="noStrike">
                <a:solidFill>
                  <a:srgbClr val="FF7F00"/>
                </a:solidFill>
                <a:latin typeface="Courier"/>
                <a:ea typeface="Courier"/>
                <a:cs typeface="Courier"/>
                <a:sym typeface="Courier"/>
              </a:rPr>
              <a:t>(0, 1, 2000000) </a:t>
            </a:r>
            <a:r>
              <a:rPr b="0" i="0" lang="en-US" sz="2800" u="none" cap="none" strike="noStrike">
                <a:solidFill>
                  <a:srgbClr val="00FFFF"/>
                </a:solidFill>
                <a:latin typeface="Courier"/>
                <a:ea typeface="Courier"/>
                <a:cs typeface="Courier"/>
                <a:sym typeface="Courier"/>
              </a:rPr>
              <a:t>&lt;</a:t>
            </a:r>
            <a:r>
              <a:rPr b="0" i="0" lang="en-US" sz="2800" u="none" cap="none" strike="noStrike">
                <a:solidFill>
                  <a:srgbClr val="FF7F00"/>
                </a:solidFill>
                <a:latin typeface="Courier"/>
                <a:ea typeface="Courier"/>
                <a:cs typeface="Courier"/>
                <a:sym typeface="Courier"/>
              </a:rPr>
              <a:t> (0, 3, 4)</a:t>
            </a:r>
            <a:endParaRPr/>
          </a:p>
          <a:p>
            <a:pPr indent="0" lvl="0" marL="0" marR="0" rtl="0" algn="l">
              <a:lnSpc>
                <a:spcPct val="100000"/>
              </a:lnSpc>
              <a:spcBef>
                <a:spcPts val="0"/>
              </a:spcBef>
              <a:spcAft>
                <a:spcPts val="0"/>
              </a:spcAft>
              <a:buClr>
                <a:schemeClr val="lt1"/>
              </a:buClr>
              <a:buSzPts val="700"/>
              <a:buFont typeface="Courier New"/>
              <a:buNone/>
            </a:pPr>
            <a:r>
              <a:rPr b="0" i="0" lang="en-US" sz="2800" u="none" cap="none" strike="noStrike">
                <a:solidFill>
                  <a:schemeClr val="lt1"/>
                </a:solidFill>
                <a:latin typeface="Courier"/>
                <a:ea typeface="Courier"/>
                <a:cs typeface="Courier"/>
                <a:sym typeface="Courier"/>
              </a:rPr>
              <a:t>True</a:t>
            </a:r>
            <a:endParaRPr/>
          </a:p>
          <a:p>
            <a:pPr indent="0" lvl="0" marL="0" marR="0" rtl="0" algn="l">
              <a:lnSpc>
                <a:spcPct val="100000"/>
              </a:lnSpc>
              <a:spcBef>
                <a:spcPts val="0"/>
              </a:spcBef>
              <a:spcAft>
                <a:spcPts val="0"/>
              </a:spcAft>
              <a:buClr>
                <a:schemeClr val="lt1"/>
              </a:buClr>
              <a:buSzPts val="700"/>
              <a:buFont typeface="Courier New"/>
              <a:buNone/>
            </a:pPr>
            <a:r>
              <a:t/>
            </a:r>
            <a:endParaRPr b="0" i="0" sz="2800" u="none" cap="none" strike="noStrike">
              <a:solidFill>
                <a:schemeClr val="lt1"/>
              </a:solidFill>
              <a:latin typeface="Courier"/>
              <a:ea typeface="Courier"/>
              <a:cs typeface="Courier"/>
              <a:sym typeface="Courier"/>
            </a:endParaRPr>
          </a:p>
          <a:p>
            <a:pPr indent="0" lvl="0" marL="0" marR="0" rtl="0" algn="l">
              <a:lnSpc>
                <a:spcPct val="100000"/>
              </a:lnSpc>
              <a:spcBef>
                <a:spcPts val="0"/>
              </a:spcBef>
              <a:spcAft>
                <a:spcPts val="0"/>
              </a:spcAft>
              <a:buClr>
                <a:schemeClr val="lt1"/>
              </a:buClr>
              <a:buSzPts val="700"/>
              <a:buFont typeface="Courier New"/>
              <a:buNone/>
            </a:pPr>
            <a:r>
              <a:rPr b="0" i="0" lang="en-US" sz="2800" u="none" cap="none" strike="noStrike">
                <a:solidFill>
                  <a:srgbClr val="FF7F00"/>
                </a:solidFill>
                <a:latin typeface="Courier"/>
                <a:ea typeface="Courier"/>
                <a:cs typeface="Courier"/>
                <a:sym typeface="Courier"/>
              </a:rPr>
              <a:t>( 'Jones', 'Sally' ) </a:t>
            </a:r>
            <a:r>
              <a:rPr b="0" i="0" lang="en-US" sz="2800" u="none" cap="none" strike="noStrike">
                <a:solidFill>
                  <a:srgbClr val="00FFFF"/>
                </a:solidFill>
                <a:latin typeface="Courier"/>
                <a:ea typeface="Courier"/>
                <a:cs typeface="Courier"/>
                <a:sym typeface="Courier"/>
              </a:rPr>
              <a:t>&lt;</a:t>
            </a:r>
            <a:r>
              <a:rPr b="0" i="0" lang="en-US" sz="2800" u="none" cap="none" strike="noStrike">
                <a:solidFill>
                  <a:srgbClr val="FF7F00"/>
                </a:solidFill>
                <a:latin typeface="Courier"/>
                <a:ea typeface="Courier"/>
                <a:cs typeface="Courier"/>
                <a:sym typeface="Courier"/>
              </a:rPr>
              <a:t> ('Jones', 'Sam')</a:t>
            </a:r>
            <a:endParaRPr/>
          </a:p>
          <a:p>
            <a:pPr indent="0" lvl="0" marL="0" marR="0" rtl="0" algn="l">
              <a:lnSpc>
                <a:spcPct val="100000"/>
              </a:lnSpc>
              <a:spcBef>
                <a:spcPts val="0"/>
              </a:spcBef>
              <a:spcAft>
                <a:spcPts val="0"/>
              </a:spcAft>
              <a:buClr>
                <a:schemeClr val="lt1"/>
              </a:buClr>
              <a:buSzPts val="700"/>
              <a:buFont typeface="Courier New"/>
              <a:buNone/>
            </a:pPr>
            <a:r>
              <a:rPr b="0" i="0" lang="en-US" sz="2800" u="none" cap="none" strike="noStrike">
                <a:solidFill>
                  <a:schemeClr val="lt1"/>
                </a:solidFill>
                <a:latin typeface="Courier"/>
                <a:ea typeface="Courier"/>
                <a:cs typeface="Courier"/>
                <a:sym typeface="Courier"/>
              </a:rPr>
              <a:t>True</a:t>
            </a:r>
            <a:endParaRPr/>
          </a:p>
          <a:p>
            <a:pPr indent="0" lvl="0" marL="0" marR="0" rtl="0" algn="l">
              <a:lnSpc>
                <a:spcPct val="100000"/>
              </a:lnSpc>
              <a:spcBef>
                <a:spcPts val="0"/>
              </a:spcBef>
              <a:spcAft>
                <a:spcPts val="0"/>
              </a:spcAft>
              <a:buClr>
                <a:schemeClr val="lt1"/>
              </a:buClr>
              <a:buSzPts val="700"/>
              <a:buFont typeface="Courier New"/>
              <a:buNone/>
            </a:pPr>
            <a:r>
              <a:t/>
            </a:r>
            <a:endParaRPr b="0" i="0" sz="2800" u="none" cap="none" strike="noStrike">
              <a:solidFill>
                <a:schemeClr val="lt1"/>
              </a:solidFill>
              <a:latin typeface="Courier"/>
              <a:ea typeface="Courier"/>
              <a:cs typeface="Courier"/>
              <a:sym typeface="Courier"/>
            </a:endParaRPr>
          </a:p>
          <a:p>
            <a:pPr indent="0" lvl="0" marL="0" marR="0" rtl="0" algn="l">
              <a:lnSpc>
                <a:spcPct val="100000"/>
              </a:lnSpc>
              <a:spcBef>
                <a:spcPts val="0"/>
              </a:spcBef>
              <a:spcAft>
                <a:spcPts val="0"/>
              </a:spcAft>
              <a:buClr>
                <a:schemeClr val="lt1"/>
              </a:buClr>
              <a:buSzPts val="700"/>
              <a:buFont typeface="Courier New"/>
              <a:buNone/>
            </a:pPr>
            <a:r>
              <a:rPr b="0" i="0" lang="en-US" sz="2800" u="none" cap="none" strike="noStrike">
                <a:solidFill>
                  <a:srgbClr val="FF7F00"/>
                </a:solidFill>
                <a:latin typeface="Courier"/>
                <a:ea typeface="Courier"/>
                <a:cs typeface="Courier"/>
                <a:sym typeface="Courier"/>
              </a:rPr>
              <a:t>( 'Jones', 'Sally') </a:t>
            </a:r>
            <a:r>
              <a:rPr b="0" i="0" lang="en-US" sz="2800" u="none" cap="none" strike="noStrike">
                <a:solidFill>
                  <a:srgbClr val="00FFFF"/>
                </a:solidFill>
                <a:latin typeface="Courier"/>
                <a:ea typeface="Courier"/>
                <a:cs typeface="Courier"/>
                <a:sym typeface="Courier"/>
              </a:rPr>
              <a:t>&gt;</a:t>
            </a:r>
            <a:r>
              <a:rPr b="0" i="0" lang="en-US" sz="2800" u="none" cap="none" strike="noStrike">
                <a:solidFill>
                  <a:srgbClr val="FF7F00"/>
                </a:solidFill>
                <a:latin typeface="Courier"/>
                <a:ea typeface="Courier"/>
                <a:cs typeface="Courier"/>
                <a:sym typeface="Courier"/>
              </a:rPr>
              <a:t> ('Adams', 'Sam')</a:t>
            </a:r>
            <a:endParaRPr/>
          </a:p>
          <a:p>
            <a:pPr indent="0" lvl="0" marL="0" marR="0" rtl="0" algn="l">
              <a:lnSpc>
                <a:spcPct val="100000"/>
              </a:lnSpc>
              <a:spcBef>
                <a:spcPts val="0"/>
              </a:spcBef>
              <a:spcAft>
                <a:spcPts val="0"/>
              </a:spcAft>
              <a:buClr>
                <a:schemeClr val="lt1"/>
              </a:buClr>
              <a:buSzPts val="700"/>
              <a:buFont typeface="Courier New"/>
              <a:buNone/>
            </a:pPr>
            <a:r>
              <a:rPr b="0" i="0" lang="en-US" sz="2800" u="none" cap="none" strike="noStrike">
                <a:solidFill>
                  <a:schemeClr val="lt1"/>
                </a:solidFill>
                <a:latin typeface="Courier"/>
                <a:ea typeface="Courier"/>
                <a:cs typeface="Courier"/>
                <a:sym typeface="Courier"/>
              </a:rPr>
              <a:t>True</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 name="Shape 79"/>
        <p:cNvGrpSpPr/>
        <p:nvPr/>
      </p:nvGrpSpPr>
      <p:grpSpPr>
        <a:xfrm>
          <a:off x="0" y="0"/>
          <a:ext cx="0" cy="0"/>
          <a:chOff x="0" y="0"/>
          <a:chExt cx="0" cy="0"/>
        </a:xfrm>
      </p:grpSpPr>
      <p:sp>
        <p:nvSpPr>
          <p:cNvPr id="80" name="Google Shape;80;p14"/>
          <p:cNvSpPr txBox="1"/>
          <p:nvPr>
            <p:ph type="title"/>
          </p:nvPr>
        </p:nvSpPr>
        <p:spPr>
          <a:xfrm>
            <a:off x="1155700" y="789708"/>
            <a:ext cx="13932000" cy="1750191"/>
          </a:xfrm>
          <a:prstGeom prst="rect">
            <a:avLst/>
          </a:prstGeom>
          <a:noFill/>
          <a:ln>
            <a:noFill/>
          </a:ln>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rgbClr val="00FF00"/>
              </a:buClr>
              <a:buSzPts val="1950"/>
              <a:buFont typeface="Cabin"/>
              <a:buNone/>
            </a:pPr>
            <a:r>
              <a:rPr lang="en-US" sz="7800" u="none" cap="none" strike="noStrike">
                <a:solidFill>
                  <a:srgbClr val="FFD966"/>
                </a:solidFill>
                <a:latin typeface="Arial"/>
                <a:ea typeface="Arial"/>
                <a:cs typeface="Arial"/>
                <a:sym typeface="Arial"/>
              </a:rPr>
              <a:t>Sorting Lists of Tuples</a:t>
            </a:r>
            <a:endParaRPr/>
          </a:p>
        </p:txBody>
      </p:sp>
      <p:sp>
        <p:nvSpPr>
          <p:cNvPr id="81" name="Google Shape;81;p14"/>
          <p:cNvSpPr txBox="1"/>
          <p:nvPr>
            <p:ph idx="1" type="body"/>
          </p:nvPr>
        </p:nvSpPr>
        <p:spPr>
          <a:xfrm>
            <a:off x="1155700" y="2603499"/>
            <a:ext cx="13932000" cy="2734627"/>
          </a:xfrm>
          <a:prstGeom prst="rect">
            <a:avLst/>
          </a:prstGeom>
          <a:noFill/>
          <a:ln>
            <a:noFill/>
          </a:ln>
        </p:spPr>
        <p:txBody>
          <a:bodyPr anchorCtr="0" anchor="ctr" bIns="50800" lIns="50800" spcFirstLastPara="1" rIns="50800" wrap="square" tIns="50800">
            <a:noAutofit/>
          </a:bodyPr>
          <a:lstStyle/>
          <a:p>
            <a:pPr indent="-609600" lvl="0" marL="1104900" marR="0" rtl="0" algn="l">
              <a:lnSpc>
                <a:spcPct val="100000"/>
              </a:lnSpc>
              <a:spcBef>
                <a:spcPts val="0"/>
              </a:spcBef>
              <a:spcAft>
                <a:spcPts val="0"/>
              </a:spcAft>
              <a:buClr>
                <a:schemeClr val="lt1"/>
              </a:buClr>
              <a:buSzPts val="3600"/>
              <a:buFont typeface="Cabin"/>
              <a:buChar char="•"/>
            </a:pPr>
            <a:r>
              <a:rPr lang="en-US" sz="3600" u="none" cap="none" strike="noStrike">
                <a:solidFill>
                  <a:schemeClr val="lt1"/>
                </a:solidFill>
                <a:latin typeface="Arial"/>
                <a:ea typeface="Arial"/>
                <a:cs typeface="Arial"/>
                <a:sym typeface="Arial"/>
              </a:rPr>
              <a:t>We can take advantage of the ability to sort a list of </a:t>
            </a:r>
            <a:r>
              <a:rPr lang="en-US" sz="3600" u="none" cap="none" strike="noStrike">
                <a:solidFill>
                  <a:srgbClr val="FF7F00"/>
                </a:solidFill>
                <a:latin typeface="Arial"/>
                <a:ea typeface="Arial"/>
                <a:cs typeface="Arial"/>
                <a:sym typeface="Arial"/>
              </a:rPr>
              <a:t>tuples</a:t>
            </a:r>
            <a:r>
              <a:rPr lang="en-US" sz="3600" u="none" cap="none" strike="noStrike">
                <a:solidFill>
                  <a:schemeClr val="lt1"/>
                </a:solidFill>
                <a:latin typeface="Arial"/>
                <a:ea typeface="Arial"/>
                <a:cs typeface="Arial"/>
                <a:sym typeface="Arial"/>
              </a:rPr>
              <a:t> to get a sorted version of a dictionary</a:t>
            </a:r>
            <a:endParaRPr/>
          </a:p>
          <a:p>
            <a:pPr indent="-609600" lvl="0" marL="1104900" marR="0" rtl="0" algn="l">
              <a:lnSpc>
                <a:spcPct val="100000"/>
              </a:lnSpc>
              <a:spcBef>
                <a:spcPts val="2300"/>
              </a:spcBef>
              <a:spcAft>
                <a:spcPts val="0"/>
              </a:spcAft>
              <a:buClr>
                <a:schemeClr val="lt1"/>
              </a:buClr>
              <a:buSzPts val="3600"/>
              <a:buFont typeface="Cabin"/>
              <a:buChar char="•"/>
            </a:pPr>
            <a:r>
              <a:rPr lang="en-US" sz="3600" u="none" cap="none" strike="noStrike">
                <a:solidFill>
                  <a:schemeClr val="lt1"/>
                </a:solidFill>
                <a:latin typeface="Arial"/>
                <a:ea typeface="Arial"/>
                <a:cs typeface="Arial"/>
                <a:sym typeface="Arial"/>
              </a:rPr>
              <a:t>First we sort the dictionary by the key using the </a:t>
            </a:r>
            <a:r>
              <a:rPr lang="en-US" sz="3600" u="none" cap="none" strike="noStrike">
                <a:solidFill>
                  <a:srgbClr val="FF00FF"/>
                </a:solidFill>
                <a:latin typeface="Arial"/>
                <a:ea typeface="Arial"/>
                <a:cs typeface="Arial"/>
                <a:sym typeface="Arial"/>
              </a:rPr>
              <a:t>items</a:t>
            </a:r>
            <a:r>
              <a:rPr lang="en-US" sz="3600" u="none" cap="none" strike="noStrike">
                <a:solidFill>
                  <a:schemeClr val="lt1"/>
                </a:solidFill>
                <a:latin typeface="Arial"/>
                <a:ea typeface="Arial"/>
                <a:cs typeface="Arial"/>
                <a:sym typeface="Arial"/>
              </a:rPr>
              <a:t>() method and </a:t>
            </a:r>
            <a:r>
              <a:rPr lang="en-US" sz="3600" u="none" cap="none" strike="noStrike">
                <a:solidFill>
                  <a:srgbClr val="FFFF00"/>
                </a:solidFill>
                <a:latin typeface="Arial"/>
                <a:ea typeface="Arial"/>
                <a:cs typeface="Arial"/>
                <a:sym typeface="Arial"/>
              </a:rPr>
              <a:t>sorted() </a:t>
            </a:r>
            <a:r>
              <a:rPr lang="en-US" sz="3600" u="none" cap="none" strike="noStrike">
                <a:solidFill>
                  <a:schemeClr val="lt1"/>
                </a:solidFill>
                <a:latin typeface="Arial"/>
                <a:ea typeface="Arial"/>
                <a:cs typeface="Arial"/>
                <a:sym typeface="Arial"/>
              </a:rPr>
              <a:t>function</a:t>
            </a:r>
            <a:endParaRPr sz="3600" u="none" cap="none" strike="noStrike">
              <a:solidFill>
                <a:schemeClr val="lt1"/>
              </a:solidFill>
              <a:latin typeface="Arial"/>
              <a:ea typeface="Arial"/>
              <a:cs typeface="Arial"/>
              <a:sym typeface="Arial"/>
            </a:endParaRPr>
          </a:p>
        </p:txBody>
      </p:sp>
      <p:sp>
        <p:nvSpPr>
          <p:cNvPr id="82" name="Google Shape;82;p14"/>
          <p:cNvSpPr txBox="1"/>
          <p:nvPr/>
        </p:nvSpPr>
        <p:spPr>
          <a:xfrm>
            <a:off x="3537776" y="5338127"/>
            <a:ext cx="10781728" cy="3390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lt1"/>
              </a:buClr>
              <a:buSzPts val="750"/>
              <a:buFont typeface="Courier New"/>
              <a:buNone/>
            </a:pPr>
            <a:r>
              <a:rPr b="0" i="0" lang="en-US" sz="3000" u="none" cap="none" strike="noStrike">
                <a:solidFill>
                  <a:srgbClr val="00FF00"/>
                </a:solidFill>
                <a:latin typeface="Courier"/>
                <a:ea typeface="Courier"/>
                <a:cs typeface="Courier"/>
                <a:sym typeface="Courier"/>
              </a:rPr>
              <a:t>d</a:t>
            </a:r>
            <a:r>
              <a:rPr b="0" i="0" lang="en-US" sz="3000" u="none" cap="none" strike="noStrike">
                <a:solidFill>
                  <a:schemeClr val="lt1"/>
                </a:solidFill>
                <a:latin typeface="Courier"/>
                <a:ea typeface="Courier"/>
                <a:cs typeface="Courier"/>
                <a:sym typeface="Courier"/>
              </a:rPr>
              <a:t> = {'a':10, 'b':1, 'c':22}</a:t>
            </a:r>
            <a:endParaRPr/>
          </a:p>
          <a:p>
            <a:pPr indent="0" lvl="0" marL="0" marR="0" rtl="0" algn="l">
              <a:lnSpc>
                <a:spcPct val="100000"/>
              </a:lnSpc>
              <a:spcBef>
                <a:spcPts val="0"/>
              </a:spcBef>
              <a:spcAft>
                <a:spcPts val="0"/>
              </a:spcAft>
              <a:buClr>
                <a:schemeClr val="lt1"/>
              </a:buClr>
              <a:buSzPts val="750"/>
              <a:buFont typeface="Courier New"/>
              <a:buNone/>
            </a:pPr>
            <a:r>
              <a:rPr b="0" i="0" lang="en-US" sz="3000" u="none" cap="none" strike="noStrike">
                <a:solidFill>
                  <a:srgbClr val="00FF00"/>
                </a:solidFill>
                <a:latin typeface="Courier"/>
                <a:ea typeface="Courier"/>
                <a:cs typeface="Courier"/>
                <a:sym typeface="Courier"/>
              </a:rPr>
              <a:t>d</a:t>
            </a:r>
            <a:r>
              <a:rPr b="0" i="0" lang="en-US" sz="3000" u="none" cap="none" strike="noStrike">
                <a:solidFill>
                  <a:srgbClr val="FF00FF"/>
                </a:solidFill>
                <a:latin typeface="Courier"/>
                <a:ea typeface="Courier"/>
                <a:cs typeface="Courier"/>
                <a:sym typeface="Courier"/>
              </a:rPr>
              <a:t>.items</a:t>
            </a:r>
            <a:r>
              <a:rPr b="0" i="0" lang="en-US" sz="3000" u="none" cap="none" strike="noStrike">
                <a:solidFill>
                  <a:schemeClr val="lt1"/>
                </a:solidFill>
                <a:latin typeface="Courier"/>
                <a:ea typeface="Courier"/>
                <a:cs typeface="Courier"/>
                <a:sym typeface="Courier"/>
              </a:rPr>
              <a:t>()</a:t>
            </a:r>
            <a:endParaRPr/>
          </a:p>
          <a:p>
            <a:pPr indent="0" lvl="0" marL="0" marR="0" rtl="0" algn="l">
              <a:lnSpc>
                <a:spcPct val="100000"/>
              </a:lnSpc>
              <a:spcBef>
                <a:spcPts val="0"/>
              </a:spcBef>
              <a:spcAft>
                <a:spcPts val="0"/>
              </a:spcAft>
              <a:buClr>
                <a:schemeClr val="lt1"/>
              </a:buClr>
              <a:buSzPts val="750"/>
              <a:buFont typeface="Courier New"/>
              <a:buNone/>
            </a:pPr>
            <a:r>
              <a:rPr b="0" i="0" lang="en-US" sz="3000" u="none" cap="none" strike="noStrike">
                <a:solidFill>
                  <a:schemeClr val="lt1"/>
                </a:solidFill>
                <a:latin typeface="Courier"/>
                <a:ea typeface="Courier"/>
                <a:cs typeface="Courier"/>
                <a:sym typeface="Courier"/>
              </a:rPr>
              <a:t>dict_items([</a:t>
            </a:r>
            <a:r>
              <a:rPr b="0" i="0" lang="en-US" sz="3000" u="none" cap="none" strike="noStrike">
                <a:solidFill>
                  <a:srgbClr val="FF7F00"/>
                </a:solidFill>
                <a:latin typeface="Courier"/>
                <a:ea typeface="Courier"/>
                <a:cs typeface="Courier"/>
                <a:sym typeface="Courier"/>
              </a:rPr>
              <a:t>('a', 10)</a:t>
            </a:r>
            <a:r>
              <a:rPr b="0" i="0" lang="en-US" sz="3000" u="none" cap="none" strike="noStrike">
                <a:solidFill>
                  <a:schemeClr val="lt1"/>
                </a:solidFill>
                <a:latin typeface="Courier"/>
                <a:ea typeface="Courier"/>
                <a:cs typeface="Courier"/>
                <a:sym typeface="Courier"/>
              </a:rPr>
              <a:t>, </a:t>
            </a:r>
            <a:r>
              <a:rPr b="0" i="0" lang="en-US" sz="3000" u="none" cap="none" strike="noStrike">
                <a:solidFill>
                  <a:srgbClr val="FF7F00"/>
                </a:solidFill>
                <a:latin typeface="Courier"/>
                <a:ea typeface="Courier"/>
                <a:cs typeface="Courier"/>
                <a:sym typeface="Courier"/>
              </a:rPr>
              <a:t>('c', 22)</a:t>
            </a:r>
            <a:r>
              <a:rPr b="0" i="0" lang="en-US" sz="3000" u="none" cap="none" strike="noStrike">
                <a:solidFill>
                  <a:schemeClr val="lt1"/>
                </a:solidFill>
                <a:latin typeface="Courier"/>
                <a:ea typeface="Courier"/>
                <a:cs typeface="Courier"/>
                <a:sym typeface="Courier"/>
              </a:rPr>
              <a:t>, </a:t>
            </a:r>
            <a:r>
              <a:rPr b="0" i="0" lang="en-US" sz="3000" u="none" cap="none" strike="noStrike">
                <a:solidFill>
                  <a:srgbClr val="FF7F00"/>
                </a:solidFill>
                <a:latin typeface="Courier"/>
                <a:ea typeface="Courier"/>
                <a:cs typeface="Courier"/>
                <a:sym typeface="Courier"/>
              </a:rPr>
              <a:t>('b', 1)</a:t>
            </a:r>
            <a:r>
              <a:rPr b="0" i="0" lang="en-US" sz="3000" u="none" cap="none" strike="noStrike">
                <a:solidFill>
                  <a:schemeClr val="lt1"/>
                </a:solidFill>
                <a:latin typeface="Courier"/>
                <a:ea typeface="Courier"/>
                <a:cs typeface="Courier"/>
                <a:sym typeface="Courier"/>
              </a:rPr>
              <a:t>])</a:t>
            </a:r>
            <a:endParaRPr b="0" i="0" sz="3000" u="none" cap="none" strike="noStrike">
              <a:solidFill>
                <a:schemeClr val="lt1"/>
              </a:solidFill>
              <a:latin typeface="Courier"/>
              <a:ea typeface="Courier"/>
              <a:cs typeface="Courier"/>
              <a:sym typeface="Courier"/>
            </a:endParaRPr>
          </a:p>
          <a:p>
            <a:pPr indent="0" lvl="0" marL="0" marR="0" rtl="0" algn="l">
              <a:lnSpc>
                <a:spcPct val="100000"/>
              </a:lnSpc>
              <a:spcBef>
                <a:spcPts val="0"/>
              </a:spcBef>
              <a:spcAft>
                <a:spcPts val="0"/>
              </a:spcAft>
              <a:buClr>
                <a:schemeClr val="lt1"/>
              </a:buClr>
              <a:buSzPts val="750"/>
              <a:buFont typeface="Courier"/>
              <a:buNone/>
            </a:pPr>
            <a:r>
              <a:rPr b="0" i="0" lang="en-US" sz="3000" u="none" cap="none" strike="noStrike">
                <a:solidFill>
                  <a:srgbClr val="FFFF00"/>
                </a:solidFill>
                <a:latin typeface="Courier"/>
                <a:ea typeface="Courier"/>
                <a:cs typeface="Courier"/>
                <a:sym typeface="Courier"/>
              </a:rPr>
              <a:t>sorted(</a:t>
            </a:r>
            <a:r>
              <a:rPr b="0" i="0" lang="en-US" sz="3000" u="none" cap="none" strike="noStrike">
                <a:solidFill>
                  <a:srgbClr val="00FF00"/>
                </a:solidFill>
                <a:latin typeface="Courier"/>
                <a:ea typeface="Courier"/>
                <a:cs typeface="Courier"/>
                <a:sym typeface="Courier"/>
              </a:rPr>
              <a:t>d</a:t>
            </a:r>
            <a:r>
              <a:rPr b="0" i="0" lang="en-US" sz="3000" u="none" cap="none" strike="noStrike">
                <a:solidFill>
                  <a:srgbClr val="FF00FF"/>
                </a:solidFill>
                <a:latin typeface="Courier"/>
                <a:ea typeface="Courier"/>
                <a:cs typeface="Courier"/>
                <a:sym typeface="Courier"/>
              </a:rPr>
              <a:t>.items</a:t>
            </a:r>
            <a:r>
              <a:rPr b="0" i="0" lang="en-US" sz="3000" u="none" cap="none" strike="noStrike">
                <a:solidFill>
                  <a:schemeClr val="lt1"/>
                </a:solidFill>
                <a:latin typeface="Courier"/>
                <a:ea typeface="Courier"/>
                <a:cs typeface="Courier"/>
                <a:sym typeface="Courier"/>
              </a:rPr>
              <a:t>()</a:t>
            </a:r>
            <a:r>
              <a:rPr b="0" i="0" lang="en-US" sz="3000" u="none" cap="none" strike="noStrike">
                <a:solidFill>
                  <a:srgbClr val="FFFC00"/>
                </a:solidFill>
                <a:latin typeface="Courier"/>
                <a:ea typeface="Courier"/>
                <a:cs typeface="Courier"/>
                <a:sym typeface="Courier"/>
              </a:rPr>
              <a:t>)</a:t>
            </a:r>
            <a:endParaRPr b="0" i="0" sz="3000" u="none" cap="none" strike="noStrike">
              <a:solidFill>
                <a:srgbClr val="FFFC00"/>
              </a:solidFill>
              <a:latin typeface="Courier"/>
              <a:ea typeface="Courier"/>
              <a:cs typeface="Courier"/>
              <a:sym typeface="Courier"/>
            </a:endParaRPr>
          </a:p>
          <a:p>
            <a:pPr indent="0" lvl="0" marL="0" marR="0" rtl="0" algn="l">
              <a:lnSpc>
                <a:spcPct val="100000"/>
              </a:lnSpc>
              <a:spcBef>
                <a:spcPts val="0"/>
              </a:spcBef>
              <a:spcAft>
                <a:spcPts val="0"/>
              </a:spcAft>
              <a:buClr>
                <a:schemeClr val="lt1"/>
              </a:buClr>
              <a:buSzPts val="750"/>
              <a:buFont typeface="Courier New"/>
              <a:buNone/>
            </a:pPr>
            <a:r>
              <a:rPr b="0" i="0" lang="en-US" sz="3000" u="none" cap="none" strike="noStrike">
                <a:solidFill>
                  <a:schemeClr val="lt1"/>
                </a:solidFill>
                <a:latin typeface="Courier"/>
                <a:ea typeface="Courier"/>
                <a:cs typeface="Courier"/>
                <a:sym typeface="Courier"/>
              </a:rPr>
              <a:t>[</a:t>
            </a:r>
            <a:r>
              <a:rPr b="0" i="0" lang="en-US" sz="3000" u="none" cap="none" strike="noStrike">
                <a:solidFill>
                  <a:srgbClr val="FF7F00"/>
                </a:solidFill>
                <a:latin typeface="Courier"/>
                <a:ea typeface="Courier"/>
                <a:cs typeface="Courier"/>
                <a:sym typeface="Courier"/>
              </a:rPr>
              <a:t>('a', 10)</a:t>
            </a:r>
            <a:r>
              <a:rPr b="0" i="0" lang="en-US" sz="3000" u="none" cap="none" strike="noStrike">
                <a:solidFill>
                  <a:schemeClr val="lt1"/>
                </a:solidFill>
                <a:latin typeface="Courier"/>
                <a:ea typeface="Courier"/>
                <a:cs typeface="Courier"/>
                <a:sym typeface="Courier"/>
              </a:rPr>
              <a:t>, </a:t>
            </a:r>
            <a:r>
              <a:rPr b="0" i="0" lang="en-US" sz="3000" u="none" cap="none" strike="noStrike">
                <a:solidFill>
                  <a:srgbClr val="FF7F00"/>
                </a:solidFill>
                <a:latin typeface="Courier"/>
                <a:ea typeface="Courier"/>
                <a:cs typeface="Courier"/>
                <a:sym typeface="Courier"/>
              </a:rPr>
              <a:t>('b', 1)</a:t>
            </a:r>
            <a:r>
              <a:rPr b="0" i="0" lang="en-US" sz="3000" u="none" cap="none" strike="noStrike">
                <a:solidFill>
                  <a:schemeClr val="lt1"/>
                </a:solidFill>
                <a:latin typeface="Courier"/>
                <a:ea typeface="Courier"/>
                <a:cs typeface="Courier"/>
                <a:sym typeface="Courier"/>
              </a:rPr>
              <a:t>, </a:t>
            </a:r>
            <a:r>
              <a:rPr b="0" i="0" lang="en-US" sz="3000" u="none" cap="none" strike="noStrike">
                <a:solidFill>
                  <a:srgbClr val="FF7F00"/>
                </a:solidFill>
                <a:latin typeface="Courier"/>
                <a:ea typeface="Courier"/>
                <a:cs typeface="Courier"/>
                <a:sym typeface="Courier"/>
              </a:rPr>
              <a:t>('c', 22)</a:t>
            </a:r>
            <a:r>
              <a:rPr b="0" i="0" lang="en-US" sz="3000" u="none" cap="none" strike="noStrike">
                <a:solidFill>
                  <a:schemeClr val="lt1"/>
                </a:solidFill>
                <a:latin typeface="Courier"/>
                <a:ea typeface="Courier"/>
                <a:cs typeface="Courier"/>
                <a:sym typeface="Courier"/>
              </a:rPr>
              <a:t>]</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 name="Shape 86"/>
        <p:cNvGrpSpPr/>
        <p:nvPr/>
      </p:nvGrpSpPr>
      <p:grpSpPr>
        <a:xfrm>
          <a:off x="0" y="0"/>
          <a:ext cx="0" cy="0"/>
          <a:chOff x="0" y="0"/>
          <a:chExt cx="0" cy="0"/>
        </a:xfrm>
      </p:grpSpPr>
      <p:sp>
        <p:nvSpPr>
          <p:cNvPr id="87" name="Google Shape;87;p15"/>
          <p:cNvSpPr txBox="1"/>
          <p:nvPr>
            <p:ph type="title"/>
          </p:nvPr>
        </p:nvSpPr>
        <p:spPr>
          <a:xfrm>
            <a:off x="1155700" y="789708"/>
            <a:ext cx="13932000" cy="1750191"/>
          </a:xfrm>
          <a:prstGeom prst="rect">
            <a:avLst/>
          </a:prstGeom>
          <a:noFill/>
          <a:ln>
            <a:noFill/>
          </a:ln>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rgbClr val="FF00FF"/>
              </a:buClr>
              <a:buSzPts val="1950"/>
              <a:buFont typeface="Cabin"/>
              <a:buNone/>
            </a:pPr>
            <a:r>
              <a:rPr lang="en-US" sz="7800" u="none" cap="none" strike="noStrike">
                <a:solidFill>
                  <a:srgbClr val="FFD966"/>
                </a:solidFill>
                <a:latin typeface="Arial"/>
                <a:ea typeface="Arial"/>
                <a:cs typeface="Arial"/>
                <a:sym typeface="Arial"/>
              </a:rPr>
              <a:t>Sort by Values Instead of Key</a:t>
            </a:r>
            <a:endParaRPr/>
          </a:p>
        </p:txBody>
      </p:sp>
      <p:sp>
        <p:nvSpPr>
          <p:cNvPr id="88" name="Google Shape;88;p15"/>
          <p:cNvSpPr txBox="1"/>
          <p:nvPr>
            <p:ph idx="1" type="body"/>
          </p:nvPr>
        </p:nvSpPr>
        <p:spPr>
          <a:xfrm>
            <a:off x="736601" y="2603500"/>
            <a:ext cx="5788025" cy="4677833"/>
          </a:xfrm>
          <a:prstGeom prst="rect">
            <a:avLst/>
          </a:prstGeom>
          <a:noFill/>
          <a:ln>
            <a:noFill/>
          </a:ln>
        </p:spPr>
        <p:txBody>
          <a:bodyPr anchorCtr="0" anchor="ctr" bIns="50800" lIns="50800" spcFirstLastPara="1" rIns="50800" wrap="square" tIns="50800">
            <a:noAutofit/>
          </a:bodyPr>
          <a:lstStyle/>
          <a:p>
            <a:pPr indent="-609600" lvl="0" marL="1104900" marR="0" rtl="0" algn="l">
              <a:lnSpc>
                <a:spcPct val="100000"/>
              </a:lnSpc>
              <a:spcBef>
                <a:spcPts val="0"/>
              </a:spcBef>
              <a:spcAft>
                <a:spcPts val="0"/>
              </a:spcAft>
              <a:buClr>
                <a:schemeClr val="lt1"/>
              </a:buClr>
              <a:buSzPts val="3600"/>
              <a:buFont typeface="Cabin"/>
              <a:buChar char="•"/>
            </a:pPr>
            <a:r>
              <a:rPr lang="en-US" sz="3600" u="none" cap="none" strike="noStrike">
                <a:solidFill>
                  <a:schemeClr val="lt1"/>
                </a:solidFill>
                <a:latin typeface="Arial"/>
                <a:ea typeface="Arial"/>
                <a:cs typeface="Arial"/>
                <a:sym typeface="Arial"/>
              </a:rPr>
              <a:t>If we could construct a list of </a:t>
            </a:r>
            <a:r>
              <a:rPr lang="en-US" sz="3600" u="none" cap="none" strike="noStrike">
                <a:solidFill>
                  <a:srgbClr val="FF7F00"/>
                </a:solidFill>
                <a:latin typeface="Arial"/>
                <a:ea typeface="Arial"/>
                <a:cs typeface="Arial"/>
                <a:sym typeface="Arial"/>
              </a:rPr>
              <a:t>tuples</a:t>
            </a:r>
            <a:r>
              <a:rPr lang="en-US" sz="3600" u="none" cap="none" strike="noStrike">
                <a:solidFill>
                  <a:schemeClr val="lt1"/>
                </a:solidFill>
                <a:latin typeface="Arial"/>
                <a:ea typeface="Arial"/>
                <a:cs typeface="Arial"/>
                <a:sym typeface="Arial"/>
              </a:rPr>
              <a:t> of the form </a:t>
            </a:r>
            <a:r>
              <a:rPr lang="en-US" sz="3600" u="none" cap="none" strike="noStrike">
                <a:solidFill>
                  <a:srgbClr val="FF7F00"/>
                </a:solidFill>
                <a:latin typeface="Arial"/>
                <a:ea typeface="Arial"/>
                <a:cs typeface="Arial"/>
                <a:sym typeface="Arial"/>
              </a:rPr>
              <a:t>(value, key)</a:t>
            </a:r>
            <a:r>
              <a:rPr lang="en-US" sz="3600" u="none" cap="none" strike="noStrike">
                <a:solidFill>
                  <a:schemeClr val="lt1"/>
                </a:solidFill>
                <a:latin typeface="Arial"/>
                <a:ea typeface="Arial"/>
                <a:cs typeface="Arial"/>
                <a:sym typeface="Arial"/>
              </a:rPr>
              <a:t> we could </a:t>
            </a:r>
            <a:r>
              <a:rPr lang="en-US" sz="3600" u="none" cap="none" strike="noStrike">
                <a:solidFill>
                  <a:srgbClr val="FF00FF"/>
                </a:solidFill>
                <a:latin typeface="Arial"/>
                <a:ea typeface="Arial"/>
                <a:cs typeface="Arial"/>
                <a:sym typeface="Arial"/>
              </a:rPr>
              <a:t>sort</a:t>
            </a:r>
            <a:r>
              <a:rPr lang="en-US" sz="3600" u="none" cap="none" strike="noStrike">
                <a:solidFill>
                  <a:schemeClr val="lt1"/>
                </a:solidFill>
                <a:latin typeface="Arial"/>
                <a:ea typeface="Arial"/>
                <a:cs typeface="Arial"/>
                <a:sym typeface="Arial"/>
              </a:rPr>
              <a:t> by value</a:t>
            </a:r>
            <a:endParaRPr/>
          </a:p>
          <a:p>
            <a:pPr indent="-609600" lvl="0" marL="1104900" marR="0" rtl="0" algn="l">
              <a:lnSpc>
                <a:spcPct val="100000"/>
              </a:lnSpc>
              <a:spcBef>
                <a:spcPts val="2300"/>
              </a:spcBef>
              <a:spcAft>
                <a:spcPts val="0"/>
              </a:spcAft>
              <a:buClr>
                <a:schemeClr val="lt1"/>
              </a:buClr>
              <a:buSzPts val="3600"/>
              <a:buFont typeface="Cabin"/>
              <a:buChar char="•"/>
            </a:pPr>
            <a:r>
              <a:rPr lang="en-US" sz="3600" u="none" cap="none" strike="noStrike">
                <a:solidFill>
                  <a:schemeClr val="lt1"/>
                </a:solidFill>
                <a:latin typeface="Arial"/>
                <a:ea typeface="Arial"/>
                <a:cs typeface="Arial"/>
                <a:sym typeface="Arial"/>
              </a:rPr>
              <a:t>We do this with a </a:t>
            </a:r>
            <a:r>
              <a:rPr lang="en-US" sz="3600" u="none" cap="none" strike="noStrike">
                <a:solidFill>
                  <a:srgbClr val="FFFF00"/>
                </a:solidFill>
                <a:latin typeface="Arial"/>
                <a:ea typeface="Arial"/>
                <a:cs typeface="Arial"/>
                <a:sym typeface="Arial"/>
              </a:rPr>
              <a:t>for</a:t>
            </a:r>
            <a:r>
              <a:rPr lang="en-US" sz="3600" u="none" cap="none" strike="noStrike">
                <a:solidFill>
                  <a:schemeClr val="lt1"/>
                </a:solidFill>
                <a:latin typeface="Arial"/>
                <a:ea typeface="Arial"/>
                <a:cs typeface="Arial"/>
                <a:sym typeface="Arial"/>
              </a:rPr>
              <a:t> loop that creates a list of tuples  </a:t>
            </a:r>
            <a:endParaRPr/>
          </a:p>
        </p:txBody>
      </p:sp>
      <p:sp>
        <p:nvSpPr>
          <p:cNvPr id="89" name="Google Shape;89;p15"/>
          <p:cNvSpPr txBox="1"/>
          <p:nvPr/>
        </p:nvSpPr>
        <p:spPr>
          <a:xfrm>
            <a:off x="7335014" y="2603499"/>
            <a:ext cx="8328320" cy="6014027"/>
          </a:xfrm>
          <a:prstGeom prst="rect">
            <a:avLst/>
          </a:prstGeom>
          <a:noFill/>
          <a:ln>
            <a:noFill/>
          </a:ln>
        </p:spPr>
        <p:txBody>
          <a:bodyPr anchorCtr="0" anchor="ctr" bIns="0" lIns="0" spcFirstLastPara="1" rIns="0" wrap="square" tIns="0">
            <a:noAutofit/>
          </a:bodyPr>
          <a:lstStyle/>
          <a:p>
            <a:pPr indent="0" lvl="1" marL="0" marR="0" rtl="0" algn="l">
              <a:lnSpc>
                <a:spcPct val="100000"/>
              </a:lnSpc>
              <a:spcBef>
                <a:spcPts val="0"/>
              </a:spcBef>
              <a:spcAft>
                <a:spcPts val="0"/>
              </a:spcAft>
              <a:buClr>
                <a:schemeClr val="lt1"/>
              </a:buClr>
              <a:buSzPts val="750"/>
              <a:buFont typeface="Courier New"/>
              <a:buNone/>
            </a:pPr>
            <a:r>
              <a:rPr b="0" i="0" lang="en-US" sz="3000" u="none" cap="none" strike="noStrike">
                <a:solidFill>
                  <a:srgbClr val="00FF00"/>
                </a:solidFill>
                <a:latin typeface="Courier"/>
                <a:ea typeface="Courier"/>
                <a:cs typeface="Courier"/>
                <a:sym typeface="Courier"/>
              </a:rPr>
              <a:t>c</a:t>
            </a:r>
            <a:r>
              <a:rPr b="0" i="0" lang="en-US" sz="3000" u="none" cap="none" strike="noStrike">
                <a:solidFill>
                  <a:schemeClr val="lt1"/>
                </a:solidFill>
                <a:latin typeface="Courier"/>
                <a:ea typeface="Courier"/>
                <a:cs typeface="Courier"/>
                <a:sym typeface="Courier"/>
              </a:rPr>
              <a:t> = {'a':10, 'b':1, 'c':22}</a:t>
            </a:r>
            <a:endParaRPr/>
          </a:p>
          <a:p>
            <a:pPr indent="0" lvl="1" marL="0" marR="0" rtl="0" algn="l">
              <a:lnSpc>
                <a:spcPct val="100000"/>
              </a:lnSpc>
              <a:spcBef>
                <a:spcPts val="0"/>
              </a:spcBef>
              <a:spcAft>
                <a:spcPts val="0"/>
              </a:spcAft>
              <a:buClr>
                <a:schemeClr val="lt1"/>
              </a:buClr>
              <a:buSzPts val="750"/>
              <a:buFont typeface="Courier New"/>
              <a:buNone/>
            </a:pPr>
            <a:r>
              <a:rPr b="0" i="0" lang="en-US" sz="3000" u="none" cap="none" strike="noStrike">
                <a:solidFill>
                  <a:srgbClr val="00FF00"/>
                </a:solidFill>
                <a:latin typeface="Courier"/>
                <a:ea typeface="Courier"/>
                <a:cs typeface="Courier"/>
                <a:sym typeface="Courier"/>
              </a:rPr>
              <a:t>tmp</a:t>
            </a:r>
            <a:r>
              <a:rPr b="0" i="0" lang="en-US" sz="3000" u="none" cap="none" strike="noStrike">
                <a:solidFill>
                  <a:schemeClr val="lt1"/>
                </a:solidFill>
                <a:latin typeface="Courier"/>
                <a:ea typeface="Courier"/>
                <a:cs typeface="Courier"/>
                <a:sym typeface="Courier"/>
              </a:rPr>
              <a:t> = </a:t>
            </a:r>
            <a:r>
              <a:rPr b="0" i="0" lang="en-US" sz="3000" u="none" cap="none" strike="noStrike">
                <a:solidFill>
                  <a:srgbClr val="FF00FF"/>
                </a:solidFill>
                <a:latin typeface="Courier"/>
                <a:ea typeface="Courier"/>
                <a:cs typeface="Courier"/>
                <a:sym typeface="Courier"/>
              </a:rPr>
              <a:t>list</a:t>
            </a:r>
            <a:r>
              <a:rPr b="0" i="0" lang="en-US" sz="3000" u="none" cap="none" strike="noStrike">
                <a:solidFill>
                  <a:schemeClr val="lt1"/>
                </a:solidFill>
                <a:latin typeface="Courier"/>
                <a:ea typeface="Courier"/>
                <a:cs typeface="Courier"/>
                <a:sym typeface="Courier"/>
              </a:rPr>
              <a:t>()</a:t>
            </a:r>
            <a:endParaRPr/>
          </a:p>
          <a:p>
            <a:pPr indent="0" lvl="1" marL="0" marR="0" rtl="0" algn="l">
              <a:lnSpc>
                <a:spcPct val="100000"/>
              </a:lnSpc>
              <a:spcBef>
                <a:spcPts val="0"/>
              </a:spcBef>
              <a:spcAft>
                <a:spcPts val="0"/>
              </a:spcAft>
              <a:buClr>
                <a:schemeClr val="lt1"/>
              </a:buClr>
              <a:buSzPts val="750"/>
              <a:buFont typeface="Courier New"/>
              <a:buNone/>
            </a:pPr>
            <a:r>
              <a:rPr b="0" i="0" lang="en-US" sz="3000" u="none" cap="none" strike="noStrike">
                <a:solidFill>
                  <a:srgbClr val="FFFF00"/>
                </a:solidFill>
                <a:latin typeface="Courier"/>
                <a:ea typeface="Courier"/>
                <a:cs typeface="Courier"/>
                <a:sym typeface="Courier"/>
              </a:rPr>
              <a:t>for</a:t>
            </a:r>
            <a:r>
              <a:rPr b="0" i="0" lang="en-US" sz="3000" u="none" cap="none" strike="noStrike">
                <a:solidFill>
                  <a:schemeClr val="lt1"/>
                </a:solidFill>
                <a:latin typeface="Courier"/>
                <a:ea typeface="Courier"/>
                <a:cs typeface="Courier"/>
                <a:sym typeface="Courier"/>
              </a:rPr>
              <a:t> </a:t>
            </a:r>
            <a:r>
              <a:rPr b="0" i="0" lang="en-US" sz="3000" u="none" cap="none" strike="noStrike">
                <a:solidFill>
                  <a:srgbClr val="FF7F00"/>
                </a:solidFill>
                <a:latin typeface="Courier"/>
                <a:ea typeface="Courier"/>
                <a:cs typeface="Courier"/>
                <a:sym typeface="Courier"/>
              </a:rPr>
              <a:t>k, v</a:t>
            </a:r>
            <a:r>
              <a:rPr b="0" i="0" lang="en-US" sz="3000" u="none" cap="none" strike="noStrike">
                <a:solidFill>
                  <a:schemeClr val="lt1"/>
                </a:solidFill>
                <a:latin typeface="Courier"/>
                <a:ea typeface="Courier"/>
                <a:cs typeface="Courier"/>
                <a:sym typeface="Courier"/>
              </a:rPr>
              <a:t> </a:t>
            </a:r>
            <a:r>
              <a:rPr b="0" i="0" lang="en-US" sz="3000" u="none" cap="none" strike="noStrike">
                <a:solidFill>
                  <a:srgbClr val="FFFF00"/>
                </a:solidFill>
                <a:latin typeface="Courier"/>
                <a:ea typeface="Courier"/>
                <a:cs typeface="Courier"/>
                <a:sym typeface="Courier"/>
              </a:rPr>
              <a:t>in</a:t>
            </a:r>
            <a:r>
              <a:rPr b="0" i="0" lang="en-US" sz="3000" u="none" cap="none" strike="noStrike">
                <a:solidFill>
                  <a:schemeClr val="lt1"/>
                </a:solidFill>
                <a:latin typeface="Courier"/>
                <a:ea typeface="Courier"/>
                <a:cs typeface="Courier"/>
                <a:sym typeface="Courier"/>
              </a:rPr>
              <a:t> </a:t>
            </a:r>
            <a:r>
              <a:rPr b="0" i="0" lang="en-US" sz="3000" u="none" cap="none" strike="noStrike">
                <a:solidFill>
                  <a:srgbClr val="00FF00"/>
                </a:solidFill>
                <a:latin typeface="Courier"/>
                <a:ea typeface="Courier"/>
                <a:cs typeface="Courier"/>
                <a:sym typeface="Courier"/>
              </a:rPr>
              <a:t>c</a:t>
            </a:r>
            <a:r>
              <a:rPr b="0" i="0" lang="en-US" sz="3000" u="none" cap="none" strike="noStrike">
                <a:solidFill>
                  <a:srgbClr val="FF00FF"/>
                </a:solidFill>
                <a:latin typeface="Courier"/>
                <a:ea typeface="Courier"/>
                <a:cs typeface="Courier"/>
                <a:sym typeface="Courier"/>
              </a:rPr>
              <a:t>.items</a:t>
            </a:r>
            <a:r>
              <a:rPr b="0" i="0" lang="en-US" sz="3000" u="none" cap="none" strike="noStrike">
                <a:solidFill>
                  <a:schemeClr val="lt1"/>
                </a:solidFill>
                <a:latin typeface="Courier"/>
                <a:ea typeface="Courier"/>
                <a:cs typeface="Courier"/>
                <a:sym typeface="Courier"/>
              </a:rPr>
              <a:t>():</a:t>
            </a:r>
            <a:endParaRPr b="0" i="0" sz="3000" u="none" cap="none" strike="noStrike">
              <a:solidFill>
                <a:schemeClr val="lt1"/>
              </a:solidFill>
              <a:latin typeface="Courier"/>
              <a:ea typeface="Courier"/>
              <a:cs typeface="Courier"/>
              <a:sym typeface="Courier"/>
            </a:endParaRPr>
          </a:p>
          <a:p>
            <a:pPr indent="0" lvl="1" marL="0" marR="0" rtl="0" algn="l">
              <a:lnSpc>
                <a:spcPct val="100000"/>
              </a:lnSpc>
              <a:spcBef>
                <a:spcPts val="0"/>
              </a:spcBef>
              <a:spcAft>
                <a:spcPts val="0"/>
              </a:spcAft>
              <a:buClr>
                <a:schemeClr val="lt1"/>
              </a:buClr>
              <a:buSzPts val="750"/>
              <a:buFont typeface="Courier New"/>
              <a:buNone/>
            </a:pPr>
            <a:r>
              <a:rPr b="0" i="0" lang="en-US" sz="3000" u="none" cap="none" strike="noStrike">
                <a:solidFill>
                  <a:schemeClr val="lt1"/>
                </a:solidFill>
                <a:latin typeface="Courier"/>
                <a:ea typeface="Courier"/>
                <a:cs typeface="Courier"/>
                <a:sym typeface="Courier"/>
              </a:rPr>
              <a:t>    </a:t>
            </a:r>
            <a:r>
              <a:rPr b="0" i="0" lang="en-US" sz="3000" u="none" cap="none" strike="noStrike">
                <a:solidFill>
                  <a:srgbClr val="00FF00"/>
                </a:solidFill>
                <a:latin typeface="Courier"/>
                <a:ea typeface="Courier"/>
                <a:cs typeface="Courier"/>
                <a:sym typeface="Courier"/>
              </a:rPr>
              <a:t>tmp</a:t>
            </a:r>
            <a:r>
              <a:rPr b="0" i="0" lang="en-US" sz="3000" u="none" cap="none" strike="noStrike">
                <a:solidFill>
                  <a:srgbClr val="FF00FF"/>
                </a:solidFill>
                <a:latin typeface="Courier"/>
                <a:ea typeface="Courier"/>
                <a:cs typeface="Courier"/>
                <a:sym typeface="Courier"/>
              </a:rPr>
              <a:t>.append</a:t>
            </a:r>
            <a:r>
              <a:rPr b="0" i="0" lang="en-US" sz="3000" u="none" cap="none" strike="noStrike">
                <a:solidFill>
                  <a:schemeClr val="lt1"/>
                </a:solidFill>
                <a:latin typeface="Courier"/>
                <a:ea typeface="Courier"/>
                <a:cs typeface="Courier"/>
                <a:sym typeface="Courier"/>
              </a:rPr>
              <a:t>( </a:t>
            </a:r>
            <a:r>
              <a:rPr b="0" i="0" lang="en-US" sz="3000" u="none" cap="none" strike="noStrike">
                <a:solidFill>
                  <a:srgbClr val="FF7F00"/>
                </a:solidFill>
                <a:latin typeface="Courier"/>
                <a:ea typeface="Courier"/>
                <a:cs typeface="Courier"/>
                <a:sym typeface="Courier"/>
              </a:rPr>
              <a:t>(v, k)</a:t>
            </a:r>
            <a:r>
              <a:rPr b="0" i="0" lang="en-US" sz="3000" u="none" cap="none" strike="noStrike">
                <a:solidFill>
                  <a:schemeClr val="lt1"/>
                </a:solidFill>
                <a:latin typeface="Courier"/>
                <a:ea typeface="Courier"/>
                <a:cs typeface="Courier"/>
                <a:sym typeface="Courier"/>
              </a:rPr>
              <a:t> )</a:t>
            </a:r>
            <a:endParaRPr/>
          </a:p>
          <a:p>
            <a:pPr indent="0" lvl="1" marL="0" marR="0" rtl="0" algn="l">
              <a:lnSpc>
                <a:spcPct val="100000"/>
              </a:lnSpc>
              <a:spcBef>
                <a:spcPts val="0"/>
              </a:spcBef>
              <a:spcAft>
                <a:spcPts val="0"/>
              </a:spcAft>
              <a:buClr>
                <a:schemeClr val="lt1"/>
              </a:buClr>
              <a:buSzPts val="750"/>
              <a:buFont typeface="Courier New"/>
              <a:buNone/>
            </a:pPr>
            <a:r>
              <a:t/>
            </a:r>
            <a:endParaRPr b="0" i="0" sz="3000" u="none" cap="none" strike="noStrike">
              <a:solidFill>
                <a:schemeClr val="lt1"/>
              </a:solidFill>
              <a:latin typeface="Courier"/>
              <a:ea typeface="Courier"/>
              <a:cs typeface="Courier"/>
              <a:sym typeface="Courier"/>
            </a:endParaRPr>
          </a:p>
          <a:p>
            <a:pPr indent="0" lvl="1" marL="0" marR="0" rtl="0" algn="l">
              <a:lnSpc>
                <a:spcPct val="100000"/>
              </a:lnSpc>
              <a:spcBef>
                <a:spcPts val="0"/>
              </a:spcBef>
              <a:spcAft>
                <a:spcPts val="0"/>
              </a:spcAft>
              <a:buClr>
                <a:schemeClr val="lt1"/>
              </a:buClr>
              <a:buSzPts val="750"/>
              <a:buFont typeface="Courier"/>
              <a:buNone/>
            </a:pPr>
            <a:r>
              <a:rPr b="0" i="0" lang="en-US" sz="3000" u="none" cap="none" strike="noStrike">
                <a:solidFill>
                  <a:srgbClr val="FFFF00"/>
                </a:solidFill>
                <a:latin typeface="Courier"/>
                <a:ea typeface="Courier"/>
                <a:cs typeface="Courier"/>
                <a:sym typeface="Courier"/>
              </a:rPr>
              <a:t>print</a:t>
            </a:r>
            <a:r>
              <a:rPr b="0" i="0" lang="en-US" sz="3000" u="none" cap="none" strike="noStrike">
                <a:solidFill>
                  <a:schemeClr val="lt1"/>
                </a:solidFill>
                <a:latin typeface="Courier"/>
                <a:ea typeface="Courier"/>
                <a:cs typeface="Courier"/>
                <a:sym typeface="Courier"/>
              </a:rPr>
              <a:t>(</a:t>
            </a:r>
            <a:r>
              <a:rPr b="0" i="0" lang="en-US" sz="3000" u="none" cap="none" strike="noStrike">
                <a:solidFill>
                  <a:srgbClr val="00FF00"/>
                </a:solidFill>
                <a:latin typeface="Courier"/>
                <a:ea typeface="Courier"/>
                <a:cs typeface="Courier"/>
                <a:sym typeface="Courier"/>
              </a:rPr>
              <a:t>tmp</a:t>
            </a:r>
            <a:r>
              <a:rPr b="0" i="0" lang="en-US" sz="3000" u="none" cap="none" strike="noStrike">
                <a:solidFill>
                  <a:srgbClr val="FFFF00"/>
                </a:solidFill>
                <a:latin typeface="Courier"/>
                <a:ea typeface="Courier"/>
                <a:cs typeface="Courier"/>
                <a:sym typeface="Courier"/>
              </a:rPr>
              <a:t>)</a:t>
            </a:r>
            <a:endParaRPr b="0" i="0" sz="3000" u="none" cap="none" strike="noStrike">
              <a:solidFill>
                <a:srgbClr val="00FF00"/>
              </a:solidFill>
              <a:latin typeface="Courier"/>
              <a:ea typeface="Courier"/>
              <a:cs typeface="Courier"/>
              <a:sym typeface="Courier"/>
            </a:endParaRPr>
          </a:p>
          <a:p>
            <a:pPr indent="0" lvl="1" marL="0" marR="0" rtl="0" algn="l">
              <a:lnSpc>
                <a:spcPct val="100000"/>
              </a:lnSpc>
              <a:spcBef>
                <a:spcPts val="0"/>
              </a:spcBef>
              <a:spcAft>
                <a:spcPts val="0"/>
              </a:spcAft>
              <a:buClr>
                <a:schemeClr val="lt1"/>
              </a:buClr>
              <a:buSzPts val="750"/>
              <a:buFont typeface="Courier New"/>
              <a:buNone/>
            </a:pPr>
            <a:r>
              <a:rPr b="0" i="0" lang="en-US" sz="3000" u="none" cap="none" strike="noStrike">
                <a:solidFill>
                  <a:schemeClr val="lt1"/>
                </a:solidFill>
                <a:latin typeface="Courier"/>
                <a:ea typeface="Courier"/>
                <a:cs typeface="Courier"/>
                <a:sym typeface="Courier"/>
              </a:rPr>
              <a:t>[(10, 'a'), (22, 'c'), (1, 'b')]</a:t>
            </a:r>
            <a:endParaRPr/>
          </a:p>
          <a:p>
            <a:pPr indent="0" lvl="1" marL="0" marR="0" rtl="0" algn="l">
              <a:lnSpc>
                <a:spcPct val="100000"/>
              </a:lnSpc>
              <a:spcBef>
                <a:spcPts val="0"/>
              </a:spcBef>
              <a:spcAft>
                <a:spcPts val="0"/>
              </a:spcAft>
              <a:buClr>
                <a:schemeClr val="lt1"/>
              </a:buClr>
              <a:buSzPts val="750"/>
              <a:buFont typeface="Courier New"/>
              <a:buNone/>
            </a:pPr>
            <a:r>
              <a:t/>
            </a:r>
            <a:endParaRPr b="0" i="0" sz="3000" u="none" cap="none" strike="noStrike">
              <a:solidFill>
                <a:schemeClr val="lt1"/>
              </a:solidFill>
              <a:latin typeface="Courier"/>
              <a:ea typeface="Courier"/>
              <a:cs typeface="Courier"/>
              <a:sym typeface="Courier"/>
            </a:endParaRPr>
          </a:p>
          <a:p>
            <a:pPr indent="0" lvl="1" marL="0" marR="0" rtl="0" algn="l">
              <a:lnSpc>
                <a:spcPct val="100000"/>
              </a:lnSpc>
              <a:spcBef>
                <a:spcPts val="0"/>
              </a:spcBef>
              <a:spcAft>
                <a:spcPts val="0"/>
              </a:spcAft>
              <a:buClr>
                <a:schemeClr val="lt1"/>
              </a:buClr>
              <a:buSzPts val="750"/>
              <a:buFont typeface="Courier New"/>
              <a:buNone/>
            </a:pPr>
            <a:r>
              <a:rPr b="0" i="0" lang="en-US" sz="3000" u="none" cap="none" strike="noStrike">
                <a:solidFill>
                  <a:srgbClr val="00FA00"/>
                </a:solidFill>
                <a:latin typeface="Courier"/>
                <a:ea typeface="Courier"/>
                <a:cs typeface="Courier"/>
                <a:sym typeface="Courier"/>
              </a:rPr>
              <a:t>tmp </a:t>
            </a:r>
            <a:r>
              <a:rPr b="0" i="0" lang="en-US" sz="3000" u="none" cap="none" strike="noStrike">
                <a:solidFill>
                  <a:schemeClr val="lt1"/>
                </a:solidFill>
                <a:latin typeface="Courier"/>
                <a:ea typeface="Courier"/>
                <a:cs typeface="Courier"/>
                <a:sym typeface="Courier"/>
              </a:rPr>
              <a:t>= </a:t>
            </a:r>
            <a:r>
              <a:rPr b="0" i="0" lang="en-US" sz="3000" u="none" cap="none" strike="noStrike">
                <a:solidFill>
                  <a:srgbClr val="FFFF00"/>
                </a:solidFill>
                <a:latin typeface="Courier"/>
                <a:ea typeface="Courier"/>
                <a:cs typeface="Courier"/>
                <a:sym typeface="Courier"/>
              </a:rPr>
              <a:t>sorted(</a:t>
            </a:r>
            <a:r>
              <a:rPr b="0" i="0" lang="en-US" sz="3000" u="none" cap="none" strike="noStrike">
                <a:solidFill>
                  <a:srgbClr val="00FF00"/>
                </a:solidFill>
                <a:latin typeface="Courier"/>
                <a:ea typeface="Courier"/>
                <a:cs typeface="Courier"/>
                <a:sym typeface="Courier"/>
              </a:rPr>
              <a:t>tmp</a:t>
            </a:r>
            <a:r>
              <a:rPr b="0" i="0" lang="en-US" sz="3000" u="none" cap="none" strike="noStrike">
                <a:solidFill>
                  <a:srgbClr val="FF00FF"/>
                </a:solidFill>
                <a:latin typeface="Courier"/>
                <a:ea typeface="Courier"/>
                <a:cs typeface="Courier"/>
                <a:sym typeface="Courier"/>
              </a:rPr>
              <a:t>, reverse=True</a:t>
            </a:r>
            <a:r>
              <a:rPr b="0" i="0" lang="en-US" sz="3000" u="none" cap="none" strike="noStrike">
                <a:solidFill>
                  <a:srgbClr val="FFFF00"/>
                </a:solidFill>
                <a:latin typeface="Courier"/>
                <a:ea typeface="Courier"/>
                <a:cs typeface="Courier"/>
                <a:sym typeface="Courier"/>
              </a:rPr>
              <a:t>)</a:t>
            </a:r>
            <a:endParaRPr/>
          </a:p>
          <a:p>
            <a:pPr indent="0" lvl="1" marL="0" marR="0" rtl="0" algn="l">
              <a:lnSpc>
                <a:spcPct val="100000"/>
              </a:lnSpc>
              <a:spcBef>
                <a:spcPts val="0"/>
              </a:spcBef>
              <a:spcAft>
                <a:spcPts val="0"/>
              </a:spcAft>
              <a:buClr>
                <a:schemeClr val="lt1"/>
              </a:buClr>
              <a:buSzPts val="750"/>
              <a:buFont typeface="Courier"/>
              <a:buNone/>
            </a:pPr>
            <a:r>
              <a:rPr b="0" i="0" lang="en-US" sz="3000" u="none" cap="none" strike="noStrike">
                <a:solidFill>
                  <a:srgbClr val="FFFF00"/>
                </a:solidFill>
                <a:latin typeface="Courier"/>
                <a:ea typeface="Courier"/>
                <a:cs typeface="Courier"/>
                <a:sym typeface="Courier"/>
              </a:rPr>
              <a:t>print(</a:t>
            </a:r>
            <a:r>
              <a:rPr b="0" i="0" lang="en-US" sz="3000" u="none" cap="none" strike="noStrike">
                <a:solidFill>
                  <a:srgbClr val="00FF00"/>
                </a:solidFill>
                <a:latin typeface="Courier"/>
                <a:ea typeface="Courier"/>
                <a:cs typeface="Courier"/>
                <a:sym typeface="Courier"/>
              </a:rPr>
              <a:t>tmp</a:t>
            </a:r>
            <a:r>
              <a:rPr b="0" i="0" lang="en-US" sz="3000" u="none" cap="none" strike="noStrike">
                <a:solidFill>
                  <a:srgbClr val="FFFF00"/>
                </a:solidFill>
                <a:latin typeface="Courier"/>
                <a:ea typeface="Courier"/>
                <a:cs typeface="Courier"/>
                <a:sym typeface="Courier"/>
              </a:rPr>
              <a:t>)</a:t>
            </a:r>
            <a:endParaRPr b="0" i="0" sz="3000" u="none" cap="none" strike="noStrike">
              <a:solidFill>
                <a:srgbClr val="00FF00"/>
              </a:solidFill>
              <a:latin typeface="Courier"/>
              <a:ea typeface="Courier"/>
              <a:cs typeface="Courier"/>
              <a:sym typeface="Courier"/>
            </a:endParaRPr>
          </a:p>
          <a:p>
            <a:pPr indent="0" lvl="1" marL="0" marR="0" rtl="0" algn="l">
              <a:lnSpc>
                <a:spcPct val="100000"/>
              </a:lnSpc>
              <a:spcBef>
                <a:spcPts val="0"/>
              </a:spcBef>
              <a:spcAft>
                <a:spcPts val="0"/>
              </a:spcAft>
              <a:buClr>
                <a:schemeClr val="lt1"/>
              </a:buClr>
              <a:buSzPts val="750"/>
              <a:buFont typeface="Courier New"/>
              <a:buNone/>
            </a:pPr>
            <a:r>
              <a:rPr b="0" i="0" lang="en-US" sz="3000" u="none" cap="none" strike="noStrike">
                <a:solidFill>
                  <a:schemeClr val="lt1"/>
                </a:solidFill>
                <a:latin typeface="Courier"/>
                <a:ea typeface="Courier"/>
                <a:cs typeface="Courier"/>
                <a:sym typeface="Courier"/>
              </a:rPr>
              <a:t>[(22, 'c'), (10, 'a'), (1, 'b')]</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p16"/>
          <p:cNvSpPr txBox="1"/>
          <p:nvPr/>
        </p:nvSpPr>
        <p:spPr>
          <a:xfrm>
            <a:off x="1016950" y="871538"/>
            <a:ext cx="13487400" cy="7421299"/>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FF00"/>
              </a:buClr>
              <a:buSzPts val="750"/>
              <a:buFont typeface="Courier New"/>
              <a:buNone/>
            </a:pPr>
            <a:r>
              <a:rPr b="0" i="0" lang="en-US" sz="3000" u="none" cap="none" strike="noStrike">
                <a:solidFill>
                  <a:srgbClr val="00FF00"/>
                </a:solidFill>
                <a:latin typeface="Courier"/>
                <a:ea typeface="Courier"/>
                <a:cs typeface="Courier"/>
                <a:sym typeface="Courier"/>
              </a:rPr>
              <a:t>fhand</a:t>
            </a:r>
            <a:r>
              <a:rPr b="0" i="0" lang="en-US" sz="3000" u="none" cap="none" strike="noStrike">
                <a:solidFill>
                  <a:schemeClr val="lt1"/>
                </a:solidFill>
                <a:latin typeface="Courier"/>
                <a:ea typeface="Courier"/>
                <a:cs typeface="Courier"/>
                <a:sym typeface="Courier"/>
              </a:rPr>
              <a:t> = </a:t>
            </a:r>
            <a:r>
              <a:rPr b="0" i="0" lang="en-US" sz="3000" u="none" cap="none" strike="noStrike">
                <a:solidFill>
                  <a:srgbClr val="FF00FF"/>
                </a:solidFill>
                <a:latin typeface="Courier"/>
                <a:ea typeface="Courier"/>
                <a:cs typeface="Courier"/>
                <a:sym typeface="Courier"/>
              </a:rPr>
              <a:t>open</a:t>
            </a:r>
            <a:r>
              <a:rPr b="0" i="0" lang="en-US" sz="3000" u="none" cap="none" strike="noStrike">
                <a:solidFill>
                  <a:schemeClr val="lt1"/>
                </a:solidFill>
                <a:latin typeface="Courier"/>
                <a:ea typeface="Courier"/>
                <a:cs typeface="Courier"/>
                <a:sym typeface="Courier"/>
              </a:rPr>
              <a:t>('romeo.txt')</a:t>
            </a:r>
            <a:endParaRPr/>
          </a:p>
          <a:p>
            <a:pPr indent="0" lvl="0" marL="0" marR="0" rtl="0" algn="l">
              <a:lnSpc>
                <a:spcPct val="100000"/>
              </a:lnSpc>
              <a:spcBef>
                <a:spcPts val="0"/>
              </a:spcBef>
              <a:spcAft>
                <a:spcPts val="0"/>
              </a:spcAft>
              <a:buClr>
                <a:srgbClr val="00FF00"/>
              </a:buClr>
              <a:buSzPts val="750"/>
              <a:buFont typeface="Courier New"/>
              <a:buNone/>
            </a:pPr>
            <a:r>
              <a:rPr b="0" i="0" lang="en-US" sz="3000" u="none" cap="none" strike="noStrike">
                <a:solidFill>
                  <a:srgbClr val="00FF00"/>
                </a:solidFill>
                <a:latin typeface="Courier"/>
                <a:ea typeface="Courier"/>
                <a:cs typeface="Courier"/>
                <a:sym typeface="Courier"/>
              </a:rPr>
              <a:t>counts</a:t>
            </a:r>
            <a:r>
              <a:rPr b="0" i="0" lang="en-US" sz="3000" u="none" cap="none" strike="noStrike">
                <a:solidFill>
                  <a:schemeClr val="lt1"/>
                </a:solidFill>
                <a:latin typeface="Courier"/>
                <a:ea typeface="Courier"/>
                <a:cs typeface="Courier"/>
                <a:sym typeface="Courier"/>
              </a:rPr>
              <a:t> = </a:t>
            </a:r>
            <a:r>
              <a:rPr b="0" i="0" lang="en-US" sz="3000" u="none" cap="none" strike="noStrike">
                <a:solidFill>
                  <a:srgbClr val="FF00FF"/>
                </a:solidFill>
                <a:latin typeface="Courier"/>
                <a:ea typeface="Courier"/>
                <a:cs typeface="Courier"/>
                <a:sym typeface="Courier"/>
              </a:rPr>
              <a:t>{}</a:t>
            </a:r>
            <a:endParaRPr b="0" i="0" sz="3000" u="none" cap="none" strike="noStrike">
              <a:solidFill>
                <a:schemeClr val="lt1"/>
              </a:solidFill>
              <a:latin typeface="Courier"/>
              <a:ea typeface="Courier"/>
              <a:cs typeface="Courier"/>
              <a:sym typeface="Courier"/>
            </a:endParaRPr>
          </a:p>
          <a:p>
            <a:pPr indent="0" lvl="0" marL="0" marR="0" rtl="0" algn="l">
              <a:lnSpc>
                <a:spcPct val="100000"/>
              </a:lnSpc>
              <a:spcBef>
                <a:spcPts val="0"/>
              </a:spcBef>
              <a:spcAft>
                <a:spcPts val="0"/>
              </a:spcAft>
              <a:buClr>
                <a:srgbClr val="FFFF00"/>
              </a:buClr>
              <a:buSzPts val="750"/>
              <a:buFont typeface="Courier New"/>
              <a:buNone/>
            </a:pPr>
            <a:r>
              <a:rPr b="0" i="0" lang="en-US" sz="3000" u="none" cap="none" strike="noStrike">
                <a:solidFill>
                  <a:srgbClr val="FFFF00"/>
                </a:solidFill>
                <a:latin typeface="Courier"/>
                <a:ea typeface="Courier"/>
                <a:cs typeface="Courier"/>
                <a:sym typeface="Courier"/>
              </a:rPr>
              <a:t>for</a:t>
            </a:r>
            <a:r>
              <a:rPr b="0" i="0" lang="en-US" sz="3000" u="none" cap="none" strike="noStrike">
                <a:solidFill>
                  <a:schemeClr val="lt1"/>
                </a:solidFill>
                <a:latin typeface="Courier"/>
                <a:ea typeface="Courier"/>
                <a:cs typeface="Courier"/>
                <a:sym typeface="Courier"/>
              </a:rPr>
              <a:t> </a:t>
            </a:r>
            <a:r>
              <a:rPr b="0" i="0" lang="en-US" sz="3000" u="none" cap="none" strike="noStrike">
                <a:solidFill>
                  <a:srgbClr val="00FF00"/>
                </a:solidFill>
                <a:latin typeface="Courier"/>
                <a:ea typeface="Courier"/>
                <a:cs typeface="Courier"/>
                <a:sym typeface="Courier"/>
              </a:rPr>
              <a:t>line</a:t>
            </a:r>
            <a:r>
              <a:rPr b="0" i="0" lang="en-US" sz="3000" u="none" cap="none" strike="noStrike">
                <a:solidFill>
                  <a:schemeClr val="lt1"/>
                </a:solidFill>
                <a:latin typeface="Courier"/>
                <a:ea typeface="Courier"/>
                <a:cs typeface="Courier"/>
                <a:sym typeface="Courier"/>
              </a:rPr>
              <a:t> </a:t>
            </a:r>
            <a:r>
              <a:rPr b="0" i="0" lang="en-US" sz="3000" u="none" cap="none" strike="noStrike">
                <a:solidFill>
                  <a:srgbClr val="FFFF00"/>
                </a:solidFill>
                <a:latin typeface="Courier"/>
                <a:ea typeface="Courier"/>
                <a:cs typeface="Courier"/>
                <a:sym typeface="Courier"/>
              </a:rPr>
              <a:t>in</a:t>
            </a:r>
            <a:r>
              <a:rPr b="0" i="0" lang="en-US" sz="3000" u="none" cap="none" strike="noStrike">
                <a:solidFill>
                  <a:schemeClr val="lt1"/>
                </a:solidFill>
                <a:latin typeface="Courier"/>
                <a:ea typeface="Courier"/>
                <a:cs typeface="Courier"/>
                <a:sym typeface="Courier"/>
              </a:rPr>
              <a:t> </a:t>
            </a:r>
            <a:r>
              <a:rPr b="0" i="0" lang="en-US" sz="3000" u="none" cap="none" strike="noStrike">
                <a:solidFill>
                  <a:srgbClr val="00FF00"/>
                </a:solidFill>
                <a:latin typeface="Courier"/>
                <a:ea typeface="Courier"/>
                <a:cs typeface="Courier"/>
                <a:sym typeface="Courier"/>
              </a:rPr>
              <a:t>fhand</a:t>
            </a:r>
            <a:r>
              <a:rPr b="0" i="0" lang="en-US" sz="3000" u="none" cap="none" strike="noStrike">
                <a:solidFill>
                  <a:schemeClr val="lt1"/>
                </a:solidFill>
                <a:latin typeface="Courier"/>
                <a:ea typeface="Courier"/>
                <a:cs typeface="Courier"/>
                <a:sym typeface="Courier"/>
              </a:rPr>
              <a:t>:</a:t>
            </a:r>
            <a:endParaRPr/>
          </a:p>
          <a:p>
            <a:pPr indent="0" lvl="0" marL="0" marR="0" rtl="0" algn="l">
              <a:lnSpc>
                <a:spcPct val="100000"/>
              </a:lnSpc>
              <a:spcBef>
                <a:spcPts val="0"/>
              </a:spcBef>
              <a:spcAft>
                <a:spcPts val="0"/>
              </a:spcAft>
              <a:buClr>
                <a:schemeClr val="lt1"/>
              </a:buClr>
              <a:buSzPts val="750"/>
              <a:buFont typeface="Courier New"/>
              <a:buNone/>
            </a:pPr>
            <a:r>
              <a:rPr b="0" i="0" lang="en-US" sz="3000" u="none" cap="none" strike="noStrike">
                <a:solidFill>
                  <a:schemeClr val="lt1"/>
                </a:solidFill>
                <a:latin typeface="Courier"/>
                <a:ea typeface="Courier"/>
                <a:cs typeface="Courier"/>
                <a:sym typeface="Courier"/>
              </a:rPr>
              <a:t>    </a:t>
            </a:r>
            <a:r>
              <a:rPr b="0" i="0" lang="en-US" sz="3000" u="none" cap="none" strike="noStrike">
                <a:solidFill>
                  <a:srgbClr val="00FF00"/>
                </a:solidFill>
                <a:latin typeface="Courier"/>
                <a:ea typeface="Courier"/>
                <a:cs typeface="Courier"/>
                <a:sym typeface="Courier"/>
              </a:rPr>
              <a:t>words</a:t>
            </a:r>
            <a:r>
              <a:rPr b="0" i="0" lang="en-US" sz="3000" u="none" cap="none" strike="noStrike">
                <a:solidFill>
                  <a:schemeClr val="lt1"/>
                </a:solidFill>
                <a:latin typeface="Courier"/>
                <a:ea typeface="Courier"/>
                <a:cs typeface="Courier"/>
                <a:sym typeface="Courier"/>
              </a:rPr>
              <a:t> = </a:t>
            </a:r>
            <a:r>
              <a:rPr b="0" i="0" lang="en-US" sz="3000" u="none" cap="none" strike="noStrike">
                <a:solidFill>
                  <a:srgbClr val="00FF00"/>
                </a:solidFill>
                <a:latin typeface="Courier"/>
                <a:ea typeface="Courier"/>
                <a:cs typeface="Courier"/>
                <a:sym typeface="Courier"/>
              </a:rPr>
              <a:t>line</a:t>
            </a:r>
            <a:r>
              <a:rPr b="0" i="0" lang="en-US" sz="3000" u="none" cap="none" strike="noStrike">
                <a:solidFill>
                  <a:srgbClr val="FF00FF"/>
                </a:solidFill>
                <a:latin typeface="Courier"/>
                <a:ea typeface="Courier"/>
                <a:cs typeface="Courier"/>
                <a:sym typeface="Courier"/>
              </a:rPr>
              <a:t>.split</a:t>
            </a:r>
            <a:r>
              <a:rPr b="0" i="0" lang="en-US" sz="3000" u="none" cap="none" strike="noStrike">
                <a:solidFill>
                  <a:schemeClr val="lt1"/>
                </a:solidFill>
                <a:latin typeface="Courier"/>
                <a:ea typeface="Courier"/>
                <a:cs typeface="Courier"/>
                <a:sym typeface="Courier"/>
              </a:rPr>
              <a:t>()</a:t>
            </a:r>
            <a:endParaRPr/>
          </a:p>
          <a:p>
            <a:pPr indent="0" lvl="0" marL="0" marR="0" rtl="0" algn="l">
              <a:lnSpc>
                <a:spcPct val="100000"/>
              </a:lnSpc>
              <a:spcBef>
                <a:spcPts val="0"/>
              </a:spcBef>
              <a:spcAft>
                <a:spcPts val="0"/>
              </a:spcAft>
              <a:buClr>
                <a:schemeClr val="lt1"/>
              </a:buClr>
              <a:buSzPts val="750"/>
              <a:buFont typeface="Courier New"/>
              <a:buNone/>
            </a:pPr>
            <a:r>
              <a:rPr b="0" i="0" lang="en-US" sz="3000" u="none" cap="none" strike="noStrike">
                <a:solidFill>
                  <a:schemeClr val="lt1"/>
                </a:solidFill>
                <a:latin typeface="Courier"/>
                <a:ea typeface="Courier"/>
                <a:cs typeface="Courier"/>
                <a:sym typeface="Courier"/>
              </a:rPr>
              <a:t>    </a:t>
            </a:r>
            <a:r>
              <a:rPr b="0" i="0" lang="en-US" sz="3000" u="none" cap="none" strike="noStrike">
                <a:solidFill>
                  <a:srgbClr val="FFFF00"/>
                </a:solidFill>
                <a:latin typeface="Courier"/>
                <a:ea typeface="Courier"/>
                <a:cs typeface="Courier"/>
                <a:sym typeface="Courier"/>
              </a:rPr>
              <a:t>for</a:t>
            </a:r>
            <a:r>
              <a:rPr b="0" i="0" lang="en-US" sz="3000" u="none" cap="none" strike="noStrike">
                <a:solidFill>
                  <a:schemeClr val="lt1"/>
                </a:solidFill>
                <a:latin typeface="Courier"/>
                <a:ea typeface="Courier"/>
                <a:cs typeface="Courier"/>
                <a:sym typeface="Courier"/>
              </a:rPr>
              <a:t> </a:t>
            </a:r>
            <a:r>
              <a:rPr b="0" i="0" lang="en-US" sz="3000" u="none" cap="none" strike="noStrike">
                <a:solidFill>
                  <a:srgbClr val="00FF00"/>
                </a:solidFill>
                <a:latin typeface="Courier"/>
                <a:ea typeface="Courier"/>
                <a:cs typeface="Courier"/>
                <a:sym typeface="Courier"/>
              </a:rPr>
              <a:t>word</a:t>
            </a:r>
            <a:r>
              <a:rPr b="0" i="0" lang="en-US" sz="3000" u="none" cap="none" strike="noStrike">
                <a:solidFill>
                  <a:schemeClr val="lt1"/>
                </a:solidFill>
                <a:latin typeface="Courier"/>
                <a:ea typeface="Courier"/>
                <a:cs typeface="Courier"/>
                <a:sym typeface="Courier"/>
              </a:rPr>
              <a:t> </a:t>
            </a:r>
            <a:r>
              <a:rPr b="0" i="0" lang="en-US" sz="3000" u="none" cap="none" strike="noStrike">
                <a:solidFill>
                  <a:srgbClr val="FFFF00"/>
                </a:solidFill>
                <a:latin typeface="Courier"/>
                <a:ea typeface="Courier"/>
                <a:cs typeface="Courier"/>
                <a:sym typeface="Courier"/>
              </a:rPr>
              <a:t>in</a:t>
            </a:r>
            <a:r>
              <a:rPr b="0" i="0" lang="en-US" sz="3000" u="none" cap="none" strike="noStrike">
                <a:solidFill>
                  <a:schemeClr val="lt1"/>
                </a:solidFill>
                <a:latin typeface="Courier"/>
                <a:ea typeface="Courier"/>
                <a:cs typeface="Courier"/>
                <a:sym typeface="Courier"/>
              </a:rPr>
              <a:t> </a:t>
            </a:r>
            <a:r>
              <a:rPr b="0" i="0" lang="en-US" sz="3000" u="none" cap="none" strike="noStrike">
                <a:solidFill>
                  <a:srgbClr val="00FF00"/>
                </a:solidFill>
                <a:latin typeface="Courier"/>
                <a:ea typeface="Courier"/>
                <a:cs typeface="Courier"/>
                <a:sym typeface="Courier"/>
              </a:rPr>
              <a:t>words</a:t>
            </a:r>
            <a:r>
              <a:rPr b="0" i="0" lang="en-US" sz="3000" u="none" cap="none" strike="noStrike">
                <a:solidFill>
                  <a:schemeClr val="lt1"/>
                </a:solidFill>
                <a:latin typeface="Courier"/>
                <a:ea typeface="Courier"/>
                <a:cs typeface="Courier"/>
                <a:sym typeface="Courier"/>
              </a:rPr>
              <a:t>:</a:t>
            </a:r>
            <a:endParaRPr/>
          </a:p>
          <a:p>
            <a:pPr indent="0" lvl="0" marL="0" marR="0" rtl="0" algn="l">
              <a:lnSpc>
                <a:spcPct val="100000"/>
              </a:lnSpc>
              <a:spcBef>
                <a:spcPts val="0"/>
              </a:spcBef>
              <a:spcAft>
                <a:spcPts val="0"/>
              </a:spcAft>
              <a:buClr>
                <a:schemeClr val="lt1"/>
              </a:buClr>
              <a:buSzPts val="750"/>
              <a:buFont typeface="Courier New"/>
              <a:buNone/>
            </a:pPr>
            <a:r>
              <a:rPr b="0" i="0" lang="en-US" sz="3000" u="none" cap="none" strike="noStrike">
                <a:solidFill>
                  <a:schemeClr val="lt1"/>
                </a:solidFill>
                <a:latin typeface="Courier"/>
                <a:ea typeface="Courier"/>
                <a:cs typeface="Courier"/>
                <a:sym typeface="Courier"/>
              </a:rPr>
              <a:t>        </a:t>
            </a:r>
            <a:r>
              <a:rPr b="0" i="0" lang="en-US" sz="3000" u="none" cap="none" strike="noStrike">
                <a:solidFill>
                  <a:srgbClr val="00FF00"/>
                </a:solidFill>
                <a:latin typeface="Courier"/>
                <a:ea typeface="Courier"/>
                <a:cs typeface="Courier"/>
                <a:sym typeface="Courier"/>
              </a:rPr>
              <a:t>counts</a:t>
            </a:r>
            <a:r>
              <a:rPr b="0" i="0" lang="en-US" sz="3000" u="none" cap="none" strike="noStrike">
                <a:solidFill>
                  <a:srgbClr val="00FFFF"/>
                </a:solidFill>
                <a:latin typeface="Courier"/>
                <a:ea typeface="Courier"/>
                <a:cs typeface="Courier"/>
                <a:sym typeface="Courier"/>
              </a:rPr>
              <a:t>[word]</a:t>
            </a:r>
            <a:r>
              <a:rPr b="0" i="0" lang="en-US" sz="3000" u="none" cap="none" strike="noStrike">
                <a:solidFill>
                  <a:schemeClr val="lt1"/>
                </a:solidFill>
                <a:latin typeface="Courier"/>
                <a:ea typeface="Courier"/>
                <a:cs typeface="Courier"/>
                <a:sym typeface="Courier"/>
              </a:rPr>
              <a:t> = </a:t>
            </a:r>
            <a:r>
              <a:rPr b="0" i="0" lang="en-US" sz="3000" u="none" cap="none" strike="noStrike">
                <a:solidFill>
                  <a:srgbClr val="00FF00"/>
                </a:solidFill>
                <a:latin typeface="Courier"/>
                <a:ea typeface="Courier"/>
                <a:cs typeface="Courier"/>
                <a:sym typeface="Courier"/>
              </a:rPr>
              <a:t>counts</a:t>
            </a:r>
            <a:r>
              <a:rPr b="0" i="0" lang="en-US" sz="3000" u="none" cap="none" strike="noStrike">
                <a:solidFill>
                  <a:srgbClr val="FF00FF"/>
                </a:solidFill>
                <a:latin typeface="Courier"/>
                <a:ea typeface="Courier"/>
                <a:cs typeface="Courier"/>
                <a:sym typeface="Courier"/>
              </a:rPr>
              <a:t>.get</a:t>
            </a:r>
            <a:r>
              <a:rPr b="0" i="0" lang="en-US" sz="3000" u="none" cap="none" strike="noStrike">
                <a:solidFill>
                  <a:schemeClr val="lt1"/>
                </a:solidFill>
                <a:latin typeface="Courier"/>
                <a:ea typeface="Courier"/>
                <a:cs typeface="Courier"/>
                <a:sym typeface="Courier"/>
              </a:rPr>
              <a:t>(</a:t>
            </a:r>
            <a:r>
              <a:rPr b="0" i="0" lang="en-US" sz="3000" u="none" cap="none" strike="noStrike">
                <a:solidFill>
                  <a:srgbClr val="00FFFF"/>
                </a:solidFill>
                <a:latin typeface="Courier"/>
                <a:ea typeface="Courier"/>
                <a:cs typeface="Courier"/>
                <a:sym typeface="Courier"/>
              </a:rPr>
              <a:t>word</a:t>
            </a:r>
            <a:r>
              <a:rPr b="0" i="0" lang="en-US" sz="3000" u="none" cap="none" strike="noStrike">
                <a:solidFill>
                  <a:schemeClr val="lt1"/>
                </a:solidFill>
                <a:latin typeface="Courier"/>
                <a:ea typeface="Courier"/>
                <a:cs typeface="Courier"/>
                <a:sym typeface="Courier"/>
              </a:rPr>
              <a:t>, 0 ) + 1</a:t>
            </a:r>
            <a:endParaRPr/>
          </a:p>
          <a:p>
            <a:pPr indent="0" lvl="0" marL="0" marR="0" rtl="0" algn="ctr">
              <a:lnSpc>
                <a:spcPct val="100000"/>
              </a:lnSpc>
              <a:spcBef>
                <a:spcPts val="0"/>
              </a:spcBef>
              <a:spcAft>
                <a:spcPts val="0"/>
              </a:spcAft>
              <a:buClr>
                <a:srgbClr val="000000"/>
              </a:buClr>
              <a:buSzPts val="3000"/>
              <a:buFont typeface="Arial"/>
              <a:buNone/>
            </a:pPr>
            <a:r>
              <a:t/>
            </a:r>
            <a:endParaRPr b="0" i="0" sz="3000" u="none" cap="none" strike="noStrike">
              <a:solidFill>
                <a:schemeClr val="lt1"/>
              </a:solidFill>
              <a:latin typeface="Courier"/>
              <a:ea typeface="Courier"/>
              <a:cs typeface="Courier"/>
              <a:sym typeface="Courier"/>
            </a:endParaRPr>
          </a:p>
          <a:p>
            <a:pPr indent="0" lvl="0" marL="0" marR="0" rtl="0" algn="l">
              <a:lnSpc>
                <a:spcPct val="100000"/>
              </a:lnSpc>
              <a:spcBef>
                <a:spcPts val="0"/>
              </a:spcBef>
              <a:spcAft>
                <a:spcPts val="0"/>
              </a:spcAft>
              <a:buClr>
                <a:srgbClr val="00FF00"/>
              </a:buClr>
              <a:buSzPts val="750"/>
              <a:buFont typeface="Courier New"/>
              <a:buNone/>
            </a:pPr>
            <a:r>
              <a:rPr b="0" i="0" lang="en-US" sz="3000" u="none" cap="none" strike="noStrike">
                <a:solidFill>
                  <a:srgbClr val="00FF00"/>
                </a:solidFill>
                <a:latin typeface="Courier"/>
                <a:ea typeface="Courier"/>
                <a:cs typeface="Courier"/>
                <a:sym typeface="Courier"/>
              </a:rPr>
              <a:t>lst</a:t>
            </a:r>
            <a:r>
              <a:rPr b="0" i="0" lang="en-US" sz="3000" u="none" cap="none" strike="noStrike">
                <a:solidFill>
                  <a:schemeClr val="lt1"/>
                </a:solidFill>
                <a:latin typeface="Courier"/>
                <a:ea typeface="Courier"/>
                <a:cs typeface="Courier"/>
                <a:sym typeface="Courier"/>
              </a:rPr>
              <a:t> = </a:t>
            </a:r>
            <a:r>
              <a:rPr b="0" i="0" lang="en-US" sz="3000" u="none" cap="none" strike="noStrike">
                <a:solidFill>
                  <a:srgbClr val="FF00FF"/>
                </a:solidFill>
                <a:latin typeface="Courier"/>
                <a:ea typeface="Courier"/>
                <a:cs typeface="Courier"/>
                <a:sym typeface="Courier"/>
              </a:rPr>
              <a:t>[]</a:t>
            </a:r>
            <a:endParaRPr b="0" i="0" sz="3000" u="none" cap="none" strike="noStrike">
              <a:solidFill>
                <a:schemeClr val="lt1"/>
              </a:solidFill>
              <a:latin typeface="Courier"/>
              <a:ea typeface="Courier"/>
              <a:cs typeface="Courier"/>
              <a:sym typeface="Courier"/>
            </a:endParaRPr>
          </a:p>
          <a:p>
            <a:pPr indent="0" lvl="0" marL="0" marR="0" rtl="0" algn="l">
              <a:lnSpc>
                <a:spcPct val="100000"/>
              </a:lnSpc>
              <a:spcBef>
                <a:spcPts val="0"/>
              </a:spcBef>
              <a:spcAft>
                <a:spcPts val="0"/>
              </a:spcAft>
              <a:buClr>
                <a:srgbClr val="FFFF00"/>
              </a:buClr>
              <a:buSzPts val="750"/>
              <a:buFont typeface="Courier New"/>
              <a:buNone/>
            </a:pPr>
            <a:r>
              <a:rPr b="0" i="0" lang="en-US" sz="3000" u="none" cap="none" strike="noStrike">
                <a:solidFill>
                  <a:srgbClr val="FFFF00"/>
                </a:solidFill>
                <a:latin typeface="Courier"/>
                <a:ea typeface="Courier"/>
                <a:cs typeface="Courier"/>
                <a:sym typeface="Courier"/>
              </a:rPr>
              <a:t>for</a:t>
            </a:r>
            <a:r>
              <a:rPr b="0" i="0" lang="en-US" sz="3000" u="none" cap="none" strike="noStrike">
                <a:solidFill>
                  <a:schemeClr val="lt1"/>
                </a:solidFill>
                <a:latin typeface="Courier"/>
                <a:ea typeface="Courier"/>
                <a:cs typeface="Courier"/>
                <a:sym typeface="Courier"/>
              </a:rPr>
              <a:t> </a:t>
            </a:r>
            <a:r>
              <a:rPr b="0" i="0" lang="en-US" sz="3000" u="none" cap="none" strike="noStrike">
                <a:solidFill>
                  <a:srgbClr val="FF7F00"/>
                </a:solidFill>
                <a:latin typeface="Courier"/>
                <a:ea typeface="Courier"/>
                <a:cs typeface="Courier"/>
                <a:sym typeface="Courier"/>
              </a:rPr>
              <a:t>key, val</a:t>
            </a:r>
            <a:r>
              <a:rPr b="0" i="0" lang="en-US" sz="3000" u="none" cap="none" strike="noStrike">
                <a:solidFill>
                  <a:schemeClr val="lt1"/>
                </a:solidFill>
                <a:latin typeface="Courier"/>
                <a:ea typeface="Courier"/>
                <a:cs typeface="Courier"/>
                <a:sym typeface="Courier"/>
              </a:rPr>
              <a:t> </a:t>
            </a:r>
            <a:r>
              <a:rPr b="0" i="0" lang="en-US" sz="3000" u="none" cap="none" strike="noStrike">
                <a:solidFill>
                  <a:srgbClr val="FFFF00"/>
                </a:solidFill>
                <a:latin typeface="Courier"/>
                <a:ea typeface="Courier"/>
                <a:cs typeface="Courier"/>
                <a:sym typeface="Courier"/>
              </a:rPr>
              <a:t>in</a:t>
            </a:r>
            <a:r>
              <a:rPr b="0" i="0" lang="en-US" sz="3000" u="none" cap="none" strike="noStrike">
                <a:solidFill>
                  <a:schemeClr val="lt1"/>
                </a:solidFill>
                <a:latin typeface="Courier"/>
                <a:ea typeface="Courier"/>
                <a:cs typeface="Courier"/>
                <a:sym typeface="Courier"/>
              </a:rPr>
              <a:t> </a:t>
            </a:r>
            <a:r>
              <a:rPr b="0" i="0" lang="en-US" sz="3000" u="none" cap="none" strike="noStrike">
                <a:solidFill>
                  <a:srgbClr val="00FF00"/>
                </a:solidFill>
                <a:latin typeface="Courier"/>
                <a:ea typeface="Courier"/>
                <a:cs typeface="Courier"/>
                <a:sym typeface="Courier"/>
              </a:rPr>
              <a:t>counts</a:t>
            </a:r>
            <a:r>
              <a:rPr b="0" i="0" lang="en-US" sz="3000" u="none" cap="none" strike="noStrike">
                <a:solidFill>
                  <a:srgbClr val="FF00FF"/>
                </a:solidFill>
                <a:latin typeface="Courier"/>
                <a:ea typeface="Courier"/>
                <a:cs typeface="Courier"/>
                <a:sym typeface="Courier"/>
              </a:rPr>
              <a:t>.items</a:t>
            </a:r>
            <a:r>
              <a:rPr b="0" i="0" lang="en-US" sz="3000" u="none" cap="none" strike="noStrike">
                <a:solidFill>
                  <a:schemeClr val="lt1"/>
                </a:solidFill>
                <a:latin typeface="Courier"/>
                <a:ea typeface="Courier"/>
                <a:cs typeface="Courier"/>
                <a:sym typeface="Courier"/>
              </a:rPr>
              <a:t>():</a:t>
            </a:r>
            <a:endParaRPr/>
          </a:p>
          <a:p>
            <a:pPr indent="0" lvl="0" marL="0" marR="0" rtl="0" algn="l">
              <a:lnSpc>
                <a:spcPct val="100000"/>
              </a:lnSpc>
              <a:spcBef>
                <a:spcPts val="0"/>
              </a:spcBef>
              <a:spcAft>
                <a:spcPts val="0"/>
              </a:spcAft>
              <a:buClr>
                <a:srgbClr val="FFFF00"/>
              </a:buClr>
              <a:buSzPts val="750"/>
              <a:buFont typeface="Courier"/>
              <a:buNone/>
            </a:pPr>
            <a:r>
              <a:rPr b="0" i="0" lang="en-US" sz="3000" u="none" cap="none" strike="noStrike">
                <a:solidFill>
                  <a:schemeClr val="lt1"/>
                </a:solidFill>
                <a:latin typeface="Courier"/>
                <a:ea typeface="Courier"/>
                <a:cs typeface="Courier"/>
                <a:sym typeface="Courier"/>
              </a:rPr>
              <a:t>	</a:t>
            </a:r>
            <a:r>
              <a:rPr b="0" i="0" lang="en-US" sz="3000" u="none" cap="none" strike="noStrike">
                <a:solidFill>
                  <a:srgbClr val="00FA00"/>
                </a:solidFill>
                <a:latin typeface="Courier"/>
                <a:ea typeface="Courier"/>
                <a:cs typeface="Courier"/>
                <a:sym typeface="Courier"/>
              </a:rPr>
              <a:t>newtup </a:t>
            </a:r>
            <a:r>
              <a:rPr b="0" i="0" lang="en-US" sz="3000" u="none" cap="none" strike="noStrike">
                <a:solidFill>
                  <a:schemeClr val="lt1"/>
                </a:solidFill>
                <a:latin typeface="Courier"/>
                <a:ea typeface="Courier"/>
                <a:cs typeface="Courier"/>
                <a:sym typeface="Courier"/>
              </a:rPr>
              <a:t>= </a:t>
            </a:r>
            <a:r>
              <a:rPr b="0" i="0" lang="en-US" sz="3000" u="none" cap="none" strike="noStrike">
                <a:solidFill>
                  <a:srgbClr val="FF7F00"/>
                </a:solidFill>
                <a:latin typeface="Courier"/>
                <a:ea typeface="Courier"/>
                <a:cs typeface="Courier"/>
                <a:sym typeface="Courier"/>
              </a:rPr>
              <a:t>(val, key)</a:t>
            </a:r>
            <a:r>
              <a:rPr b="0" i="0" lang="en-US" sz="3000" u="none" cap="none" strike="noStrike">
                <a:solidFill>
                  <a:schemeClr val="lt1"/>
                </a:solidFill>
                <a:latin typeface="Courier"/>
                <a:ea typeface="Courier"/>
                <a:cs typeface="Courier"/>
                <a:sym typeface="Courier"/>
              </a:rPr>
              <a:t> </a:t>
            </a:r>
            <a:endParaRPr b="0" i="0" sz="3000" u="none" cap="none" strike="noStrike">
              <a:solidFill>
                <a:schemeClr val="lt1"/>
              </a:solidFill>
              <a:latin typeface="Courier"/>
              <a:ea typeface="Courier"/>
              <a:cs typeface="Courier"/>
              <a:sym typeface="Courier"/>
            </a:endParaRPr>
          </a:p>
          <a:p>
            <a:pPr indent="0" lvl="0" marL="0" marR="0" rtl="0" algn="l">
              <a:lnSpc>
                <a:spcPct val="100000"/>
              </a:lnSpc>
              <a:spcBef>
                <a:spcPts val="0"/>
              </a:spcBef>
              <a:spcAft>
                <a:spcPts val="0"/>
              </a:spcAft>
              <a:buClr>
                <a:schemeClr val="lt1"/>
              </a:buClr>
              <a:buSzPts val="750"/>
              <a:buFont typeface="Courier New"/>
              <a:buNone/>
            </a:pPr>
            <a:r>
              <a:rPr b="0" i="0" lang="en-US" sz="3000" u="none" cap="none" strike="noStrike">
                <a:solidFill>
                  <a:schemeClr val="lt1"/>
                </a:solidFill>
                <a:latin typeface="Courier"/>
                <a:ea typeface="Courier"/>
                <a:cs typeface="Courier"/>
                <a:sym typeface="Courier"/>
              </a:rPr>
              <a:t>    </a:t>
            </a:r>
            <a:r>
              <a:rPr b="0" i="0" lang="en-US" sz="3000" u="none" cap="none" strike="noStrike">
                <a:solidFill>
                  <a:srgbClr val="00FF00"/>
                </a:solidFill>
                <a:latin typeface="Courier"/>
                <a:ea typeface="Courier"/>
                <a:cs typeface="Courier"/>
                <a:sym typeface="Courier"/>
              </a:rPr>
              <a:t>lst</a:t>
            </a:r>
            <a:r>
              <a:rPr b="0" i="0" lang="en-US" sz="3000" u="none" cap="none" strike="noStrike">
                <a:solidFill>
                  <a:srgbClr val="FF00FF"/>
                </a:solidFill>
                <a:latin typeface="Courier"/>
                <a:ea typeface="Courier"/>
                <a:cs typeface="Courier"/>
                <a:sym typeface="Courier"/>
              </a:rPr>
              <a:t>.append</a:t>
            </a:r>
            <a:r>
              <a:rPr b="0" i="0" lang="en-US" sz="3000" u="none" cap="none" strike="noStrike">
                <a:solidFill>
                  <a:schemeClr val="lt1"/>
                </a:solidFill>
                <a:latin typeface="Courier"/>
                <a:ea typeface="Courier"/>
                <a:cs typeface="Courier"/>
                <a:sym typeface="Courier"/>
              </a:rPr>
              <a:t>(</a:t>
            </a:r>
            <a:r>
              <a:rPr b="0" i="0" lang="en-US" sz="3000" u="none" cap="none" strike="noStrike">
                <a:solidFill>
                  <a:srgbClr val="00FA00"/>
                </a:solidFill>
                <a:latin typeface="Courier"/>
                <a:ea typeface="Courier"/>
                <a:cs typeface="Courier"/>
                <a:sym typeface="Courier"/>
              </a:rPr>
              <a:t>newtup</a:t>
            </a:r>
            <a:r>
              <a:rPr b="0" i="0" lang="en-US" sz="3000" u="none" cap="none" strike="noStrike">
                <a:solidFill>
                  <a:schemeClr val="lt1"/>
                </a:solidFill>
                <a:latin typeface="Courier"/>
                <a:ea typeface="Courier"/>
                <a:cs typeface="Courier"/>
                <a:sym typeface="Courier"/>
              </a:rPr>
              <a:t>)</a:t>
            </a:r>
            <a:endParaRPr b="0" i="0" sz="3000" u="none" cap="none" strike="noStrike">
              <a:solidFill>
                <a:schemeClr val="lt1"/>
              </a:solidFill>
              <a:latin typeface="Courier"/>
              <a:ea typeface="Courier"/>
              <a:cs typeface="Courier"/>
              <a:sym typeface="Courier"/>
            </a:endParaRPr>
          </a:p>
          <a:p>
            <a:pPr indent="0" lvl="0" marL="0" marR="0" rtl="0" algn="l">
              <a:lnSpc>
                <a:spcPct val="100000"/>
              </a:lnSpc>
              <a:spcBef>
                <a:spcPts val="0"/>
              </a:spcBef>
              <a:spcAft>
                <a:spcPts val="0"/>
              </a:spcAft>
              <a:buClr>
                <a:schemeClr val="lt1"/>
              </a:buClr>
              <a:buSzPts val="3000"/>
              <a:buFont typeface="Courier New"/>
              <a:buNone/>
            </a:pPr>
            <a:r>
              <a:t/>
            </a:r>
            <a:endParaRPr b="0" i="0" sz="3000" u="none" cap="none" strike="noStrike">
              <a:solidFill>
                <a:schemeClr val="lt1"/>
              </a:solidFill>
              <a:latin typeface="Courier"/>
              <a:ea typeface="Courier"/>
              <a:cs typeface="Courier"/>
              <a:sym typeface="Courier"/>
            </a:endParaRPr>
          </a:p>
          <a:p>
            <a:pPr indent="0" lvl="0" marL="0" marR="0" rtl="0" algn="l">
              <a:lnSpc>
                <a:spcPct val="100000"/>
              </a:lnSpc>
              <a:spcBef>
                <a:spcPts val="0"/>
              </a:spcBef>
              <a:spcAft>
                <a:spcPts val="0"/>
              </a:spcAft>
              <a:buClr>
                <a:srgbClr val="00FF00"/>
              </a:buClr>
              <a:buSzPts val="750"/>
              <a:buFont typeface="Courier"/>
              <a:buNone/>
            </a:pPr>
            <a:r>
              <a:rPr b="0" i="0" lang="en-US" sz="3000" u="none" cap="none" strike="noStrike">
                <a:solidFill>
                  <a:srgbClr val="00FF00"/>
                </a:solidFill>
                <a:latin typeface="Courier"/>
                <a:ea typeface="Courier"/>
                <a:cs typeface="Courier"/>
                <a:sym typeface="Courier"/>
              </a:rPr>
              <a:t>lst = </a:t>
            </a:r>
            <a:r>
              <a:rPr b="0" i="0" lang="en-US" sz="3000" u="none" cap="none" strike="noStrike">
                <a:solidFill>
                  <a:srgbClr val="FF40FF"/>
                </a:solidFill>
                <a:latin typeface="Courier"/>
                <a:ea typeface="Courier"/>
                <a:cs typeface="Courier"/>
                <a:sym typeface="Courier"/>
              </a:rPr>
              <a:t>sorted(</a:t>
            </a:r>
            <a:r>
              <a:rPr b="0" i="0" lang="en-US" sz="3000" u="none" cap="none" strike="noStrike">
                <a:solidFill>
                  <a:srgbClr val="00FF00"/>
                </a:solidFill>
                <a:latin typeface="Courier"/>
                <a:ea typeface="Courier"/>
                <a:cs typeface="Courier"/>
                <a:sym typeface="Courier"/>
              </a:rPr>
              <a:t>lst</a:t>
            </a:r>
            <a:r>
              <a:rPr b="0" i="0" lang="en-US" sz="3000" u="none" cap="none" strike="noStrike">
                <a:solidFill>
                  <a:srgbClr val="FF00FF"/>
                </a:solidFill>
                <a:latin typeface="Courier"/>
                <a:ea typeface="Courier"/>
                <a:cs typeface="Courier"/>
                <a:sym typeface="Courier"/>
              </a:rPr>
              <a:t>, reverse=True</a:t>
            </a:r>
            <a:r>
              <a:rPr b="0" i="0" lang="en-US" sz="3000" u="none" cap="none" strike="noStrike">
                <a:solidFill>
                  <a:srgbClr val="FF40FF"/>
                </a:solidFill>
                <a:latin typeface="Courier"/>
                <a:ea typeface="Courier"/>
                <a:cs typeface="Courier"/>
                <a:sym typeface="Courier"/>
              </a:rPr>
              <a:t>)</a:t>
            </a:r>
            <a:endParaRPr/>
          </a:p>
          <a:p>
            <a:pPr indent="0" lvl="0" marL="0" marR="0" rtl="0" algn="l">
              <a:lnSpc>
                <a:spcPct val="100000"/>
              </a:lnSpc>
              <a:spcBef>
                <a:spcPts val="0"/>
              </a:spcBef>
              <a:spcAft>
                <a:spcPts val="0"/>
              </a:spcAft>
              <a:buClr>
                <a:srgbClr val="FFFF00"/>
              </a:buClr>
              <a:buSzPts val="3000"/>
              <a:buFont typeface="Courier New"/>
              <a:buNone/>
            </a:pPr>
            <a:r>
              <a:t/>
            </a:r>
            <a:endParaRPr b="0" i="0" sz="3000" u="none" cap="none" strike="noStrike">
              <a:solidFill>
                <a:srgbClr val="FFFF00"/>
              </a:solidFill>
              <a:latin typeface="Courier"/>
              <a:ea typeface="Courier"/>
              <a:cs typeface="Courier"/>
              <a:sym typeface="Courier"/>
            </a:endParaRPr>
          </a:p>
          <a:p>
            <a:pPr indent="0" lvl="0" marL="0" marR="0" rtl="0" algn="l">
              <a:lnSpc>
                <a:spcPct val="100000"/>
              </a:lnSpc>
              <a:spcBef>
                <a:spcPts val="0"/>
              </a:spcBef>
              <a:spcAft>
                <a:spcPts val="0"/>
              </a:spcAft>
              <a:buClr>
                <a:srgbClr val="FFFF00"/>
              </a:buClr>
              <a:buSzPts val="750"/>
              <a:buFont typeface="Courier New"/>
              <a:buNone/>
            </a:pPr>
            <a:r>
              <a:rPr b="0" i="0" lang="en-US" sz="3000" u="none" cap="none" strike="noStrike">
                <a:solidFill>
                  <a:srgbClr val="FFFF00"/>
                </a:solidFill>
                <a:latin typeface="Courier"/>
                <a:ea typeface="Courier"/>
                <a:cs typeface="Courier"/>
                <a:sym typeface="Courier"/>
              </a:rPr>
              <a:t>for</a:t>
            </a:r>
            <a:r>
              <a:rPr b="0" i="0" lang="en-US" sz="3000" u="none" cap="none" strike="noStrike">
                <a:solidFill>
                  <a:schemeClr val="lt1"/>
                </a:solidFill>
                <a:latin typeface="Courier"/>
                <a:ea typeface="Courier"/>
                <a:cs typeface="Courier"/>
                <a:sym typeface="Courier"/>
              </a:rPr>
              <a:t> </a:t>
            </a:r>
            <a:r>
              <a:rPr b="0" i="0" lang="en-US" sz="3000" u="none" cap="none" strike="noStrike">
                <a:solidFill>
                  <a:srgbClr val="FF7F00"/>
                </a:solidFill>
                <a:latin typeface="Courier"/>
                <a:ea typeface="Courier"/>
                <a:cs typeface="Courier"/>
                <a:sym typeface="Courier"/>
              </a:rPr>
              <a:t>val, key</a:t>
            </a:r>
            <a:r>
              <a:rPr b="0" i="0" lang="en-US" sz="3000" u="none" cap="none" strike="noStrike">
                <a:solidFill>
                  <a:schemeClr val="lt1"/>
                </a:solidFill>
                <a:latin typeface="Courier"/>
                <a:ea typeface="Courier"/>
                <a:cs typeface="Courier"/>
                <a:sym typeface="Courier"/>
              </a:rPr>
              <a:t> </a:t>
            </a:r>
            <a:r>
              <a:rPr b="0" i="0" lang="en-US" sz="3000" u="none" cap="none" strike="noStrike">
                <a:solidFill>
                  <a:srgbClr val="FFFF00"/>
                </a:solidFill>
                <a:latin typeface="Courier"/>
                <a:ea typeface="Courier"/>
                <a:cs typeface="Courier"/>
                <a:sym typeface="Courier"/>
              </a:rPr>
              <a:t>in</a:t>
            </a:r>
            <a:r>
              <a:rPr b="0" i="0" lang="en-US" sz="3000" u="none" cap="none" strike="noStrike">
                <a:solidFill>
                  <a:schemeClr val="lt1"/>
                </a:solidFill>
                <a:latin typeface="Courier"/>
                <a:ea typeface="Courier"/>
                <a:cs typeface="Courier"/>
                <a:sym typeface="Courier"/>
              </a:rPr>
              <a:t> </a:t>
            </a:r>
            <a:r>
              <a:rPr b="0" i="0" lang="en-US" sz="3000" u="none" cap="none" strike="noStrike">
                <a:solidFill>
                  <a:srgbClr val="FF00FF"/>
                </a:solidFill>
                <a:latin typeface="Courier"/>
                <a:ea typeface="Courier"/>
                <a:cs typeface="Courier"/>
                <a:sym typeface="Courier"/>
              </a:rPr>
              <a:t>lst</a:t>
            </a:r>
            <a:r>
              <a:rPr b="0" i="0" lang="en-US" sz="3000" u="none" cap="none" strike="noStrike">
                <a:solidFill>
                  <a:srgbClr val="00FFFF"/>
                </a:solidFill>
                <a:latin typeface="Courier"/>
                <a:ea typeface="Courier"/>
                <a:cs typeface="Courier"/>
                <a:sym typeface="Courier"/>
              </a:rPr>
              <a:t>[:10]</a:t>
            </a:r>
            <a:r>
              <a:rPr b="0" i="0" lang="en-US" sz="3000" u="none" cap="none" strike="noStrike">
                <a:solidFill>
                  <a:schemeClr val="lt1"/>
                </a:solidFill>
                <a:latin typeface="Courier"/>
                <a:ea typeface="Courier"/>
                <a:cs typeface="Courier"/>
                <a:sym typeface="Courier"/>
              </a:rPr>
              <a:t>:</a:t>
            </a:r>
            <a:endParaRPr b="0" i="0" sz="3000" u="none" cap="none" strike="noStrike">
              <a:solidFill>
                <a:schemeClr val="lt1"/>
              </a:solidFill>
              <a:latin typeface="Courier"/>
              <a:ea typeface="Courier"/>
              <a:cs typeface="Courier"/>
              <a:sym typeface="Courier"/>
            </a:endParaRPr>
          </a:p>
          <a:p>
            <a:pPr indent="0" lvl="0" marL="0" marR="0" rtl="0" algn="l">
              <a:lnSpc>
                <a:spcPct val="100000"/>
              </a:lnSpc>
              <a:spcBef>
                <a:spcPts val="0"/>
              </a:spcBef>
              <a:spcAft>
                <a:spcPts val="0"/>
              </a:spcAft>
              <a:buClr>
                <a:schemeClr val="lt1"/>
              </a:buClr>
              <a:buSzPts val="750"/>
              <a:buFont typeface="Courier"/>
              <a:buNone/>
            </a:pPr>
            <a:r>
              <a:rPr b="0" i="0" lang="en-US" sz="3000" u="none" cap="none" strike="noStrike">
                <a:solidFill>
                  <a:schemeClr val="lt1"/>
                </a:solidFill>
                <a:latin typeface="Courier"/>
                <a:ea typeface="Courier"/>
                <a:cs typeface="Courier"/>
                <a:sym typeface="Courier"/>
              </a:rPr>
              <a:t>    </a:t>
            </a:r>
            <a:r>
              <a:rPr b="0" i="0" lang="en-US" sz="3000" u="none" cap="none" strike="noStrike">
                <a:solidFill>
                  <a:srgbClr val="FFFF00"/>
                </a:solidFill>
                <a:latin typeface="Courier"/>
                <a:ea typeface="Courier"/>
                <a:cs typeface="Courier"/>
                <a:sym typeface="Courier"/>
              </a:rPr>
              <a:t>print(</a:t>
            </a:r>
            <a:r>
              <a:rPr b="0" i="0" lang="en-US" sz="3000" u="none" cap="none" strike="noStrike">
                <a:solidFill>
                  <a:srgbClr val="00FF00"/>
                </a:solidFill>
                <a:latin typeface="Courier"/>
                <a:ea typeface="Courier"/>
                <a:cs typeface="Courier"/>
                <a:sym typeface="Courier"/>
              </a:rPr>
              <a:t>key</a:t>
            </a:r>
            <a:r>
              <a:rPr b="0" i="0" lang="en-US" sz="3000" u="none" cap="none" strike="noStrike">
                <a:solidFill>
                  <a:schemeClr val="lt1"/>
                </a:solidFill>
                <a:latin typeface="Courier"/>
                <a:ea typeface="Courier"/>
                <a:cs typeface="Courier"/>
                <a:sym typeface="Courier"/>
              </a:rPr>
              <a:t>, </a:t>
            </a:r>
            <a:r>
              <a:rPr b="0" i="0" lang="en-US" sz="3000" u="none" cap="none" strike="noStrike">
                <a:solidFill>
                  <a:srgbClr val="00FF00"/>
                </a:solidFill>
                <a:latin typeface="Courier"/>
                <a:ea typeface="Courier"/>
                <a:cs typeface="Courier"/>
                <a:sym typeface="Courier"/>
              </a:rPr>
              <a:t>val</a:t>
            </a:r>
            <a:r>
              <a:rPr b="0" i="0" lang="en-US" sz="3000" u="none" cap="none" strike="noStrike">
                <a:solidFill>
                  <a:srgbClr val="FFFF00"/>
                </a:solidFill>
                <a:latin typeface="Courier"/>
                <a:ea typeface="Courier"/>
                <a:cs typeface="Courier"/>
                <a:sym typeface="Courier"/>
              </a:rPr>
              <a:t>)</a:t>
            </a:r>
            <a:endParaRPr b="0" i="0" sz="3000" u="none" cap="none" strike="noStrike">
              <a:solidFill>
                <a:srgbClr val="00FF00"/>
              </a:solidFill>
              <a:latin typeface="Courier"/>
              <a:ea typeface="Courier"/>
              <a:cs typeface="Courier"/>
              <a:sym typeface="Courier"/>
            </a:endParaRPr>
          </a:p>
        </p:txBody>
      </p:sp>
      <p:sp>
        <p:nvSpPr>
          <p:cNvPr id="95" name="Google Shape;95;p16"/>
          <p:cNvSpPr txBox="1"/>
          <p:nvPr/>
        </p:nvSpPr>
        <p:spPr>
          <a:xfrm>
            <a:off x="9465992" y="601022"/>
            <a:ext cx="4962830" cy="1583281"/>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00"/>
              </a:buClr>
              <a:buSzPts val="1100"/>
              <a:buFont typeface="Cabin"/>
              <a:buNone/>
            </a:pPr>
            <a:r>
              <a:rPr b="0" i="0" lang="en-US" sz="4400" u="none" cap="none" strike="noStrike">
                <a:solidFill>
                  <a:srgbClr val="FFFF00"/>
                </a:solidFill>
                <a:latin typeface="Arial"/>
                <a:ea typeface="Arial"/>
                <a:cs typeface="Arial"/>
                <a:sym typeface="Arial"/>
              </a:rPr>
              <a:t>The top 10 most common words</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17"/>
          <p:cNvSpPr txBox="1"/>
          <p:nvPr>
            <p:ph type="title"/>
          </p:nvPr>
        </p:nvSpPr>
        <p:spPr>
          <a:xfrm>
            <a:off x="1155700" y="789708"/>
            <a:ext cx="13932000" cy="1750191"/>
          </a:xfrm>
          <a:prstGeom prst="rect">
            <a:avLst/>
          </a:prstGeom>
          <a:noFill/>
          <a:ln>
            <a:noFill/>
          </a:ln>
        </p:spPr>
        <p:txBody>
          <a:bodyPr anchorCtr="0" anchor="ctr" bIns="50800" lIns="50800" spcFirstLastPara="1" rIns="50800" wrap="square" tIns="50800">
            <a:noAutofit/>
          </a:bodyPr>
          <a:lstStyle/>
          <a:p>
            <a:pPr indent="0" lvl="0" marL="0" marR="0" rtl="0" algn="ctr">
              <a:lnSpc>
                <a:spcPct val="100000"/>
              </a:lnSpc>
              <a:spcBef>
                <a:spcPts val="0"/>
              </a:spcBef>
              <a:spcAft>
                <a:spcPts val="0"/>
              </a:spcAft>
              <a:buClr>
                <a:srgbClr val="00FF00"/>
              </a:buClr>
              <a:buSzPts val="1950"/>
              <a:buFont typeface="Cabin"/>
              <a:buNone/>
            </a:pPr>
            <a:r>
              <a:rPr lang="en-US" sz="7800" u="none" cap="none" strike="noStrike">
                <a:solidFill>
                  <a:srgbClr val="FFD966"/>
                </a:solidFill>
                <a:latin typeface="Arial"/>
                <a:ea typeface="Arial"/>
                <a:cs typeface="Arial"/>
                <a:sym typeface="Arial"/>
              </a:rPr>
              <a:t>Even Shorter Version for Sorting by Values</a:t>
            </a:r>
            <a:endParaRPr sz="7800" u="none" cap="none" strike="noStrike">
              <a:solidFill>
                <a:srgbClr val="FFD966"/>
              </a:solidFill>
              <a:latin typeface="Arial"/>
              <a:ea typeface="Arial"/>
              <a:cs typeface="Arial"/>
              <a:sym typeface="Arial"/>
            </a:endParaRPr>
          </a:p>
        </p:txBody>
      </p:sp>
      <p:sp>
        <p:nvSpPr>
          <p:cNvPr id="101" name="Google Shape;101;p17"/>
          <p:cNvSpPr txBox="1"/>
          <p:nvPr/>
        </p:nvSpPr>
        <p:spPr>
          <a:xfrm>
            <a:off x="2612649" y="8081865"/>
            <a:ext cx="11306699" cy="6603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00"/>
              </a:buClr>
              <a:buSzPts val="750"/>
              <a:buFont typeface="Cabin"/>
              <a:buNone/>
            </a:pPr>
            <a:r>
              <a:rPr b="0" i="0" lang="en-US" sz="3000" u="sng" cap="none" strike="noStrike">
                <a:solidFill>
                  <a:schemeClr val="hlink"/>
                </a:solidFill>
                <a:latin typeface="Arial"/>
                <a:ea typeface="Arial"/>
                <a:cs typeface="Arial"/>
                <a:sym typeface="Arial"/>
                <a:hlinkClick r:id="rId3"/>
              </a:rPr>
              <a:t>http://wiki.python.org/moin/HowTo/Sorting</a:t>
            </a:r>
            <a:endParaRPr/>
          </a:p>
        </p:txBody>
      </p:sp>
      <p:sp>
        <p:nvSpPr>
          <p:cNvPr id="102" name="Google Shape;102;p17"/>
          <p:cNvSpPr txBox="1"/>
          <p:nvPr/>
        </p:nvSpPr>
        <p:spPr>
          <a:xfrm>
            <a:off x="800100" y="3545029"/>
            <a:ext cx="14744699" cy="2705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lt1"/>
              </a:buClr>
              <a:buSzPts val="900"/>
              <a:buFont typeface="Courier New"/>
              <a:buNone/>
            </a:pPr>
            <a:r>
              <a:rPr b="0" i="0" lang="en-US" sz="3600" u="none" cap="none" strike="noStrike">
                <a:solidFill>
                  <a:srgbClr val="00FF00"/>
                </a:solidFill>
                <a:latin typeface="Courier"/>
                <a:ea typeface="Courier"/>
                <a:cs typeface="Courier"/>
                <a:sym typeface="Courier"/>
              </a:rPr>
              <a:t>c</a:t>
            </a:r>
            <a:r>
              <a:rPr b="0" i="0" lang="en-US" sz="3600" u="none" cap="none" strike="noStrike">
                <a:solidFill>
                  <a:schemeClr val="lt1"/>
                </a:solidFill>
                <a:latin typeface="Courier"/>
                <a:ea typeface="Courier"/>
                <a:cs typeface="Courier"/>
                <a:sym typeface="Courier"/>
              </a:rPr>
              <a:t> = {'a':10, 'b':1, 'c':22}</a:t>
            </a:r>
            <a:endParaRPr/>
          </a:p>
          <a:p>
            <a:pPr indent="0" lvl="0" marL="0" marR="0" rtl="0" algn="ctr">
              <a:lnSpc>
                <a:spcPct val="100000"/>
              </a:lnSpc>
              <a:spcBef>
                <a:spcPts val="0"/>
              </a:spcBef>
              <a:spcAft>
                <a:spcPts val="0"/>
              </a:spcAft>
              <a:buClr>
                <a:srgbClr val="000000"/>
              </a:buClr>
              <a:buSzPts val="3600"/>
              <a:buFont typeface="Arial"/>
              <a:buNone/>
            </a:pPr>
            <a:r>
              <a:t/>
            </a:r>
            <a:endParaRPr b="0" i="0" sz="3600" u="none" cap="none" strike="noStrike">
              <a:solidFill>
                <a:schemeClr val="lt1"/>
              </a:solidFill>
              <a:latin typeface="Courier"/>
              <a:ea typeface="Courier"/>
              <a:cs typeface="Courier"/>
              <a:sym typeface="Courier"/>
            </a:endParaRPr>
          </a:p>
          <a:p>
            <a:pPr indent="0" lvl="0" marL="0" marR="0" rtl="0" algn="l">
              <a:lnSpc>
                <a:spcPct val="100000"/>
              </a:lnSpc>
              <a:spcBef>
                <a:spcPts val="0"/>
              </a:spcBef>
              <a:spcAft>
                <a:spcPts val="0"/>
              </a:spcAft>
              <a:buClr>
                <a:schemeClr val="lt1"/>
              </a:buClr>
              <a:buSzPts val="900"/>
              <a:buFont typeface="Courier New"/>
              <a:buNone/>
            </a:pPr>
            <a:r>
              <a:rPr b="0" i="0" lang="en-US" sz="3600" u="none" cap="none" strike="noStrike">
                <a:solidFill>
                  <a:srgbClr val="FFFF00"/>
                </a:solidFill>
                <a:latin typeface="Courier"/>
                <a:ea typeface="Courier"/>
                <a:cs typeface="Courier"/>
                <a:sym typeface="Courier"/>
              </a:rPr>
              <a:t>print(</a:t>
            </a:r>
            <a:r>
              <a:rPr b="0" i="0" lang="en-US" sz="3600" u="none" cap="none" strike="noStrike">
                <a:solidFill>
                  <a:srgbClr val="00FF00"/>
                </a:solidFill>
                <a:latin typeface="Courier"/>
                <a:ea typeface="Courier"/>
                <a:cs typeface="Courier"/>
                <a:sym typeface="Courier"/>
              </a:rPr>
              <a:t> </a:t>
            </a:r>
            <a:r>
              <a:rPr b="0" i="0" lang="en-US" sz="3600" u="none" cap="none" strike="noStrike">
                <a:solidFill>
                  <a:srgbClr val="FF00FF"/>
                </a:solidFill>
                <a:latin typeface="Courier"/>
                <a:ea typeface="Courier"/>
                <a:cs typeface="Courier"/>
                <a:sym typeface="Courier"/>
              </a:rPr>
              <a:t>sorted</a:t>
            </a:r>
            <a:r>
              <a:rPr b="0" i="0" lang="en-US" sz="3600" u="none" cap="none" strike="noStrike">
                <a:solidFill>
                  <a:schemeClr val="lt1"/>
                </a:solidFill>
                <a:latin typeface="Courier"/>
                <a:ea typeface="Courier"/>
                <a:cs typeface="Courier"/>
                <a:sym typeface="Courier"/>
              </a:rPr>
              <a:t>(</a:t>
            </a:r>
            <a:r>
              <a:rPr b="0" i="0" lang="en-US" sz="3600" u="none" cap="none" strike="noStrike">
                <a:solidFill>
                  <a:srgbClr val="00FF00"/>
                </a:solidFill>
                <a:latin typeface="Courier"/>
                <a:ea typeface="Courier"/>
                <a:cs typeface="Courier"/>
                <a:sym typeface="Courier"/>
              </a:rPr>
              <a:t> </a:t>
            </a:r>
            <a:r>
              <a:rPr b="0" i="0" lang="en-US" sz="3600" u="none" cap="none" strike="noStrike">
                <a:solidFill>
                  <a:srgbClr val="00FFFF"/>
                </a:solidFill>
                <a:latin typeface="Courier"/>
                <a:ea typeface="Courier"/>
                <a:cs typeface="Courier"/>
                <a:sym typeface="Courier"/>
              </a:rPr>
              <a:t>[</a:t>
            </a:r>
            <a:r>
              <a:rPr b="0" i="0" lang="en-US" sz="3600" u="none" cap="none" strike="noStrike">
                <a:solidFill>
                  <a:schemeClr val="lt1"/>
                </a:solidFill>
                <a:latin typeface="Courier"/>
                <a:ea typeface="Courier"/>
                <a:cs typeface="Courier"/>
                <a:sym typeface="Courier"/>
              </a:rPr>
              <a:t> </a:t>
            </a:r>
            <a:r>
              <a:rPr b="0" i="0" lang="en-US" sz="3600" u="none" cap="none" strike="noStrike">
                <a:solidFill>
                  <a:srgbClr val="FF7F00"/>
                </a:solidFill>
                <a:latin typeface="Courier"/>
                <a:ea typeface="Courier"/>
                <a:cs typeface="Courier"/>
                <a:sym typeface="Courier"/>
              </a:rPr>
              <a:t>(v,k)</a:t>
            </a:r>
            <a:r>
              <a:rPr b="0" i="0" lang="en-US" sz="3600" u="none" cap="none" strike="noStrike">
                <a:solidFill>
                  <a:schemeClr val="lt1"/>
                </a:solidFill>
                <a:latin typeface="Courier"/>
                <a:ea typeface="Courier"/>
                <a:cs typeface="Courier"/>
                <a:sym typeface="Courier"/>
              </a:rPr>
              <a:t> </a:t>
            </a:r>
            <a:r>
              <a:rPr b="0" i="0" lang="en-US" sz="3600" u="none" cap="none" strike="noStrike">
                <a:solidFill>
                  <a:srgbClr val="FFFF00"/>
                </a:solidFill>
                <a:latin typeface="Courier"/>
                <a:ea typeface="Courier"/>
                <a:cs typeface="Courier"/>
                <a:sym typeface="Courier"/>
              </a:rPr>
              <a:t>for</a:t>
            </a:r>
            <a:r>
              <a:rPr b="0" i="0" lang="en-US" sz="3600" u="none" cap="none" strike="noStrike">
                <a:solidFill>
                  <a:schemeClr val="lt1"/>
                </a:solidFill>
                <a:latin typeface="Courier"/>
                <a:ea typeface="Courier"/>
                <a:cs typeface="Courier"/>
                <a:sym typeface="Courier"/>
              </a:rPr>
              <a:t> </a:t>
            </a:r>
            <a:r>
              <a:rPr b="0" i="0" lang="en-US" sz="3600" u="none" cap="none" strike="noStrike">
                <a:solidFill>
                  <a:srgbClr val="FF7F00"/>
                </a:solidFill>
                <a:latin typeface="Courier"/>
                <a:ea typeface="Courier"/>
                <a:cs typeface="Courier"/>
                <a:sym typeface="Courier"/>
              </a:rPr>
              <a:t>k,v</a:t>
            </a:r>
            <a:r>
              <a:rPr b="0" i="0" lang="en-US" sz="3600" u="none" cap="none" strike="noStrike">
                <a:solidFill>
                  <a:schemeClr val="lt1"/>
                </a:solidFill>
                <a:latin typeface="Courier"/>
                <a:ea typeface="Courier"/>
                <a:cs typeface="Courier"/>
                <a:sym typeface="Courier"/>
              </a:rPr>
              <a:t> </a:t>
            </a:r>
            <a:r>
              <a:rPr b="0" i="0" lang="en-US" sz="3600" u="none" cap="none" strike="noStrike">
                <a:solidFill>
                  <a:srgbClr val="FFFF00"/>
                </a:solidFill>
                <a:latin typeface="Courier"/>
                <a:ea typeface="Courier"/>
                <a:cs typeface="Courier"/>
                <a:sym typeface="Courier"/>
              </a:rPr>
              <a:t>in</a:t>
            </a:r>
            <a:r>
              <a:rPr b="0" i="0" lang="en-US" sz="3600" u="none" cap="none" strike="noStrike">
                <a:solidFill>
                  <a:schemeClr val="lt1"/>
                </a:solidFill>
                <a:latin typeface="Courier"/>
                <a:ea typeface="Courier"/>
                <a:cs typeface="Courier"/>
                <a:sym typeface="Courier"/>
              </a:rPr>
              <a:t> </a:t>
            </a:r>
            <a:r>
              <a:rPr b="0" i="0" lang="en-US" sz="3600" u="none" cap="none" strike="noStrike">
                <a:solidFill>
                  <a:srgbClr val="00FF00"/>
                </a:solidFill>
                <a:latin typeface="Courier"/>
                <a:ea typeface="Courier"/>
                <a:cs typeface="Courier"/>
                <a:sym typeface="Courier"/>
              </a:rPr>
              <a:t>c</a:t>
            </a:r>
            <a:r>
              <a:rPr b="0" i="0" lang="en-US" sz="3600" u="none" cap="none" strike="noStrike">
                <a:solidFill>
                  <a:srgbClr val="FF00FF"/>
                </a:solidFill>
                <a:latin typeface="Courier"/>
                <a:ea typeface="Courier"/>
                <a:cs typeface="Courier"/>
                <a:sym typeface="Courier"/>
              </a:rPr>
              <a:t>.items</a:t>
            </a:r>
            <a:r>
              <a:rPr b="0" i="0" lang="en-US" sz="3600" u="none" cap="none" strike="noStrike">
                <a:solidFill>
                  <a:schemeClr val="lt1"/>
                </a:solidFill>
                <a:latin typeface="Courier"/>
                <a:ea typeface="Courier"/>
                <a:cs typeface="Courier"/>
                <a:sym typeface="Courier"/>
              </a:rPr>
              <a:t>() </a:t>
            </a:r>
            <a:r>
              <a:rPr b="0" i="0" lang="en-US" sz="3600" u="none" cap="none" strike="noStrike">
                <a:solidFill>
                  <a:srgbClr val="00FFFF"/>
                </a:solidFill>
                <a:latin typeface="Courier"/>
                <a:ea typeface="Courier"/>
                <a:cs typeface="Courier"/>
                <a:sym typeface="Courier"/>
              </a:rPr>
              <a:t>]</a:t>
            </a:r>
            <a:r>
              <a:rPr b="0" i="0" lang="en-US" sz="3600" u="none" cap="none" strike="noStrike">
                <a:solidFill>
                  <a:schemeClr val="lt1"/>
                </a:solidFill>
                <a:latin typeface="Courier"/>
                <a:ea typeface="Courier"/>
                <a:cs typeface="Courier"/>
                <a:sym typeface="Courier"/>
              </a:rPr>
              <a:t> ) </a:t>
            </a:r>
            <a:r>
              <a:rPr b="0" i="0" lang="en-US" sz="3600" u="none" cap="none" strike="noStrike">
                <a:solidFill>
                  <a:srgbClr val="FFFF00"/>
                </a:solidFill>
                <a:latin typeface="Courier"/>
                <a:ea typeface="Courier"/>
                <a:cs typeface="Courier"/>
                <a:sym typeface="Courier"/>
              </a:rPr>
              <a:t>)</a:t>
            </a:r>
            <a:endParaRPr b="0" i="0" sz="3600" u="none" cap="none" strike="noStrike">
              <a:solidFill>
                <a:srgbClr val="FFFF00"/>
              </a:solidFill>
              <a:latin typeface="Courier"/>
              <a:ea typeface="Courier"/>
              <a:cs typeface="Courier"/>
              <a:sym typeface="Courier"/>
            </a:endParaRPr>
          </a:p>
          <a:p>
            <a:pPr indent="0" lvl="0" marL="0" marR="0" rtl="0" algn="ctr">
              <a:lnSpc>
                <a:spcPct val="100000"/>
              </a:lnSpc>
              <a:spcBef>
                <a:spcPts val="0"/>
              </a:spcBef>
              <a:spcAft>
                <a:spcPts val="0"/>
              </a:spcAft>
              <a:buClr>
                <a:srgbClr val="000000"/>
              </a:buClr>
              <a:buSzPts val="3600"/>
              <a:buFont typeface="Arial"/>
              <a:buNone/>
            </a:pPr>
            <a:r>
              <a:t/>
            </a:r>
            <a:endParaRPr b="0" i="0" sz="3600" u="none" cap="none" strike="noStrike">
              <a:solidFill>
                <a:schemeClr val="lt1"/>
              </a:solidFill>
              <a:latin typeface="Courier"/>
              <a:ea typeface="Courier"/>
              <a:cs typeface="Courier"/>
              <a:sym typeface="Courier"/>
            </a:endParaRPr>
          </a:p>
          <a:p>
            <a:pPr indent="0" lvl="0" marL="0" marR="0" rtl="0" algn="l">
              <a:lnSpc>
                <a:spcPct val="100000"/>
              </a:lnSpc>
              <a:spcBef>
                <a:spcPts val="0"/>
              </a:spcBef>
              <a:spcAft>
                <a:spcPts val="0"/>
              </a:spcAft>
              <a:buClr>
                <a:schemeClr val="lt1"/>
              </a:buClr>
              <a:buSzPts val="900"/>
              <a:buFont typeface="Courier New"/>
              <a:buNone/>
            </a:pPr>
            <a:r>
              <a:rPr b="0" i="0" lang="en-US" sz="3600" u="none" cap="none" strike="noStrike">
                <a:solidFill>
                  <a:schemeClr val="lt1"/>
                </a:solidFill>
                <a:latin typeface="Courier"/>
                <a:ea typeface="Courier"/>
                <a:cs typeface="Courier"/>
                <a:sym typeface="Courier"/>
              </a:rPr>
              <a:t>[(1, 'b'), (10, 'a'), (22, 'c')]</a:t>
            </a:r>
            <a:endParaRPr/>
          </a:p>
        </p:txBody>
      </p:sp>
      <p:sp>
        <p:nvSpPr>
          <p:cNvPr id="103" name="Google Shape;103;p17"/>
          <p:cNvSpPr txBox="1"/>
          <p:nvPr/>
        </p:nvSpPr>
        <p:spPr>
          <a:xfrm>
            <a:off x="1808049" y="6652200"/>
            <a:ext cx="12915901" cy="1219199"/>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FF00"/>
              </a:buClr>
              <a:buSzPts val="950"/>
              <a:buFont typeface="Cabin"/>
              <a:buNone/>
            </a:pPr>
            <a:r>
              <a:rPr b="0" i="0" lang="en-US" sz="3800" u="none" cap="none" strike="noStrike">
                <a:solidFill>
                  <a:srgbClr val="00FF00"/>
                </a:solidFill>
                <a:latin typeface="Arial"/>
                <a:ea typeface="Arial"/>
                <a:cs typeface="Arial"/>
                <a:sym typeface="Arial"/>
              </a:rPr>
              <a:t>List comprehension</a:t>
            </a:r>
            <a:r>
              <a:rPr b="0" i="0" lang="en-US" sz="3800" u="none" cap="none" strike="noStrike">
                <a:solidFill>
                  <a:schemeClr val="lt1"/>
                </a:solidFill>
                <a:latin typeface="Arial"/>
                <a:ea typeface="Arial"/>
                <a:cs typeface="Arial"/>
                <a:sym typeface="Arial"/>
              </a:rPr>
              <a:t> creates a dynamic list.  In this case, we make a list of reversed tuples and then sort it.</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18"/>
          <p:cNvSpPr txBox="1"/>
          <p:nvPr>
            <p:ph type="title"/>
          </p:nvPr>
        </p:nvSpPr>
        <p:spPr>
          <a:xfrm>
            <a:off x="1155700" y="789708"/>
            <a:ext cx="12526433" cy="1750191"/>
          </a:xfrm>
          <a:prstGeom prst="rect">
            <a:avLst/>
          </a:prstGeom>
          <a:noFill/>
          <a:ln>
            <a:noFill/>
          </a:ln>
        </p:spPr>
        <p:txBody>
          <a:bodyPr anchorCtr="0" anchor="ctr" bIns="38100" lIns="38100" spcFirstLastPara="1" rIns="38100" wrap="square" tIns="38100">
            <a:noAutofit/>
          </a:bodyPr>
          <a:lstStyle/>
          <a:p>
            <a:pPr indent="0" lvl="0" marL="0" marR="0" rtl="0" algn="ctr">
              <a:lnSpc>
                <a:spcPct val="100000"/>
              </a:lnSpc>
              <a:spcBef>
                <a:spcPts val="0"/>
              </a:spcBef>
              <a:spcAft>
                <a:spcPts val="0"/>
              </a:spcAft>
              <a:buClr>
                <a:srgbClr val="00FF00"/>
              </a:buClr>
              <a:buSzPts val="1900"/>
              <a:buFont typeface="Cabin"/>
              <a:buNone/>
            </a:pPr>
            <a:r>
              <a:rPr lang="en-US" sz="7600" u="none" cap="none" strike="noStrike">
                <a:solidFill>
                  <a:srgbClr val="FFD966"/>
                </a:solidFill>
                <a:latin typeface="Arial"/>
                <a:ea typeface="Arial"/>
                <a:cs typeface="Arial"/>
                <a:sym typeface="Arial"/>
              </a:rPr>
              <a:t>Summary</a:t>
            </a:r>
            <a:endParaRPr/>
          </a:p>
        </p:txBody>
      </p:sp>
      <p:sp>
        <p:nvSpPr>
          <p:cNvPr id="109" name="Google Shape;109;p18"/>
          <p:cNvSpPr txBox="1"/>
          <p:nvPr>
            <p:ph idx="1" type="body"/>
          </p:nvPr>
        </p:nvSpPr>
        <p:spPr>
          <a:xfrm>
            <a:off x="1760866" y="2603500"/>
            <a:ext cx="13326832" cy="4491567"/>
          </a:xfrm>
          <a:prstGeom prst="rect">
            <a:avLst/>
          </a:prstGeom>
          <a:noFill/>
          <a:ln>
            <a:noFill/>
          </a:ln>
        </p:spPr>
        <p:txBody>
          <a:bodyPr anchorCtr="0" anchor="ctr" bIns="50800" lIns="50800" spcFirstLastPara="1" rIns="50800" wrap="square" tIns="50800">
            <a:noAutofit/>
          </a:bodyPr>
          <a:lstStyle/>
          <a:p>
            <a:pPr indent="-609600" lvl="0" marL="1104900" marR="0" rtl="0" algn="l">
              <a:lnSpc>
                <a:spcPct val="100000"/>
              </a:lnSpc>
              <a:spcBef>
                <a:spcPts val="0"/>
              </a:spcBef>
              <a:spcAft>
                <a:spcPts val="0"/>
              </a:spcAft>
              <a:buClr>
                <a:schemeClr val="lt1"/>
              </a:buClr>
              <a:buSzPts val="3600"/>
              <a:buFont typeface="Cabin"/>
              <a:buChar char="•"/>
            </a:pPr>
            <a:r>
              <a:rPr lang="en-US" sz="3600" u="none" cap="none" strike="noStrike">
                <a:solidFill>
                  <a:schemeClr val="lt1"/>
                </a:solidFill>
                <a:latin typeface="Arial"/>
                <a:ea typeface="Arial"/>
                <a:cs typeface="Arial"/>
                <a:sym typeface="Arial"/>
              </a:rPr>
              <a:t>Tuple syntax</a:t>
            </a:r>
            <a:endParaRPr/>
          </a:p>
          <a:p>
            <a:pPr indent="-609600" lvl="0" marL="1104900" marR="0" rtl="0" algn="l">
              <a:lnSpc>
                <a:spcPct val="100000"/>
              </a:lnSpc>
              <a:spcBef>
                <a:spcPts val="2300"/>
              </a:spcBef>
              <a:spcAft>
                <a:spcPts val="0"/>
              </a:spcAft>
              <a:buClr>
                <a:schemeClr val="lt1"/>
              </a:buClr>
              <a:buSzPts val="3600"/>
              <a:buFont typeface="Cabin"/>
              <a:buChar char="•"/>
            </a:pPr>
            <a:r>
              <a:rPr lang="en-US" sz="3600" u="none" cap="none" strike="noStrike">
                <a:solidFill>
                  <a:schemeClr val="lt1"/>
                </a:solidFill>
                <a:latin typeface="Arial"/>
                <a:ea typeface="Arial"/>
                <a:cs typeface="Arial"/>
                <a:sym typeface="Arial"/>
              </a:rPr>
              <a:t>Immutability</a:t>
            </a:r>
            <a:endParaRPr/>
          </a:p>
          <a:p>
            <a:pPr indent="-609600" lvl="0" marL="1104900" marR="0" rtl="0" algn="l">
              <a:lnSpc>
                <a:spcPct val="100000"/>
              </a:lnSpc>
              <a:spcBef>
                <a:spcPts val="2300"/>
              </a:spcBef>
              <a:spcAft>
                <a:spcPts val="0"/>
              </a:spcAft>
              <a:buClr>
                <a:schemeClr val="lt1"/>
              </a:buClr>
              <a:buSzPts val="3600"/>
              <a:buFont typeface="Cabin"/>
              <a:buChar char="•"/>
            </a:pPr>
            <a:r>
              <a:rPr lang="en-US" sz="3600" u="none" cap="none" strike="noStrike">
                <a:solidFill>
                  <a:schemeClr val="lt1"/>
                </a:solidFill>
                <a:latin typeface="Arial"/>
                <a:ea typeface="Arial"/>
                <a:cs typeface="Arial"/>
                <a:sym typeface="Arial"/>
              </a:rPr>
              <a:t>Comparability</a:t>
            </a:r>
            <a:endParaRPr/>
          </a:p>
          <a:p>
            <a:pPr indent="-609600" lvl="0" marL="1104900" marR="0" rtl="0" algn="l">
              <a:lnSpc>
                <a:spcPct val="100000"/>
              </a:lnSpc>
              <a:spcBef>
                <a:spcPts val="2300"/>
              </a:spcBef>
              <a:spcAft>
                <a:spcPts val="0"/>
              </a:spcAft>
              <a:buClr>
                <a:schemeClr val="lt1"/>
              </a:buClr>
              <a:buSzPts val="3600"/>
              <a:buFont typeface="Cabin"/>
              <a:buChar char="•"/>
            </a:pPr>
            <a:r>
              <a:rPr lang="en-US" sz="3600" u="none" cap="none" strike="noStrike">
                <a:solidFill>
                  <a:schemeClr val="lt1"/>
                </a:solidFill>
                <a:latin typeface="Arial"/>
                <a:ea typeface="Arial"/>
                <a:cs typeface="Arial"/>
                <a:sym typeface="Arial"/>
              </a:rPr>
              <a:t>Sorting</a:t>
            </a:r>
            <a:endParaRPr/>
          </a:p>
        </p:txBody>
      </p:sp>
      <p:sp>
        <p:nvSpPr>
          <p:cNvPr id="110" name="Google Shape;110;p18"/>
          <p:cNvSpPr txBox="1"/>
          <p:nvPr>
            <p:ph idx="4294967295" type="body"/>
          </p:nvPr>
        </p:nvSpPr>
        <p:spPr>
          <a:xfrm>
            <a:off x="7742580" y="3011967"/>
            <a:ext cx="6378575" cy="3209917"/>
          </a:xfrm>
          <a:prstGeom prst="rect">
            <a:avLst/>
          </a:prstGeom>
          <a:noFill/>
          <a:ln>
            <a:noFill/>
          </a:ln>
        </p:spPr>
        <p:txBody>
          <a:bodyPr anchorCtr="0" anchor="ctr" bIns="50800" lIns="50800" spcFirstLastPara="1" rIns="50800" wrap="square" tIns="50800">
            <a:noAutofit/>
          </a:bodyPr>
          <a:lstStyle/>
          <a:p>
            <a:pPr indent="-609600" lvl="0" marL="1104900" marR="0" rtl="0" algn="l">
              <a:lnSpc>
                <a:spcPct val="100000"/>
              </a:lnSpc>
              <a:spcBef>
                <a:spcPts val="0"/>
              </a:spcBef>
              <a:spcAft>
                <a:spcPts val="0"/>
              </a:spcAft>
              <a:buClr>
                <a:schemeClr val="lt1"/>
              </a:buClr>
              <a:buSzPts val="3600"/>
              <a:buFont typeface="Cabin"/>
              <a:buChar char="•"/>
            </a:pPr>
            <a:r>
              <a:rPr lang="en-US" sz="3600" u="none" cap="none" strike="noStrike">
                <a:solidFill>
                  <a:schemeClr val="lt1"/>
                </a:solidFill>
                <a:latin typeface="Arial"/>
                <a:ea typeface="Arial"/>
                <a:cs typeface="Arial"/>
                <a:sym typeface="Arial"/>
              </a:rPr>
              <a:t>Tuples in assignment statements</a:t>
            </a:r>
            <a:endParaRPr/>
          </a:p>
          <a:p>
            <a:pPr indent="-609600" lvl="0" marL="1104900" marR="0" rtl="0" algn="l">
              <a:lnSpc>
                <a:spcPct val="100000"/>
              </a:lnSpc>
              <a:spcBef>
                <a:spcPts val="2300"/>
              </a:spcBef>
              <a:spcAft>
                <a:spcPts val="0"/>
              </a:spcAft>
              <a:buClr>
                <a:schemeClr val="lt1"/>
              </a:buClr>
              <a:buSzPts val="3600"/>
              <a:buFont typeface="Cabin"/>
              <a:buChar char="•"/>
            </a:pPr>
            <a:r>
              <a:rPr lang="en-US" sz="3600" u="none" cap="none" strike="noStrike">
                <a:solidFill>
                  <a:schemeClr val="lt1"/>
                </a:solidFill>
                <a:latin typeface="Arial"/>
                <a:ea typeface="Arial"/>
                <a:cs typeface="Arial"/>
                <a:sym typeface="Arial"/>
              </a:rPr>
              <a:t>Sorting dictionaries by either key or value </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p19"/>
          <p:cNvSpPr txBox="1"/>
          <p:nvPr>
            <p:ph idx="4294967295" type="title"/>
          </p:nvPr>
        </p:nvSpPr>
        <p:spPr>
          <a:xfrm>
            <a:off x="1462700" y="906184"/>
            <a:ext cx="12469201" cy="10248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FFFF00"/>
              </a:buClr>
              <a:buSzPts val="900"/>
              <a:buFont typeface="Arial"/>
              <a:buNone/>
            </a:pPr>
            <a:r>
              <a:rPr b="0" i="0" lang="en-US" sz="3600" u="none" cap="none" strike="noStrike">
                <a:solidFill>
                  <a:srgbClr val="FFFF00"/>
                </a:solidFill>
                <a:latin typeface="Arial"/>
                <a:ea typeface="Arial"/>
                <a:cs typeface="Arial"/>
                <a:sym typeface="Arial"/>
              </a:rPr>
              <a:t>Acknowledgements / Contributions</a:t>
            </a:r>
            <a:endParaRPr/>
          </a:p>
        </p:txBody>
      </p:sp>
      <p:sp>
        <p:nvSpPr>
          <p:cNvPr id="116" name="Google Shape;116;p19"/>
          <p:cNvSpPr txBox="1"/>
          <p:nvPr/>
        </p:nvSpPr>
        <p:spPr>
          <a:xfrm>
            <a:off x="1206100" y="2153260"/>
            <a:ext cx="6797698" cy="6019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FFFFFF"/>
              </a:buClr>
              <a:buSzPts val="450"/>
              <a:buFont typeface="Arial"/>
              <a:buNone/>
            </a:pPr>
            <a:r>
              <a:rPr b="0" i="0" lang="en-US" sz="1800" u="none" cap="none" strike="noStrike">
                <a:solidFill>
                  <a:srgbClr val="FFFFFF"/>
                </a:solidFill>
                <a:latin typeface="Arial"/>
                <a:ea typeface="Arial"/>
                <a:cs typeface="Arial"/>
                <a:sym typeface="Arial"/>
              </a:rPr>
              <a:t>These slides are Copyright 2010-  Charles R. Severance (</a:t>
            </a:r>
            <a:r>
              <a:rPr b="0" i="0" lang="en-US" sz="1800" u="sng" cap="none" strike="noStrike">
                <a:solidFill>
                  <a:schemeClr val="hlink"/>
                </a:solidFill>
                <a:latin typeface="Arial"/>
                <a:ea typeface="Arial"/>
                <a:cs typeface="Arial"/>
                <a:sym typeface="Arial"/>
                <a:hlinkClick r:id="rId3"/>
              </a:rPr>
              <a:t>www.dr-chuck.com</a:t>
            </a:r>
            <a:r>
              <a:rPr b="0" i="0" lang="en-US" sz="1800" u="none" cap="none" strike="noStrike">
                <a:solidFill>
                  <a:srgbClr val="FFFFFF"/>
                </a:solidFill>
                <a:latin typeface="Arial"/>
                <a:ea typeface="Arial"/>
                <a:cs typeface="Arial"/>
                <a:sym typeface="Arial"/>
              </a:rPr>
              <a:t>) of the University of Michigan School of Information and </a:t>
            </a:r>
            <a:r>
              <a:rPr b="0" i="0" lang="en-US" sz="1800" u="sng" cap="none" strike="noStrike">
                <a:solidFill>
                  <a:schemeClr val="hlink"/>
                </a:solidFill>
                <a:latin typeface="Arial"/>
                <a:ea typeface="Arial"/>
                <a:cs typeface="Arial"/>
                <a:sym typeface="Arial"/>
                <a:hlinkClick r:id="rId4"/>
              </a:rPr>
              <a:t>open.umich.edu</a:t>
            </a:r>
            <a:r>
              <a:rPr b="0" i="0" lang="en-US" sz="1800" u="none" cap="none" strike="noStrike">
                <a:solidFill>
                  <a:srgbClr val="FFFFFF"/>
                </a:solidFill>
                <a:latin typeface="Arial"/>
                <a:ea typeface="Arial"/>
                <a:cs typeface="Arial"/>
                <a:sym typeface="Arial"/>
              </a:rPr>
              <a:t> and made available under a Creative Commons Attribution 4.0 License.  Please maintain this last slide in all copies of the document to comply with the attribution requirements of the license.  If you make a change, feel free to add your name and organization to the list of contributors on this page as you republish the materials.</a:t>
            </a:r>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Arial"/>
              <a:ea typeface="Arial"/>
              <a:cs typeface="Arial"/>
              <a:sym typeface="Arial"/>
            </a:endParaRPr>
          </a:p>
          <a:p>
            <a:pPr indent="0" lvl="0" marL="0" marR="0" rtl="0" algn="l">
              <a:lnSpc>
                <a:spcPct val="100000"/>
              </a:lnSpc>
              <a:spcBef>
                <a:spcPts val="0"/>
              </a:spcBef>
              <a:spcAft>
                <a:spcPts val="0"/>
              </a:spcAft>
              <a:buClr>
                <a:srgbClr val="FFFFFF"/>
              </a:buClr>
              <a:buSzPts val="450"/>
              <a:buFont typeface="Arial"/>
              <a:buNone/>
            </a:pPr>
            <a:r>
              <a:rPr b="0" i="0" lang="en-US" sz="1800" u="none" cap="none" strike="noStrike">
                <a:solidFill>
                  <a:srgbClr val="FFFFFF"/>
                </a:solidFill>
                <a:latin typeface="Arial"/>
                <a:ea typeface="Arial"/>
                <a:cs typeface="Arial"/>
                <a:sym typeface="Arial"/>
              </a:rPr>
              <a:t>Initial Development: Charles Severance, University of Michigan School of Information</a:t>
            </a:r>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Arial"/>
              <a:ea typeface="Arial"/>
              <a:cs typeface="Arial"/>
              <a:sym typeface="Arial"/>
            </a:endParaRPr>
          </a:p>
          <a:p>
            <a:pPr indent="0" lvl="0" marL="0" marR="0" rtl="0" algn="l">
              <a:lnSpc>
                <a:spcPct val="100000"/>
              </a:lnSpc>
              <a:spcBef>
                <a:spcPts val="0"/>
              </a:spcBef>
              <a:spcAft>
                <a:spcPts val="0"/>
              </a:spcAft>
              <a:buClr>
                <a:srgbClr val="FFFFFF"/>
              </a:buClr>
              <a:buSzPts val="450"/>
              <a:buFont typeface="Arial"/>
              <a:buNone/>
            </a:pPr>
            <a:r>
              <a:rPr b="0" i="0" lang="en-US" sz="1800" u="none" cap="none" strike="noStrike">
                <a:solidFill>
                  <a:srgbClr val="FFFFFF"/>
                </a:solidFill>
                <a:latin typeface="Arial"/>
                <a:ea typeface="Arial"/>
                <a:cs typeface="Arial"/>
                <a:sym typeface="Arial"/>
              </a:rPr>
              <a:t>… Insert new Contributors and Translators here</a:t>
            </a:r>
            <a:endParaRPr/>
          </a:p>
        </p:txBody>
      </p:sp>
      <p:pic>
        <p:nvPicPr>
          <p:cNvPr id="117" name="Google Shape;117;p19"/>
          <p:cNvPicPr preferRelativeResize="0"/>
          <p:nvPr/>
        </p:nvPicPr>
        <p:blipFill rotWithShape="1">
          <a:blip r:embed="rId5">
            <a:alphaModFix/>
          </a:blip>
          <a:srcRect b="0" l="0" r="0" t="0"/>
          <a:stretch/>
        </p:blipFill>
        <p:spPr>
          <a:xfrm>
            <a:off x="13897688" y="1084384"/>
            <a:ext cx="1968599" cy="668400"/>
          </a:xfrm>
          <a:prstGeom prst="rect">
            <a:avLst/>
          </a:prstGeom>
          <a:noFill/>
          <a:ln>
            <a:noFill/>
          </a:ln>
        </p:spPr>
      </p:pic>
      <p:sp>
        <p:nvSpPr>
          <p:cNvPr id="118" name="Google Shape;118;p19"/>
          <p:cNvSpPr txBox="1"/>
          <p:nvPr/>
        </p:nvSpPr>
        <p:spPr>
          <a:xfrm>
            <a:off x="8704400" y="2283734"/>
            <a:ext cx="6797698" cy="5788704"/>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FFFFFF"/>
              </a:buClr>
              <a:buSzPts val="450"/>
              <a:buFont typeface="Arial"/>
              <a:buNone/>
            </a:pPr>
            <a:r>
              <a:rPr b="0" i="0" lang="en-US" sz="1800" u="none" cap="none" strike="noStrike">
                <a:solidFill>
                  <a:srgbClr val="FFFFFF"/>
                </a:solidFill>
                <a:latin typeface="Arial"/>
                <a:ea typeface="Arial"/>
                <a:cs typeface="Arial"/>
                <a:sym typeface="Arial"/>
              </a:rPr>
              <a:t>...</a:t>
            </a:r>
            <a:endParaRPr/>
          </a:p>
        </p:txBody>
      </p:sp>
    </p:spTree>
  </p:cSld>
  <p:clrMapOvr>
    <a:masterClrMapping/>
  </p:clrMapOvr>
</p:sld>
</file>

<file path=ppt/theme/theme1.xml><?xml version="1.0" encoding="utf-8"?>
<a:theme xmlns:a="http://schemas.openxmlformats.org/drawingml/2006/main" xmlns:r="http://schemas.openxmlformats.org/officeDocument/2006/relationships" name="Title &amp; Subtitle">
  <a:themeElements>
    <a:clrScheme name="">
      <a:dk1>
        <a:srgbClr val="808080"/>
      </a:dk1>
      <a:lt1>
        <a:srgbClr val="FFFFFF"/>
      </a:lt1>
      <a:dk2>
        <a:srgbClr val="000000"/>
      </a:dk2>
      <a:lt2>
        <a:srgbClr val="000000"/>
      </a:lt2>
      <a:accent1>
        <a:srgbClr val="BBE0E3"/>
      </a:accent1>
      <a:accent2>
        <a:srgbClr val="333399"/>
      </a:accent2>
      <a:accent3>
        <a:srgbClr val="AAAAAA"/>
      </a:accent3>
      <a:accent4>
        <a:srgbClr val="DADADA"/>
      </a:accent4>
      <a:accent5>
        <a:srgbClr val="DAEDEF"/>
      </a:accent5>
      <a:accent6>
        <a:srgbClr val="2D2D8A"/>
      </a:accent6>
      <a:hlink>
        <a:srgbClr val="009999"/>
      </a:hlink>
      <a:folHlink>
        <a:srgbClr val="99CC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Custom The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