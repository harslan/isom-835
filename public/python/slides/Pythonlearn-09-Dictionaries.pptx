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9144000" cx="16256000"/>
  <p:notesSz cx="6858000" cy="9144000"/>
  <p:embeddedFontLst>
    <p:embeddedFont>
      <p:font typeface="Gill Sans"/>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http://customooxmlschemas.google.com/">
      <go:slidesCustomData xmlns:go="http://customooxmlschemas.google.com/" r:id="rId24" roundtripDataSignature="AMtx7mh5dX9jlh3FKMMtvXC0RtseHU6i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GillSans-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Gill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Dictionaries are Python’s most powerful data collection. They allow us to do fast database-like operations in Python. </a:t>
            </a:r>
            <a:r>
              <a:rPr lang="en-US"/>
              <a:t>A dictionary is similar to a list, but more flexible. In a list, the index positions have to be integers. However, in a dictionary, the indices can be almost any type. You can think of a dictionary as a mapping between a set of indices (which are called keys) and a set of values. Each key maps to a value. The association of a key and a value is called a key-value pair or sometimes an item. There is no specific order for the key-value pairs. In fact, if you type the same example on your computer, you might get a different result. In general, the order of items in a dictionary is unpredictable. But that’s not a problem since the elements of a dictionary are never indexed with integer indices. Instead, you use the keys to look up the corresponding values.</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lang="en-US"/>
              <a:t>The built-in Python function dict creates a new dictionary with no items. Alternatively, you can use the curly brackets, {} to create an empty dictionary as well. After creating an empty dictionary, you can add key-value pairs (items) into the dictionary using square brackets. For example,</a:t>
            </a:r>
            <a:endParaRPr/>
          </a:p>
          <a:p>
            <a:pPr indent="0" lvl="0" marL="0" marR="0" rtl="0" algn="l">
              <a:lnSpc>
                <a:spcPct val="100000"/>
              </a:lnSpc>
              <a:spcBef>
                <a:spcPts val="0"/>
              </a:spcBef>
              <a:spcAft>
                <a:spcPts val="0"/>
              </a:spcAft>
              <a:buClr>
                <a:srgbClr val="FF00FF"/>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ddd =</a:t>
            </a:r>
            <a:r>
              <a:rPr i="0" lang="en-US" sz="1200" u="none" cap="none" strike="noStrike">
                <a:solidFill>
                  <a:srgbClr val="0000FF"/>
                </a:solidFill>
                <a:latin typeface="Courier"/>
                <a:ea typeface="Courier"/>
                <a:cs typeface="Courier"/>
                <a:sym typeface="Courier"/>
              </a:rPr>
              <a:t> </a:t>
            </a:r>
            <a:r>
              <a:rPr i="0" lang="en-US" sz="1200" u="none" cap="none" strike="noStrike">
                <a:solidFill>
                  <a:srgbClr val="00FFFF"/>
                </a:solidFill>
                <a:latin typeface="Courier"/>
                <a:ea typeface="Courier"/>
                <a:cs typeface="Courier"/>
                <a:sym typeface="Courier"/>
              </a:rPr>
              <a:t>dict()</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ddd[</a:t>
            </a:r>
            <a:r>
              <a:rPr i="0" lang="en-US" sz="1200" u="none" cap="none" strike="noStrike">
                <a:solidFill>
                  <a:srgbClr val="FF7F00"/>
                </a:solidFill>
                <a:latin typeface="Courier"/>
                <a:ea typeface="Courier"/>
                <a:cs typeface="Courier"/>
                <a:sym typeface="Courier"/>
              </a:rPr>
              <a:t>'age'</a:t>
            </a:r>
            <a:r>
              <a:rPr i="0" lang="en-US" sz="1200" u="none" cap="none" strike="noStrike">
                <a:solidFill>
                  <a:srgbClr val="FF00FF"/>
                </a:solidFill>
                <a:latin typeface="Courier"/>
                <a:ea typeface="Courier"/>
                <a:cs typeface="Courier"/>
                <a:sym typeface="Courier"/>
              </a:rPr>
              <a:t>] = </a:t>
            </a:r>
            <a:r>
              <a:rPr i="0" lang="en-US" sz="1200" u="none" cap="none" strike="noStrike">
                <a:solidFill>
                  <a:srgbClr val="FFFF00"/>
                </a:solidFill>
                <a:latin typeface="Courier"/>
                <a:ea typeface="Courier"/>
                <a:cs typeface="Courier"/>
                <a:sym typeface="Courier"/>
              </a:rPr>
              <a:t>21</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ddd[</a:t>
            </a:r>
            <a:r>
              <a:rPr i="0" lang="en-US" sz="1200" u="none" cap="none" strike="noStrike">
                <a:solidFill>
                  <a:srgbClr val="FF7F00"/>
                </a:solidFill>
                <a:latin typeface="Courier"/>
                <a:ea typeface="Courier"/>
                <a:cs typeface="Courier"/>
                <a:sym typeface="Courier"/>
              </a:rPr>
              <a:t>'course'</a:t>
            </a:r>
            <a:r>
              <a:rPr i="0" lang="en-US" sz="1200" u="none" cap="none" strike="noStrike">
                <a:solidFill>
                  <a:srgbClr val="FF00FF"/>
                </a:solidFill>
                <a:latin typeface="Courier"/>
                <a:ea typeface="Courier"/>
                <a:cs typeface="Courier"/>
                <a:sym typeface="Courier"/>
              </a:rPr>
              <a:t>] = </a:t>
            </a:r>
            <a:r>
              <a:rPr i="0" lang="en-US" sz="1200" u="none" cap="none" strike="noStrike">
                <a:solidFill>
                  <a:srgbClr val="FFFF00"/>
                </a:solidFill>
                <a:latin typeface="Courier"/>
                <a:ea typeface="Courier"/>
                <a:cs typeface="Courier"/>
                <a:sym typeface="Courier"/>
              </a:rPr>
              <a:t>182</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rgbClr val="FF00FF"/>
                </a:solidFill>
                <a:latin typeface="Courier"/>
                <a:ea typeface="Courier"/>
                <a:cs typeface="Courier"/>
                <a:sym typeface="Courier"/>
              </a:rPr>
              <a:t>ddd</a:t>
            </a:r>
            <a:r>
              <a:rPr lang="en-US" sz="1200">
                <a:solidFill>
                  <a:srgbClr val="FFFF00"/>
                </a:solidFill>
                <a:latin typeface="Courier"/>
                <a:ea typeface="Courier"/>
                <a:cs typeface="Courier"/>
                <a:sym typeface="Courier"/>
              </a:rPr>
              <a:t>)</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a:t>
            </a:r>
            <a:r>
              <a:rPr i="0" lang="en-US" sz="1200" u="none" cap="none" strike="noStrike">
                <a:solidFill>
                  <a:srgbClr val="FF7F00"/>
                </a:solidFill>
                <a:latin typeface="Courier"/>
                <a:ea typeface="Courier"/>
                <a:cs typeface="Courier"/>
                <a:sym typeface="Courier"/>
              </a:rPr>
              <a:t>'course'</a:t>
            </a:r>
            <a:r>
              <a:rPr i="0" lang="en-US" sz="1200" u="none" cap="none" strike="noStrike">
                <a:solidFill>
                  <a:srgbClr val="FF00FF"/>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182</a:t>
            </a:r>
            <a:r>
              <a:rPr i="0" lang="en-US" sz="1200" u="none" cap="none" strike="noStrike">
                <a:solidFill>
                  <a:srgbClr val="FF00FF"/>
                </a:solidFill>
                <a:latin typeface="Courier"/>
                <a:ea typeface="Courier"/>
                <a:cs typeface="Courier"/>
                <a:sym typeface="Courier"/>
              </a:rPr>
              <a:t>, </a:t>
            </a:r>
            <a:r>
              <a:rPr i="0" lang="en-US" sz="1200" u="none" cap="none" strike="noStrike">
                <a:solidFill>
                  <a:srgbClr val="FF7F00"/>
                </a:solidFill>
                <a:latin typeface="Courier"/>
                <a:ea typeface="Courier"/>
                <a:cs typeface="Courier"/>
                <a:sym typeface="Courier"/>
              </a:rPr>
              <a:t>'age'</a:t>
            </a:r>
            <a:r>
              <a:rPr i="0" lang="en-US" sz="1200" u="none" cap="none" strike="noStrike">
                <a:solidFill>
                  <a:srgbClr val="FF00FF"/>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21</a:t>
            </a:r>
            <a:r>
              <a:rPr i="0" lang="en-US" sz="1200" u="none" cap="none" strike="noStrike">
                <a:solidFill>
                  <a:srgbClr val="FF00FF"/>
                </a:solidFill>
                <a:latin typeface="Courier"/>
                <a:ea typeface="Courier"/>
                <a:cs typeface="Courier"/>
                <a:sym typeface="Courier"/>
              </a:rPr>
              <a:t>}</a:t>
            </a:r>
            <a:endParaRPr/>
          </a:p>
          <a:p>
            <a:pPr indent="0" lvl="0" marL="0" marR="0" rtl="0" algn="l">
              <a:lnSpc>
                <a:spcPct val="100000"/>
              </a:lnSpc>
              <a:spcBef>
                <a:spcPts val="0"/>
              </a:spcBef>
              <a:spcAft>
                <a:spcPts val="0"/>
              </a:spcAft>
              <a:buClr>
                <a:srgbClr val="FF00FF"/>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You can update the value corresponding to a key value in a dictionary as follows:</a:t>
            </a: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ddd[</a:t>
            </a:r>
            <a:r>
              <a:rPr i="0" lang="en-US" sz="1200" u="none" cap="none" strike="noStrike">
                <a:solidFill>
                  <a:srgbClr val="FF7F00"/>
                </a:solidFill>
                <a:latin typeface="Courier"/>
                <a:ea typeface="Courier"/>
                <a:cs typeface="Courier"/>
                <a:sym typeface="Courier"/>
              </a:rPr>
              <a:t>'age'</a:t>
            </a:r>
            <a:r>
              <a:rPr i="0" lang="en-US" sz="1200" u="none" cap="none" strike="noStrike">
                <a:solidFill>
                  <a:srgbClr val="FF00FF"/>
                </a:solidFill>
                <a:latin typeface="Courier"/>
                <a:ea typeface="Courier"/>
                <a:cs typeface="Courier"/>
                <a:sym typeface="Courier"/>
              </a:rPr>
              <a:t>] = 23</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rgbClr val="FF00FF"/>
                </a:solidFill>
                <a:latin typeface="Courier"/>
                <a:ea typeface="Courier"/>
                <a:cs typeface="Courier"/>
                <a:sym typeface="Courier"/>
              </a:rPr>
              <a:t>ddd</a:t>
            </a:r>
            <a:r>
              <a:rPr lang="en-US" sz="1200">
                <a:solidFill>
                  <a:srgbClr val="FFFF00"/>
                </a:solidFill>
                <a:latin typeface="Courier"/>
                <a:ea typeface="Courier"/>
                <a:cs typeface="Courier"/>
                <a:sym typeface="Courier"/>
              </a:rPr>
              <a:t>)</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a:t>
            </a:r>
            <a:r>
              <a:rPr i="0" lang="en-US" sz="1200" u="none" cap="none" strike="noStrike">
                <a:solidFill>
                  <a:srgbClr val="FF7F00"/>
                </a:solidFill>
                <a:latin typeface="Courier"/>
                <a:ea typeface="Courier"/>
                <a:cs typeface="Courier"/>
                <a:sym typeface="Courier"/>
              </a:rPr>
              <a:t>'course'</a:t>
            </a:r>
            <a:r>
              <a:rPr i="0" lang="en-US" sz="1200" u="none" cap="none" strike="noStrike">
                <a:solidFill>
                  <a:srgbClr val="FF00FF"/>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182</a:t>
            </a:r>
            <a:r>
              <a:rPr i="0" lang="en-US" sz="1200" u="none" cap="none" strike="noStrike">
                <a:solidFill>
                  <a:srgbClr val="FF00FF"/>
                </a:solidFill>
                <a:latin typeface="Courier"/>
                <a:ea typeface="Courier"/>
                <a:cs typeface="Courier"/>
                <a:sym typeface="Courier"/>
              </a:rPr>
              <a:t>, </a:t>
            </a:r>
            <a:r>
              <a:rPr i="0" lang="en-US" sz="1200" u="none" cap="none" strike="noStrike">
                <a:solidFill>
                  <a:srgbClr val="FF7F00"/>
                </a:solidFill>
                <a:latin typeface="Courier"/>
                <a:ea typeface="Courier"/>
                <a:cs typeface="Courier"/>
                <a:sym typeface="Courier"/>
              </a:rPr>
              <a:t>'age'</a:t>
            </a:r>
            <a:r>
              <a:rPr i="0" lang="en-US" sz="1200" u="none" cap="none" strike="noStrike">
                <a:solidFill>
                  <a:srgbClr val="FF00FF"/>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23</a:t>
            </a:r>
            <a:r>
              <a:rPr i="0" lang="en-US" sz="1200" u="none" cap="none" strike="noStrike">
                <a:solidFill>
                  <a:srgbClr val="FF00FF"/>
                </a:solidFill>
                <a:latin typeface="Courier"/>
                <a:ea typeface="Courier"/>
                <a:cs typeface="Courier"/>
                <a:sym typeface="Courier"/>
              </a:rPr>
              <a:t>}</a:t>
            </a:r>
            <a:endParaRPr/>
          </a:p>
          <a:p>
            <a:pPr indent="0" lvl="0" marL="0" marR="0" rtl="0" algn="l">
              <a:lnSpc>
                <a:spcPct val="100000"/>
              </a:lnSpc>
              <a:spcBef>
                <a:spcPts val="0"/>
              </a:spcBef>
              <a:spcAft>
                <a:spcPts val="0"/>
              </a:spcAft>
              <a:buClr>
                <a:srgbClr val="FF00FF"/>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t/>
            </a:r>
            <a:endParaRPr i="0" sz="1200" u="none" cap="none" strike="noStrike">
              <a:solidFill>
                <a:srgbClr val="FF00FF"/>
              </a:solidFill>
              <a:latin typeface="Courier"/>
              <a:ea typeface="Courier"/>
              <a:cs typeface="Courier"/>
              <a:sym typeface="Courier"/>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The len function works on dictionaries as well. It returns the number of key-value pairs in a dictionary. For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jjj = { '</a:t>
            </a:r>
            <a:r>
              <a:rPr i="0" lang="en-US" sz="1200" u="none" cap="none" strike="noStrike">
                <a:solidFill>
                  <a:srgbClr val="00FF00"/>
                </a:solidFill>
                <a:latin typeface="Courier"/>
                <a:ea typeface="Courier"/>
                <a:cs typeface="Courier"/>
                <a:sym typeface="Courier"/>
              </a:rPr>
              <a:t>chuck</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00FF"/>
                </a:solidFill>
                <a:latin typeface="Courier"/>
                <a:ea typeface="Courier"/>
                <a:cs typeface="Courier"/>
                <a:sym typeface="Courier"/>
              </a:rPr>
              <a:t>1</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00FF00"/>
                </a:solidFill>
                <a:latin typeface="Courier"/>
                <a:ea typeface="Courier"/>
                <a:cs typeface="Courier"/>
                <a:sym typeface="Courier"/>
              </a:rPr>
              <a:t>fred</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00FF"/>
                </a:solidFill>
                <a:latin typeface="Courier"/>
                <a:ea typeface="Courier"/>
                <a:cs typeface="Courier"/>
                <a:sym typeface="Courier"/>
              </a:rPr>
              <a:t>42</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jan</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00FF"/>
                </a:solidFill>
                <a:latin typeface="Courier"/>
                <a:ea typeface="Courier"/>
                <a:cs typeface="Courier"/>
                <a:sym typeface="Courier"/>
              </a:rPr>
              <a:t>100</a:t>
            </a:r>
            <a:r>
              <a:rPr i="0" lang="en-US" sz="12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jjj</a:t>
            </a:r>
            <a:r>
              <a:rPr i="0" lang="en-US" sz="12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a:t>
            </a:r>
            <a:r>
              <a:rPr i="0" lang="en-US" sz="1200" u="none" cap="none" strike="noStrike">
                <a:solidFill>
                  <a:srgbClr val="00FF00"/>
                </a:solidFill>
                <a:latin typeface="Courier"/>
                <a:ea typeface="Courier"/>
                <a:cs typeface="Courier"/>
                <a:sym typeface="Courier"/>
              </a:rPr>
              <a:t>jan</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00FF"/>
                </a:solidFill>
                <a:latin typeface="Courier"/>
                <a:ea typeface="Courier"/>
                <a:cs typeface="Courier"/>
                <a:sym typeface="Courier"/>
              </a:rPr>
              <a:t>100</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chuck</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00FF"/>
                </a:solidFill>
                <a:latin typeface="Courier"/>
                <a:ea typeface="Courier"/>
                <a:cs typeface="Courier"/>
                <a:sym typeface="Courier"/>
              </a:rPr>
              <a:t>1</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fred</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00FF"/>
                </a:solidFill>
                <a:latin typeface="Courier"/>
                <a:ea typeface="Courier"/>
                <a:cs typeface="Courier"/>
                <a:sym typeface="Courier"/>
              </a:rPr>
              <a:t>42</a:t>
            </a:r>
            <a:r>
              <a:rPr i="0" lang="en-US" sz="12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len(</a:t>
            </a:r>
            <a:r>
              <a:rPr lang="en-US" sz="1200">
                <a:solidFill>
                  <a:schemeClr val="lt1"/>
                </a:solidFill>
                <a:latin typeface="Courier"/>
                <a:ea typeface="Courier"/>
                <a:cs typeface="Courier"/>
                <a:sym typeface="Courier"/>
              </a:rPr>
              <a:t>jjj</a:t>
            </a:r>
            <a:r>
              <a:rPr lang="en-US" sz="1200">
                <a:solidFill>
                  <a:srgbClr val="FFFF00"/>
                </a:solidFill>
                <a:latin typeface="Courier"/>
                <a:ea typeface="Courier"/>
                <a:cs typeface="Courier"/>
                <a:sym typeface="Courier"/>
              </a:rPr>
              <a:t>)</a:t>
            </a:r>
            <a:endParaRPr sz="1200">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ooo = </a:t>
            </a:r>
            <a:r>
              <a:rPr i="0" lang="en-US" sz="1200" u="none" cap="none" strike="noStrike">
                <a:solidFill>
                  <a:srgbClr val="FF7F00"/>
                </a:solidFill>
                <a:latin typeface="Courier"/>
                <a:ea typeface="Courier"/>
                <a:cs typeface="Courier"/>
                <a:sym typeface="Courier"/>
              </a:rPr>
              <a:t>{</a:t>
            </a:r>
            <a:r>
              <a:rPr i="0" lang="en-US" sz="1200" u="none" cap="none" strike="noStrike">
                <a:solidFill>
                  <a:srgbClr val="0000FF"/>
                </a:solidFill>
                <a:latin typeface="Courier"/>
                <a:ea typeface="Courier"/>
                <a:cs typeface="Courier"/>
                <a:sym typeface="Courier"/>
              </a:rPr>
              <a:t> </a:t>
            </a:r>
            <a:r>
              <a:rPr i="0" lang="en-US" sz="1200" u="none" cap="none" strike="noStrike">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ooo</a:t>
            </a:r>
            <a:r>
              <a:rPr i="0" lang="en-US" sz="12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FF7F00"/>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len(</a:t>
            </a:r>
            <a:r>
              <a:rPr lang="en-US" sz="1200">
                <a:solidFill>
                  <a:schemeClr val="lt1"/>
                </a:solidFill>
                <a:latin typeface="Courier"/>
                <a:ea typeface="Courier"/>
                <a:cs typeface="Courier"/>
                <a:sym typeface="Courier"/>
              </a:rPr>
              <a:t>ooo</a:t>
            </a:r>
            <a:r>
              <a:rPr lang="en-US" sz="1200">
                <a:solidFill>
                  <a:srgbClr val="FFFF00"/>
                </a:solidFill>
                <a:latin typeface="Courier"/>
                <a:ea typeface="Courier"/>
                <a:cs typeface="Courier"/>
                <a:sym typeface="Courier"/>
              </a:rPr>
              <a:t>)</a:t>
            </a:r>
            <a:endParaRPr sz="1200">
              <a:solidFill>
                <a:srgbClr val="FF7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0</a:t>
            </a:r>
            <a:endParaRPr i="0" sz="1200" u="none" cap="none" strike="noStrike">
              <a:solidFill>
                <a:srgbClr val="FF7F00"/>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a:p>
        </p:txBody>
      </p:sp>
      <p:sp>
        <p:nvSpPr>
          <p:cNvPr id="39" name="Google Shape;3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i="0" lang="en-US" sz="1200" u="none" cap="none" strike="noStrike">
                <a:solidFill>
                  <a:srgbClr val="FF7F00"/>
                </a:solidFill>
                <a:latin typeface="Courier"/>
                <a:ea typeface="Courier"/>
                <a:cs typeface="Courier"/>
                <a:sym typeface="Courier"/>
              </a:rPr>
              <a:t>The </a:t>
            </a:r>
            <a:r>
              <a:rPr lang="en-US"/>
              <a:t>in operator works on dictionaries, too. It tells you whether something appears as a key in the dictionary. For example,</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a:t>
            </a:r>
            <a:r>
              <a:rPr lang="en-US" sz="1200">
                <a:solidFill>
                  <a:srgbClr val="00FF00"/>
                </a:solidFill>
                <a:latin typeface="Courier"/>
                <a:ea typeface="Courier"/>
                <a:cs typeface="Courier"/>
                <a:sym typeface="Courier"/>
              </a:rPr>
              <a:t>chuck</a:t>
            </a:r>
            <a:r>
              <a:rPr lang="en-US" sz="1200">
                <a:solidFill>
                  <a:schemeClr val="lt1"/>
                </a:solidFill>
                <a:latin typeface="Courier"/>
                <a:ea typeface="Courier"/>
                <a:cs typeface="Courier"/>
                <a:sym typeface="Courier"/>
              </a:rPr>
              <a:t>’</a:t>
            </a:r>
            <a:r>
              <a:rPr lang="en-US" sz="1200">
                <a:solidFill>
                  <a:srgbClr val="FFFF00"/>
                </a:solidFill>
                <a:latin typeface="Courier"/>
                <a:ea typeface="Courier"/>
                <a:cs typeface="Courier"/>
                <a:sym typeface="Courier"/>
              </a:rPr>
              <a:t>in </a:t>
            </a:r>
            <a:r>
              <a:rPr lang="en-US" sz="1200">
                <a:solidFill>
                  <a:schemeClr val="lt1"/>
                </a:solidFill>
                <a:latin typeface="Courier"/>
                <a:ea typeface="Courier"/>
                <a:cs typeface="Courier"/>
                <a:sym typeface="Courier"/>
              </a:rPr>
              <a:t>jjj</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True</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a:t>
            </a:r>
            <a:r>
              <a:rPr lang="en-US" sz="1200">
                <a:solidFill>
                  <a:srgbClr val="00FF00"/>
                </a:solidFill>
                <a:latin typeface="Courier"/>
                <a:ea typeface="Courier"/>
                <a:cs typeface="Courier"/>
                <a:sym typeface="Courier"/>
              </a:rPr>
              <a:t>albert</a:t>
            </a:r>
            <a:r>
              <a:rPr lang="en-US" sz="1200">
                <a:solidFill>
                  <a:schemeClr val="lt1"/>
                </a:solidFill>
                <a:latin typeface="Courier"/>
                <a:ea typeface="Courier"/>
                <a:cs typeface="Courier"/>
                <a:sym typeface="Courier"/>
              </a:rPr>
              <a:t>’</a:t>
            </a:r>
            <a:r>
              <a:rPr lang="en-US" sz="1200">
                <a:solidFill>
                  <a:srgbClr val="FFFF00"/>
                </a:solidFill>
                <a:latin typeface="Courier"/>
                <a:ea typeface="Courier"/>
                <a:cs typeface="Courier"/>
                <a:sym typeface="Courier"/>
              </a:rPr>
              <a:t>in </a:t>
            </a:r>
            <a:r>
              <a:rPr lang="en-US" sz="1200">
                <a:solidFill>
                  <a:schemeClr val="lt1"/>
                </a:solidFill>
                <a:latin typeface="Courier"/>
                <a:ea typeface="Courier"/>
                <a:cs typeface="Courier"/>
                <a:sym typeface="Courier"/>
              </a:rPr>
              <a:t>jjj</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 False</a:t>
            </a:r>
            <a:endParaRPr i="0" sz="1200" u="none" cap="none" strike="noStrike">
              <a:solidFill>
                <a:srgbClr val="FF7F00"/>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To check whether something appears as a value in a dictionary rather than key, you can use the method values, which returns the values as a type that can be converted to a list, and then use the in operator afterwards. For example,</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vals = </a:t>
            </a:r>
            <a:r>
              <a:rPr lang="en-US" sz="1200">
                <a:solidFill>
                  <a:srgbClr val="FFFF00"/>
                </a:solidFill>
                <a:latin typeface="Courier"/>
                <a:ea typeface="Courier"/>
                <a:cs typeface="Courier"/>
                <a:sym typeface="Courier"/>
              </a:rPr>
              <a:t>list(</a:t>
            </a:r>
            <a:r>
              <a:rPr lang="en-US" sz="1200">
                <a:solidFill>
                  <a:schemeClr val="lt1"/>
                </a:solidFill>
                <a:latin typeface="Courier"/>
                <a:ea typeface="Courier"/>
                <a:cs typeface="Courier"/>
                <a:sym typeface="Courier"/>
              </a:rPr>
              <a:t>jjj.</a:t>
            </a:r>
            <a:r>
              <a:rPr lang="en-US" sz="1200">
                <a:solidFill>
                  <a:srgbClr val="FFFF00"/>
                </a:solidFill>
                <a:latin typeface="Courier"/>
                <a:ea typeface="Courier"/>
                <a:cs typeface="Courier"/>
                <a:sym typeface="Courier"/>
              </a:rPr>
              <a:t>values())</a:t>
            </a:r>
            <a:endParaRPr sz="12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rgbClr val="FF00FF"/>
                </a:solidFill>
                <a:latin typeface="Courier"/>
                <a:ea typeface="Courier"/>
                <a:cs typeface="Courier"/>
                <a:sym typeface="Courier"/>
              </a:rPr>
              <a:t>100</a:t>
            </a:r>
            <a:r>
              <a:rPr lang="en-US" sz="1200">
                <a:solidFill>
                  <a:schemeClr val="lt1"/>
                </a:solidFill>
                <a:latin typeface="Courier"/>
                <a:ea typeface="Courier"/>
                <a:cs typeface="Courier"/>
                <a:sym typeface="Courier"/>
              </a:rPr>
              <a:t> in vals </a:t>
            </a:r>
            <a:endParaRPr/>
          </a:p>
          <a:p>
            <a:pPr indent="0" lvl="0" marL="0" rtl="0" algn="l">
              <a:lnSpc>
                <a:spcPct val="100000"/>
              </a:lnSpc>
              <a:spcBef>
                <a:spcPts val="0"/>
              </a:spcBef>
              <a:spcAft>
                <a:spcPts val="0"/>
              </a:spcAft>
              <a:buSzPts val="1400"/>
              <a:buNone/>
            </a:pPr>
            <a:r>
              <a:rPr lang="en-US" sz="1200">
                <a:solidFill>
                  <a:schemeClr val="lt1"/>
                </a:solidFill>
                <a:latin typeface="Courier"/>
                <a:ea typeface="Courier"/>
                <a:cs typeface="Courier"/>
                <a:sym typeface="Courier"/>
              </a:rPr>
              <a:t>True</a:t>
            </a:r>
            <a:endParaRPr/>
          </a:p>
          <a:p>
            <a:pPr indent="0" lvl="0" marL="0" rtl="0" algn="l">
              <a:lnSpc>
                <a:spcPct val="100000"/>
              </a:lnSpc>
              <a:spcBef>
                <a:spcPts val="0"/>
              </a:spcBef>
              <a:spcAft>
                <a:spcPts val="0"/>
              </a:spcAft>
              <a:buSzPts val="1400"/>
              <a:buNone/>
            </a:pPr>
            <a:r>
              <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i="0" lang="en-US" sz="1200" u="none" cap="none" strike="noStrike">
                <a:solidFill>
                  <a:schemeClr val="lt1"/>
                </a:solidFill>
                <a:latin typeface="Courier"/>
                <a:ea typeface="Courier"/>
                <a:cs typeface="Courier"/>
                <a:sym typeface="Courier"/>
              </a:rPr>
              <a:t>It is important to note the following distinction on how the in operator works differently between lists and dictionaries. The in operator uses different algorithms for lists and dictionaries. For lists, it uses a linear search algorithm. As the list gets longer, the search time gets longer in direct proportion to the length of the list. For dictionaries, Python uses an algorithm called a hash table that has a remarkable property: the in operator takes about the same amount of time no matter how many items there are in a dictionary.</a:t>
            </a:r>
            <a:endParaRPr/>
          </a:p>
          <a:p>
            <a:pPr indent="0" lvl="0" marL="0" rtl="0" algn="l">
              <a:lnSpc>
                <a:spcPct val="100000"/>
              </a:lnSpc>
              <a:spcBef>
                <a:spcPts val="0"/>
              </a:spcBef>
              <a:spcAft>
                <a:spcPts val="0"/>
              </a:spcAft>
              <a:buSzPts val="1400"/>
              <a:buNone/>
            </a:pPr>
            <a:r>
              <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45" name="Google Shape;4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One common use of dictionaries is </a:t>
            </a:r>
            <a:r>
              <a:rPr lang="en-US" sz="1200" u="none" cap="none" strike="noStrike">
                <a:solidFill>
                  <a:srgbClr val="FFFF00"/>
                </a:solidFill>
                <a:latin typeface="Arial"/>
                <a:ea typeface="Arial"/>
                <a:cs typeface="Arial"/>
                <a:sym typeface="Arial"/>
              </a:rPr>
              <a:t>counting</a:t>
            </a:r>
            <a:r>
              <a:rPr lang="en-US" sz="1200" u="none" cap="none" strike="noStrike">
                <a:solidFill>
                  <a:schemeClr val="lt1"/>
                </a:solidFill>
                <a:latin typeface="Arial"/>
                <a:ea typeface="Arial"/>
                <a:cs typeface="Arial"/>
                <a:sym typeface="Arial"/>
              </a:rPr>
              <a:t> how often we </a:t>
            </a:r>
            <a:r>
              <a:rPr b="0" i="0" lang="en-US" sz="1200" u="none" cap="none" strike="noStrike">
                <a:solidFill>
                  <a:schemeClr val="lt1"/>
                </a:solidFill>
                <a:latin typeface="Arial"/>
                <a:ea typeface="Arial"/>
                <a:cs typeface="Arial"/>
                <a:sym typeface="Arial"/>
              </a:rPr>
              <a:t>observe a name in a list. We can create an empty dictionary to begin with. Then, we can loop over the names in a list using a for loop. </a:t>
            </a:r>
            <a:r>
              <a:rPr lang="en-US" u="none" cap="none" strike="noStrike">
                <a:solidFill>
                  <a:schemeClr val="lt1"/>
                </a:solidFill>
                <a:latin typeface="Arial"/>
                <a:ea typeface="Arial"/>
                <a:cs typeface="Arial"/>
                <a:sym typeface="Arial"/>
              </a:rPr>
              <a:t>When we encounter a new name, we need to add a new entry in the </a:t>
            </a:r>
            <a:r>
              <a:rPr lang="en-US" u="none" cap="none" strike="noStrike">
                <a:solidFill>
                  <a:srgbClr val="FF00FF"/>
                </a:solidFill>
                <a:latin typeface="Arial"/>
                <a:ea typeface="Arial"/>
                <a:cs typeface="Arial"/>
                <a:sym typeface="Arial"/>
              </a:rPr>
              <a:t>dictionary</a:t>
            </a:r>
            <a:r>
              <a:rPr lang="en-US" u="none" cap="none" strike="noStrike">
                <a:solidFill>
                  <a:schemeClr val="lt1"/>
                </a:solidFill>
                <a:latin typeface="Arial"/>
                <a:ea typeface="Arial"/>
                <a:cs typeface="Arial"/>
                <a:sym typeface="Arial"/>
              </a:rPr>
              <a:t> and if this the second or later time we have seen the </a:t>
            </a:r>
            <a:r>
              <a:rPr lang="en-US" u="none" cap="none" strike="noStrike">
                <a:solidFill>
                  <a:srgbClr val="00FF00"/>
                </a:solidFill>
                <a:latin typeface="Arial"/>
                <a:ea typeface="Arial"/>
                <a:cs typeface="Arial"/>
                <a:sym typeface="Arial"/>
              </a:rPr>
              <a:t>name</a:t>
            </a:r>
            <a:r>
              <a:rPr lang="en-US" u="none" cap="none" strike="noStrike">
                <a:solidFill>
                  <a:schemeClr val="lt1"/>
                </a:solidFill>
                <a:latin typeface="Arial"/>
                <a:ea typeface="Arial"/>
                <a:cs typeface="Arial"/>
                <a:sym typeface="Arial"/>
              </a:rPr>
              <a:t>, we simply add one to the count in the </a:t>
            </a:r>
            <a:r>
              <a:rPr lang="en-US" u="none" cap="none" strike="noStrike">
                <a:solidFill>
                  <a:srgbClr val="FF00FF"/>
                </a:solidFill>
                <a:latin typeface="Arial"/>
                <a:ea typeface="Arial"/>
                <a:cs typeface="Arial"/>
                <a:sym typeface="Arial"/>
              </a:rPr>
              <a:t>dictionary</a:t>
            </a:r>
            <a:r>
              <a:rPr lang="en-US" u="none" cap="none" strike="noStrike">
                <a:solidFill>
                  <a:schemeClr val="lt1"/>
                </a:solidFill>
                <a:latin typeface="Arial"/>
                <a:ea typeface="Arial"/>
                <a:cs typeface="Arial"/>
                <a:sym typeface="Arial"/>
              </a:rPr>
              <a:t> under that </a:t>
            </a:r>
            <a:r>
              <a:rPr lang="en-US" u="none" cap="none" strike="noStrike">
                <a:solidFill>
                  <a:srgbClr val="00FF00"/>
                </a:solidFill>
                <a:latin typeface="Arial"/>
                <a:ea typeface="Arial"/>
                <a:cs typeface="Arial"/>
                <a:sym typeface="Arial"/>
              </a:rPr>
              <a:t>name. Once the looping is completed, we have a filled dictionary with the distinct names as the keys and the number of occurrences as the corresponding values. For example,</a:t>
            </a:r>
            <a:endParaRPr/>
          </a:p>
          <a:p>
            <a:pPr indent="0" lvl="0" marL="0" marR="0" rtl="0" algn="l">
              <a:lnSpc>
                <a:spcPct val="100000"/>
              </a:lnSpc>
              <a:spcBef>
                <a:spcPts val="0"/>
              </a:spcBef>
              <a:spcAft>
                <a:spcPts val="0"/>
              </a:spcAft>
              <a:buClr>
                <a:schemeClr val="dk1"/>
              </a:buClr>
              <a:buSzPts val="1200"/>
              <a:buFont typeface="Arial"/>
              <a:buNone/>
            </a:pPr>
            <a:r>
              <a:t/>
            </a:r>
            <a:endParaRPr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300"/>
              <a:buFont typeface="Courier New"/>
              <a:buNone/>
            </a:pP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00FF"/>
                </a:solidFill>
                <a:latin typeface="Courier"/>
                <a:ea typeface="Courier"/>
                <a:cs typeface="Courier"/>
                <a:sym typeface="Courier"/>
              </a:rPr>
              <a:t>dict</a:t>
            </a:r>
            <a:r>
              <a:rPr i="0" lang="en-US" sz="12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lang="en-US" sz="1200">
                <a:solidFill>
                  <a:srgbClr val="00FF00"/>
                </a:solidFill>
                <a:latin typeface="Courier"/>
                <a:ea typeface="Courier"/>
                <a:cs typeface="Courier"/>
                <a:sym typeface="Courier"/>
              </a:rPr>
              <a:t>names</a:t>
            </a:r>
            <a:r>
              <a:rPr lang="en-US" sz="1200">
                <a:solidFill>
                  <a:schemeClr val="lt1"/>
                </a:solidFill>
                <a:latin typeface="Courier"/>
                <a:ea typeface="Courier"/>
                <a:cs typeface="Courier"/>
                <a:sym typeface="Courier"/>
              </a:rPr>
              <a:t> = ['alice', 'julia', 'robert', 'alice', 'robert']</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ourier New"/>
              <a:buNone/>
            </a:pPr>
            <a:r>
              <a:rPr i="0" lang="en-US" sz="1200" u="none" cap="none" strike="noStrike">
                <a:solidFill>
                  <a:srgbClr val="FFFF00"/>
                </a:solidFill>
                <a:latin typeface="Courier"/>
                <a:ea typeface="Courier"/>
                <a:cs typeface="Courier"/>
                <a:sym typeface="Courier"/>
              </a:rPr>
              <a:t>for</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name</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in</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names</a:t>
            </a:r>
            <a:r>
              <a:rPr i="0" lang="en-US" sz="12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 if </a:t>
            </a:r>
            <a:r>
              <a:rPr i="0" lang="en-US" sz="1200" u="none" cap="none" strike="noStrike">
                <a:solidFill>
                  <a:srgbClr val="00FF00"/>
                </a:solidFill>
                <a:latin typeface="Courier"/>
                <a:ea typeface="Courier"/>
                <a:cs typeface="Courier"/>
                <a:sym typeface="Courier"/>
              </a:rPr>
              <a:t>name</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in</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300"/>
              <a:buFont typeface="Courier New"/>
              <a:buNone/>
            </a:pPr>
            <a:r>
              <a:rPr lang="en-US" sz="1200">
                <a:solidFill>
                  <a:schemeClr val="lt1"/>
                </a:solidFill>
                <a:latin typeface="Courier"/>
                <a:ea typeface="Courier"/>
                <a:cs typeface="Courier"/>
                <a:sym typeface="Courier"/>
              </a:rPr>
              <a:t>       </a:t>
            </a:r>
            <a:r>
              <a:rPr lang="en-US" sz="1200">
                <a:solidFill>
                  <a:srgbClr val="00FF00"/>
                </a:solidFill>
                <a:latin typeface="Courier"/>
                <a:ea typeface="Courier"/>
                <a:cs typeface="Courier"/>
                <a:sym typeface="Courier"/>
              </a:rPr>
              <a:t>counts</a:t>
            </a:r>
            <a:r>
              <a:rPr lang="en-US" sz="1200">
                <a:solidFill>
                  <a:srgbClr val="00FFFF"/>
                </a:solidFill>
                <a:latin typeface="Courier"/>
                <a:ea typeface="Courier"/>
                <a:cs typeface="Courier"/>
                <a:sym typeface="Courier"/>
              </a:rPr>
              <a:t>[name]</a:t>
            </a:r>
            <a:r>
              <a:rPr lang="en-US" sz="1200">
                <a:solidFill>
                  <a:schemeClr val="lt1"/>
                </a:solidFill>
                <a:latin typeface="Courier"/>
                <a:ea typeface="Courier"/>
                <a:cs typeface="Courier"/>
                <a:sym typeface="Courier"/>
              </a:rPr>
              <a:t> = </a:t>
            </a:r>
            <a:r>
              <a:rPr lang="en-US" sz="1200">
                <a:solidFill>
                  <a:srgbClr val="00FF00"/>
                </a:solidFill>
                <a:latin typeface="Courier"/>
                <a:ea typeface="Courier"/>
                <a:cs typeface="Courier"/>
                <a:sym typeface="Courier"/>
              </a:rPr>
              <a:t>counts</a:t>
            </a:r>
            <a:r>
              <a:rPr lang="en-US" sz="1200">
                <a:solidFill>
                  <a:srgbClr val="00FFFF"/>
                </a:solidFill>
                <a:latin typeface="Courier"/>
                <a:ea typeface="Courier"/>
                <a:cs typeface="Courier"/>
                <a:sym typeface="Courier"/>
              </a:rPr>
              <a:t>[name]</a:t>
            </a:r>
            <a:r>
              <a:rPr lang="en-US" sz="1200">
                <a:solidFill>
                  <a:schemeClr val="lt1"/>
                </a:solidFill>
                <a:latin typeface="Courier"/>
                <a:ea typeface="Courier"/>
                <a:cs typeface="Courier"/>
                <a:sym typeface="Courier"/>
              </a:rPr>
              <a:t> + 1</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else</a:t>
            </a:r>
            <a:r>
              <a:rPr i="0" lang="en-US" sz="12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300"/>
              <a:buFont typeface="Courier New"/>
              <a:buNone/>
            </a:pPr>
            <a:r>
              <a:rPr lang="en-US" sz="1200">
                <a:solidFill>
                  <a:schemeClr val="lt1"/>
                </a:solidFill>
                <a:latin typeface="Courier"/>
                <a:ea typeface="Courier"/>
                <a:cs typeface="Courier"/>
                <a:sym typeface="Courier"/>
              </a:rPr>
              <a:t>        </a:t>
            </a:r>
            <a:r>
              <a:rPr lang="en-US" sz="1200">
                <a:solidFill>
                  <a:srgbClr val="00FF00"/>
                </a:solidFill>
                <a:latin typeface="Courier"/>
                <a:ea typeface="Courier"/>
                <a:cs typeface="Courier"/>
                <a:sym typeface="Courier"/>
              </a:rPr>
              <a:t>counts</a:t>
            </a:r>
            <a:r>
              <a:rPr lang="en-US" sz="1200">
                <a:solidFill>
                  <a:srgbClr val="00FFFF"/>
                </a:solidFill>
                <a:latin typeface="Courier"/>
                <a:ea typeface="Courier"/>
                <a:cs typeface="Courier"/>
                <a:sym typeface="Courier"/>
              </a:rPr>
              <a:t>[name]</a:t>
            </a:r>
            <a:r>
              <a:rPr lang="en-US" sz="1200">
                <a:solidFill>
                  <a:schemeClr val="lt1"/>
                </a:solidFill>
                <a:latin typeface="Courier"/>
                <a:ea typeface="Courier"/>
                <a:cs typeface="Courier"/>
                <a:sym typeface="Courier"/>
              </a:rPr>
              <a:t> = 1</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ourier New"/>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rgbClr val="00FF00"/>
                </a:solidFill>
                <a:latin typeface="Courier"/>
                <a:ea typeface="Courier"/>
                <a:cs typeface="Courier"/>
                <a:sym typeface="Courier"/>
              </a:rPr>
              <a:t>counts</a:t>
            </a:r>
            <a:r>
              <a:rPr i="0" lang="en-US" sz="12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dk1"/>
              </a:buClr>
              <a:buSzPts val="1200"/>
              <a:buFont typeface="Arial"/>
              <a:buNone/>
            </a:pPr>
            <a:r>
              <a:t/>
            </a:r>
            <a:endParaRPr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1200"/>
              <a:buFont typeface="Arial"/>
              <a:buNone/>
            </a:pPr>
            <a:r>
              <a:rPr lang="en-US" sz="1200" u="none" cap="none" strike="noStrike">
                <a:solidFill>
                  <a:srgbClr val="00FFFF"/>
                </a:solidFill>
                <a:latin typeface="Arial"/>
                <a:ea typeface="Arial"/>
                <a:cs typeface="Arial"/>
                <a:sym typeface="Arial"/>
              </a:rPr>
              <a:t>{alice'</a:t>
            </a:r>
            <a:r>
              <a:rPr lang="en-US" sz="1200" u="none" cap="none" strike="noStrike">
                <a:solidFill>
                  <a:srgbClr val="FF00FF"/>
                </a:solidFill>
                <a:latin typeface="Arial"/>
                <a:ea typeface="Arial"/>
                <a:cs typeface="Arial"/>
                <a:sym typeface="Arial"/>
              </a:rPr>
              <a:t>: 2, </a:t>
            </a:r>
            <a:r>
              <a:rPr lang="en-US" sz="1200" u="none" cap="none" strike="noStrike">
                <a:solidFill>
                  <a:srgbClr val="00FFFF"/>
                </a:solidFill>
                <a:latin typeface="Arial"/>
                <a:ea typeface="Arial"/>
                <a:cs typeface="Arial"/>
                <a:sym typeface="Arial"/>
              </a:rPr>
              <a:t>julia'</a:t>
            </a:r>
            <a:r>
              <a:rPr lang="en-US" sz="1200" u="none" cap="none" strike="noStrike">
                <a:solidFill>
                  <a:srgbClr val="FF00FF"/>
                </a:solidFill>
                <a:latin typeface="Arial"/>
                <a:ea typeface="Arial"/>
                <a:cs typeface="Arial"/>
                <a:sym typeface="Arial"/>
              </a:rPr>
              <a:t>: 1,</a:t>
            </a:r>
            <a:r>
              <a:rPr lang="en-US" sz="1200" u="none" cap="none" strike="noStrike">
                <a:solidFill>
                  <a:srgbClr val="00FFFF"/>
                </a:solidFill>
                <a:latin typeface="Arial"/>
                <a:ea typeface="Arial"/>
                <a:cs typeface="Arial"/>
                <a:sym typeface="Arial"/>
              </a:rPr>
              <a:t> robert'</a:t>
            </a:r>
            <a:r>
              <a:rPr lang="en-US" sz="1200" u="none" cap="none" strike="noStrike">
                <a:solidFill>
                  <a:srgbClr val="FF00FF"/>
                </a:solidFill>
                <a:latin typeface="Arial"/>
                <a:ea typeface="Arial"/>
                <a:cs typeface="Arial"/>
                <a:sym typeface="Arial"/>
              </a:rPr>
              <a:t>: 2}</a:t>
            </a:r>
            <a:endParaRPr/>
          </a:p>
          <a:p>
            <a:pPr indent="0" lvl="0" marL="0" marR="0" rtl="0" algn="l">
              <a:lnSpc>
                <a:spcPct val="100000"/>
              </a:lnSpc>
              <a:spcBef>
                <a:spcPts val="0"/>
              </a:spcBef>
              <a:spcAft>
                <a:spcPts val="0"/>
              </a:spcAft>
              <a:buClr>
                <a:schemeClr val="dk1"/>
              </a:buClr>
              <a:buSzPts val="1200"/>
              <a:buFont typeface="Arial"/>
              <a:buNone/>
            </a:pPr>
            <a:r>
              <a:t/>
            </a:r>
            <a:endParaRPr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chemeClr val="lt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51" name="Google Shape;5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Dictionaries have a method called get that takes a key and a default value. If the key appears in the dictionary, get returns the corresponding value; otherwise it returns the default value. For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FF00FF"/>
              </a:buClr>
              <a:buSzPts val="1200"/>
              <a:buFont typeface="Arial"/>
              <a:buNone/>
            </a:pPr>
            <a:r>
              <a:rPr lang="en-US" sz="1200" u="none" cap="none" strike="noStrike">
                <a:solidFill>
                  <a:srgbClr val="FF00FF"/>
                </a:solidFill>
                <a:latin typeface="Arial"/>
                <a:ea typeface="Arial"/>
                <a:cs typeface="Arial"/>
                <a:sym typeface="Arial"/>
              </a:rPr>
              <a:t>counts = {</a:t>
            </a:r>
            <a:r>
              <a:rPr lang="en-US" sz="1200" u="none" cap="none" strike="noStrike">
                <a:solidFill>
                  <a:srgbClr val="00FFFF"/>
                </a:solidFill>
                <a:latin typeface="Arial"/>
                <a:ea typeface="Arial"/>
                <a:cs typeface="Arial"/>
                <a:sym typeface="Arial"/>
              </a:rPr>
              <a:t>’alice'</a:t>
            </a:r>
            <a:r>
              <a:rPr lang="en-US" sz="1200" u="none" cap="none" strike="noStrike">
                <a:solidFill>
                  <a:srgbClr val="FF00FF"/>
                </a:solidFill>
                <a:latin typeface="Arial"/>
                <a:ea typeface="Arial"/>
                <a:cs typeface="Arial"/>
                <a:sym typeface="Arial"/>
              </a:rPr>
              <a:t>: 2, </a:t>
            </a:r>
            <a:r>
              <a:rPr lang="en-US" sz="1200" u="none" cap="none" strike="noStrike">
                <a:solidFill>
                  <a:srgbClr val="00FFFF"/>
                </a:solidFill>
                <a:latin typeface="Arial"/>
                <a:ea typeface="Arial"/>
                <a:cs typeface="Arial"/>
                <a:sym typeface="Arial"/>
              </a:rPr>
              <a:t>’julia'</a:t>
            </a:r>
            <a:r>
              <a:rPr lang="en-US" sz="1200" u="none" cap="none" strike="noStrike">
                <a:solidFill>
                  <a:srgbClr val="FF00FF"/>
                </a:solidFill>
                <a:latin typeface="Arial"/>
                <a:ea typeface="Arial"/>
                <a:cs typeface="Arial"/>
                <a:sym typeface="Arial"/>
              </a:rPr>
              <a:t>: 1,</a:t>
            </a:r>
            <a:r>
              <a:rPr lang="en-US" sz="1200" u="none" cap="none" strike="noStrike">
                <a:solidFill>
                  <a:srgbClr val="00FFFF"/>
                </a:solidFill>
                <a:latin typeface="Arial"/>
                <a:ea typeface="Arial"/>
                <a:cs typeface="Arial"/>
                <a:sym typeface="Arial"/>
              </a:rPr>
              <a:t> ’rober'</a:t>
            </a:r>
            <a:r>
              <a:rPr lang="en-US" sz="1200" u="none" cap="none" strike="noStrike">
                <a:solidFill>
                  <a:srgbClr val="FF00FF"/>
                </a:solidFill>
                <a:latin typeface="Arial"/>
                <a:ea typeface="Arial"/>
                <a:cs typeface="Arial"/>
                <a:sym typeface="Arial"/>
              </a:rPr>
              <a:t>: 2}</a:t>
            </a:r>
            <a:endParaRPr/>
          </a:p>
          <a:p>
            <a:pPr indent="0" lvl="0" marL="0" rtl="0" algn="l">
              <a:lnSpc>
                <a:spcPct val="100000"/>
              </a:lnSpc>
              <a:spcBef>
                <a:spcPts val="0"/>
              </a:spcBef>
              <a:spcAft>
                <a:spcPts val="0"/>
              </a:spcAft>
              <a:buClr>
                <a:schemeClr val="dk1"/>
              </a:buClr>
              <a:buSzPts val="1200"/>
              <a:buFont typeface="Arial"/>
              <a:buNone/>
            </a:pPr>
            <a:r>
              <a:rPr lang="en-US"/>
              <a:t>print(counts.get(’alice', 0)) </a:t>
            </a:r>
            <a:endParaRPr/>
          </a:p>
          <a:p>
            <a:pPr indent="0" lvl="0" marL="0" rtl="0" algn="l">
              <a:lnSpc>
                <a:spcPct val="100000"/>
              </a:lnSpc>
              <a:spcBef>
                <a:spcPts val="0"/>
              </a:spcBef>
              <a:spcAft>
                <a:spcPts val="0"/>
              </a:spcAft>
              <a:buClr>
                <a:schemeClr val="dk1"/>
              </a:buClr>
              <a:buSzPts val="1200"/>
              <a:buFont typeface="Arial"/>
              <a:buNone/>
            </a:pPr>
            <a:r>
              <a:rPr lang="en-US"/>
              <a:t>2</a:t>
            </a:r>
            <a:endParaRPr/>
          </a:p>
          <a:p>
            <a:pPr indent="0" lvl="0" marL="0" rtl="0" algn="l">
              <a:lnSpc>
                <a:spcPct val="100000"/>
              </a:lnSpc>
              <a:spcBef>
                <a:spcPts val="0"/>
              </a:spcBef>
              <a:spcAft>
                <a:spcPts val="0"/>
              </a:spcAft>
              <a:buClr>
                <a:schemeClr val="dk1"/>
              </a:buClr>
              <a:buSzPts val="1200"/>
              <a:buFont typeface="Arial"/>
              <a:buNone/>
            </a:pPr>
            <a:r>
              <a:rPr lang="en-US"/>
              <a:t>print(counts.get('tim', 0)) </a:t>
            </a:r>
            <a:endParaRPr/>
          </a:p>
          <a:p>
            <a:pPr indent="0" lvl="0" marL="0" rtl="0" algn="l">
              <a:lnSpc>
                <a:spcPct val="100000"/>
              </a:lnSpc>
              <a:spcBef>
                <a:spcPts val="0"/>
              </a:spcBef>
              <a:spcAft>
                <a:spcPts val="0"/>
              </a:spcAft>
              <a:buClr>
                <a:schemeClr val="dk1"/>
              </a:buClr>
              <a:buSzPts val="1200"/>
              <a:buFont typeface="Arial"/>
              <a:buNone/>
            </a:pPr>
            <a:r>
              <a:rPr lang="en-US"/>
              <a:t>0</a:t>
            </a:r>
            <a:endParaRPr/>
          </a:p>
        </p:txBody>
      </p:sp>
      <p:sp>
        <p:nvSpPr>
          <p:cNvPr id="59" name="Google Shape;5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We can use the get method to write our previous loop in counting names in a list more concisely. Because the get method automatically handles the case where a key is not in a dictionary, we can reduce four lines down to one and eliminate the if statement. For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00FF00"/>
              </a:buClr>
              <a:buSzPts val="300"/>
              <a:buFont typeface="Courier New"/>
              <a:buNone/>
            </a:pP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FF00FF"/>
                </a:solidFill>
                <a:latin typeface="Courier"/>
                <a:ea typeface="Courier"/>
                <a:cs typeface="Courier"/>
                <a:sym typeface="Courier"/>
              </a:rPr>
              <a:t>dict</a:t>
            </a:r>
            <a:r>
              <a:rPr i="0" lang="en-US" sz="12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lang="en-US" sz="1200">
                <a:solidFill>
                  <a:srgbClr val="00FF00"/>
                </a:solidFill>
                <a:latin typeface="Courier"/>
                <a:ea typeface="Courier"/>
                <a:cs typeface="Courier"/>
                <a:sym typeface="Courier"/>
              </a:rPr>
              <a:t>names</a:t>
            </a:r>
            <a:r>
              <a:rPr lang="en-US" sz="1200">
                <a:solidFill>
                  <a:schemeClr val="lt1"/>
                </a:solidFill>
                <a:latin typeface="Courier"/>
                <a:ea typeface="Courier"/>
                <a:cs typeface="Courier"/>
                <a:sym typeface="Courier"/>
              </a:rPr>
              <a:t> = ['alice', 'julia', 'robert', 'alice', 'robert']</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ourier New"/>
              <a:buNone/>
            </a:pPr>
            <a:r>
              <a:rPr i="0" lang="en-US" sz="1200" u="none" cap="none" strike="noStrike">
                <a:solidFill>
                  <a:srgbClr val="FFFF00"/>
                </a:solidFill>
                <a:latin typeface="Courier"/>
                <a:ea typeface="Courier"/>
                <a:cs typeface="Courier"/>
                <a:sym typeface="Courier"/>
              </a:rPr>
              <a:t>for</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name</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in</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names</a:t>
            </a:r>
            <a:r>
              <a:rPr i="0" lang="en-US" sz="12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counts</a:t>
            </a:r>
            <a:r>
              <a:rPr i="0" lang="en-US" sz="1200" u="none" cap="none" strike="noStrike">
                <a:solidFill>
                  <a:srgbClr val="00FFFF"/>
                </a:solidFill>
                <a:latin typeface="Courier"/>
                <a:ea typeface="Courier"/>
                <a:cs typeface="Courier"/>
                <a:sym typeface="Courier"/>
              </a:rPr>
              <a:t>[name]</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00FF00"/>
                </a:solidFill>
                <a:latin typeface="Courier"/>
                <a:ea typeface="Courier"/>
                <a:cs typeface="Courier"/>
                <a:sym typeface="Courier"/>
              </a:rPr>
              <a:t>counts</a:t>
            </a:r>
            <a:r>
              <a:rPr i="0" lang="en-US" sz="1200" u="none" cap="none" strike="noStrike">
                <a:solidFill>
                  <a:srgbClr val="FF00FF"/>
                </a:solidFill>
                <a:latin typeface="Courier"/>
                <a:ea typeface="Courier"/>
                <a:cs typeface="Courier"/>
                <a:sym typeface="Courier"/>
              </a:rPr>
              <a:t>.get</a:t>
            </a:r>
            <a:r>
              <a:rPr i="0" lang="en-US" sz="1200" u="none" cap="none" strike="noStrike">
                <a:solidFill>
                  <a:srgbClr val="00FF00"/>
                </a:solidFill>
                <a:latin typeface="Courier"/>
                <a:ea typeface="Courier"/>
                <a:cs typeface="Courier"/>
                <a:sym typeface="Courier"/>
              </a:rPr>
              <a:t>(</a:t>
            </a:r>
            <a:r>
              <a:rPr i="0" lang="en-US" sz="1200" u="none" cap="none" strike="noStrike">
                <a:solidFill>
                  <a:srgbClr val="00FFFF"/>
                </a:solidFill>
                <a:latin typeface="Courier"/>
                <a:ea typeface="Courier"/>
                <a:cs typeface="Courier"/>
                <a:sym typeface="Courier"/>
              </a:rPr>
              <a:t>name, </a:t>
            </a:r>
            <a:r>
              <a:rPr i="0" lang="en-US" sz="1200" u="none" cap="none" strike="noStrike">
                <a:solidFill>
                  <a:srgbClr val="FF7F00"/>
                </a:solidFill>
                <a:latin typeface="Courier"/>
                <a:ea typeface="Courier"/>
                <a:cs typeface="Courier"/>
                <a:sym typeface="Courier"/>
              </a:rPr>
              <a:t>0</a:t>
            </a:r>
            <a:r>
              <a:rPr i="0" lang="en-US" sz="1200" u="none" cap="none" strike="noStrike">
                <a:solidFill>
                  <a:srgbClr val="00FFFF"/>
                </a:solidFill>
                <a:latin typeface="Courier"/>
                <a:ea typeface="Courier"/>
                <a:cs typeface="Courier"/>
                <a:sym typeface="Courier"/>
              </a:rPr>
              <a:t>)</a:t>
            </a:r>
            <a:r>
              <a:rPr i="0" lang="en-US" sz="1200" u="none" cap="none" strike="noStrike">
                <a:solidFill>
                  <a:schemeClr val="lt1"/>
                </a:solidFill>
                <a:latin typeface="Courier"/>
                <a:ea typeface="Courier"/>
                <a:cs typeface="Courier"/>
                <a:sym typeface="Courier"/>
              </a:rPr>
              <a:t> + 1</a:t>
            </a:r>
            <a:endParaRPr/>
          </a:p>
          <a:p>
            <a:pPr indent="0" lvl="0" marL="0" marR="0" rtl="0" algn="l">
              <a:lnSpc>
                <a:spcPct val="100000"/>
              </a:lnSpc>
              <a:spcBef>
                <a:spcPts val="0"/>
              </a:spcBef>
              <a:spcAft>
                <a:spcPts val="0"/>
              </a:spcAft>
              <a:buClr>
                <a:srgbClr val="FFFF00"/>
              </a:buClr>
              <a:buSzPts val="300"/>
              <a:buFont typeface="Courier New"/>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rgbClr val="00FF00"/>
                </a:solidFill>
                <a:latin typeface="Courier"/>
                <a:ea typeface="Courier"/>
                <a:cs typeface="Courier"/>
                <a:sym typeface="Courier"/>
              </a:rPr>
              <a:t>counts</a:t>
            </a:r>
            <a:r>
              <a:rPr i="0" lang="en-US" sz="12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300"/>
              <a:buFont typeface="Courier New"/>
              <a:buNone/>
            </a:pPr>
            <a:r>
              <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ourier New"/>
              <a:buNone/>
            </a:pPr>
            <a:r>
              <a:rPr lang="en-US" sz="1200" u="none" cap="none" strike="noStrike">
                <a:solidFill>
                  <a:srgbClr val="FF00FF"/>
                </a:solidFill>
                <a:latin typeface="Arial"/>
                <a:ea typeface="Arial"/>
                <a:cs typeface="Arial"/>
                <a:sym typeface="Arial"/>
              </a:rPr>
              <a:t>{</a:t>
            </a:r>
            <a:r>
              <a:rPr lang="en-US" sz="1200" u="none" cap="none" strike="noStrike">
                <a:solidFill>
                  <a:srgbClr val="00FFFF"/>
                </a:solidFill>
                <a:latin typeface="Arial"/>
                <a:ea typeface="Arial"/>
                <a:cs typeface="Arial"/>
                <a:sym typeface="Arial"/>
              </a:rPr>
              <a:t>’alice'</a:t>
            </a:r>
            <a:r>
              <a:rPr lang="en-US" sz="1200" u="none" cap="none" strike="noStrike">
                <a:solidFill>
                  <a:srgbClr val="FF00FF"/>
                </a:solidFill>
                <a:latin typeface="Arial"/>
                <a:ea typeface="Arial"/>
                <a:cs typeface="Arial"/>
                <a:sym typeface="Arial"/>
              </a:rPr>
              <a:t>: 2, </a:t>
            </a:r>
            <a:r>
              <a:rPr lang="en-US" sz="1200" u="none" cap="none" strike="noStrike">
                <a:solidFill>
                  <a:srgbClr val="00FFFF"/>
                </a:solidFill>
                <a:latin typeface="Arial"/>
                <a:ea typeface="Arial"/>
                <a:cs typeface="Arial"/>
                <a:sym typeface="Arial"/>
              </a:rPr>
              <a:t>’julia'</a:t>
            </a:r>
            <a:r>
              <a:rPr lang="en-US" sz="1200" u="none" cap="none" strike="noStrike">
                <a:solidFill>
                  <a:srgbClr val="FF00FF"/>
                </a:solidFill>
                <a:latin typeface="Arial"/>
                <a:ea typeface="Arial"/>
                <a:cs typeface="Arial"/>
                <a:sym typeface="Arial"/>
              </a:rPr>
              <a:t>: 1,</a:t>
            </a:r>
            <a:r>
              <a:rPr lang="en-US" sz="1200" u="none" cap="none" strike="noStrike">
                <a:solidFill>
                  <a:srgbClr val="00FFFF"/>
                </a:solidFill>
                <a:latin typeface="Arial"/>
                <a:ea typeface="Arial"/>
                <a:cs typeface="Arial"/>
                <a:sym typeface="Arial"/>
              </a:rPr>
              <a:t> ’rober'</a:t>
            </a:r>
            <a:r>
              <a:rPr lang="en-US" sz="1200" u="none" cap="none" strike="noStrike">
                <a:solidFill>
                  <a:srgbClr val="FF00FF"/>
                </a:solidFill>
                <a:latin typeface="Arial"/>
                <a:ea typeface="Arial"/>
                <a:cs typeface="Arial"/>
                <a:sym typeface="Arial"/>
              </a:rPr>
              <a:t>: 2}</a:t>
            </a:r>
            <a:endParaRPr/>
          </a:p>
          <a:p>
            <a:pPr indent="0" lvl="0" marL="0" marR="0" rtl="0" algn="l">
              <a:lnSpc>
                <a:spcPct val="100000"/>
              </a:lnSpc>
              <a:spcBef>
                <a:spcPts val="0"/>
              </a:spcBef>
              <a:spcAft>
                <a:spcPts val="0"/>
              </a:spcAft>
              <a:buClr>
                <a:srgbClr val="FFFF00"/>
              </a:buClr>
              <a:buSzPts val="300"/>
              <a:buFont typeface="Courier New"/>
              <a:buNone/>
            </a:pPr>
            <a:r>
              <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ourier New"/>
              <a:buNone/>
            </a:pPr>
            <a:r>
              <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ourier New"/>
              <a:buNone/>
            </a:pPr>
            <a:r>
              <a:t/>
            </a:r>
            <a:endParaRPr i="0"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67" name="Google Shape;6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One of the common uses of a dictionary in Python is to count the number of occurrences of words in a file with some written text.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77" name="Google Shape;7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The general pattern to count the words in a line of text in Python is as follows. We first read through a line of text from the user using input function. We then break each line into a list of words using string split method. Next, we loop through each of the words in the list and count each word using a dictionary. For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00FF00"/>
              </a:buClr>
              <a:buSzPts val="300"/>
              <a:buFont typeface="Courier New"/>
              <a:buNone/>
            </a:pP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 = </a:t>
            </a:r>
            <a:r>
              <a:rPr i="0" lang="en-US" sz="1200" u="none" cap="none" strike="noStrike">
                <a:solidFill>
                  <a:srgbClr val="00FFFF"/>
                </a:solidFill>
                <a:latin typeface="Courier"/>
                <a:ea typeface="Courier"/>
                <a:cs typeface="Courier"/>
                <a:sym typeface="Courier"/>
              </a:rPr>
              <a:t>dict</a:t>
            </a:r>
            <a:r>
              <a:rPr i="0" lang="en-US" sz="12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300"/>
              <a:buFont typeface="Courier New"/>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'Enter a line of text:</a:t>
            </a:r>
            <a:r>
              <a:rPr lang="en-US" sz="1200">
                <a:solidFill>
                  <a:schemeClr val="lt1"/>
                </a:solidFill>
                <a:latin typeface="Courier"/>
                <a:ea typeface="Courier"/>
                <a:cs typeface="Courier"/>
                <a:sym typeface="Courier"/>
              </a:rPr>
              <a:t>'</a:t>
            </a:r>
            <a:r>
              <a:rPr lang="en-US" sz="1200">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chemeClr val="lt1"/>
                </a:solidFill>
                <a:latin typeface="Courier"/>
                <a:ea typeface="Courier"/>
                <a:cs typeface="Courier"/>
                <a:sym typeface="Courier"/>
              </a:rPr>
              <a:t>line = </a:t>
            </a:r>
            <a:r>
              <a:rPr i="0" lang="en-US" sz="1200" u="none" cap="none" strike="noStrike">
                <a:solidFill>
                  <a:srgbClr val="FF00FF"/>
                </a:solidFill>
                <a:latin typeface="Courier"/>
                <a:ea typeface="Courier"/>
                <a:cs typeface="Courier"/>
                <a:sym typeface="Courier"/>
              </a:rPr>
              <a:t>input</a:t>
            </a:r>
            <a:r>
              <a:rPr i="0" lang="en-US" sz="1200" u="none" cap="none" strike="noStrike">
                <a:solidFill>
                  <a:schemeClr val="lt1"/>
                </a:solidFill>
                <a:latin typeface="Courier"/>
                <a:ea typeface="Courier"/>
                <a:cs typeface="Courier"/>
                <a:sym typeface="Courier"/>
              </a:rPr>
              <a:t>('')</a:t>
            </a:r>
            <a:endParaRPr/>
          </a:p>
          <a:p>
            <a:pPr indent="0" lvl="0" marL="0" marR="0" rtl="0" algn="ctr">
              <a:lnSpc>
                <a:spcPct val="100000"/>
              </a:lnSpc>
              <a:spcBef>
                <a:spcPts val="0"/>
              </a:spcBef>
              <a:spcAft>
                <a:spcPts val="0"/>
              </a:spcAft>
              <a:buClr>
                <a:schemeClr val="dk1"/>
              </a:buClr>
              <a:buSzPts val="1200"/>
              <a:buFont typeface="Arial"/>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chemeClr val="lt1"/>
                </a:solidFill>
                <a:latin typeface="Courier"/>
                <a:ea typeface="Courier"/>
                <a:cs typeface="Courier"/>
                <a:sym typeface="Courier"/>
              </a:rPr>
              <a:t>words = line.</a:t>
            </a:r>
            <a:r>
              <a:rPr i="0" lang="en-US" sz="1200" u="none" cap="none" strike="noStrike">
                <a:solidFill>
                  <a:srgbClr val="FF00FF"/>
                </a:solidFill>
                <a:latin typeface="Courier"/>
                <a:ea typeface="Courier"/>
                <a:cs typeface="Courier"/>
                <a:sym typeface="Courier"/>
              </a:rPr>
              <a:t>split</a:t>
            </a:r>
            <a:r>
              <a:rPr i="0" lang="en-US" sz="1200" u="none" cap="none" strike="noStrike">
                <a:solidFill>
                  <a:schemeClr val="lt1"/>
                </a:solidFill>
                <a:latin typeface="Courier"/>
                <a:ea typeface="Courier"/>
                <a:cs typeface="Courier"/>
                <a:sym typeface="Courier"/>
              </a:rPr>
              <a:t>()</a:t>
            </a:r>
            <a:endParaRPr/>
          </a:p>
          <a:p>
            <a:pPr indent="0" lvl="0" marL="0" marR="0" rtl="0" algn="ctr">
              <a:lnSpc>
                <a:spcPct val="100000"/>
              </a:lnSpc>
              <a:spcBef>
                <a:spcPts val="0"/>
              </a:spcBef>
              <a:spcAft>
                <a:spcPts val="0"/>
              </a:spcAft>
              <a:buClr>
                <a:schemeClr val="dk1"/>
              </a:buClr>
              <a:buSzPts val="1200"/>
              <a:buFont typeface="Arial"/>
              <a:buNone/>
            </a:pPr>
            <a:r>
              <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'Words:', words</a:t>
            </a:r>
            <a:r>
              <a:rPr lang="en-US" sz="1200">
                <a:solidFill>
                  <a:srgbClr val="FFFF00"/>
                </a:solidFill>
                <a:latin typeface="Courier"/>
                <a:ea typeface="Courier"/>
                <a:cs typeface="Courier"/>
                <a:sym typeface="Courier"/>
              </a:rPr>
              <a:t>)</a:t>
            </a:r>
            <a:endParaRPr i="0" sz="12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chemeClr val="dk1"/>
              </a:buClr>
              <a:buSzPts val="1200"/>
              <a:buFont typeface="Arial"/>
              <a:buNone/>
            </a:pPr>
            <a:r>
              <a:t/>
            </a:r>
            <a:endParaRPr i="0"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'Counting...</a:t>
            </a:r>
            <a:r>
              <a:rPr lang="en-US" sz="1200">
                <a:solidFill>
                  <a:schemeClr val="lt1"/>
                </a:solidFill>
                <a:latin typeface="Courier"/>
                <a:ea typeface="Courier"/>
                <a:cs typeface="Courier"/>
                <a:sym typeface="Courier"/>
              </a:rPr>
              <a:t>'</a:t>
            </a:r>
            <a:r>
              <a:rPr lang="en-US" sz="1200">
                <a:solidFill>
                  <a:srgbClr val="FFFF00"/>
                </a:solidFill>
                <a:latin typeface="Courier"/>
                <a:ea typeface="Courier"/>
                <a:cs typeface="Courier"/>
                <a:sym typeface="Courier"/>
              </a:rPr>
              <a:t>)</a:t>
            </a:r>
            <a:endParaRPr sz="1200">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ourier New"/>
              <a:buNone/>
            </a:pPr>
            <a:r>
              <a:rPr i="0" lang="en-US" sz="1200" u="none" cap="none" strike="noStrike">
                <a:solidFill>
                  <a:srgbClr val="FFFF00"/>
                </a:solidFill>
                <a:latin typeface="Courier"/>
                <a:ea typeface="Courier"/>
                <a:cs typeface="Courier"/>
                <a:sym typeface="Courier"/>
              </a:rPr>
              <a:t>for</a:t>
            </a:r>
            <a:r>
              <a:rPr i="0" lang="en-US" sz="1200" u="none" cap="none" strike="noStrike">
                <a:solidFill>
                  <a:schemeClr val="lt1"/>
                </a:solidFill>
                <a:latin typeface="Courier"/>
                <a:ea typeface="Courier"/>
                <a:cs typeface="Courier"/>
                <a:sym typeface="Courier"/>
              </a:rPr>
              <a:t> word </a:t>
            </a:r>
            <a:r>
              <a:rPr i="0" lang="en-US" sz="1200" u="none" cap="none" strike="noStrike">
                <a:solidFill>
                  <a:srgbClr val="FFFF00"/>
                </a:solidFill>
                <a:latin typeface="Courier"/>
                <a:ea typeface="Courier"/>
                <a:cs typeface="Courier"/>
                <a:sym typeface="Courier"/>
              </a:rPr>
              <a:t>in</a:t>
            </a:r>
            <a:r>
              <a:rPr i="0" lang="en-US" sz="1200" u="none" cap="none" strike="noStrike">
                <a:solidFill>
                  <a:schemeClr val="lt1"/>
                </a:solidFill>
                <a:latin typeface="Courier"/>
                <a:ea typeface="Courier"/>
                <a:cs typeface="Courier"/>
                <a:sym typeface="Courier"/>
              </a:rPr>
              <a:t> words:</a:t>
            </a:r>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[word] = </a:t>
            </a: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a:t>
            </a:r>
            <a:r>
              <a:rPr i="0" lang="en-US" sz="1200" u="none" cap="none" strike="noStrike">
                <a:solidFill>
                  <a:srgbClr val="FF00FF"/>
                </a:solidFill>
                <a:latin typeface="Courier"/>
                <a:ea typeface="Courier"/>
                <a:cs typeface="Courier"/>
                <a:sym typeface="Courier"/>
              </a:rPr>
              <a:t>get</a:t>
            </a:r>
            <a:r>
              <a:rPr i="0" lang="en-US" sz="1200" u="none" cap="none" strike="noStrike">
                <a:solidFill>
                  <a:schemeClr val="lt1"/>
                </a:solidFill>
                <a:latin typeface="Courier"/>
                <a:ea typeface="Courier"/>
                <a:cs typeface="Courier"/>
                <a:sym typeface="Courier"/>
              </a:rPr>
              <a:t>(word,0) + 1</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'Counts', </a:t>
            </a:r>
            <a:r>
              <a:rPr i="0" lang="en-US" sz="1200" u="none" cap="none" strike="noStrike">
                <a:solidFill>
                  <a:srgbClr val="00FF00"/>
                </a:solidFill>
                <a:latin typeface="Courier"/>
                <a:ea typeface="Courier"/>
                <a:cs typeface="Courier"/>
                <a:sym typeface="Courier"/>
              </a:rPr>
              <a:t>counts</a:t>
            </a:r>
            <a:r>
              <a:rPr lang="en-US" sz="1200">
                <a:solidFill>
                  <a:srgbClr val="FFFF00"/>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85" name="Google Shape;8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A sample run and the corresponding output for the previous Python code would be: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chemeClr val="lt1"/>
                </a:solidFill>
                <a:latin typeface="Courier"/>
                <a:ea typeface="Courier"/>
                <a:cs typeface="Courier"/>
                <a:sym typeface="Courier"/>
              </a:rPr>
              <a:t>Enter a line of text:</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00FF00"/>
                </a:solidFill>
                <a:latin typeface="Courier"/>
                <a:ea typeface="Courier"/>
                <a:cs typeface="Courier"/>
                <a:sym typeface="Courier"/>
              </a:rPr>
              <a:t>the</a:t>
            </a:r>
            <a:r>
              <a:rPr i="0" lang="en-US" sz="1200" u="none" cap="none" strike="noStrike">
                <a:solidFill>
                  <a:srgbClr val="FFFF00"/>
                </a:solidFill>
                <a:latin typeface="Courier"/>
                <a:ea typeface="Courier"/>
                <a:cs typeface="Courier"/>
                <a:sym typeface="Courier"/>
              </a:rPr>
              <a:t> clown ran after </a:t>
            </a:r>
            <a:r>
              <a:rPr i="0" lang="en-US" sz="1200" u="none" cap="none" strike="noStrike">
                <a:solidFill>
                  <a:srgbClr val="00FF00"/>
                </a:solidFill>
                <a:latin typeface="Courier"/>
                <a:ea typeface="Courier"/>
                <a:cs typeface="Courier"/>
                <a:sym typeface="Courier"/>
              </a:rPr>
              <a:t>the</a:t>
            </a:r>
            <a:r>
              <a:rPr i="0" lang="en-US" sz="1200" u="none" cap="none" strike="noStrike">
                <a:solidFill>
                  <a:srgbClr val="FFFF00"/>
                </a:solidFill>
                <a:latin typeface="Courier"/>
                <a:ea typeface="Courier"/>
                <a:cs typeface="Courier"/>
                <a:sym typeface="Courier"/>
              </a:rPr>
              <a:t> car and </a:t>
            </a:r>
            <a:r>
              <a:rPr i="0" lang="en-US" sz="1200" u="none" cap="none" strike="noStrike">
                <a:solidFill>
                  <a:srgbClr val="00FF00"/>
                </a:solidFill>
                <a:latin typeface="Courier"/>
                <a:ea typeface="Courier"/>
                <a:cs typeface="Courier"/>
                <a:sym typeface="Courier"/>
              </a:rPr>
              <a:t>the</a:t>
            </a:r>
            <a:r>
              <a:rPr i="0" lang="en-US" sz="1200" u="none" cap="none" strike="noStrike">
                <a:solidFill>
                  <a:srgbClr val="FFFF00"/>
                </a:solidFill>
                <a:latin typeface="Courier"/>
                <a:ea typeface="Courier"/>
                <a:cs typeface="Courier"/>
                <a:sym typeface="Courier"/>
              </a:rPr>
              <a:t> car ran into </a:t>
            </a:r>
            <a:r>
              <a:rPr i="0" lang="en-US" sz="1200" u="none" cap="none" strike="noStrike">
                <a:solidFill>
                  <a:srgbClr val="00FF00"/>
                </a:solidFill>
                <a:latin typeface="Courier"/>
                <a:ea typeface="Courier"/>
                <a:cs typeface="Courier"/>
                <a:sym typeface="Courier"/>
              </a:rPr>
              <a:t>the</a:t>
            </a:r>
            <a:r>
              <a:rPr i="0" lang="en-US" sz="1200" u="none" cap="none" strike="noStrike">
                <a:solidFill>
                  <a:srgbClr val="FFFF00"/>
                </a:solidFill>
                <a:latin typeface="Courier"/>
                <a:ea typeface="Courier"/>
                <a:cs typeface="Courier"/>
                <a:sym typeface="Courier"/>
              </a:rPr>
              <a:t> tent and </a:t>
            </a:r>
            <a:r>
              <a:rPr i="0" lang="en-US" sz="1200" u="none" cap="none" strike="noStrike">
                <a:solidFill>
                  <a:srgbClr val="00FF00"/>
                </a:solidFill>
                <a:latin typeface="Courier"/>
                <a:ea typeface="Courier"/>
                <a:cs typeface="Courier"/>
                <a:sym typeface="Courier"/>
              </a:rPr>
              <a:t>the</a:t>
            </a:r>
            <a:r>
              <a:rPr i="0" lang="en-US" sz="1200" u="none" cap="none" strike="noStrike">
                <a:solidFill>
                  <a:srgbClr val="FFFF00"/>
                </a:solidFill>
                <a:latin typeface="Courier"/>
                <a:ea typeface="Courier"/>
                <a:cs typeface="Courier"/>
                <a:sym typeface="Courier"/>
              </a:rPr>
              <a:t> tent fell down on </a:t>
            </a:r>
            <a:r>
              <a:rPr i="0" lang="en-US" sz="1200" u="none" cap="none" strike="noStrike">
                <a:solidFill>
                  <a:srgbClr val="00FF00"/>
                </a:solidFill>
                <a:latin typeface="Courier"/>
                <a:ea typeface="Courier"/>
                <a:cs typeface="Courier"/>
                <a:sym typeface="Courier"/>
              </a:rPr>
              <a:t>the</a:t>
            </a:r>
            <a:r>
              <a:rPr i="0" lang="en-US" sz="1200" u="none" cap="none" strike="noStrike">
                <a:solidFill>
                  <a:srgbClr val="FFFF00"/>
                </a:solidFill>
                <a:latin typeface="Courier"/>
                <a:ea typeface="Courier"/>
                <a:cs typeface="Courier"/>
                <a:sym typeface="Courier"/>
              </a:rPr>
              <a:t> clown and </a:t>
            </a:r>
            <a:r>
              <a:rPr i="0" lang="en-US" sz="1200" u="none" cap="none" strike="noStrike">
                <a:solidFill>
                  <a:srgbClr val="00FF00"/>
                </a:solidFill>
                <a:latin typeface="Courier"/>
                <a:ea typeface="Courier"/>
                <a:cs typeface="Courier"/>
                <a:sym typeface="Courier"/>
              </a:rPr>
              <a:t>the</a:t>
            </a:r>
            <a:r>
              <a:rPr i="0" lang="en-US" sz="1200" u="none" cap="none" strike="noStrike">
                <a:solidFill>
                  <a:srgbClr val="FFFF00"/>
                </a:solidFill>
                <a:latin typeface="Courier"/>
                <a:ea typeface="Courier"/>
                <a:cs typeface="Courier"/>
                <a:sym typeface="Courier"/>
              </a:rPr>
              <a:t> car </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Words: ['the', 'clown', 'ran', 'after', 'the', 'car', 'and', 'the', 'car', 'ran', 'into', 'the', 'tent', 'and', 'the', 'tent', 'fell', 'down', 'on', 'the', 'clown', 'and', 'the', 'car']</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Counting</a:t>
            </a:r>
            <a:r>
              <a:rPr lang="en-US" sz="12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1200"/>
              <a:buFont typeface="Cabin"/>
              <a:buNone/>
            </a:pPr>
            <a:r>
              <a:t/>
            </a:r>
            <a:endParaRPr sz="1200">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Counts {'and': 3, 'on': 1, 'ran': 2, 'car': 3, 'into': 1, 'after': 1, 'clown': 2, 'down': 1, 'fell': 1, </a:t>
            </a:r>
            <a:r>
              <a:rPr i="0" lang="en-US" sz="1200" u="none" cap="none" strike="noStrike">
                <a:solidFill>
                  <a:srgbClr val="00FF00"/>
                </a:solidFill>
                <a:latin typeface="Courier"/>
                <a:ea typeface="Courier"/>
                <a:cs typeface="Courier"/>
                <a:sym typeface="Courier"/>
              </a:rPr>
              <a:t>'the': 7</a:t>
            </a:r>
            <a:r>
              <a:rPr i="0" lang="en-US" sz="1200" u="none" cap="none" strike="noStrike">
                <a:solidFill>
                  <a:schemeClr val="lt1"/>
                </a:solidFill>
                <a:latin typeface="Courier"/>
                <a:ea typeface="Courier"/>
                <a:cs typeface="Courier"/>
                <a:sym typeface="Courier"/>
              </a:rPr>
              <a:t>, 'tent': 2}</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92" name="Google Shape;9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Even though </a:t>
            </a:r>
            <a:r>
              <a:rPr lang="en-US" sz="1200" u="none" cap="none" strike="noStrike">
                <a:solidFill>
                  <a:srgbClr val="00FF00"/>
                </a:solidFill>
                <a:latin typeface="Arial"/>
                <a:ea typeface="Arial"/>
                <a:cs typeface="Arial"/>
                <a:sym typeface="Arial"/>
              </a:rPr>
              <a:t>dictionaries</a:t>
            </a:r>
            <a:r>
              <a:rPr lang="en-US" sz="1200" u="none" cap="none" strike="noStrike">
                <a:solidFill>
                  <a:schemeClr val="lt1"/>
                </a:solidFill>
                <a:latin typeface="Arial"/>
                <a:ea typeface="Arial"/>
                <a:cs typeface="Arial"/>
                <a:sym typeface="Arial"/>
              </a:rPr>
              <a:t> are not stored in order, we can write a </a:t>
            </a:r>
            <a:r>
              <a:rPr lang="en-US" sz="1200" u="none" cap="none" strike="noStrike">
                <a:solidFill>
                  <a:srgbClr val="FFFF00"/>
                </a:solidFill>
                <a:latin typeface="Arial"/>
                <a:ea typeface="Arial"/>
                <a:cs typeface="Arial"/>
                <a:sym typeface="Arial"/>
              </a:rPr>
              <a:t>for</a:t>
            </a:r>
            <a:r>
              <a:rPr lang="en-US" sz="1200" u="none" cap="none" strike="noStrike">
                <a:solidFill>
                  <a:schemeClr val="lt1"/>
                </a:solidFill>
                <a:latin typeface="Arial"/>
                <a:ea typeface="Arial"/>
                <a:cs typeface="Arial"/>
                <a:sym typeface="Arial"/>
              </a:rPr>
              <a:t> loop that goes through all the </a:t>
            </a:r>
            <a:r>
              <a:rPr lang="en-US" sz="1200" u="none" cap="none" strike="noStrike">
                <a:solidFill>
                  <a:srgbClr val="00FFFF"/>
                </a:solidFill>
                <a:latin typeface="Arial"/>
                <a:ea typeface="Arial"/>
                <a:cs typeface="Arial"/>
                <a:sym typeface="Arial"/>
              </a:rPr>
              <a:t>keys </a:t>
            </a:r>
            <a:r>
              <a:rPr lang="en-US" sz="1200" u="none" cap="none" strike="noStrike">
                <a:solidFill>
                  <a:schemeClr val="lt1"/>
                </a:solidFill>
                <a:latin typeface="Arial"/>
                <a:ea typeface="Arial"/>
                <a:cs typeface="Arial"/>
                <a:sym typeface="Arial"/>
              </a:rPr>
              <a:t>in a </a:t>
            </a:r>
            <a:r>
              <a:rPr lang="en-US" sz="1200" u="none" cap="none" strike="noStrike">
                <a:solidFill>
                  <a:srgbClr val="00FF00"/>
                </a:solidFill>
                <a:latin typeface="Arial"/>
                <a:ea typeface="Arial"/>
                <a:cs typeface="Arial"/>
                <a:sym typeface="Arial"/>
              </a:rPr>
              <a:t>dictionary</a:t>
            </a:r>
            <a:r>
              <a:rPr lang="en-US" sz="1200" u="none" cap="none" strike="noStrike">
                <a:solidFill>
                  <a:schemeClr val="lt1"/>
                </a:solidFill>
                <a:latin typeface="Arial"/>
                <a:ea typeface="Arial"/>
                <a:cs typeface="Arial"/>
                <a:sym typeface="Arial"/>
              </a:rPr>
              <a:t>. We can also look up the corresponding value for each traversed key. </a:t>
            </a:r>
            <a:r>
              <a:rPr lang="en-US"/>
              <a:t>We should note that the for loop iterates through the keys of the dictionary, so we must use the index operator to retrieve the corresponding value for each key. </a:t>
            </a:r>
            <a:r>
              <a:rPr lang="en-US" sz="1200" u="none" cap="none" strike="noStrike">
                <a:solidFill>
                  <a:schemeClr val="lt1"/>
                </a:solidFill>
                <a:latin typeface="Arial"/>
                <a:ea typeface="Arial"/>
                <a:cs typeface="Arial"/>
                <a:sym typeface="Arial"/>
              </a:rPr>
              <a:t>For example, the following loop prints out each key and the corresponding value:</a:t>
            </a:r>
            <a:endParaRPr/>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 = { </a:t>
            </a:r>
            <a:r>
              <a:rPr i="0" lang="en-US" sz="1200" u="none" cap="none" strike="noStrike">
                <a:solidFill>
                  <a:srgbClr val="00FFFF"/>
                </a:solidFill>
                <a:latin typeface="Courier"/>
                <a:ea typeface="Courier"/>
                <a:cs typeface="Courier"/>
                <a:sym typeface="Courier"/>
              </a:rPr>
              <a:t>'chuck'</a:t>
            </a:r>
            <a:r>
              <a:rPr i="0" lang="en-US" sz="1200" u="none" cap="none" strike="noStrike">
                <a:solidFill>
                  <a:schemeClr val="lt1"/>
                </a:solidFill>
                <a:latin typeface="Courier"/>
                <a:ea typeface="Courier"/>
                <a:cs typeface="Courier"/>
                <a:sym typeface="Courier"/>
              </a:rPr>
              <a:t> : 1 , </a:t>
            </a:r>
            <a:r>
              <a:rPr i="0" lang="en-US" sz="1200" u="none" cap="none" strike="noStrike">
                <a:solidFill>
                  <a:srgbClr val="00FFFF"/>
                </a:solidFill>
                <a:latin typeface="Courier"/>
                <a:ea typeface="Courier"/>
                <a:cs typeface="Courier"/>
                <a:sym typeface="Courier"/>
              </a:rPr>
              <a:t>'fred'</a:t>
            </a:r>
            <a:r>
              <a:rPr i="0" lang="en-US" sz="1200" u="none" cap="none" strike="noStrike">
                <a:solidFill>
                  <a:schemeClr val="lt1"/>
                </a:solidFill>
                <a:latin typeface="Courier"/>
                <a:ea typeface="Courier"/>
                <a:cs typeface="Courier"/>
                <a:sym typeface="Courier"/>
              </a:rPr>
              <a:t> : 42, </a:t>
            </a:r>
            <a:r>
              <a:rPr i="0" lang="en-US" sz="1200" u="none" cap="none" strike="noStrike">
                <a:solidFill>
                  <a:srgbClr val="00FFFF"/>
                </a:solidFill>
                <a:latin typeface="Courier"/>
                <a:ea typeface="Courier"/>
                <a:cs typeface="Courier"/>
                <a:sym typeface="Courier"/>
              </a:rPr>
              <a:t>'jan'</a:t>
            </a:r>
            <a:r>
              <a:rPr i="0" lang="en-US" sz="1200" u="none" cap="none" strike="noStrike">
                <a:solidFill>
                  <a:schemeClr val="lt1"/>
                </a:solidFill>
                <a:latin typeface="Courier"/>
                <a:ea typeface="Courier"/>
                <a:cs typeface="Courier"/>
                <a:sym typeface="Courier"/>
              </a:rPr>
              <a:t>: 100}</a:t>
            </a:r>
            <a:endParaRPr/>
          </a:p>
          <a:p>
            <a:pPr indent="0" lvl="0" marL="0" marR="0" rtl="0" algn="l">
              <a:lnSpc>
                <a:spcPct val="100000"/>
              </a:lnSpc>
              <a:spcBef>
                <a:spcPts val="0"/>
              </a:spcBef>
              <a:spcAft>
                <a:spcPts val="0"/>
              </a:spcAft>
              <a:buClr>
                <a:schemeClr val="lt1"/>
              </a:buClr>
              <a:buSzPts val="300"/>
              <a:buFont typeface="Courier New"/>
              <a:buNone/>
            </a:pPr>
            <a:r>
              <a:rPr i="0" lang="en-US" sz="1200" u="none" cap="none" strike="noStrike">
                <a:solidFill>
                  <a:srgbClr val="FFFF00"/>
                </a:solidFill>
                <a:latin typeface="Courier"/>
                <a:ea typeface="Courier"/>
                <a:cs typeface="Courier"/>
                <a:sym typeface="Courier"/>
              </a:rPr>
              <a:t>for</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FF"/>
                </a:solidFill>
                <a:latin typeface="Courier"/>
                <a:ea typeface="Courier"/>
                <a:cs typeface="Courier"/>
                <a:sym typeface="Courier"/>
              </a:rPr>
              <a:t>key</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in</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counts</a:t>
            </a:r>
            <a:r>
              <a:rPr i="0" lang="en-US" sz="12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300"/>
              <a:buFont typeface="Courier New"/>
              <a:buNone/>
            </a:pPr>
            <a:r>
              <a:rPr lang="en-US" sz="1200">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print(</a:t>
            </a:r>
            <a:r>
              <a:rPr i="0" lang="en-US" sz="1200" u="none" cap="none" strike="noStrike">
                <a:solidFill>
                  <a:srgbClr val="00FFFF"/>
                </a:solidFill>
                <a:latin typeface="Courier"/>
                <a:ea typeface="Courier"/>
                <a:cs typeface="Courier"/>
                <a:sym typeface="Courier"/>
              </a:rPr>
              <a:t>key</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counts</a:t>
            </a:r>
            <a:r>
              <a:rPr i="0" lang="en-US" sz="1200" u="none" cap="none" strike="noStrike">
                <a:solidFill>
                  <a:srgbClr val="00FFFF"/>
                </a:solidFill>
                <a:latin typeface="Courier"/>
                <a:ea typeface="Courier"/>
                <a:cs typeface="Courier"/>
                <a:sym typeface="Courier"/>
              </a:rPr>
              <a:t>[key]</a:t>
            </a:r>
            <a:r>
              <a:rPr i="0" lang="en-US" sz="12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300"/>
              <a:buFont typeface="Courier New"/>
              <a:buNone/>
            </a:pPr>
            <a:r>
              <a:t/>
            </a:r>
            <a:endParaRPr sz="1200">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ourier New"/>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FF"/>
              </a:buClr>
              <a:buSzPts val="300"/>
              <a:buFont typeface="Courier New"/>
              <a:buNone/>
            </a:pPr>
            <a:r>
              <a:rPr i="0" lang="en-US" sz="1200" u="none" cap="none" strike="noStrike">
                <a:solidFill>
                  <a:srgbClr val="00FFFF"/>
                </a:solidFill>
                <a:latin typeface="Courier"/>
                <a:ea typeface="Courier"/>
                <a:cs typeface="Courier"/>
                <a:sym typeface="Courier"/>
              </a:rPr>
              <a:t>jan</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100</a:t>
            </a:r>
            <a:endParaRPr/>
          </a:p>
          <a:p>
            <a:pPr indent="0" lvl="0" marL="0" marR="0" rtl="0" algn="l">
              <a:lnSpc>
                <a:spcPct val="100000"/>
              </a:lnSpc>
              <a:spcBef>
                <a:spcPts val="0"/>
              </a:spcBef>
              <a:spcAft>
                <a:spcPts val="0"/>
              </a:spcAft>
              <a:buClr>
                <a:srgbClr val="00FFFF"/>
              </a:buClr>
              <a:buSzPts val="300"/>
              <a:buFont typeface="Courier New"/>
              <a:buNone/>
            </a:pPr>
            <a:r>
              <a:rPr i="0" lang="en-US" sz="1200" u="none" cap="none" strike="noStrike">
                <a:solidFill>
                  <a:srgbClr val="00FFFF"/>
                </a:solidFill>
                <a:latin typeface="Courier"/>
                <a:ea typeface="Courier"/>
                <a:cs typeface="Courier"/>
                <a:sym typeface="Courier"/>
              </a:rPr>
              <a:t>chuck</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1</a:t>
            </a:r>
            <a:endParaRPr/>
          </a:p>
          <a:p>
            <a:pPr indent="0" lvl="0" marL="0" marR="0" rtl="0" algn="l">
              <a:lnSpc>
                <a:spcPct val="100000"/>
              </a:lnSpc>
              <a:spcBef>
                <a:spcPts val="0"/>
              </a:spcBef>
              <a:spcAft>
                <a:spcPts val="0"/>
              </a:spcAft>
              <a:buClr>
                <a:srgbClr val="00FFFF"/>
              </a:buClr>
              <a:buSzPts val="300"/>
              <a:buFont typeface="Courier New"/>
              <a:buNone/>
            </a:pPr>
            <a:r>
              <a:rPr i="0" lang="en-US" sz="1200" u="none" cap="none" strike="noStrike">
                <a:solidFill>
                  <a:srgbClr val="00FFFF"/>
                </a:solidFill>
                <a:latin typeface="Courier"/>
                <a:ea typeface="Courier"/>
                <a:cs typeface="Courier"/>
                <a:sym typeface="Courier"/>
              </a:rPr>
              <a:t>fred</a:t>
            </a: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42</a:t>
            </a:r>
            <a:endParaRPr/>
          </a:p>
          <a:p>
            <a:pPr indent="0" lvl="0" marL="0" marR="0" rtl="0" algn="l">
              <a:lnSpc>
                <a:spcPct val="100000"/>
              </a:lnSpc>
              <a:spcBef>
                <a:spcPts val="0"/>
              </a:spcBef>
              <a:spcAft>
                <a:spcPts val="0"/>
              </a:spcAft>
              <a:buClr>
                <a:srgbClr val="00FFFF"/>
              </a:buClr>
              <a:buSzPts val="300"/>
              <a:buFont typeface="Courier New"/>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FF"/>
              </a:buClr>
              <a:buSzPts val="300"/>
              <a:buFont typeface="Courier New"/>
              <a:buNone/>
            </a:pPr>
            <a:r>
              <a:rPr i="0" lang="en-US" sz="1200" u="none" cap="none" strike="noStrike">
                <a:solidFill>
                  <a:srgbClr val="00FF00"/>
                </a:solidFill>
                <a:latin typeface="Courier"/>
                <a:ea typeface="Courier"/>
                <a:cs typeface="Courier"/>
                <a:sym typeface="Courier"/>
              </a:rPr>
              <a:t>We should also note that the keys are in no particular order. If you want to print the keys in alphabetical order, you first need to make a list of the keys in the dictionary using the keys method available in dictionary objects, and then sort that list and loop through the sorted list, looking up each key and printing out key-value pairs in sorted order.</a:t>
            </a:r>
            <a:endParaRPr/>
          </a:p>
          <a:p>
            <a:pPr indent="0" lvl="0" marL="0" marR="0" rtl="0" algn="l">
              <a:lnSpc>
                <a:spcPct val="100000"/>
              </a:lnSpc>
              <a:spcBef>
                <a:spcPts val="0"/>
              </a:spcBef>
              <a:spcAft>
                <a:spcPts val="0"/>
              </a:spcAft>
              <a:buClr>
                <a:srgbClr val="00FFFF"/>
              </a:buClr>
              <a:buSzPts val="300"/>
              <a:buFont typeface="Courier New"/>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FF"/>
              </a:buClr>
              <a:buSzPts val="300"/>
              <a:buFont typeface="Courier New"/>
              <a:buNone/>
            </a:pPr>
            <a:r>
              <a:t/>
            </a:r>
            <a:endParaRPr i="0" sz="1200" u="none" cap="none" strike="noStrike">
              <a:solidFill>
                <a:srgbClr val="00FF00"/>
              </a:solidFill>
              <a:latin typeface="Courier"/>
              <a:ea typeface="Courier"/>
              <a:cs typeface="Courier"/>
              <a:sym typeface="Courier"/>
            </a:endParaRPr>
          </a:p>
        </p:txBody>
      </p:sp>
      <p:sp>
        <p:nvSpPr>
          <p:cNvPr id="99" name="Google Shape;9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Suppose we have the following dictionary: </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jjj = { 'chuck' : 1 , 'fred' : 42, 'jan': 100}</a:t>
            </a: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dk1"/>
                </a:solidFill>
                <a:latin typeface="Arial"/>
                <a:ea typeface="Arial"/>
                <a:cs typeface="Arial"/>
                <a:sym typeface="Arial"/>
              </a:rPr>
              <a:t>Using list function we can create a list of the keys from this dictionary:</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rgbClr val="FF00FF"/>
                </a:solidFill>
                <a:latin typeface="Courier"/>
                <a:ea typeface="Courier"/>
                <a:cs typeface="Courier"/>
                <a:sym typeface="Courier"/>
              </a:rPr>
              <a:t>list</a:t>
            </a:r>
            <a:r>
              <a:rPr i="0" lang="en-US" sz="1200" u="none" cap="none" strike="noStrike">
                <a:solidFill>
                  <a:schemeClr val="lt1"/>
                </a:solidFill>
                <a:latin typeface="Courier"/>
                <a:ea typeface="Courier"/>
                <a:cs typeface="Courier"/>
                <a:sym typeface="Courier"/>
              </a:rPr>
              <a:t>(jjj</a:t>
            </a:r>
            <a:r>
              <a:rPr lang="en-US" sz="1200">
                <a:solidFill>
                  <a:schemeClr val="lt1"/>
                </a:solidFill>
                <a:latin typeface="Courier"/>
                <a:ea typeface="Courier"/>
                <a:cs typeface="Courier"/>
                <a:sym typeface="Courier"/>
              </a:rPr>
              <a:t>)</a:t>
            </a:r>
            <a:r>
              <a:rPr lang="en-US" sz="1200">
                <a:solidFill>
                  <a:srgbClr val="FFFF00"/>
                </a:solidFill>
                <a:latin typeface="Courier"/>
                <a:ea typeface="Courier"/>
                <a:cs typeface="Courier"/>
                <a:sym typeface="Courier"/>
              </a:rPr>
              <a:t>)</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['jan', 'chuck', 'fred']</a:t>
            </a: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Alternatively, we can also use the keys method on a dictionary object to get the list of keys from a dictionary:</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jjj.</a:t>
            </a:r>
            <a:r>
              <a:rPr i="0" lang="en-US" sz="1200" u="none" cap="none" strike="noStrike">
                <a:solidFill>
                  <a:srgbClr val="FF00FF"/>
                </a:solidFill>
                <a:latin typeface="Courier"/>
                <a:ea typeface="Courier"/>
                <a:cs typeface="Courier"/>
                <a:sym typeface="Courier"/>
              </a:rPr>
              <a:t>keys()</a:t>
            </a:r>
            <a:r>
              <a:rPr lang="en-US" sz="1200">
                <a:solidFill>
                  <a:srgbClr val="FFFF00"/>
                </a:solidFill>
                <a:latin typeface="Courier"/>
                <a:ea typeface="Courier"/>
                <a:cs typeface="Courier"/>
                <a:sym typeface="Courier"/>
              </a:rPr>
              <a:t>)</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['jan', 'chuck', 'fred']</a:t>
            </a: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To access to the values in a similar manner, we can use the values method. It gives us a list of values from a dictionary:</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jjj.</a:t>
            </a:r>
            <a:r>
              <a:rPr i="0" lang="en-US" sz="1200" u="none" cap="none" strike="noStrike">
                <a:solidFill>
                  <a:srgbClr val="FF00FF"/>
                </a:solidFill>
                <a:latin typeface="Courier"/>
                <a:ea typeface="Courier"/>
                <a:cs typeface="Courier"/>
                <a:sym typeface="Courier"/>
              </a:rPr>
              <a:t>values()</a:t>
            </a:r>
            <a:r>
              <a:rPr lang="en-US" sz="1200">
                <a:solidFill>
                  <a:srgbClr val="FFFF00"/>
                </a:solidFill>
                <a:latin typeface="Courier"/>
                <a:ea typeface="Courier"/>
                <a:cs typeface="Courier"/>
                <a:sym typeface="Courier"/>
              </a:rPr>
              <a:t>)</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300"/>
              <a:buFont typeface="Cabin"/>
              <a:buNone/>
            </a:pPr>
            <a:r>
              <a:rPr i="0" lang="en-US" sz="1200" u="none" cap="none" strike="noStrike">
                <a:solidFill>
                  <a:srgbClr val="FF00FF"/>
                </a:solidFill>
                <a:latin typeface="Courier"/>
                <a:ea typeface="Courier"/>
                <a:cs typeface="Courier"/>
                <a:sym typeface="Courier"/>
              </a:rPr>
              <a:t>[100, 1, 42]</a:t>
            </a: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We can also get a list of both keys and values in the form of items from a dictionary using the items method. This method results in a tuple, which we are going to cover very soon:</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jjj.</a:t>
            </a:r>
            <a:r>
              <a:rPr i="0" lang="en-US" sz="1200" u="none" cap="none" strike="noStrike">
                <a:solidFill>
                  <a:srgbClr val="FF7F00"/>
                </a:solidFill>
                <a:latin typeface="Courier"/>
                <a:ea typeface="Courier"/>
                <a:cs typeface="Courier"/>
                <a:sym typeface="Courier"/>
              </a:rPr>
              <a:t>items()</a:t>
            </a:r>
            <a:r>
              <a:rPr lang="en-US" sz="1200">
                <a:solidFill>
                  <a:srgbClr val="FFFF00"/>
                </a:solidFill>
                <a:latin typeface="Courier"/>
                <a:ea typeface="Courier"/>
                <a:cs typeface="Courier"/>
                <a:sym typeface="Courier"/>
              </a:rPr>
              <a:t>)</a:t>
            </a:r>
            <a:endParaRPr i="0" sz="12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FF7F00"/>
                </a:solidFill>
                <a:latin typeface="Courier"/>
                <a:ea typeface="Courier"/>
                <a:cs typeface="Courier"/>
                <a:sym typeface="Courier"/>
              </a:rPr>
              <a:t>[('jan', 100), ('chuck', 1), ('fred', 42)]</a:t>
            </a: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
              <a:buFont typeface="Cabin"/>
              <a:buNone/>
            </a:pPr>
            <a:r>
              <a:t/>
            </a:r>
            <a:endParaRPr i="0" sz="1200" u="none" cap="none" strike="noStrike">
              <a:solidFill>
                <a:schemeClr val="lt1"/>
              </a:solidFill>
              <a:latin typeface="Courier"/>
              <a:ea typeface="Courier"/>
              <a:cs typeface="Courier"/>
              <a:sym typeface="Courier"/>
            </a:endParaRPr>
          </a:p>
        </p:txBody>
      </p:sp>
      <p:sp>
        <p:nvSpPr>
          <p:cNvPr id="106" name="Google Shape;10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Once we turn a dictionary into a corresponding tuple object, we can can loop through the tuple objet using two iteration variables: one for the key and the other for the value. Thus, in each iteration, the first variable is the key and the second variable is the corresponding value for the key in the dictionary. For example,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rgbClr val="00FF00"/>
                </a:solidFill>
                <a:latin typeface="Courier"/>
                <a:ea typeface="Courier"/>
                <a:cs typeface="Courier"/>
                <a:sym typeface="Courier"/>
              </a:rPr>
              <a:t>jjj</a:t>
            </a:r>
            <a:r>
              <a:rPr i="0" lang="en-US" sz="1200" u="none" cap="none" strike="noStrike">
                <a:solidFill>
                  <a:schemeClr val="lt1"/>
                </a:solidFill>
                <a:latin typeface="Courier"/>
                <a:ea typeface="Courier"/>
                <a:cs typeface="Courier"/>
                <a:sym typeface="Courier"/>
              </a:rPr>
              <a:t> = { 'chuck' : 1 , 'fred' : 42, 'jan': 100}</a:t>
            </a:r>
            <a:endParaRPr/>
          </a:p>
          <a:p>
            <a:pPr indent="0" lvl="0" marL="0" marR="0" rtl="0" algn="l">
              <a:lnSpc>
                <a:spcPct val="100000"/>
              </a:lnSpc>
              <a:spcBef>
                <a:spcPts val="0"/>
              </a:spcBef>
              <a:spcAft>
                <a:spcPts val="0"/>
              </a:spcAft>
              <a:buClr>
                <a:schemeClr val="lt1"/>
              </a:buClr>
              <a:buSzPts val="300"/>
              <a:buFont typeface="Cabin"/>
              <a:buNone/>
            </a:pPr>
            <a:r>
              <a:rPr i="0" lang="en-US" sz="1200" u="none" cap="none" strike="noStrike">
                <a:solidFill>
                  <a:schemeClr val="lt1"/>
                </a:solidFill>
                <a:latin typeface="Courier"/>
                <a:ea typeface="Courier"/>
                <a:cs typeface="Courier"/>
                <a:sym typeface="Courier"/>
              </a:rPr>
              <a:t>for </a:t>
            </a:r>
            <a:r>
              <a:rPr i="0" lang="en-US" sz="1200" u="none" cap="none" strike="noStrike">
                <a:solidFill>
                  <a:srgbClr val="FF7F00"/>
                </a:solidFill>
                <a:latin typeface="Courier"/>
                <a:ea typeface="Courier"/>
                <a:cs typeface="Courier"/>
                <a:sym typeface="Courier"/>
              </a:rPr>
              <a:t>aaa</a:t>
            </a:r>
            <a:r>
              <a:rPr i="0" lang="en-US" sz="1200" u="none" cap="none" strike="noStrike">
                <a:solidFill>
                  <a:schemeClr val="lt1"/>
                </a:solidFill>
                <a:latin typeface="Courier"/>
                <a:ea typeface="Courier"/>
                <a:cs typeface="Courier"/>
                <a:sym typeface="Courier"/>
              </a:rPr>
              <a:t>,</a:t>
            </a:r>
            <a:r>
              <a:rPr i="0" lang="en-US" sz="1200" u="none" cap="none" strike="noStrike">
                <a:solidFill>
                  <a:srgbClr val="FFFF00"/>
                </a:solidFill>
                <a:latin typeface="Courier"/>
                <a:ea typeface="Courier"/>
                <a:cs typeface="Courier"/>
                <a:sym typeface="Courier"/>
              </a:rPr>
              <a:t>bbb</a:t>
            </a:r>
            <a:r>
              <a:rPr i="0" lang="en-US" sz="1200" u="none" cap="none" strike="noStrike">
                <a:solidFill>
                  <a:schemeClr val="lt1"/>
                </a:solidFill>
                <a:latin typeface="Courier"/>
                <a:ea typeface="Courier"/>
                <a:cs typeface="Courier"/>
                <a:sym typeface="Courier"/>
              </a:rPr>
              <a:t> in </a:t>
            </a:r>
            <a:r>
              <a:rPr i="0" lang="en-US" sz="1200" u="none" cap="none" strike="noStrike">
                <a:solidFill>
                  <a:srgbClr val="00FF00"/>
                </a:solidFill>
                <a:latin typeface="Courier"/>
                <a:ea typeface="Courier"/>
                <a:cs typeface="Courier"/>
                <a:sym typeface="Courier"/>
              </a:rPr>
              <a:t>jjj</a:t>
            </a:r>
            <a:r>
              <a:rPr i="0" lang="en-US" sz="1200" u="none" cap="none" strike="noStrike">
                <a:solidFill>
                  <a:srgbClr val="FF00FF"/>
                </a:solidFill>
                <a:latin typeface="Courier"/>
                <a:ea typeface="Courier"/>
                <a:cs typeface="Courier"/>
                <a:sym typeface="Courier"/>
              </a:rPr>
              <a:t>.items</a:t>
            </a:r>
            <a:r>
              <a:rPr i="0" lang="en-US" sz="1200" u="none" cap="none" strike="noStrike">
                <a:solidFill>
                  <a:schemeClr val="lt1"/>
                </a:solidFill>
                <a:latin typeface="Courier"/>
                <a:ea typeface="Courier"/>
                <a:cs typeface="Courier"/>
                <a:sym typeface="Courier"/>
              </a:rPr>
              <a:t>() :</a:t>
            </a:r>
            <a:endParaRPr/>
          </a:p>
          <a:p>
            <a:pPr indent="0" lvl="0" marL="0" rtl="0" algn="l">
              <a:lnSpc>
                <a:spcPct val="100000"/>
              </a:lnSpc>
              <a:spcBef>
                <a:spcPts val="0"/>
              </a:spcBef>
              <a:spcAft>
                <a:spcPts val="0"/>
              </a:spcAft>
              <a:buSzPts val="1400"/>
              <a:buNone/>
            </a:pPr>
            <a:r>
              <a:rPr i="0" lang="en-US" sz="1200" u="none" cap="none" strike="noStrike">
                <a:solidFill>
                  <a:schemeClr val="lt1"/>
                </a:solidFill>
                <a:latin typeface="Courier"/>
                <a:ea typeface="Courier"/>
                <a:cs typeface="Courier"/>
                <a:sym typeface="Courier"/>
              </a:rPr>
              <a:t>    print(</a:t>
            </a:r>
            <a:r>
              <a:rPr i="0" lang="en-US" sz="1200" u="none" cap="none" strike="noStrike">
                <a:solidFill>
                  <a:srgbClr val="FF7F00"/>
                </a:solidFill>
                <a:latin typeface="Courier"/>
                <a:ea typeface="Courier"/>
                <a:cs typeface="Courier"/>
                <a:sym typeface="Courier"/>
              </a:rPr>
              <a:t>aaa</a:t>
            </a:r>
            <a:r>
              <a:rPr i="0" lang="en-US" sz="1200" u="none" cap="none" strike="noStrike">
                <a:solidFill>
                  <a:schemeClr val="lt1"/>
                </a:solidFill>
                <a:latin typeface="Courier"/>
                <a:ea typeface="Courier"/>
                <a:cs typeface="Courier"/>
                <a:sym typeface="Courier"/>
              </a:rPr>
              <a:t>, </a:t>
            </a:r>
            <a:r>
              <a:rPr i="0" lang="en-US" sz="1200" u="none" cap="none" strike="noStrike">
                <a:solidFill>
                  <a:srgbClr val="FFFF00"/>
                </a:solidFill>
                <a:latin typeface="Courier"/>
                <a:ea typeface="Courier"/>
                <a:cs typeface="Courier"/>
                <a:sym typeface="Courier"/>
              </a:rPr>
              <a:t>bbb</a:t>
            </a:r>
            <a:r>
              <a:rPr lang="en-US" sz="1200">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300"/>
              <a:buFont typeface="Cabin"/>
              <a:buNone/>
            </a:pPr>
            <a:r>
              <a:rPr i="0" lang="en-US" sz="1200" u="none" cap="none" strike="noStrike">
                <a:solidFill>
                  <a:srgbClr val="FF7F00"/>
                </a:solidFill>
                <a:latin typeface="Courier"/>
                <a:ea typeface="Courier"/>
                <a:cs typeface="Courier"/>
                <a:sym typeface="Courier"/>
              </a:rPr>
              <a:t>jan</a:t>
            </a:r>
            <a:r>
              <a:rPr i="0" lang="en-US" sz="1200" u="none" cap="none" strike="noStrike">
                <a:solidFill>
                  <a:srgbClr val="FFFF00"/>
                </a:solidFill>
                <a:latin typeface="Courier"/>
                <a:ea typeface="Courier"/>
                <a:cs typeface="Courier"/>
                <a:sym typeface="Courier"/>
              </a:rPr>
              <a:t> 100</a:t>
            </a:r>
            <a:endParaRPr/>
          </a:p>
          <a:p>
            <a:pPr indent="0" lvl="0" marL="0" marR="0" rtl="0" algn="l">
              <a:lnSpc>
                <a:spcPct val="100000"/>
              </a:lnSpc>
              <a:spcBef>
                <a:spcPts val="0"/>
              </a:spcBef>
              <a:spcAft>
                <a:spcPts val="0"/>
              </a:spcAft>
              <a:buClr>
                <a:srgbClr val="FF7F00"/>
              </a:buClr>
              <a:buSzPts val="300"/>
              <a:buFont typeface="Cabin"/>
              <a:buNone/>
            </a:pPr>
            <a:r>
              <a:rPr i="0" lang="en-US" sz="1200" u="none" cap="none" strike="noStrike">
                <a:solidFill>
                  <a:srgbClr val="FF7F00"/>
                </a:solidFill>
                <a:latin typeface="Courier"/>
                <a:ea typeface="Courier"/>
                <a:cs typeface="Courier"/>
                <a:sym typeface="Courier"/>
              </a:rPr>
              <a:t>chuck</a:t>
            </a:r>
            <a:r>
              <a:rPr i="0" lang="en-US" sz="1200" u="none" cap="none" strike="noStrike">
                <a:solidFill>
                  <a:srgbClr val="FFFF00"/>
                </a:solidFill>
                <a:latin typeface="Courier"/>
                <a:ea typeface="Courier"/>
                <a:cs typeface="Courier"/>
                <a:sym typeface="Courier"/>
              </a:rPr>
              <a:t> 1</a:t>
            </a:r>
            <a:endParaRPr/>
          </a:p>
          <a:p>
            <a:pPr indent="0" lvl="0" marL="0" marR="0" rtl="0" algn="l">
              <a:lnSpc>
                <a:spcPct val="100000"/>
              </a:lnSpc>
              <a:spcBef>
                <a:spcPts val="0"/>
              </a:spcBef>
              <a:spcAft>
                <a:spcPts val="0"/>
              </a:spcAft>
              <a:buClr>
                <a:srgbClr val="FF7F00"/>
              </a:buClr>
              <a:buSzPts val="300"/>
              <a:buFont typeface="Cabin"/>
              <a:buNone/>
            </a:pPr>
            <a:r>
              <a:rPr i="0" lang="en-US" sz="1200" u="none" cap="none" strike="noStrike">
                <a:solidFill>
                  <a:srgbClr val="FF7F00"/>
                </a:solidFill>
                <a:latin typeface="Courier"/>
                <a:ea typeface="Courier"/>
                <a:cs typeface="Courier"/>
                <a:sym typeface="Courier"/>
              </a:rPr>
              <a:t>fred</a:t>
            </a:r>
            <a:r>
              <a:rPr i="0" lang="en-US" sz="1200" u="none" cap="none" strike="noStrike">
                <a:solidFill>
                  <a:srgbClr val="FFFF00"/>
                </a:solidFill>
                <a:latin typeface="Courier"/>
                <a:ea typeface="Courier"/>
                <a:cs typeface="Courier"/>
                <a:sym typeface="Courier"/>
              </a:rPr>
              <a:t> 42</a:t>
            </a:r>
            <a:endParaRPr/>
          </a:p>
          <a:p>
            <a:pPr indent="0" lvl="0" marL="0" rtl="0" algn="l">
              <a:lnSpc>
                <a:spcPct val="100000"/>
              </a:lnSpc>
              <a:spcBef>
                <a:spcPts val="0"/>
              </a:spcBef>
              <a:spcAft>
                <a:spcPts val="0"/>
              </a:spcAft>
              <a:buSzPts val="1400"/>
              <a:buNone/>
            </a:pPr>
            <a:r>
              <a:t/>
            </a:r>
            <a:endParaRPr i="0"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15" name="Google Shape;11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130" name="Google Shape;130;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Let us take a look at the following example to practice on dictionaries. We ask the user to enter a file name and open this file with a file handler named handle. We traverse this file using a for loop line by line. At each iteration, we put the words in a line to list using split method, and use a nested for loop to traverse this list to count the unique words and store the results into a dictionary called counts with keys as unique words and values as the number of occurrences of these unique words: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name = input('Enter file:')</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00"/>
                </a:solidFill>
                <a:latin typeface="Courier"/>
                <a:ea typeface="Courier"/>
                <a:cs typeface="Courier"/>
                <a:sym typeface="Courier"/>
              </a:rPr>
              <a:t>handle = open(name)</a:t>
            </a:r>
            <a:endParaRPr/>
          </a:p>
          <a:p>
            <a:pPr indent="0" lvl="0" marL="0" marR="0" rtl="0" algn="ctr">
              <a:lnSpc>
                <a:spcPct val="100000"/>
              </a:lnSpc>
              <a:spcBef>
                <a:spcPts val="0"/>
              </a:spcBef>
              <a:spcAft>
                <a:spcPts val="0"/>
              </a:spcAft>
              <a:buClr>
                <a:schemeClr val="dk1"/>
              </a:buClr>
              <a:buSzPts val="1200"/>
              <a:buFont typeface="Arial"/>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FF00FF"/>
                </a:solidFill>
                <a:latin typeface="Courier"/>
                <a:ea typeface="Courier"/>
                <a:cs typeface="Courier"/>
                <a:sym typeface="Courier"/>
              </a:rPr>
              <a:t>counts = dict()</a:t>
            </a:r>
            <a:endParaRPr/>
          </a:p>
          <a:p>
            <a:pPr indent="0" lvl="0" marL="0" rtl="0" algn="l">
              <a:lnSpc>
                <a:spcPct val="100000"/>
              </a:lnSpc>
              <a:spcBef>
                <a:spcPts val="0"/>
              </a:spcBef>
              <a:spcAft>
                <a:spcPts val="0"/>
              </a:spcAft>
              <a:buSzPts val="1400"/>
              <a:buNone/>
            </a:pPr>
            <a:r>
              <a:rPr lang="en-US" sz="1200">
                <a:solidFill>
                  <a:srgbClr val="FF00FF"/>
                </a:solidFill>
                <a:latin typeface="Courier"/>
                <a:ea typeface="Courier"/>
                <a:cs typeface="Courier"/>
                <a:sym typeface="Courier"/>
              </a:rPr>
              <a:t>for line in handle:</a:t>
            </a:r>
            <a:endParaRPr/>
          </a:p>
          <a:p>
            <a:pPr indent="0" lvl="0" marL="0" rtl="0" algn="l">
              <a:lnSpc>
                <a:spcPct val="100000"/>
              </a:lnSpc>
              <a:spcBef>
                <a:spcPts val="0"/>
              </a:spcBef>
              <a:spcAft>
                <a:spcPts val="0"/>
              </a:spcAft>
              <a:buSzPts val="1400"/>
              <a:buNone/>
            </a:pPr>
            <a:r>
              <a:rPr lang="en-US" sz="1200">
                <a:solidFill>
                  <a:srgbClr val="FF00FF"/>
                </a:solidFill>
                <a:latin typeface="Courier"/>
                <a:ea typeface="Courier"/>
                <a:cs typeface="Courier"/>
                <a:sym typeface="Courier"/>
              </a:rPr>
              <a:t>    words = line.split()</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FF00FF"/>
                </a:solidFill>
                <a:latin typeface="Courier"/>
                <a:ea typeface="Courier"/>
                <a:cs typeface="Courier"/>
                <a:sym typeface="Courier"/>
              </a:rPr>
              <a:t>    for word in words:</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FF00FF"/>
                </a:solidFill>
                <a:latin typeface="Courier"/>
                <a:ea typeface="Courier"/>
                <a:cs typeface="Courier"/>
                <a:sym typeface="Courier"/>
              </a:rPr>
              <a:t>        counts[word] = counts.get(word,0) + 1</a:t>
            </a: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FF00FF"/>
                </a:solidFill>
                <a:latin typeface="Courier"/>
                <a:ea typeface="Courier"/>
                <a:cs typeface="Courier"/>
                <a:sym typeface="Courier"/>
              </a:rPr>
              <a:t>To determine the word with the highest number of occurrences (i.e., the key with the highest value), we take counts dictionary and map that into a corresponding tuple using items method. We then create a for loop with two iterators on the tuple: word (for the key) and count  (for the value). We initiate bigcount and bigword variables to None before the loop, and update their values using an if statement during each iteration. Namely, if we encounter a value (i.e., variable count) that is higher than the current value, we update the value of count variable to the new highest value encountered so far. Once the loop is over, the values of bigcount and bigword are going to give us the final results.</a:t>
            </a:r>
            <a:endParaRPr/>
          </a:p>
          <a:p>
            <a:pPr indent="0" lvl="0" marL="0" marR="0" rtl="0" algn="l">
              <a:lnSpc>
                <a:spcPct val="100000"/>
              </a:lnSpc>
              <a:spcBef>
                <a:spcPts val="0"/>
              </a:spcBef>
              <a:spcAft>
                <a:spcPts val="0"/>
              </a:spcAft>
              <a:buClr>
                <a:srgbClr val="00FF00"/>
              </a:buClr>
              <a:buSzPts val="1200"/>
              <a:buFont typeface="Cabin"/>
              <a:buNone/>
            </a:pPr>
            <a:r>
              <a:t/>
            </a:r>
            <a:endParaRPr sz="1200">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FF"/>
                </a:solidFill>
                <a:latin typeface="Courier"/>
                <a:ea typeface="Courier"/>
                <a:cs typeface="Courier"/>
                <a:sym typeface="Courier"/>
              </a:rPr>
              <a:t>bigcount = None</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FF"/>
                </a:solidFill>
                <a:latin typeface="Courier"/>
                <a:ea typeface="Courier"/>
                <a:cs typeface="Courier"/>
                <a:sym typeface="Courier"/>
              </a:rPr>
              <a:t>bigword = None</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FF"/>
                </a:solidFill>
                <a:latin typeface="Courier"/>
                <a:ea typeface="Courier"/>
                <a:cs typeface="Courier"/>
                <a:sym typeface="Courier"/>
              </a:rPr>
              <a:t>for word,count in counts.items():</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FF"/>
                </a:solidFill>
                <a:latin typeface="Courier"/>
                <a:ea typeface="Courier"/>
                <a:cs typeface="Courier"/>
                <a:sym typeface="Courier"/>
              </a:rPr>
              <a:t>    if bigcount is None or count &gt; bigcount:</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FF"/>
                </a:solidFill>
                <a:latin typeface="Courier"/>
                <a:ea typeface="Courier"/>
                <a:cs typeface="Courier"/>
                <a:sym typeface="Courier"/>
              </a:rPr>
              <a:t>        bigword = word</a:t>
            </a: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00FFFF"/>
                </a:solidFill>
                <a:latin typeface="Courier"/>
                <a:ea typeface="Courier"/>
                <a:cs typeface="Courier"/>
                <a:sym typeface="Courier"/>
              </a:rPr>
              <a:t>        bigcount = count</a:t>
            </a:r>
            <a:endParaRPr/>
          </a:p>
          <a:p>
            <a:pPr indent="0" lvl="0" marL="0" marR="0" rtl="0" algn="l">
              <a:lnSpc>
                <a:spcPct val="100000"/>
              </a:lnSpc>
              <a:spcBef>
                <a:spcPts val="0"/>
              </a:spcBef>
              <a:spcAft>
                <a:spcPts val="0"/>
              </a:spcAft>
              <a:buClr>
                <a:srgbClr val="00FF00"/>
              </a:buClr>
              <a:buSzPts val="1200"/>
              <a:buFont typeface="Cabin"/>
              <a:buNone/>
            </a:pPr>
            <a:r>
              <a:t/>
            </a:r>
            <a:endParaRPr sz="1200">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rPr i="0" lang="en-US" sz="1200" u="none" cap="none" strike="noStrike">
                <a:solidFill>
                  <a:srgbClr val="FF7F00"/>
                </a:solidFill>
                <a:latin typeface="Courier"/>
                <a:ea typeface="Courier"/>
                <a:cs typeface="Courier"/>
                <a:sym typeface="Courier"/>
              </a:rPr>
              <a:t>print(bigword, bigcount)</a:t>
            </a: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300"/>
              <a:buFont typeface="Cabin"/>
              <a:buNone/>
            </a:pPr>
            <a:r>
              <a:t/>
            </a:r>
            <a:endParaRPr i="0" sz="1200" u="none" cap="none" strike="noStrike">
              <a:solidFill>
                <a:srgbClr val="FF00FF"/>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137" name="Google Shape;137;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143" name="Google Shape;143;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en" type="obj">
  <p:cSld name="OBJECT">
    <p:spTree>
      <p:nvGrpSpPr>
        <p:cNvPr id="10" name="Shape 10"/>
        <p:cNvGrpSpPr/>
        <p:nvPr/>
      </p:nvGrpSpPr>
      <p:grpSpPr>
        <a:xfrm>
          <a:off x="0" y="0"/>
          <a:ext cx="0" cy="0"/>
          <a:chOff x="0" y="0"/>
          <a:chExt cx="0" cy="0"/>
        </a:xfrm>
      </p:grpSpPr>
      <p:sp>
        <p:nvSpPr>
          <p:cNvPr id="11" name="Google Shape;11;p18"/>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 name="Google Shape;12;p18"/>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rgbClr val="000000"/>
              </a:buClr>
              <a:buSzPts val="14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sp>
        <p:nvSpPr>
          <p:cNvPr id="14" name="Google Shape;14;p19"/>
          <p:cNvSpPr txBox="1"/>
          <p:nvPr>
            <p:ph type="title"/>
          </p:nvPr>
        </p:nvSpPr>
        <p:spPr>
          <a:xfrm>
            <a:off x="1155700" y="789709"/>
            <a:ext cx="13931900" cy="175029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 name="Google Shape;15;p19"/>
          <p:cNvSpPr txBox="1"/>
          <p:nvPr>
            <p:ph idx="1" type="body"/>
          </p:nvPr>
        </p:nvSpPr>
        <p:spPr>
          <a:xfrm>
            <a:off x="1155700" y="2603500"/>
            <a:ext cx="13931900" cy="5702299"/>
          </a:xfrm>
          <a:prstGeom prst="rect">
            <a:avLst/>
          </a:prstGeom>
          <a:noFill/>
          <a:ln>
            <a:noFill/>
          </a:ln>
        </p:spPr>
        <p:txBody>
          <a:bodyPr anchorCtr="0" anchor="t" bIns="91425" lIns="91425" spcFirstLastPara="1" rIns="91425" wrap="square" tIns="91425">
            <a:noAutofit/>
          </a:bodyPr>
          <a:lstStyle>
            <a:lvl1pPr indent="-431800" lvl="0" marL="457200" algn="l">
              <a:lnSpc>
                <a:spcPct val="100000"/>
              </a:lnSpc>
              <a:spcBef>
                <a:spcPts val="3500"/>
              </a:spcBef>
              <a:spcAft>
                <a:spcPts val="0"/>
              </a:spcAft>
              <a:buClr>
                <a:schemeClr val="lt1"/>
              </a:buClr>
              <a:buSzPts val="3200"/>
              <a:buFont typeface="Cabin"/>
              <a:buChar char="•"/>
              <a:defRPr sz="3200"/>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21"/>
          <p:cNvSpPr txBox="1"/>
          <p:nvPr>
            <p:ph type="title"/>
          </p:nvPr>
        </p:nvSpPr>
        <p:spPr>
          <a:xfrm>
            <a:off x="1155700" y="789709"/>
            <a:ext cx="13931900" cy="175029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7"/>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7"/>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17"/>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Python Dictionaries</a:t>
            </a:r>
            <a:endParaRPr/>
          </a:p>
        </p:txBody>
      </p:sp>
      <p:sp>
        <p:nvSpPr>
          <p:cNvPr id="24" name="Google Shape;24;p1"/>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9</a:t>
            </a:r>
            <a:endParaRPr/>
          </a:p>
        </p:txBody>
      </p:sp>
      <p:sp>
        <p:nvSpPr>
          <p:cNvPr id="25" name="Google Shape;25;p1"/>
          <p:cNvSpPr txBox="1"/>
          <p:nvPr/>
        </p:nvSpPr>
        <p:spPr>
          <a:xfrm>
            <a:off x="3206300" y="6831007"/>
            <a:ext cx="9637199"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www.py4e.com</a:t>
            </a:r>
            <a:endParaRPr b="0" i="0" sz="3200" u="none" cap="none" strike="noStrike">
              <a:solidFill>
                <a:srgbClr val="FFFF00"/>
              </a:solidFill>
              <a:latin typeface="Arial"/>
              <a:ea typeface="Arial"/>
              <a:cs typeface="Arial"/>
              <a:sym typeface="Arial"/>
            </a:endParaRPr>
          </a:p>
        </p:txBody>
      </p:sp>
      <p:pic>
        <p:nvPicPr>
          <p:cNvPr id="26" name="Google Shape;26;p1"/>
          <p:cNvPicPr preferRelativeResize="0"/>
          <p:nvPr/>
        </p:nvPicPr>
        <p:blipFill rotWithShape="1">
          <a:blip r:embed="rId3">
            <a:alphaModFix/>
          </a:blip>
          <a:srcRect b="0" l="0" r="0" t="0"/>
          <a:stretch/>
        </p:blipFill>
        <p:spPr>
          <a:xfrm>
            <a:off x="13130213" y="7189782"/>
            <a:ext cx="1968500" cy="668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1155700" y="207820"/>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650"/>
              <a:buFont typeface="Cabin"/>
              <a:buNone/>
            </a:pPr>
            <a:r>
              <a:rPr lang="en-US" sz="6600" u="none" cap="none" strike="noStrike">
                <a:solidFill>
                  <a:srgbClr val="FFD966"/>
                </a:solidFill>
                <a:latin typeface="Arial"/>
                <a:ea typeface="Arial"/>
                <a:cs typeface="Arial"/>
                <a:sym typeface="Arial"/>
              </a:rPr>
              <a:t>Dictionaries</a:t>
            </a:r>
            <a:endParaRPr sz="6600" u="none" cap="none" strike="noStrike">
              <a:solidFill>
                <a:srgbClr val="FFD966"/>
              </a:solidFill>
              <a:latin typeface="Arial"/>
              <a:ea typeface="Arial"/>
              <a:cs typeface="Arial"/>
              <a:sym typeface="Arial"/>
            </a:endParaRPr>
          </a:p>
        </p:txBody>
      </p:sp>
      <p:sp>
        <p:nvSpPr>
          <p:cNvPr id="32" name="Google Shape;32;p2"/>
          <p:cNvSpPr txBox="1"/>
          <p:nvPr>
            <p:ph idx="1" type="body"/>
          </p:nvPr>
        </p:nvSpPr>
        <p:spPr>
          <a:xfrm>
            <a:off x="1155700" y="1883067"/>
            <a:ext cx="13931900" cy="1765300"/>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rgbClr val="FF00FF"/>
              </a:buClr>
              <a:buSzPts val="6156"/>
              <a:buNone/>
            </a:pPr>
            <a:r>
              <a:rPr lang="en-US" sz="3600" u="none" cap="none" strike="noStrike">
                <a:solidFill>
                  <a:srgbClr val="FF00FF"/>
                </a:solidFill>
                <a:latin typeface="Arial"/>
                <a:ea typeface="Arial"/>
                <a:cs typeface="Arial"/>
                <a:sym typeface="Arial"/>
              </a:rPr>
              <a:t>Dictionaries</a:t>
            </a:r>
            <a:r>
              <a:rPr lang="en-US" sz="3600" u="none" cap="none" strike="noStrike">
                <a:solidFill>
                  <a:schemeClr val="lt1"/>
                </a:solidFill>
                <a:latin typeface="Arial"/>
                <a:ea typeface="Arial"/>
                <a:cs typeface="Arial"/>
                <a:sym typeface="Arial"/>
              </a:rPr>
              <a:t> are like </a:t>
            </a:r>
            <a:r>
              <a:rPr lang="en-US" sz="3600">
                <a:solidFill>
                  <a:srgbClr val="00FF00"/>
                </a:solidFill>
                <a:latin typeface="Arial"/>
                <a:ea typeface="Arial"/>
                <a:cs typeface="Arial"/>
                <a:sym typeface="Arial"/>
              </a:rPr>
              <a:t>l</a:t>
            </a:r>
            <a:r>
              <a:rPr lang="en-US" sz="3600" u="none" cap="none" strike="noStrike">
                <a:solidFill>
                  <a:srgbClr val="00FF00"/>
                </a:solidFill>
                <a:latin typeface="Arial"/>
                <a:ea typeface="Arial"/>
                <a:cs typeface="Arial"/>
                <a:sym typeface="Arial"/>
              </a:rPr>
              <a:t>ists</a:t>
            </a:r>
            <a:r>
              <a:rPr lang="en-US" sz="3600" u="none" cap="none" strike="noStrike">
                <a:solidFill>
                  <a:schemeClr val="lt1"/>
                </a:solidFill>
                <a:latin typeface="Arial"/>
                <a:ea typeface="Arial"/>
                <a:cs typeface="Arial"/>
                <a:sym typeface="Arial"/>
              </a:rPr>
              <a:t> except that they use </a:t>
            </a:r>
            <a:r>
              <a:rPr lang="en-US" sz="3600" u="none" cap="none" strike="noStrike">
                <a:solidFill>
                  <a:srgbClr val="FF7F00"/>
                </a:solidFill>
                <a:latin typeface="Arial"/>
                <a:ea typeface="Arial"/>
                <a:cs typeface="Arial"/>
                <a:sym typeface="Arial"/>
              </a:rPr>
              <a:t>keys</a:t>
            </a:r>
            <a:r>
              <a:rPr lang="en-US" sz="3600" u="none" cap="none" strike="noStrike">
                <a:solidFill>
                  <a:schemeClr val="lt1"/>
                </a:solidFill>
                <a:latin typeface="Arial"/>
                <a:ea typeface="Arial"/>
                <a:cs typeface="Arial"/>
                <a:sym typeface="Arial"/>
              </a:rPr>
              <a:t> instead of </a:t>
            </a:r>
            <a:r>
              <a:rPr lang="en-US" sz="3600" u="none" cap="none" strike="noStrike">
                <a:solidFill>
                  <a:srgbClr val="FFFFFF"/>
                </a:solidFill>
                <a:latin typeface="Arial"/>
                <a:ea typeface="Arial"/>
                <a:cs typeface="Arial"/>
                <a:sym typeface="Arial"/>
              </a:rPr>
              <a:t>numbers</a:t>
            </a:r>
            <a:r>
              <a:rPr lang="en-US" sz="3600" u="none" cap="none" strike="noStrike">
                <a:solidFill>
                  <a:schemeClr val="lt1"/>
                </a:solidFill>
                <a:latin typeface="Arial"/>
                <a:ea typeface="Arial"/>
                <a:cs typeface="Arial"/>
                <a:sym typeface="Arial"/>
              </a:rPr>
              <a:t> to look up </a:t>
            </a:r>
            <a:r>
              <a:rPr lang="en-US" sz="3600" u="none" cap="none" strike="noStrike">
                <a:solidFill>
                  <a:srgbClr val="FFFF00"/>
                </a:solidFill>
                <a:latin typeface="Arial"/>
                <a:ea typeface="Arial"/>
                <a:cs typeface="Arial"/>
                <a:sym typeface="Arial"/>
              </a:rPr>
              <a:t>values</a:t>
            </a:r>
            <a:endParaRPr/>
          </a:p>
        </p:txBody>
      </p:sp>
      <p:sp>
        <p:nvSpPr>
          <p:cNvPr id="33" name="Google Shape;33;p2"/>
          <p:cNvSpPr txBox="1"/>
          <p:nvPr/>
        </p:nvSpPr>
        <p:spPr>
          <a:xfrm>
            <a:off x="2381250" y="4939270"/>
            <a:ext cx="5059200" cy="35782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lst = </a:t>
            </a:r>
            <a:r>
              <a:rPr b="0" i="0" lang="en-US" sz="3000" u="none" cap="none" strike="noStrike">
                <a:solidFill>
                  <a:srgbClr val="00FFFF"/>
                </a:solidFill>
                <a:latin typeface="Courier"/>
                <a:ea typeface="Courier"/>
                <a:cs typeface="Courier"/>
                <a:sym typeface="Courier"/>
              </a:rPr>
              <a:t>list()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lst.</a:t>
            </a:r>
            <a:r>
              <a:rPr b="0" i="0" lang="en-US" sz="3000" u="none" cap="none" strike="noStrike">
                <a:solidFill>
                  <a:srgbClr val="FF00FF"/>
                </a:solidFill>
                <a:latin typeface="Courier"/>
                <a:ea typeface="Courier"/>
                <a:cs typeface="Courier"/>
                <a:sym typeface="Courier"/>
              </a:rPr>
              <a:t>append</a:t>
            </a:r>
            <a:r>
              <a:rPr b="0" i="0" lang="en-US" sz="3000" u="none" cap="none" strike="noStrike">
                <a:solidFill>
                  <a:srgbClr val="00FF00"/>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21</a:t>
            </a:r>
            <a:r>
              <a:rPr b="0" i="0" lang="en-US" sz="3000" u="none" cap="none" strike="noStrike">
                <a:solidFill>
                  <a:srgbClr val="00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lst.</a:t>
            </a:r>
            <a:r>
              <a:rPr b="0" i="0" lang="en-US" sz="3000" u="none" cap="none" strike="noStrike">
                <a:solidFill>
                  <a:srgbClr val="FF00FF"/>
                </a:solidFill>
                <a:latin typeface="Courier"/>
                <a:ea typeface="Courier"/>
                <a:cs typeface="Courier"/>
                <a:sym typeface="Courier"/>
              </a:rPr>
              <a:t>append</a:t>
            </a:r>
            <a:r>
              <a:rPr b="0" i="0" lang="en-US" sz="3000" u="none" cap="none" strike="noStrike">
                <a:solidFill>
                  <a:srgbClr val="00FF00"/>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183</a:t>
            </a:r>
            <a:r>
              <a:rPr b="0" i="0" lang="en-US" sz="3000" u="none" cap="none" strike="noStrike">
                <a:solidFill>
                  <a:srgbClr val="00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lst</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21, 183</a:t>
            </a:r>
            <a:r>
              <a:rPr b="0" i="0" lang="en-US" sz="3000" u="none" cap="none" strike="noStrike">
                <a:solidFill>
                  <a:srgbClr val="00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lst[</a:t>
            </a:r>
            <a:r>
              <a:rPr b="0" i="0" lang="en-US" sz="3000" u="none" cap="none" strike="noStrike">
                <a:solidFill>
                  <a:srgbClr val="FFFFFF"/>
                </a:solidFill>
                <a:latin typeface="Courier"/>
                <a:ea typeface="Courier"/>
                <a:cs typeface="Courier"/>
                <a:sym typeface="Courier"/>
              </a:rPr>
              <a:t>0</a:t>
            </a:r>
            <a:r>
              <a:rPr b="0" i="0" lang="en-US" sz="3000" u="none" cap="none" strike="noStrike">
                <a:solidFill>
                  <a:srgbClr val="00FF00"/>
                </a:solidFill>
                <a:latin typeface="Courier"/>
                <a:ea typeface="Courier"/>
                <a:cs typeface="Courier"/>
                <a:sym typeface="Courier"/>
              </a:rPr>
              <a:t>] = </a:t>
            </a:r>
            <a:r>
              <a:rPr b="0" i="0" lang="en-US" sz="3000" u="none" cap="none" strike="noStrike">
                <a:solidFill>
                  <a:srgbClr val="FFFF00"/>
                </a:solidFill>
                <a:latin typeface="Courier"/>
                <a:ea typeface="Courier"/>
                <a:cs typeface="Courier"/>
                <a:sym typeface="Courier"/>
              </a:rPr>
              <a:t>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lst</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23, 183</a:t>
            </a:r>
            <a:r>
              <a:rPr b="0" i="0" lang="en-US" sz="3000" u="none" cap="none" strike="noStrike">
                <a:solidFill>
                  <a:srgbClr val="00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p:txBody>
      </p:sp>
      <p:sp>
        <p:nvSpPr>
          <p:cNvPr id="34" name="Google Shape;34;p2"/>
          <p:cNvSpPr txBox="1"/>
          <p:nvPr/>
        </p:nvSpPr>
        <p:spPr>
          <a:xfrm>
            <a:off x="9083675" y="4329828"/>
            <a:ext cx="6492600" cy="4432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ddd =</a:t>
            </a:r>
            <a:r>
              <a:rPr b="0" i="0" lang="en-US" sz="3000" u="none" cap="none" strike="noStrike">
                <a:solidFill>
                  <a:srgbClr val="0000FF"/>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dict()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ddd[</a:t>
            </a:r>
            <a:r>
              <a:rPr b="0" i="0" lang="en-US" sz="3000" u="none" cap="none" strike="noStrike">
                <a:solidFill>
                  <a:srgbClr val="FF7F00"/>
                </a:solidFill>
                <a:latin typeface="Courier"/>
                <a:ea typeface="Courier"/>
                <a:cs typeface="Courier"/>
                <a:sym typeface="Courier"/>
              </a:rPr>
              <a:t>'age'</a:t>
            </a:r>
            <a:r>
              <a:rPr b="0" i="0" lang="en-US" sz="3000" u="none" cap="none" strike="noStrike">
                <a:solidFill>
                  <a:srgbClr val="FF00FF"/>
                </a:solidFill>
                <a:latin typeface="Courier"/>
                <a:ea typeface="Courier"/>
                <a:cs typeface="Courier"/>
                <a:sym typeface="Courier"/>
              </a:rPr>
              <a:t>] = </a:t>
            </a:r>
            <a:r>
              <a:rPr b="0" i="0" lang="en-US" sz="3000" u="none" cap="none" strike="noStrike">
                <a:solidFill>
                  <a:srgbClr val="FFFF00"/>
                </a:solidFill>
                <a:latin typeface="Courier"/>
                <a:ea typeface="Courier"/>
                <a:cs typeface="Courier"/>
                <a:sym typeface="Courier"/>
              </a:rPr>
              <a:t>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ddd[</a:t>
            </a:r>
            <a:r>
              <a:rPr b="0" i="0" lang="en-US" sz="3000" u="none" cap="none" strike="noStrike">
                <a:solidFill>
                  <a:srgbClr val="FF7F00"/>
                </a:solidFill>
                <a:latin typeface="Courier"/>
                <a:ea typeface="Courier"/>
                <a:cs typeface="Courier"/>
                <a:sym typeface="Courier"/>
              </a:rPr>
              <a:t>'course'</a:t>
            </a:r>
            <a:r>
              <a:rPr b="0" i="0" lang="en-US" sz="3000" u="none" cap="none" strike="noStrike">
                <a:solidFill>
                  <a:srgbClr val="FF00FF"/>
                </a:solidFill>
                <a:latin typeface="Courier"/>
                <a:ea typeface="Courier"/>
                <a:cs typeface="Courier"/>
                <a:sym typeface="Courier"/>
              </a:rPr>
              <a:t>] = </a:t>
            </a:r>
            <a:r>
              <a:rPr b="0" i="0" lang="en-US" sz="3000" u="none" cap="none" strike="noStrike">
                <a:solidFill>
                  <a:srgbClr val="FFFF00"/>
                </a:solidFill>
                <a:latin typeface="Courier"/>
                <a:ea typeface="Courier"/>
                <a:cs typeface="Courier"/>
                <a:sym typeface="Courier"/>
              </a:rPr>
              <a:t>182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ddd</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'course'</a:t>
            </a:r>
            <a:r>
              <a:rPr b="0" i="0" lang="en-US" sz="3000" u="none" cap="none" strike="noStrike">
                <a:solidFill>
                  <a:srgbClr val="FF00FF"/>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182</a:t>
            </a:r>
            <a:r>
              <a:rPr b="0" i="0" lang="en-US" sz="3000" u="none" cap="none" strike="noStrike">
                <a:solidFill>
                  <a:srgbClr val="FF00FF"/>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'age'</a:t>
            </a:r>
            <a:r>
              <a:rPr b="0" i="0" lang="en-US" sz="3000" u="none" cap="none" strike="noStrike">
                <a:solidFill>
                  <a:srgbClr val="FF00FF"/>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21</a:t>
            </a:r>
            <a:r>
              <a:rPr b="0" i="0" lang="en-US" sz="3000" u="none" cap="none" strike="noStrike">
                <a:solidFill>
                  <a:srgbClr val="FF00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ddd[</a:t>
            </a:r>
            <a:r>
              <a:rPr b="0" i="0" lang="en-US" sz="3000" u="none" cap="none" strike="noStrike">
                <a:solidFill>
                  <a:srgbClr val="FF7F00"/>
                </a:solidFill>
                <a:latin typeface="Courier"/>
                <a:ea typeface="Courier"/>
                <a:cs typeface="Courier"/>
                <a:sym typeface="Courier"/>
              </a:rPr>
              <a:t>'age'</a:t>
            </a:r>
            <a:r>
              <a:rPr b="0" i="0" lang="en-US" sz="3000" u="none" cap="none" strike="noStrike">
                <a:solidFill>
                  <a:srgbClr val="FF00FF"/>
                </a:solidFill>
                <a:latin typeface="Courier"/>
                <a:ea typeface="Courier"/>
                <a:cs typeface="Courier"/>
                <a:sym typeface="Courier"/>
              </a:rPr>
              <a:t>] = 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ddd</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'course'</a:t>
            </a:r>
            <a:r>
              <a:rPr b="0" i="0" lang="en-US" sz="3000" u="none" cap="none" strike="noStrike">
                <a:solidFill>
                  <a:srgbClr val="FF00FF"/>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182</a:t>
            </a:r>
            <a:r>
              <a:rPr b="0" i="0" lang="en-US" sz="3000" u="none" cap="none" strike="noStrike">
                <a:solidFill>
                  <a:srgbClr val="FF00FF"/>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'age'</a:t>
            </a:r>
            <a:r>
              <a:rPr b="0" i="0" lang="en-US" sz="3000" u="none" cap="none" strike="noStrike">
                <a:solidFill>
                  <a:srgbClr val="FF00FF"/>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23</a:t>
            </a:r>
            <a:r>
              <a:rPr b="0" i="0" lang="en-US" sz="3000" u="none" cap="none" strike="noStrike">
                <a:solidFill>
                  <a:srgbClr val="FF00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p:txBody>
      </p:sp>
      <p:sp>
        <p:nvSpPr>
          <p:cNvPr id="35" name="Google Shape;35;p2"/>
          <p:cNvSpPr txBox="1"/>
          <p:nvPr/>
        </p:nvSpPr>
        <p:spPr>
          <a:xfrm>
            <a:off x="2164751" y="3665169"/>
            <a:ext cx="3764994" cy="1163265"/>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rgbClr val="FF00FF"/>
              </a:buClr>
              <a:buSzPts val="6156"/>
              <a:buFont typeface="Cabin"/>
              <a:buNone/>
            </a:pPr>
            <a:r>
              <a:rPr b="0" i="0" lang="en-US" sz="3600" u="none" cap="none" strike="noStrike">
                <a:solidFill>
                  <a:srgbClr val="00FF00"/>
                </a:solidFill>
                <a:latin typeface="Arial"/>
                <a:ea typeface="Arial"/>
                <a:cs typeface="Arial"/>
                <a:sym typeface="Arial"/>
              </a:rPr>
              <a:t>How lists work?</a:t>
            </a:r>
            <a:endParaRPr b="0" i="0" sz="3600" u="none" cap="none" strike="noStrike">
              <a:solidFill>
                <a:srgbClr val="FFFF00"/>
              </a:solidFill>
              <a:latin typeface="Arial"/>
              <a:ea typeface="Arial"/>
              <a:cs typeface="Arial"/>
              <a:sym typeface="Arial"/>
            </a:endParaRPr>
          </a:p>
        </p:txBody>
      </p:sp>
      <p:sp>
        <p:nvSpPr>
          <p:cNvPr id="36" name="Google Shape;36;p2"/>
          <p:cNvSpPr txBox="1"/>
          <p:nvPr/>
        </p:nvSpPr>
        <p:spPr>
          <a:xfrm>
            <a:off x="8803409" y="3595897"/>
            <a:ext cx="6772866" cy="1010865"/>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rgbClr val="FF00FF"/>
              </a:buClr>
              <a:buSzPts val="6156"/>
              <a:buFont typeface="Cabin"/>
              <a:buNone/>
            </a:pPr>
            <a:r>
              <a:rPr b="0" i="0" lang="en-US" sz="3600" u="none" cap="none" strike="noStrike">
                <a:solidFill>
                  <a:srgbClr val="FF00FF"/>
                </a:solidFill>
                <a:latin typeface="Arial"/>
                <a:ea typeface="Arial"/>
                <a:cs typeface="Arial"/>
                <a:sym typeface="Arial"/>
              </a:rPr>
              <a:t>How dictionaries work?</a:t>
            </a:r>
            <a:endParaRPr b="0" i="0" sz="3600" u="none" cap="none" strike="noStrike">
              <a:solidFill>
                <a:srgbClr val="FFFF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3"/>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a:solidFill>
                  <a:srgbClr val="FFD966"/>
                </a:solidFill>
                <a:latin typeface="Arial"/>
                <a:ea typeface="Arial"/>
                <a:cs typeface="Arial"/>
                <a:sym typeface="Arial"/>
              </a:rPr>
              <a:t>len() function on Dictionaries</a:t>
            </a:r>
            <a:endParaRPr sz="7600" u="none" cap="none" strike="noStrike">
              <a:solidFill>
                <a:srgbClr val="FFD966"/>
              </a:solidFill>
              <a:latin typeface="Arial"/>
              <a:ea typeface="Arial"/>
              <a:cs typeface="Arial"/>
              <a:sym typeface="Arial"/>
            </a:endParaRPr>
          </a:p>
        </p:txBody>
      </p:sp>
      <p:sp>
        <p:nvSpPr>
          <p:cNvPr id="42" name="Google Shape;42;p3"/>
          <p:cNvSpPr txBox="1"/>
          <p:nvPr/>
        </p:nvSpPr>
        <p:spPr>
          <a:xfrm>
            <a:off x="891326" y="3047998"/>
            <a:ext cx="8612891" cy="58466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jjj = { '</a:t>
            </a:r>
            <a:r>
              <a:rPr b="0" i="0" lang="en-US" sz="3000" u="none" cap="none" strike="noStrike">
                <a:solidFill>
                  <a:srgbClr val="00FF00"/>
                </a:solidFill>
                <a:latin typeface="Courier"/>
                <a:ea typeface="Courier"/>
                <a:cs typeface="Courier"/>
                <a:sym typeface="Courier"/>
              </a:rPr>
              <a:t>chuck</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1</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fred</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42</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jan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100</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jjj</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jan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100</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chuck</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1</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fred</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42</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jjj</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3</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ooo = </a:t>
            </a:r>
            <a:r>
              <a:rPr b="0" i="0" lang="en-US" sz="3000" u="none" cap="none" strike="noStrike">
                <a:solidFill>
                  <a:srgbClr val="FF7F00"/>
                </a:solidFill>
                <a:latin typeface="Courier"/>
                <a:ea typeface="Courier"/>
                <a:cs typeface="Courier"/>
                <a:sym typeface="Courier"/>
              </a:rPr>
              <a:t>{</a:t>
            </a:r>
            <a:r>
              <a:rPr b="0" i="0" lang="en-US" sz="3000" u="none" cap="none" strike="noStrike">
                <a:solidFill>
                  <a:srgbClr val="0000FF"/>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ooo</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7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ooo</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0</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4"/>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a:solidFill>
                  <a:srgbClr val="FFD966"/>
                </a:solidFill>
                <a:latin typeface="Arial"/>
                <a:ea typeface="Arial"/>
                <a:cs typeface="Arial"/>
                <a:sym typeface="Arial"/>
              </a:rPr>
              <a:t> in operator on Dictionaries</a:t>
            </a:r>
            <a:endParaRPr sz="7600" u="none" cap="none" strike="noStrike">
              <a:solidFill>
                <a:srgbClr val="FFD966"/>
              </a:solidFill>
              <a:latin typeface="Arial"/>
              <a:ea typeface="Arial"/>
              <a:cs typeface="Arial"/>
              <a:sym typeface="Arial"/>
            </a:endParaRPr>
          </a:p>
        </p:txBody>
      </p:sp>
      <p:sp>
        <p:nvSpPr>
          <p:cNvPr id="48" name="Google Shape;48;p4"/>
          <p:cNvSpPr txBox="1"/>
          <p:nvPr/>
        </p:nvSpPr>
        <p:spPr>
          <a:xfrm>
            <a:off x="932891" y="2050472"/>
            <a:ext cx="12755400" cy="58466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jjj = { '</a:t>
            </a:r>
            <a:r>
              <a:rPr b="0" i="0" lang="en-US" sz="3000" u="none" cap="none" strike="noStrike">
                <a:solidFill>
                  <a:srgbClr val="00FF00"/>
                </a:solidFill>
                <a:latin typeface="Courier"/>
                <a:ea typeface="Courier"/>
                <a:cs typeface="Courier"/>
                <a:sym typeface="Courier"/>
              </a:rPr>
              <a:t>chuck</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1</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fred</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42</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jan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100</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jjj</a:t>
            </a:r>
            <a:r>
              <a:rPr b="0" i="0" lang="en-US" sz="30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jan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100</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chuck</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1</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fred</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42</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chuck</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 </a:t>
            </a:r>
            <a:r>
              <a:rPr b="0" i="0" lang="en-US" sz="3000" u="none" cap="none" strike="noStrike">
                <a:solidFill>
                  <a:schemeClr val="lt1"/>
                </a:solidFill>
                <a:latin typeface="Courier"/>
                <a:ea typeface="Courier"/>
                <a:cs typeface="Courier"/>
                <a:sym typeface="Courier"/>
              </a:rPr>
              <a:t>jjj</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True</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albert</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 </a:t>
            </a:r>
            <a:r>
              <a:rPr b="0" i="0" lang="en-US" sz="3000" u="none" cap="none" strike="noStrike">
                <a:solidFill>
                  <a:schemeClr val="lt1"/>
                </a:solidFill>
                <a:latin typeface="Courier"/>
                <a:ea typeface="Courier"/>
                <a:cs typeface="Courier"/>
                <a:sym typeface="Courier"/>
              </a:rPr>
              <a:t>jjj</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False</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vals = </a:t>
            </a:r>
            <a:r>
              <a:rPr b="0" i="0" lang="en-US" sz="3000" u="none" cap="none" strike="noStrike">
                <a:solidFill>
                  <a:srgbClr val="FFFF00"/>
                </a:solidFill>
                <a:latin typeface="Courier"/>
                <a:ea typeface="Courier"/>
                <a:cs typeface="Courier"/>
                <a:sym typeface="Courier"/>
              </a:rPr>
              <a:t>list(</a:t>
            </a:r>
            <a:r>
              <a:rPr b="0" i="0" lang="en-US" sz="3000" u="none" cap="none" strike="noStrike">
                <a:solidFill>
                  <a:schemeClr val="lt1"/>
                </a:solidFill>
                <a:latin typeface="Courier"/>
                <a:ea typeface="Courier"/>
                <a:cs typeface="Courier"/>
                <a:sym typeface="Courier"/>
              </a:rPr>
              <a:t>jjj.</a:t>
            </a:r>
            <a:r>
              <a:rPr b="0" i="0" lang="en-US" sz="3000" u="none" cap="none" strike="noStrike">
                <a:solidFill>
                  <a:srgbClr val="FFFF00"/>
                </a:solidFill>
                <a:latin typeface="Courier"/>
                <a:ea typeface="Courier"/>
                <a:cs typeface="Courier"/>
                <a:sym typeface="Courier"/>
              </a:rPr>
              <a:t>values())</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00FF"/>
                </a:solidFill>
                <a:latin typeface="Courier"/>
                <a:ea typeface="Courier"/>
                <a:cs typeface="Courier"/>
                <a:sym typeface="Courier"/>
              </a:rPr>
              <a:t>100</a:t>
            </a:r>
            <a:r>
              <a:rPr b="0" i="0" lang="en-US" sz="3000" u="none" cap="none" strike="noStrike">
                <a:solidFill>
                  <a:schemeClr val="lt1"/>
                </a:solidFill>
                <a:latin typeface="Courier"/>
                <a:ea typeface="Courier"/>
                <a:cs typeface="Courier"/>
                <a:sym typeface="Courier"/>
              </a:rPr>
              <a:t> in vals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True</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5"/>
          <p:cNvSpPr txBox="1"/>
          <p:nvPr>
            <p:ph type="title"/>
          </p:nvPr>
        </p:nvSpPr>
        <p:spPr>
          <a:xfrm>
            <a:off x="1155700" y="789709"/>
            <a:ext cx="13655818"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a:solidFill>
                  <a:srgbClr val="FFD966"/>
                </a:solidFill>
                <a:latin typeface="Arial"/>
                <a:ea typeface="Arial"/>
                <a:cs typeface="Arial"/>
                <a:sym typeface="Arial"/>
              </a:rPr>
              <a:t>Counting </a:t>
            </a:r>
            <a:r>
              <a:rPr lang="en-US" sz="7600" u="none" cap="none" strike="noStrike">
                <a:solidFill>
                  <a:srgbClr val="FFD966"/>
                </a:solidFill>
                <a:latin typeface="Arial"/>
                <a:ea typeface="Arial"/>
                <a:cs typeface="Arial"/>
                <a:sym typeface="Arial"/>
              </a:rPr>
              <a:t>using a Dictionary</a:t>
            </a:r>
            <a:endParaRPr sz="7600" u="none" cap="none" strike="noStrike">
              <a:solidFill>
                <a:srgbClr val="FFD966"/>
              </a:solidFill>
              <a:latin typeface="Arial"/>
              <a:ea typeface="Arial"/>
              <a:cs typeface="Arial"/>
              <a:sym typeface="Arial"/>
            </a:endParaRPr>
          </a:p>
        </p:txBody>
      </p:sp>
      <p:sp>
        <p:nvSpPr>
          <p:cNvPr id="54" name="Google Shape;54;p5"/>
          <p:cNvSpPr txBox="1"/>
          <p:nvPr>
            <p:ph idx="1" type="body"/>
          </p:nvPr>
        </p:nvSpPr>
        <p:spPr>
          <a:xfrm>
            <a:off x="1533281" y="2587076"/>
            <a:ext cx="13089396" cy="158265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200"/>
              <a:buNone/>
            </a:pPr>
            <a:r>
              <a:rPr lang="en-US" u="none" cap="none" strike="noStrike">
                <a:solidFill>
                  <a:schemeClr val="lt1"/>
                </a:solidFill>
                <a:latin typeface="Arial"/>
                <a:ea typeface="Arial"/>
                <a:cs typeface="Arial"/>
                <a:sym typeface="Arial"/>
              </a:rPr>
              <a:t>When we encounter a new name, we need to add a new entry in the </a:t>
            </a:r>
            <a:r>
              <a:rPr lang="en-US" u="none" cap="none" strike="noStrike">
                <a:solidFill>
                  <a:srgbClr val="FF00FF"/>
                </a:solidFill>
                <a:latin typeface="Arial"/>
                <a:ea typeface="Arial"/>
                <a:cs typeface="Arial"/>
                <a:sym typeface="Arial"/>
              </a:rPr>
              <a:t>dictionary</a:t>
            </a:r>
            <a:r>
              <a:rPr lang="en-US" u="none" cap="none" strike="noStrike">
                <a:solidFill>
                  <a:schemeClr val="lt1"/>
                </a:solidFill>
                <a:latin typeface="Arial"/>
                <a:ea typeface="Arial"/>
                <a:cs typeface="Arial"/>
                <a:sym typeface="Arial"/>
              </a:rPr>
              <a:t> and if this the second or later time we have seen the </a:t>
            </a:r>
            <a:r>
              <a:rPr lang="en-US" u="none" cap="none" strike="noStrike">
                <a:solidFill>
                  <a:srgbClr val="00FF00"/>
                </a:solidFill>
                <a:latin typeface="Arial"/>
                <a:ea typeface="Arial"/>
                <a:cs typeface="Arial"/>
                <a:sym typeface="Arial"/>
              </a:rPr>
              <a:t>name</a:t>
            </a:r>
            <a:r>
              <a:rPr lang="en-US" u="none" cap="none" strike="noStrike">
                <a:solidFill>
                  <a:schemeClr val="lt1"/>
                </a:solidFill>
                <a:latin typeface="Arial"/>
                <a:ea typeface="Arial"/>
                <a:cs typeface="Arial"/>
                <a:sym typeface="Arial"/>
              </a:rPr>
              <a:t>, we simply add one to the count in the </a:t>
            </a:r>
            <a:r>
              <a:rPr lang="en-US" u="none" cap="none" strike="noStrike">
                <a:solidFill>
                  <a:srgbClr val="FF00FF"/>
                </a:solidFill>
                <a:latin typeface="Arial"/>
                <a:ea typeface="Arial"/>
                <a:cs typeface="Arial"/>
                <a:sym typeface="Arial"/>
              </a:rPr>
              <a:t>dictionary</a:t>
            </a:r>
            <a:r>
              <a:rPr lang="en-US" u="none" cap="none" strike="noStrike">
                <a:solidFill>
                  <a:schemeClr val="lt1"/>
                </a:solidFill>
                <a:latin typeface="Arial"/>
                <a:ea typeface="Arial"/>
                <a:cs typeface="Arial"/>
                <a:sym typeface="Arial"/>
              </a:rPr>
              <a:t> under that </a:t>
            </a:r>
            <a:r>
              <a:rPr lang="en-US" u="none" cap="none" strike="noStrike">
                <a:solidFill>
                  <a:srgbClr val="00FF00"/>
                </a:solidFill>
                <a:latin typeface="Arial"/>
                <a:ea typeface="Arial"/>
                <a:cs typeface="Arial"/>
                <a:sym typeface="Arial"/>
              </a:rPr>
              <a:t>name</a:t>
            </a:r>
            <a:endParaRPr/>
          </a:p>
        </p:txBody>
      </p:sp>
      <p:sp>
        <p:nvSpPr>
          <p:cNvPr id="55" name="Google Shape;55;p5"/>
          <p:cNvSpPr txBox="1"/>
          <p:nvPr/>
        </p:nvSpPr>
        <p:spPr>
          <a:xfrm>
            <a:off x="1443662" y="4478400"/>
            <a:ext cx="13871738" cy="34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50"/>
              <a:buFont typeface="Courier New"/>
              <a:buNone/>
            </a:pPr>
            <a:r>
              <a:rPr b="0" i="0" lang="en-US" sz="2600" u="none" cap="none" strike="noStrike">
                <a:solidFill>
                  <a:srgbClr val="00FF00"/>
                </a:solidFill>
                <a:latin typeface="Courier"/>
                <a:ea typeface="Courier"/>
                <a:cs typeface="Courier"/>
                <a:sym typeface="Courier"/>
              </a:rPr>
              <a:t>counts</a:t>
            </a:r>
            <a:r>
              <a:rPr b="0" i="0" lang="en-US" sz="2600" u="none" cap="none" strike="noStrike">
                <a:solidFill>
                  <a:schemeClr val="lt1"/>
                </a:solidFill>
                <a:latin typeface="Courier"/>
                <a:ea typeface="Courier"/>
                <a:cs typeface="Courier"/>
                <a:sym typeface="Courier"/>
              </a:rPr>
              <a:t> = </a:t>
            </a:r>
            <a:r>
              <a:rPr b="0" i="0" lang="en-US" sz="2600" u="none" cap="none" strike="noStrike">
                <a:solidFill>
                  <a:srgbClr val="FF00FF"/>
                </a:solidFill>
                <a:latin typeface="Courier"/>
                <a:ea typeface="Courier"/>
                <a:cs typeface="Courier"/>
                <a:sym typeface="Courier"/>
              </a:rPr>
              <a:t>dict</a:t>
            </a:r>
            <a:r>
              <a:rPr b="0" i="0" lang="en-US" sz="2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ourier"/>
              <a:buNone/>
            </a:pPr>
            <a:r>
              <a:rPr b="0" i="0" lang="en-US" sz="2600" u="none" cap="none" strike="noStrike">
                <a:solidFill>
                  <a:srgbClr val="00FF00"/>
                </a:solidFill>
                <a:latin typeface="Courier"/>
                <a:ea typeface="Courier"/>
                <a:cs typeface="Courier"/>
                <a:sym typeface="Courier"/>
              </a:rPr>
              <a:t>names</a:t>
            </a:r>
            <a:r>
              <a:rPr b="0" i="0" lang="en-US" sz="2600" u="none" cap="none" strike="noStrike">
                <a:solidFill>
                  <a:schemeClr val="lt1"/>
                </a:solidFill>
                <a:latin typeface="Courier"/>
                <a:ea typeface="Courier"/>
                <a:cs typeface="Courier"/>
                <a:sym typeface="Courier"/>
              </a:rPr>
              <a:t> = ['alice', 'julia', 'robert', 'alice', 'robert']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ourier New"/>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name</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in</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names</a:t>
            </a:r>
            <a:r>
              <a:rPr b="0" i="0" lang="en-US" sz="26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 if </a:t>
            </a:r>
            <a:r>
              <a:rPr b="0" i="0" lang="en-US" sz="2600" u="none" cap="none" strike="noStrike">
                <a:solidFill>
                  <a:srgbClr val="00FF00"/>
                </a:solidFill>
                <a:latin typeface="Courier"/>
                <a:ea typeface="Courier"/>
                <a:cs typeface="Courier"/>
                <a:sym typeface="Courier"/>
              </a:rPr>
              <a:t>name</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in</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counts</a:t>
            </a:r>
            <a:r>
              <a:rPr b="0" i="0" lang="en-US" sz="2600" u="none" cap="none" strike="noStrike">
                <a:solidFill>
                  <a:schemeClr val="lt1"/>
                </a:solidFill>
                <a:latin typeface="Courier"/>
                <a:ea typeface="Courier"/>
                <a:cs typeface="Courier"/>
                <a:sym typeface="Courier"/>
              </a:rPr>
              <a:t>: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counts</a:t>
            </a:r>
            <a:r>
              <a:rPr b="0" i="0" lang="en-US" sz="2600" u="none" cap="none" strike="noStrike">
                <a:solidFill>
                  <a:srgbClr val="00FFFF"/>
                </a:solidFill>
                <a:latin typeface="Courier"/>
                <a:ea typeface="Courier"/>
                <a:cs typeface="Courier"/>
                <a:sym typeface="Courier"/>
              </a:rPr>
              <a:t>[name]</a:t>
            </a:r>
            <a:r>
              <a:rPr b="0" i="0" lang="en-US" sz="2600" u="none" cap="none" strike="noStrike">
                <a:solidFill>
                  <a:schemeClr val="lt1"/>
                </a:solidFill>
                <a:latin typeface="Courier"/>
                <a:ea typeface="Courier"/>
                <a:cs typeface="Courier"/>
                <a:sym typeface="Courier"/>
              </a:rPr>
              <a:t> = </a:t>
            </a:r>
            <a:r>
              <a:rPr b="0" i="0" lang="en-US" sz="2600" u="none" cap="none" strike="noStrike">
                <a:solidFill>
                  <a:srgbClr val="00FF00"/>
                </a:solidFill>
                <a:latin typeface="Courier"/>
                <a:ea typeface="Courier"/>
                <a:cs typeface="Courier"/>
                <a:sym typeface="Courier"/>
              </a:rPr>
              <a:t>counts</a:t>
            </a:r>
            <a:r>
              <a:rPr b="0" i="0" lang="en-US" sz="2600" u="none" cap="none" strike="noStrike">
                <a:solidFill>
                  <a:srgbClr val="00FFFF"/>
                </a:solidFill>
                <a:latin typeface="Courier"/>
                <a:ea typeface="Courier"/>
                <a:cs typeface="Courier"/>
                <a:sym typeface="Courier"/>
              </a:rPr>
              <a:t>[name]</a:t>
            </a:r>
            <a:r>
              <a:rPr b="0" i="0" lang="en-US" sz="2600" u="none" cap="none" strike="noStrike">
                <a:solidFill>
                  <a:schemeClr val="lt1"/>
                </a:solidFill>
                <a:latin typeface="Courier"/>
                <a:ea typeface="Courier"/>
                <a:cs typeface="Courier"/>
                <a:sym typeface="Courier"/>
              </a:rPr>
              <a:t> + 1</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else</a:t>
            </a:r>
            <a:r>
              <a:rPr b="0" i="0" lang="en-US" sz="26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counts</a:t>
            </a:r>
            <a:r>
              <a:rPr b="0" i="0" lang="en-US" sz="2600" u="none" cap="none" strike="noStrike">
                <a:solidFill>
                  <a:srgbClr val="00FFFF"/>
                </a:solidFill>
                <a:latin typeface="Courier"/>
                <a:ea typeface="Courier"/>
                <a:cs typeface="Courier"/>
                <a:sym typeface="Courier"/>
              </a:rPr>
              <a:t>[name]</a:t>
            </a:r>
            <a:r>
              <a:rPr b="0" i="0" lang="en-US" sz="2600" u="none" cap="none" strike="noStrike">
                <a:solidFill>
                  <a:schemeClr val="lt1"/>
                </a:solidFill>
                <a:latin typeface="Courier"/>
                <a:ea typeface="Courier"/>
                <a:cs typeface="Courier"/>
                <a:sym typeface="Courier"/>
              </a:rPr>
              <a:t> = 1</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ourier New"/>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00FF00"/>
                </a:solidFill>
                <a:latin typeface="Courier"/>
                <a:ea typeface="Courier"/>
                <a:cs typeface="Courier"/>
                <a:sym typeface="Courier"/>
              </a:rPr>
              <a:t>counts</a:t>
            </a:r>
            <a:r>
              <a:rPr b="0" i="0" lang="en-US" sz="2600" u="none" cap="none" strike="noStrike">
                <a:solidFill>
                  <a:srgbClr val="FFFF00"/>
                </a:solidFill>
                <a:latin typeface="Courier"/>
                <a:ea typeface="Courier"/>
                <a:cs typeface="Courier"/>
                <a:sym typeface="Courier"/>
              </a:rPr>
              <a:t>)</a:t>
            </a:r>
            <a:endParaRPr b="0" i="0" sz="2600" u="none" cap="none" strike="noStrike">
              <a:solidFill>
                <a:srgbClr val="FFFF00"/>
              </a:solidFill>
              <a:latin typeface="Courier"/>
              <a:ea typeface="Courier"/>
              <a:cs typeface="Courier"/>
              <a:sym typeface="Courier"/>
            </a:endParaRPr>
          </a:p>
        </p:txBody>
      </p:sp>
      <p:sp>
        <p:nvSpPr>
          <p:cNvPr id="56" name="Google Shape;56;p5"/>
          <p:cNvSpPr txBox="1"/>
          <p:nvPr/>
        </p:nvSpPr>
        <p:spPr>
          <a:xfrm>
            <a:off x="554180" y="8178056"/>
            <a:ext cx="6654205" cy="6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a:t>
            </a:r>
            <a:r>
              <a:rPr b="0" i="0" lang="en-US" sz="3200" u="none" cap="none" strike="noStrike">
                <a:solidFill>
                  <a:srgbClr val="00FFFF"/>
                </a:solidFill>
                <a:latin typeface="Arial"/>
                <a:ea typeface="Arial"/>
                <a:cs typeface="Arial"/>
                <a:sym typeface="Arial"/>
              </a:rPr>
              <a:t>’alice'</a:t>
            </a:r>
            <a:r>
              <a:rPr b="0" i="0" lang="en-US" sz="3200" u="none" cap="none" strike="noStrike">
                <a:solidFill>
                  <a:srgbClr val="FF00FF"/>
                </a:solidFill>
                <a:latin typeface="Arial"/>
                <a:ea typeface="Arial"/>
                <a:cs typeface="Arial"/>
                <a:sym typeface="Arial"/>
              </a:rPr>
              <a:t>: 2, </a:t>
            </a:r>
            <a:r>
              <a:rPr b="0" i="0" lang="en-US" sz="3200" u="none" cap="none" strike="noStrike">
                <a:solidFill>
                  <a:srgbClr val="00FFFF"/>
                </a:solidFill>
                <a:latin typeface="Arial"/>
                <a:ea typeface="Arial"/>
                <a:cs typeface="Arial"/>
                <a:sym typeface="Arial"/>
              </a:rPr>
              <a:t>’julia'</a:t>
            </a:r>
            <a:r>
              <a:rPr b="0" i="0" lang="en-US" sz="3200" u="none" cap="none" strike="noStrike">
                <a:solidFill>
                  <a:srgbClr val="FF00FF"/>
                </a:solidFill>
                <a:latin typeface="Arial"/>
                <a:ea typeface="Arial"/>
                <a:cs typeface="Arial"/>
                <a:sym typeface="Arial"/>
              </a:rPr>
              <a:t>: 1,</a:t>
            </a:r>
            <a:r>
              <a:rPr b="0" i="0" lang="en-US" sz="3200" u="none" cap="none" strike="noStrike">
                <a:solidFill>
                  <a:srgbClr val="00FFFF"/>
                </a:solidFill>
                <a:latin typeface="Arial"/>
                <a:ea typeface="Arial"/>
                <a:cs typeface="Arial"/>
                <a:sym typeface="Arial"/>
              </a:rPr>
              <a:t> ’robert'</a:t>
            </a:r>
            <a:r>
              <a:rPr b="0" i="0" lang="en-US" sz="3200" u="none" cap="none" strike="noStrike">
                <a:solidFill>
                  <a:srgbClr val="FF00FF"/>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6"/>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The</a:t>
            </a:r>
            <a:r>
              <a:rPr lang="en-US" sz="7600" u="none" cap="none" strike="noStrike">
                <a:solidFill>
                  <a:srgbClr val="FFFF00"/>
                </a:solidFill>
                <a:latin typeface="Arial"/>
                <a:ea typeface="Arial"/>
                <a:cs typeface="Arial"/>
                <a:sym typeface="Arial"/>
              </a:rPr>
              <a:t> </a:t>
            </a:r>
            <a:r>
              <a:rPr lang="en-US" sz="7600" u="none" cap="none" strike="noStrike">
                <a:solidFill>
                  <a:srgbClr val="FF00FF"/>
                </a:solidFill>
                <a:latin typeface="Arial"/>
                <a:ea typeface="Arial"/>
                <a:cs typeface="Arial"/>
                <a:sym typeface="Arial"/>
              </a:rPr>
              <a:t>get</a:t>
            </a:r>
            <a:r>
              <a:rPr lang="en-US" sz="7600" u="none" cap="none" strike="noStrike">
                <a:solidFill>
                  <a:srgbClr val="FFFF00"/>
                </a:solidFill>
                <a:latin typeface="Arial"/>
                <a:ea typeface="Arial"/>
                <a:cs typeface="Arial"/>
                <a:sym typeface="Arial"/>
              </a:rPr>
              <a:t> </a:t>
            </a:r>
            <a:r>
              <a:rPr lang="en-US" sz="7600" u="none" cap="none" strike="noStrike">
                <a:solidFill>
                  <a:srgbClr val="FFD966"/>
                </a:solidFill>
                <a:latin typeface="Arial"/>
                <a:ea typeface="Arial"/>
                <a:cs typeface="Arial"/>
                <a:sym typeface="Arial"/>
              </a:rPr>
              <a:t>Method for Dictionaries</a:t>
            </a:r>
            <a:endParaRPr/>
          </a:p>
        </p:txBody>
      </p:sp>
      <p:sp>
        <p:nvSpPr>
          <p:cNvPr id="62" name="Google Shape;62;p6"/>
          <p:cNvSpPr txBox="1"/>
          <p:nvPr>
            <p:ph idx="1" type="body"/>
          </p:nvPr>
        </p:nvSpPr>
        <p:spPr>
          <a:xfrm>
            <a:off x="1029839" y="2603500"/>
            <a:ext cx="7505776" cy="4038499"/>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The pattern of checking to see if a </a:t>
            </a:r>
            <a:r>
              <a:rPr lang="en-US" sz="3600" u="none" cap="none" strike="noStrike">
                <a:solidFill>
                  <a:srgbClr val="00FFFF"/>
                </a:solidFill>
                <a:latin typeface="Arial"/>
                <a:ea typeface="Arial"/>
                <a:cs typeface="Arial"/>
                <a:sym typeface="Arial"/>
              </a:rPr>
              <a:t>key</a:t>
            </a:r>
            <a:r>
              <a:rPr lang="en-US" sz="3600" u="none" cap="none" strike="noStrike">
                <a:solidFill>
                  <a:schemeClr val="lt1"/>
                </a:solidFill>
                <a:latin typeface="Arial"/>
                <a:ea typeface="Arial"/>
                <a:cs typeface="Arial"/>
                <a:sym typeface="Arial"/>
              </a:rPr>
              <a:t> is already in a dictionary and assuming a default value if the </a:t>
            </a:r>
            <a:r>
              <a:rPr lang="en-US" sz="3600" u="none" cap="none" strike="noStrike">
                <a:solidFill>
                  <a:srgbClr val="00FFFF"/>
                </a:solidFill>
                <a:latin typeface="Arial"/>
                <a:ea typeface="Arial"/>
                <a:cs typeface="Arial"/>
                <a:sym typeface="Arial"/>
              </a:rPr>
              <a:t>key</a:t>
            </a:r>
            <a:r>
              <a:rPr lang="en-US" sz="3600" u="none" cap="none" strike="noStrike">
                <a:solidFill>
                  <a:schemeClr val="lt1"/>
                </a:solidFill>
                <a:latin typeface="Arial"/>
                <a:ea typeface="Arial"/>
                <a:cs typeface="Arial"/>
                <a:sym typeface="Arial"/>
              </a:rPr>
              <a:t> is not there is so common that there is a </a:t>
            </a:r>
            <a:r>
              <a:rPr lang="en-US" sz="3600" u="none" cap="none" strike="noStrike">
                <a:solidFill>
                  <a:srgbClr val="FF00FF"/>
                </a:solidFill>
                <a:latin typeface="Arial"/>
                <a:ea typeface="Arial"/>
                <a:cs typeface="Arial"/>
                <a:sym typeface="Arial"/>
              </a:rPr>
              <a:t>method</a:t>
            </a:r>
            <a:r>
              <a:rPr lang="en-US" sz="3600" u="none" cap="none" strike="noStrike">
                <a:solidFill>
                  <a:schemeClr val="lt1"/>
                </a:solidFill>
                <a:latin typeface="Arial"/>
                <a:ea typeface="Arial"/>
                <a:cs typeface="Arial"/>
                <a:sym typeface="Arial"/>
              </a:rPr>
              <a:t> called </a:t>
            </a:r>
            <a:r>
              <a:rPr lang="en-US" sz="3600" u="none" cap="none" strike="noStrike">
                <a:solidFill>
                  <a:srgbClr val="FF00FF"/>
                </a:solidFill>
                <a:latin typeface="Arial"/>
                <a:ea typeface="Arial"/>
                <a:cs typeface="Arial"/>
                <a:sym typeface="Arial"/>
              </a:rPr>
              <a:t>get</a:t>
            </a:r>
            <a:r>
              <a:rPr lang="en-US" sz="3600" u="none" cap="none" strike="noStrike">
                <a:solidFill>
                  <a:schemeClr val="lt1"/>
                </a:solidFill>
                <a:latin typeface="Arial"/>
                <a:ea typeface="Arial"/>
                <a:cs typeface="Arial"/>
                <a:sym typeface="Arial"/>
              </a:rPr>
              <a:t>() that does this for us</a:t>
            </a:r>
            <a:endParaRPr/>
          </a:p>
        </p:txBody>
      </p:sp>
      <p:sp>
        <p:nvSpPr>
          <p:cNvPr id="63" name="Google Shape;63;p6"/>
          <p:cNvSpPr txBox="1"/>
          <p:nvPr/>
        </p:nvSpPr>
        <p:spPr>
          <a:xfrm>
            <a:off x="8894614" y="2603500"/>
            <a:ext cx="10169237" cy="59586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Arial"/>
              <a:buNone/>
            </a:pPr>
            <a:r>
              <a:rPr b="0" i="0" lang="en-US" sz="3200" u="none" cap="none" strike="noStrike">
                <a:solidFill>
                  <a:srgbClr val="FF00FF"/>
                </a:solidFill>
                <a:latin typeface="Arial"/>
                <a:ea typeface="Arial"/>
                <a:cs typeface="Arial"/>
                <a:sym typeface="Arial"/>
              </a:rPr>
              <a:t>counts = {</a:t>
            </a:r>
            <a:r>
              <a:rPr b="0" i="0" lang="en-US" sz="3200" u="none" cap="none" strike="noStrike">
                <a:solidFill>
                  <a:srgbClr val="00FFFF"/>
                </a:solidFill>
                <a:latin typeface="Arial"/>
                <a:ea typeface="Arial"/>
                <a:cs typeface="Arial"/>
                <a:sym typeface="Arial"/>
              </a:rPr>
              <a:t>’alice'</a:t>
            </a:r>
            <a:r>
              <a:rPr b="0" i="0" lang="en-US" sz="3200" u="none" cap="none" strike="noStrike">
                <a:solidFill>
                  <a:srgbClr val="FF00FF"/>
                </a:solidFill>
                <a:latin typeface="Arial"/>
                <a:ea typeface="Arial"/>
                <a:cs typeface="Arial"/>
                <a:sym typeface="Arial"/>
              </a:rPr>
              <a:t>: 2, </a:t>
            </a:r>
            <a:r>
              <a:rPr b="0" i="0" lang="en-US" sz="3200" u="none" cap="none" strike="noStrike">
                <a:solidFill>
                  <a:srgbClr val="00FFFF"/>
                </a:solidFill>
                <a:latin typeface="Arial"/>
                <a:ea typeface="Arial"/>
                <a:cs typeface="Arial"/>
                <a:sym typeface="Arial"/>
              </a:rPr>
              <a:t>’julia'</a:t>
            </a:r>
            <a:r>
              <a:rPr b="0" i="0" lang="en-US" sz="3200" u="none" cap="none" strike="noStrike">
                <a:solidFill>
                  <a:srgbClr val="FF00FF"/>
                </a:solidFill>
                <a:latin typeface="Arial"/>
                <a:ea typeface="Arial"/>
                <a:cs typeface="Arial"/>
                <a:sym typeface="Arial"/>
              </a:rPr>
              <a:t>: 1,</a:t>
            </a:r>
            <a:r>
              <a:rPr b="0" i="0" lang="en-US" sz="3200" u="none" cap="none" strike="noStrike">
                <a:solidFill>
                  <a:srgbClr val="00FFFF"/>
                </a:solidFill>
                <a:latin typeface="Arial"/>
                <a:ea typeface="Arial"/>
                <a:cs typeface="Arial"/>
                <a:sym typeface="Arial"/>
              </a:rPr>
              <a:t> ’rober’t</a:t>
            </a:r>
            <a:r>
              <a:rPr b="0" i="0" lang="en-US" sz="3200" u="none" cap="none" strike="noStrike">
                <a:solidFill>
                  <a:srgbClr val="FF00FF"/>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rgbClr val="FFFF00"/>
                </a:solidFill>
                <a:latin typeface="Courier"/>
                <a:ea typeface="Courier"/>
                <a:cs typeface="Courier"/>
                <a:sym typeface="Courier"/>
              </a:rPr>
              <a:t>print(</a:t>
            </a:r>
            <a:r>
              <a:rPr b="0" i="0" lang="en-US" sz="3200" u="none" cap="none" strike="noStrike">
                <a:solidFill>
                  <a:srgbClr val="00FF00"/>
                </a:solidFill>
                <a:latin typeface="Courier"/>
                <a:ea typeface="Courier"/>
                <a:cs typeface="Courier"/>
                <a:sym typeface="Courier"/>
              </a:rPr>
              <a:t>counts</a:t>
            </a:r>
            <a:r>
              <a:rPr b="0" i="0" lang="en-US" sz="3200" u="none" cap="none" strike="noStrike">
                <a:solidFill>
                  <a:srgbClr val="FF00FF"/>
                </a:solidFill>
                <a:latin typeface="Courier"/>
                <a:ea typeface="Courier"/>
                <a:cs typeface="Courier"/>
                <a:sym typeface="Courier"/>
              </a:rPr>
              <a:t>.get</a:t>
            </a:r>
            <a:r>
              <a:rPr b="0" i="0" lang="en-US" sz="3200" u="none" cap="none" strike="noStrike">
                <a:solidFill>
                  <a:schemeClr val="lt1"/>
                </a:solidFill>
                <a:latin typeface="Courier"/>
                <a:ea typeface="Courier"/>
                <a:cs typeface="Courier"/>
                <a:sym typeface="Courier"/>
              </a:rPr>
              <a:t>(</a:t>
            </a:r>
            <a:r>
              <a:rPr b="0" i="0" lang="en-US" sz="3200" u="none" cap="none" strike="noStrike">
                <a:solidFill>
                  <a:srgbClr val="00FFFF"/>
                </a:solidFill>
                <a:latin typeface="Arial"/>
                <a:ea typeface="Arial"/>
                <a:cs typeface="Arial"/>
                <a:sym typeface="Arial"/>
              </a:rPr>
              <a:t>’alice'</a:t>
            </a:r>
            <a:r>
              <a:rPr b="0" i="0" lang="en-US" sz="3200" u="none" cap="none" strike="noStrike">
                <a:solidFill>
                  <a:schemeClr val="lt1"/>
                </a:solidFill>
                <a:latin typeface="Courier"/>
                <a:ea typeface="Courier"/>
                <a:cs typeface="Courier"/>
                <a:sym typeface="Courier"/>
              </a:rPr>
              <a:t>, </a:t>
            </a:r>
            <a:r>
              <a:rPr b="0" i="0" lang="en-US" sz="3200" u="none" cap="none" strike="noStrike">
                <a:solidFill>
                  <a:srgbClr val="FF7F00"/>
                </a:solidFill>
                <a:latin typeface="Courier"/>
                <a:ea typeface="Courier"/>
                <a:cs typeface="Courier"/>
                <a:sym typeface="Courier"/>
              </a:rPr>
              <a:t>0</a:t>
            </a:r>
            <a:r>
              <a:rPr b="0" i="0" lang="en-US" sz="3200" u="none" cap="none" strike="noStrike">
                <a:solidFill>
                  <a:schemeClr val="lt1"/>
                </a:solidFill>
                <a:latin typeface="Courier"/>
                <a:ea typeface="Courier"/>
                <a:cs typeface="Courier"/>
                <a:sym typeface="Courier"/>
              </a:rPr>
              <a:t>)</a:t>
            </a:r>
            <a:r>
              <a:rPr b="0" i="0" lang="en-US" sz="32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rgbClr val="FFFF00"/>
                </a:solidFill>
                <a:latin typeface="Courier"/>
                <a:ea typeface="Courier"/>
                <a:cs typeface="Courier"/>
                <a:sym typeface="Courier"/>
              </a:rPr>
              <a:t>print(</a:t>
            </a:r>
            <a:r>
              <a:rPr b="0" i="0" lang="en-US" sz="3200" u="none" cap="none" strike="noStrike">
                <a:solidFill>
                  <a:srgbClr val="00FF00"/>
                </a:solidFill>
                <a:latin typeface="Courier"/>
                <a:ea typeface="Courier"/>
                <a:cs typeface="Courier"/>
                <a:sym typeface="Courier"/>
              </a:rPr>
              <a:t>counts</a:t>
            </a:r>
            <a:r>
              <a:rPr b="0" i="0" lang="en-US" sz="3200" u="none" cap="none" strike="noStrike">
                <a:solidFill>
                  <a:srgbClr val="FF00FF"/>
                </a:solidFill>
                <a:latin typeface="Courier"/>
                <a:ea typeface="Courier"/>
                <a:cs typeface="Courier"/>
                <a:sym typeface="Courier"/>
              </a:rPr>
              <a:t>.get</a:t>
            </a:r>
            <a:r>
              <a:rPr b="0" i="0" lang="en-US" sz="3200" u="none" cap="none" strike="noStrike">
                <a:solidFill>
                  <a:schemeClr val="lt1"/>
                </a:solidFill>
                <a:latin typeface="Courier"/>
                <a:ea typeface="Courier"/>
                <a:cs typeface="Courier"/>
                <a:sym typeface="Courier"/>
              </a:rPr>
              <a:t>(</a:t>
            </a:r>
            <a:r>
              <a:rPr b="0" i="0" lang="en-US" sz="3200" u="none" cap="none" strike="noStrike">
                <a:solidFill>
                  <a:srgbClr val="00FFFF"/>
                </a:solidFill>
                <a:latin typeface="Arial"/>
                <a:ea typeface="Arial"/>
                <a:cs typeface="Arial"/>
                <a:sym typeface="Arial"/>
              </a:rPr>
              <a:t>’tim'</a:t>
            </a:r>
            <a:r>
              <a:rPr b="0" i="0" lang="en-US" sz="3200" u="none" cap="none" strike="noStrike">
                <a:solidFill>
                  <a:schemeClr val="lt1"/>
                </a:solidFill>
                <a:latin typeface="Courier"/>
                <a:ea typeface="Courier"/>
                <a:cs typeface="Courier"/>
                <a:sym typeface="Courier"/>
              </a:rPr>
              <a:t>, </a:t>
            </a:r>
            <a:r>
              <a:rPr b="0" i="0" lang="en-US" sz="3200" u="none" cap="none" strike="noStrike">
                <a:solidFill>
                  <a:srgbClr val="FF7F00"/>
                </a:solidFill>
                <a:latin typeface="Courier"/>
                <a:ea typeface="Courier"/>
                <a:cs typeface="Courier"/>
                <a:sym typeface="Courier"/>
              </a:rPr>
              <a:t>0</a:t>
            </a:r>
            <a:r>
              <a:rPr b="0" i="0" lang="en-US" sz="3200" u="none" cap="none" strike="noStrike">
                <a:solidFill>
                  <a:schemeClr val="lt1"/>
                </a:solidFill>
                <a:latin typeface="Courier"/>
                <a:ea typeface="Courier"/>
                <a:cs typeface="Courier"/>
                <a:sym typeface="Courier"/>
              </a:rPr>
              <a:t>)</a:t>
            </a:r>
            <a:r>
              <a:rPr b="0" i="0" lang="en-US" sz="32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0</a:t>
            </a:r>
            <a:endParaRPr b="0" i="0" sz="3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Arial"/>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7F00"/>
              </a:solidFill>
              <a:latin typeface="Courier"/>
              <a:ea typeface="Courier"/>
              <a:cs typeface="Courier"/>
              <a:sym typeface="Courier"/>
            </a:endParaRPr>
          </a:p>
        </p:txBody>
      </p:sp>
      <p:sp>
        <p:nvSpPr>
          <p:cNvPr id="64" name="Google Shape;64;p6"/>
          <p:cNvSpPr txBox="1"/>
          <p:nvPr/>
        </p:nvSpPr>
        <p:spPr>
          <a:xfrm>
            <a:off x="1003250" y="6980313"/>
            <a:ext cx="7118400"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Default value if key does not exist (and no Traceback).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7"/>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Simplified Counting with </a:t>
            </a:r>
            <a:r>
              <a:rPr lang="en-US" sz="7600" u="none" cap="none" strike="noStrike">
                <a:solidFill>
                  <a:srgbClr val="FF00FF"/>
                </a:solidFill>
                <a:latin typeface="Arial"/>
                <a:ea typeface="Arial"/>
                <a:cs typeface="Arial"/>
                <a:sym typeface="Arial"/>
              </a:rPr>
              <a:t>get()</a:t>
            </a:r>
            <a:endParaRPr/>
          </a:p>
        </p:txBody>
      </p:sp>
      <p:sp>
        <p:nvSpPr>
          <p:cNvPr id="70" name="Google Shape;70;p7"/>
          <p:cNvSpPr txBox="1"/>
          <p:nvPr>
            <p:ph idx="1" type="body"/>
          </p:nvPr>
        </p:nvSpPr>
        <p:spPr>
          <a:xfrm>
            <a:off x="1155700" y="2603501"/>
            <a:ext cx="13931900" cy="1457272"/>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We can use </a:t>
            </a:r>
            <a:r>
              <a:rPr lang="en-US" sz="3600" u="none" cap="none" strike="noStrike">
                <a:solidFill>
                  <a:srgbClr val="FF00FF"/>
                </a:solidFill>
                <a:latin typeface="Arial"/>
                <a:ea typeface="Arial"/>
                <a:cs typeface="Arial"/>
                <a:sym typeface="Arial"/>
              </a:rPr>
              <a:t>get</a:t>
            </a:r>
            <a:r>
              <a:rPr lang="en-US" sz="3600" u="none" cap="none" strike="noStrike">
                <a:solidFill>
                  <a:schemeClr val="lt1"/>
                </a:solidFill>
                <a:latin typeface="Arial"/>
                <a:ea typeface="Arial"/>
                <a:cs typeface="Arial"/>
                <a:sym typeface="Arial"/>
              </a:rPr>
              <a:t>() and provide a </a:t>
            </a:r>
            <a:r>
              <a:rPr lang="en-US" sz="3600" u="none" cap="none" strike="noStrike">
                <a:solidFill>
                  <a:srgbClr val="FF7F00"/>
                </a:solidFill>
                <a:latin typeface="Arial"/>
                <a:ea typeface="Arial"/>
                <a:cs typeface="Arial"/>
                <a:sym typeface="Arial"/>
              </a:rPr>
              <a:t>default value of zero</a:t>
            </a:r>
            <a:r>
              <a:rPr lang="en-US" sz="3600" u="none" cap="none" strike="noStrike">
                <a:solidFill>
                  <a:schemeClr val="lt1"/>
                </a:solidFill>
                <a:latin typeface="Arial"/>
                <a:ea typeface="Arial"/>
                <a:cs typeface="Arial"/>
                <a:sym typeface="Arial"/>
              </a:rPr>
              <a:t> when the </a:t>
            </a:r>
            <a:r>
              <a:rPr lang="en-US" sz="3600" u="none" cap="none" strike="noStrike">
                <a:solidFill>
                  <a:srgbClr val="00FFFF"/>
                </a:solidFill>
                <a:latin typeface="Arial"/>
                <a:ea typeface="Arial"/>
                <a:cs typeface="Arial"/>
                <a:sym typeface="Arial"/>
              </a:rPr>
              <a:t>key</a:t>
            </a:r>
            <a:r>
              <a:rPr lang="en-US" sz="3600" u="none" cap="none" strike="noStrike">
                <a:solidFill>
                  <a:schemeClr val="lt1"/>
                </a:solidFill>
                <a:latin typeface="Arial"/>
                <a:ea typeface="Arial"/>
                <a:cs typeface="Arial"/>
                <a:sym typeface="Arial"/>
              </a:rPr>
              <a:t> is not yet in the dictionary - and then just add one</a:t>
            </a:r>
            <a:endParaRPr/>
          </a:p>
        </p:txBody>
      </p:sp>
      <p:sp>
        <p:nvSpPr>
          <p:cNvPr id="71" name="Google Shape;71;p7"/>
          <p:cNvSpPr txBox="1"/>
          <p:nvPr/>
        </p:nvSpPr>
        <p:spPr>
          <a:xfrm>
            <a:off x="1698774" y="4562481"/>
            <a:ext cx="11961807" cy="21557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00"/>
              <a:buFont typeface="Courier New"/>
              <a:buNone/>
            </a:pPr>
            <a:r>
              <a:rPr b="0" i="0" lang="en-US" sz="2800" u="none" cap="none" strike="noStrike">
                <a:solidFill>
                  <a:srgbClr val="00FF00"/>
                </a:solidFill>
                <a:latin typeface="Courier"/>
                <a:ea typeface="Courier"/>
                <a:cs typeface="Courier"/>
                <a:sym typeface="Courier"/>
              </a:rPr>
              <a:t>counts</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FF00FF"/>
                </a:solidFill>
                <a:latin typeface="Courier"/>
                <a:ea typeface="Courier"/>
                <a:cs typeface="Courier"/>
                <a:sym typeface="Courier"/>
              </a:rPr>
              <a:t>dict</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00"/>
              <a:buFont typeface="Courier"/>
              <a:buNone/>
            </a:pPr>
            <a:r>
              <a:rPr b="0" i="0" lang="en-US" sz="2800" u="none" cap="none" strike="noStrike">
                <a:solidFill>
                  <a:srgbClr val="00FF00"/>
                </a:solidFill>
                <a:latin typeface="Courier"/>
                <a:ea typeface="Courier"/>
                <a:cs typeface="Courier"/>
                <a:sym typeface="Courier"/>
              </a:rPr>
              <a:t>names</a:t>
            </a:r>
            <a:r>
              <a:rPr b="0" i="0" lang="en-US" sz="2800" u="none" cap="none" strike="noStrike">
                <a:solidFill>
                  <a:schemeClr val="lt1"/>
                </a:solidFill>
                <a:latin typeface="Courier"/>
                <a:ea typeface="Courier"/>
                <a:cs typeface="Courier"/>
                <a:sym typeface="Courier"/>
              </a:rPr>
              <a:t> = ['alice', 'julia', 'robert', 'alice', 'robert']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ourier New"/>
              <a:buNone/>
            </a:pPr>
            <a:r>
              <a:rPr b="0" i="0" lang="en-US" sz="2800" u="none" cap="none" strike="noStrike">
                <a:solidFill>
                  <a:srgbClr val="FFFF00"/>
                </a:solidFill>
                <a:latin typeface="Courier"/>
                <a:ea typeface="Courier"/>
                <a:cs typeface="Courier"/>
                <a:sym typeface="Courier"/>
              </a:rPr>
              <a:t>for</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name</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in</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names</a:t>
            </a:r>
            <a:r>
              <a:rPr b="0" i="0" lang="en-US" sz="28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counts</a:t>
            </a:r>
            <a:r>
              <a:rPr b="0" i="0" lang="en-US" sz="2800" u="none" cap="none" strike="noStrike">
                <a:solidFill>
                  <a:srgbClr val="00FFFF"/>
                </a:solidFill>
                <a:latin typeface="Courier"/>
                <a:ea typeface="Courier"/>
                <a:cs typeface="Courier"/>
                <a:sym typeface="Courier"/>
              </a:rPr>
              <a:t>[name]</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00FF00"/>
                </a:solidFill>
                <a:latin typeface="Courier"/>
                <a:ea typeface="Courier"/>
                <a:cs typeface="Courier"/>
                <a:sym typeface="Courier"/>
              </a:rPr>
              <a:t>counts</a:t>
            </a:r>
            <a:r>
              <a:rPr b="0" i="0" lang="en-US" sz="2800" u="none" cap="none" strike="noStrike">
                <a:solidFill>
                  <a:srgbClr val="FF00FF"/>
                </a:solidFill>
                <a:latin typeface="Courier"/>
                <a:ea typeface="Courier"/>
                <a:cs typeface="Courier"/>
                <a:sym typeface="Courier"/>
              </a:rPr>
              <a:t>.get</a:t>
            </a:r>
            <a:r>
              <a:rPr b="0" i="0" lang="en-US" sz="2800" u="none" cap="none" strike="noStrike">
                <a:solidFill>
                  <a:srgbClr val="00FF00"/>
                </a:solidFill>
                <a:latin typeface="Courier"/>
                <a:ea typeface="Courier"/>
                <a:cs typeface="Courier"/>
                <a:sym typeface="Courier"/>
              </a:rPr>
              <a:t>(</a:t>
            </a:r>
            <a:r>
              <a:rPr b="0" i="0" lang="en-US" sz="2800" u="none" cap="none" strike="noStrike">
                <a:solidFill>
                  <a:srgbClr val="00FFFF"/>
                </a:solidFill>
                <a:latin typeface="Courier"/>
                <a:ea typeface="Courier"/>
                <a:cs typeface="Courier"/>
                <a:sym typeface="Courier"/>
              </a:rPr>
              <a:t>name, </a:t>
            </a:r>
            <a:r>
              <a:rPr b="0" i="0" lang="en-US" sz="2800" u="none" cap="none" strike="noStrike">
                <a:solidFill>
                  <a:srgbClr val="FF7F00"/>
                </a:solidFill>
                <a:latin typeface="Courier"/>
                <a:ea typeface="Courier"/>
                <a:cs typeface="Courier"/>
                <a:sym typeface="Courier"/>
              </a:rPr>
              <a:t>0</a:t>
            </a:r>
            <a:r>
              <a:rPr b="0" i="0" lang="en-US" sz="2800" u="none" cap="none" strike="noStrike">
                <a:solidFill>
                  <a:srgbClr val="00FFFF"/>
                </a:solidFill>
                <a:latin typeface="Courier"/>
                <a:ea typeface="Courier"/>
                <a:cs typeface="Courier"/>
                <a:sym typeface="Courier"/>
              </a:rPr>
              <a:t>)</a:t>
            </a:r>
            <a:r>
              <a:rPr b="0" i="0" lang="en-US" sz="2800" u="none" cap="none" strike="noStrike">
                <a:solidFill>
                  <a:schemeClr val="lt1"/>
                </a:solidFill>
                <a:latin typeface="Courier"/>
                <a:ea typeface="Courier"/>
                <a:cs typeface="Courier"/>
                <a:sym typeface="Courier"/>
              </a:rPr>
              <a: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ourier New"/>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00FF00"/>
                </a:solidFill>
                <a:latin typeface="Courier"/>
                <a:ea typeface="Courier"/>
                <a:cs typeface="Courier"/>
                <a:sym typeface="Courier"/>
              </a:rPr>
              <a:t>counts</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FF00"/>
              </a:solidFill>
              <a:latin typeface="Courier"/>
              <a:ea typeface="Courier"/>
              <a:cs typeface="Courier"/>
              <a:sym typeface="Courier"/>
            </a:endParaRPr>
          </a:p>
        </p:txBody>
      </p:sp>
      <p:sp>
        <p:nvSpPr>
          <p:cNvPr id="72" name="Google Shape;72;p7"/>
          <p:cNvSpPr txBox="1"/>
          <p:nvPr/>
        </p:nvSpPr>
        <p:spPr>
          <a:xfrm>
            <a:off x="7629941" y="6825868"/>
            <a:ext cx="1466850"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Default</a:t>
            </a:r>
            <a:endParaRPr b="0" i="0" sz="1400" u="none" cap="none" strike="noStrike">
              <a:solidFill>
                <a:srgbClr val="000000"/>
              </a:solidFill>
              <a:latin typeface="Arial"/>
              <a:ea typeface="Arial"/>
              <a:cs typeface="Arial"/>
              <a:sym typeface="Arial"/>
            </a:endParaRPr>
          </a:p>
        </p:txBody>
      </p:sp>
      <p:cxnSp>
        <p:nvCxnSpPr>
          <p:cNvPr id="73" name="Google Shape;73;p7"/>
          <p:cNvCxnSpPr/>
          <p:nvPr/>
        </p:nvCxnSpPr>
        <p:spPr>
          <a:xfrm flipH="1">
            <a:off x="8866909" y="6308857"/>
            <a:ext cx="459765" cy="409423"/>
          </a:xfrm>
          <a:prstGeom prst="straightConnector1">
            <a:avLst/>
          </a:prstGeom>
          <a:noFill/>
          <a:ln cap="rnd" cmpd="sng" w="63500">
            <a:solidFill>
              <a:srgbClr val="FF7F00"/>
            </a:solidFill>
            <a:prstDash val="solid"/>
            <a:miter lim="8000"/>
            <a:headEnd len="med" w="med" type="stealth"/>
            <a:tailEnd len="sm" w="sm" type="none"/>
          </a:ln>
        </p:spPr>
      </p:cxnSp>
      <p:sp>
        <p:nvSpPr>
          <p:cNvPr id="74" name="Google Shape;74;p7"/>
          <p:cNvSpPr txBox="1"/>
          <p:nvPr/>
        </p:nvSpPr>
        <p:spPr>
          <a:xfrm>
            <a:off x="720434" y="7448167"/>
            <a:ext cx="6654205" cy="6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a:t>
            </a:r>
            <a:r>
              <a:rPr b="0" i="0" lang="en-US" sz="3200" u="none" cap="none" strike="noStrike">
                <a:solidFill>
                  <a:srgbClr val="00FFFF"/>
                </a:solidFill>
                <a:latin typeface="Arial"/>
                <a:ea typeface="Arial"/>
                <a:cs typeface="Arial"/>
                <a:sym typeface="Arial"/>
              </a:rPr>
              <a:t>’alice'</a:t>
            </a:r>
            <a:r>
              <a:rPr b="0" i="0" lang="en-US" sz="3200" u="none" cap="none" strike="noStrike">
                <a:solidFill>
                  <a:srgbClr val="FF00FF"/>
                </a:solidFill>
                <a:latin typeface="Arial"/>
                <a:ea typeface="Arial"/>
                <a:cs typeface="Arial"/>
                <a:sym typeface="Arial"/>
              </a:rPr>
              <a:t>: 2, </a:t>
            </a:r>
            <a:r>
              <a:rPr b="0" i="0" lang="en-US" sz="3200" u="none" cap="none" strike="noStrike">
                <a:solidFill>
                  <a:srgbClr val="00FFFF"/>
                </a:solidFill>
                <a:latin typeface="Arial"/>
                <a:ea typeface="Arial"/>
                <a:cs typeface="Arial"/>
                <a:sym typeface="Arial"/>
              </a:rPr>
              <a:t>’julia'</a:t>
            </a:r>
            <a:r>
              <a:rPr b="0" i="0" lang="en-US" sz="3200" u="none" cap="none" strike="noStrike">
                <a:solidFill>
                  <a:srgbClr val="FF00FF"/>
                </a:solidFill>
                <a:latin typeface="Arial"/>
                <a:ea typeface="Arial"/>
                <a:cs typeface="Arial"/>
                <a:sym typeface="Arial"/>
              </a:rPr>
              <a:t>: 1,</a:t>
            </a:r>
            <a:r>
              <a:rPr b="0" i="0" lang="en-US" sz="3200" u="none" cap="none" strike="noStrike">
                <a:solidFill>
                  <a:srgbClr val="00FFFF"/>
                </a:solidFill>
                <a:latin typeface="Arial"/>
                <a:ea typeface="Arial"/>
                <a:cs typeface="Arial"/>
                <a:sym typeface="Arial"/>
              </a:rPr>
              <a:t> ’robert'</a:t>
            </a:r>
            <a:r>
              <a:rPr b="0" i="0" lang="en-US" sz="3200" u="none" cap="none" strike="noStrike">
                <a:solidFill>
                  <a:srgbClr val="FF00FF"/>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8"/>
          <p:cNvSpPr txBox="1"/>
          <p:nvPr/>
        </p:nvSpPr>
        <p:spPr>
          <a:xfrm>
            <a:off x="250825" y="1925204"/>
            <a:ext cx="15303500" cy="249396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700"/>
              <a:buFont typeface="Cabin"/>
              <a:buNone/>
            </a:pPr>
            <a:r>
              <a:rPr b="0" i="0" lang="en-US" sz="2800" u="none" cap="none" strike="noStrike">
                <a:solidFill>
                  <a:srgbClr val="00FF00"/>
                </a:solidFill>
                <a:latin typeface="Arial"/>
                <a:ea typeface="Arial"/>
                <a:cs typeface="Arial"/>
                <a:sym typeface="Arial"/>
              </a:rPr>
              <a:t>Writing programs (or programming) is a very creative and rewarding activity.  You can write programs for many reasons ranging from making your living to solving a difficult data analysis problem to having fun to helping someone else solve a problem.  This book assumes that everyone needs to know how to program and that once you know how to program, you will figure out what you want to do with your newfound skills.</a:t>
            </a:r>
            <a:endParaRPr b="0" i="0" sz="1400" u="none" cap="none" strike="noStrike">
              <a:solidFill>
                <a:srgbClr val="000000"/>
              </a:solidFill>
              <a:latin typeface="Arial"/>
              <a:ea typeface="Arial"/>
              <a:cs typeface="Arial"/>
              <a:sym typeface="Arial"/>
            </a:endParaRPr>
          </a:p>
        </p:txBody>
      </p:sp>
      <p:sp>
        <p:nvSpPr>
          <p:cNvPr id="80" name="Google Shape;80;p8"/>
          <p:cNvSpPr txBox="1"/>
          <p:nvPr/>
        </p:nvSpPr>
        <p:spPr>
          <a:xfrm>
            <a:off x="469900" y="4446874"/>
            <a:ext cx="15303500" cy="201771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Arial"/>
                <a:ea typeface="Arial"/>
                <a:cs typeface="Arial"/>
                <a:sym typeface="Arial"/>
              </a:rPr>
              <a:t>We are surrounded in our daily lives with computers ranging from laptops to cell phones.  We can think of these computers as our “personal assistants” who can take care of many things on our behalf.  The hardware in our current-day computers is essentially built to continuously ask us the question, “What would you like me to do next?”</a:t>
            </a:r>
            <a:endParaRPr b="0" i="0" sz="2800" u="none" cap="none" strike="noStrike">
              <a:solidFill>
                <a:srgbClr val="FFFF00"/>
              </a:solidFill>
              <a:latin typeface="Arial"/>
              <a:ea typeface="Arial"/>
              <a:cs typeface="Arial"/>
              <a:sym typeface="Arial"/>
            </a:endParaRPr>
          </a:p>
        </p:txBody>
      </p:sp>
      <p:sp>
        <p:nvSpPr>
          <p:cNvPr id="81" name="Google Shape;81;p8"/>
          <p:cNvSpPr txBox="1"/>
          <p:nvPr/>
        </p:nvSpPr>
        <p:spPr>
          <a:xfrm>
            <a:off x="469900" y="6347253"/>
            <a:ext cx="15303500" cy="2578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FF"/>
              </a:buClr>
              <a:buSzPts val="700"/>
              <a:buFont typeface="Cabin"/>
              <a:buNone/>
            </a:pPr>
            <a:r>
              <a:rPr b="0" i="0" lang="en-US" sz="2800" u="none" cap="none" strike="noStrike">
                <a:solidFill>
                  <a:srgbClr val="00FFFF"/>
                </a:solidFill>
                <a:latin typeface="Arial"/>
                <a:ea typeface="Arial"/>
                <a:cs typeface="Arial"/>
                <a:sym typeface="Arial"/>
              </a:rPr>
              <a:t>Our computers are fast and have vast amounts of memory and could be very helpful to us if we only knew the language to speak to explain to the computer what we would like it to do next.  If we knew this language we could tell the computer to do tasks on our behalf that were repetitive. Interestingly, the kinds of things computers can do best are often the kinds of things that we humans find boring and mind-numbing.</a:t>
            </a:r>
            <a:endParaRPr b="0" i="0" sz="1400" u="none" cap="none" strike="noStrike">
              <a:solidFill>
                <a:srgbClr val="000000"/>
              </a:solidFill>
              <a:latin typeface="Arial"/>
              <a:ea typeface="Arial"/>
              <a:cs typeface="Arial"/>
              <a:sym typeface="Arial"/>
            </a:endParaRPr>
          </a:p>
        </p:txBody>
      </p:sp>
      <p:sp>
        <p:nvSpPr>
          <p:cNvPr id="82" name="Google Shape;82;p8"/>
          <p:cNvSpPr/>
          <p:nvPr/>
        </p:nvSpPr>
        <p:spPr>
          <a:xfrm>
            <a:off x="2911840" y="244746"/>
            <a:ext cx="10368268" cy="12618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D966"/>
              </a:buClr>
              <a:buSzPts val="7600"/>
              <a:buFont typeface="Arial"/>
              <a:buNone/>
            </a:pPr>
            <a:r>
              <a:rPr b="0" i="0" lang="en-US" sz="7600" u="none" cap="none" strike="noStrike">
                <a:solidFill>
                  <a:srgbClr val="FFD966"/>
                </a:solidFill>
                <a:latin typeface="Arial"/>
                <a:ea typeface="Arial"/>
                <a:cs typeface="Arial"/>
                <a:sym typeface="Arial"/>
              </a:rPr>
              <a:t>Counting Words in Text</a:t>
            </a:r>
            <a:endParaRPr b="0" i="0" sz="1400" u="none" cap="none" strike="noStrike">
              <a:solidFill>
                <a:srgbClr val="FFD96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9"/>
          <p:cNvSpPr txBox="1"/>
          <p:nvPr>
            <p:ph type="title"/>
          </p:nvPr>
        </p:nvSpPr>
        <p:spPr>
          <a:xfrm>
            <a:off x="1155700" y="457201"/>
            <a:ext cx="13423272"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Counting Pattern for Words</a:t>
            </a:r>
            <a:endParaRPr sz="7600" u="none" cap="none" strike="noStrike">
              <a:solidFill>
                <a:srgbClr val="FFD966"/>
              </a:solidFill>
              <a:latin typeface="Arial"/>
              <a:ea typeface="Arial"/>
              <a:cs typeface="Arial"/>
              <a:sym typeface="Arial"/>
            </a:endParaRPr>
          </a:p>
        </p:txBody>
      </p:sp>
      <p:sp>
        <p:nvSpPr>
          <p:cNvPr id="88" name="Google Shape;88;p9"/>
          <p:cNvSpPr txBox="1"/>
          <p:nvPr/>
        </p:nvSpPr>
        <p:spPr>
          <a:xfrm>
            <a:off x="875400" y="2305400"/>
            <a:ext cx="11090100" cy="57241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ourier New"/>
              <a:buNone/>
            </a:pPr>
            <a:r>
              <a:rPr b="0" i="0" lang="en-US" sz="3000" u="none" cap="none" strike="noStrike">
                <a:solidFill>
                  <a:srgbClr val="00FF00"/>
                </a:solidFill>
                <a:latin typeface="Courier"/>
                <a:ea typeface="Courier"/>
                <a:cs typeface="Courier"/>
                <a:sym typeface="Courier"/>
              </a:rPr>
              <a:t>counts</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FF"/>
                </a:solidFill>
                <a:latin typeface="Courier"/>
                <a:ea typeface="Courier"/>
                <a:cs typeface="Courier"/>
                <a:sym typeface="Courier"/>
              </a:rPr>
              <a:t>dict</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New"/>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'Enter a line of text:'</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line = </a:t>
            </a:r>
            <a:r>
              <a:rPr b="0" i="0" lang="en-US" sz="3000" u="none" cap="none" strike="noStrike">
                <a:solidFill>
                  <a:srgbClr val="FF00FF"/>
                </a:solidFill>
                <a:latin typeface="Courier"/>
                <a:ea typeface="Courier"/>
                <a:cs typeface="Courier"/>
                <a:sym typeface="Courier"/>
              </a:rPr>
              <a:t>input</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words = line.</a:t>
            </a:r>
            <a:r>
              <a:rPr b="0" i="0" lang="en-US" sz="3000" u="none" cap="none" strike="noStrike">
                <a:solidFill>
                  <a:srgbClr val="FF00FF"/>
                </a:solidFill>
                <a:latin typeface="Courier"/>
                <a:ea typeface="Courier"/>
                <a:cs typeface="Courier"/>
                <a:sym typeface="Courier"/>
              </a:rPr>
              <a:t>split</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'Words:', words</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'Counting...'</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New"/>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word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counts</a:t>
            </a:r>
            <a:r>
              <a:rPr b="0" i="0" lang="en-US" sz="3000" u="none" cap="none" strike="noStrike">
                <a:solidFill>
                  <a:schemeClr val="lt1"/>
                </a:solidFill>
                <a:latin typeface="Courier"/>
                <a:ea typeface="Courier"/>
                <a:cs typeface="Courier"/>
                <a:sym typeface="Courier"/>
              </a:rPr>
              <a:t>[word] = </a:t>
            </a:r>
            <a:r>
              <a:rPr b="0" i="0" lang="en-US" sz="3000" u="none" cap="none" strike="noStrike">
                <a:solidFill>
                  <a:srgbClr val="00FF00"/>
                </a:solidFill>
                <a:latin typeface="Courier"/>
                <a:ea typeface="Courier"/>
                <a:cs typeface="Courier"/>
                <a:sym typeface="Courier"/>
              </a:rPr>
              <a:t>counts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00FF"/>
                </a:solidFill>
                <a:latin typeface="Courier"/>
                <a:ea typeface="Courier"/>
                <a:cs typeface="Courier"/>
                <a:sym typeface="Courier"/>
              </a:rPr>
              <a:t>get</a:t>
            </a:r>
            <a:r>
              <a:rPr b="0" i="0" lang="en-US" sz="3000" u="none" cap="none" strike="noStrike">
                <a:solidFill>
                  <a:schemeClr val="lt1"/>
                </a:solidFill>
                <a:latin typeface="Courier"/>
                <a:ea typeface="Courier"/>
                <a:cs typeface="Courier"/>
                <a:sym typeface="Courier"/>
              </a:rPr>
              <a:t>(word,0)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'Counts', </a:t>
            </a:r>
            <a:r>
              <a:rPr b="0" i="0" lang="en-US" sz="3000" u="none" cap="none" strike="noStrike">
                <a:solidFill>
                  <a:srgbClr val="00FF00"/>
                </a:solidFill>
                <a:latin typeface="Courier"/>
                <a:ea typeface="Courier"/>
                <a:cs typeface="Courier"/>
                <a:sym typeface="Courier"/>
              </a:rPr>
              <a:t>counts</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p:txBody>
      </p:sp>
      <p:sp>
        <p:nvSpPr>
          <p:cNvPr id="89" name="Google Shape;89;p9"/>
          <p:cNvSpPr txBox="1"/>
          <p:nvPr/>
        </p:nvSpPr>
        <p:spPr>
          <a:xfrm>
            <a:off x="9775075" y="2768237"/>
            <a:ext cx="5897100" cy="3787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The general pattern to count the words in a line of text is to </a:t>
            </a:r>
            <a:r>
              <a:rPr b="0" i="0" lang="en-US" sz="3200" u="none" cap="none" strike="noStrike">
                <a:solidFill>
                  <a:srgbClr val="FF00FF"/>
                </a:solidFill>
                <a:latin typeface="Arial"/>
                <a:ea typeface="Arial"/>
                <a:cs typeface="Arial"/>
                <a:sym typeface="Arial"/>
              </a:rPr>
              <a:t>split</a:t>
            </a:r>
            <a:r>
              <a:rPr b="0" i="0" lang="en-US" sz="3200" u="none" cap="none" strike="noStrike">
                <a:solidFill>
                  <a:schemeClr val="lt1"/>
                </a:solidFill>
                <a:latin typeface="Arial"/>
                <a:ea typeface="Arial"/>
                <a:cs typeface="Arial"/>
                <a:sym typeface="Arial"/>
              </a:rPr>
              <a:t> the line into words, then loop through the words and use a </a:t>
            </a:r>
            <a:r>
              <a:rPr b="0" i="0" lang="en-US" sz="3200" u="none" cap="none" strike="noStrike">
                <a:solidFill>
                  <a:srgbClr val="00FF00"/>
                </a:solidFill>
                <a:latin typeface="Arial"/>
                <a:ea typeface="Arial"/>
                <a:cs typeface="Arial"/>
                <a:sym typeface="Arial"/>
              </a:rPr>
              <a:t>dictionary</a:t>
            </a:r>
            <a:r>
              <a:rPr b="0" i="0" lang="en-US" sz="3200" u="none" cap="none" strike="noStrike">
                <a:solidFill>
                  <a:schemeClr val="lt1"/>
                </a:solidFill>
                <a:latin typeface="Arial"/>
                <a:ea typeface="Arial"/>
                <a:cs typeface="Arial"/>
                <a:sym typeface="Arial"/>
              </a:rPr>
              <a:t> to track the count of each word independently.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0"/>
          <p:cNvSpPr txBox="1"/>
          <p:nvPr/>
        </p:nvSpPr>
        <p:spPr>
          <a:xfrm>
            <a:off x="563562" y="2386907"/>
            <a:ext cx="7572375" cy="40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counts = </a:t>
            </a:r>
            <a:r>
              <a:rPr b="0" i="0" lang="en-US" sz="2400" u="none" cap="none" strike="noStrike">
                <a:solidFill>
                  <a:srgbClr val="FF7F00"/>
                </a:solidFill>
                <a:latin typeface="Courier"/>
                <a:ea typeface="Courier"/>
                <a:cs typeface="Courier"/>
                <a:sym typeface="Courier"/>
              </a:rPr>
              <a:t>dict</a:t>
            </a:r>
            <a:r>
              <a:rPr b="0" i="0" lang="en-US" sz="2400" u="none" cap="none" strike="noStrike">
                <a:solidFill>
                  <a:schemeClr val="lt1"/>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line = </a:t>
            </a:r>
            <a:r>
              <a:rPr b="0" i="0" lang="en-US" sz="2400" u="none" cap="none" strike="noStrike">
                <a:solidFill>
                  <a:srgbClr val="FF00FF"/>
                </a:solidFill>
                <a:latin typeface="Courier"/>
                <a:ea typeface="Courier"/>
                <a:cs typeface="Courier"/>
                <a:sym typeface="Courier"/>
              </a:rPr>
              <a:t>input</a:t>
            </a:r>
            <a:r>
              <a:rPr b="0" i="0" lang="en-US" sz="2400" u="none" cap="none" strike="noStrike">
                <a:solidFill>
                  <a:schemeClr val="lt1"/>
                </a:solidFill>
                <a:latin typeface="Courier"/>
                <a:ea typeface="Courier"/>
                <a:cs typeface="Courier"/>
                <a:sym typeface="Courier"/>
              </a:rPr>
              <a:t>('Enter a line of text:')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words = line.</a:t>
            </a:r>
            <a:r>
              <a:rPr b="0" i="0" lang="en-US" sz="2400" u="none" cap="none" strike="noStrike">
                <a:solidFill>
                  <a:srgbClr val="FF00FF"/>
                </a:solidFill>
                <a:latin typeface="Courier"/>
                <a:ea typeface="Courier"/>
                <a:cs typeface="Courier"/>
                <a:sym typeface="Courier"/>
              </a:rPr>
              <a:t>split</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ourier New"/>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'Words:', words</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'Counting...’</a:t>
            </a:r>
            <a:r>
              <a:rPr b="0" i="0" lang="en-US" sz="2400" u="none" cap="none" strike="noStrike">
                <a:solidFill>
                  <a:srgbClr val="FFFF00"/>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00"/>
              <a:buFont typeface="Courier New"/>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word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counts[word] = counts.</a:t>
            </a:r>
            <a:r>
              <a:rPr b="0" i="0" lang="en-US" sz="2400" u="none" cap="none" strike="noStrike">
                <a:solidFill>
                  <a:srgbClr val="FF00FF"/>
                </a:solidFill>
                <a:latin typeface="Courier"/>
                <a:ea typeface="Courier"/>
                <a:cs typeface="Courier"/>
                <a:sym typeface="Courier"/>
              </a:rPr>
              <a:t>get</a:t>
            </a:r>
            <a:r>
              <a:rPr b="0" i="0" lang="en-US" sz="2400" u="none" cap="none" strike="noStrike">
                <a:solidFill>
                  <a:schemeClr val="lt1"/>
                </a:solidFill>
                <a:latin typeface="Courier"/>
                <a:ea typeface="Courier"/>
                <a:cs typeface="Courier"/>
                <a:sym typeface="Courier"/>
              </a:rPr>
              <a:t>(word,0)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ourier"/>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'Counts', counts</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FFFF00"/>
              </a:solidFill>
              <a:latin typeface="Courier"/>
              <a:ea typeface="Courier"/>
              <a:cs typeface="Courier"/>
              <a:sym typeface="Courier"/>
            </a:endParaRPr>
          </a:p>
        </p:txBody>
      </p:sp>
      <p:sp>
        <p:nvSpPr>
          <p:cNvPr id="95" name="Google Shape;95;p10"/>
          <p:cNvSpPr txBox="1"/>
          <p:nvPr/>
        </p:nvSpPr>
        <p:spPr>
          <a:xfrm>
            <a:off x="8723700" y="1912333"/>
            <a:ext cx="6941400" cy="721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Arial"/>
                <a:ea typeface="Arial"/>
                <a:cs typeface="Arial"/>
                <a:sym typeface="Arial"/>
              </a:rPr>
              <a:t>Enter a line of text: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00"/>
                </a:solidFill>
                <a:latin typeface="Arial"/>
                <a:ea typeface="Arial"/>
                <a:cs typeface="Arial"/>
                <a:sym typeface="Arial"/>
              </a:rPr>
              <a:t>the</a:t>
            </a:r>
            <a:r>
              <a:rPr b="0" i="0" lang="en-US" sz="2800" u="none" cap="none" strike="noStrike">
                <a:solidFill>
                  <a:srgbClr val="FFFF00"/>
                </a:solidFill>
                <a:latin typeface="Arial"/>
                <a:ea typeface="Arial"/>
                <a:cs typeface="Arial"/>
                <a:sym typeface="Arial"/>
              </a:rPr>
              <a:t> clown ran after </a:t>
            </a:r>
            <a:r>
              <a:rPr b="0" i="0" lang="en-US" sz="2800" u="none" cap="none" strike="noStrike">
                <a:solidFill>
                  <a:srgbClr val="00FF00"/>
                </a:solidFill>
                <a:latin typeface="Arial"/>
                <a:ea typeface="Arial"/>
                <a:cs typeface="Arial"/>
                <a:sym typeface="Arial"/>
              </a:rPr>
              <a:t>the</a:t>
            </a:r>
            <a:r>
              <a:rPr b="0" i="0" lang="en-US" sz="2800" u="none" cap="none" strike="noStrike">
                <a:solidFill>
                  <a:srgbClr val="FFFF00"/>
                </a:solidFill>
                <a:latin typeface="Arial"/>
                <a:ea typeface="Arial"/>
                <a:cs typeface="Arial"/>
                <a:sym typeface="Arial"/>
              </a:rPr>
              <a:t> car and the car ran into </a:t>
            </a:r>
            <a:r>
              <a:rPr b="0" i="0" lang="en-US" sz="2800" u="none" cap="none" strike="noStrike">
                <a:solidFill>
                  <a:srgbClr val="00FF00"/>
                </a:solidFill>
                <a:latin typeface="Arial"/>
                <a:ea typeface="Arial"/>
                <a:cs typeface="Arial"/>
                <a:sym typeface="Arial"/>
              </a:rPr>
              <a:t>the</a:t>
            </a:r>
            <a:r>
              <a:rPr b="0" i="0" lang="en-US" sz="2800" u="none" cap="none" strike="noStrike">
                <a:solidFill>
                  <a:srgbClr val="FFFF00"/>
                </a:solidFill>
                <a:latin typeface="Arial"/>
                <a:ea typeface="Arial"/>
                <a:cs typeface="Arial"/>
                <a:sym typeface="Arial"/>
              </a:rPr>
              <a:t> tent and </a:t>
            </a:r>
            <a:r>
              <a:rPr b="0" i="0" lang="en-US" sz="2800" u="none" cap="none" strike="noStrike">
                <a:solidFill>
                  <a:srgbClr val="00FF00"/>
                </a:solidFill>
                <a:latin typeface="Arial"/>
                <a:ea typeface="Arial"/>
                <a:cs typeface="Arial"/>
                <a:sym typeface="Arial"/>
              </a:rPr>
              <a:t>the</a:t>
            </a:r>
            <a:r>
              <a:rPr b="0" i="0" lang="en-US" sz="2800" u="none" cap="none" strike="noStrike">
                <a:solidFill>
                  <a:srgbClr val="FFFF00"/>
                </a:solidFill>
                <a:latin typeface="Arial"/>
                <a:ea typeface="Arial"/>
                <a:cs typeface="Arial"/>
                <a:sym typeface="Arial"/>
              </a:rPr>
              <a:t> tent fell down on </a:t>
            </a:r>
            <a:r>
              <a:rPr b="0" i="0" lang="en-US" sz="2800" u="none" cap="none" strike="noStrike">
                <a:solidFill>
                  <a:srgbClr val="00FF00"/>
                </a:solidFill>
                <a:latin typeface="Arial"/>
                <a:ea typeface="Arial"/>
                <a:cs typeface="Arial"/>
                <a:sym typeface="Arial"/>
              </a:rPr>
              <a:t>the</a:t>
            </a:r>
            <a:r>
              <a:rPr b="0" i="0" lang="en-US" sz="2800" u="none" cap="none" strike="noStrike">
                <a:solidFill>
                  <a:srgbClr val="FFFF00"/>
                </a:solidFill>
                <a:latin typeface="Arial"/>
                <a:ea typeface="Arial"/>
                <a:cs typeface="Arial"/>
                <a:sym typeface="Arial"/>
              </a:rPr>
              <a:t> clown and </a:t>
            </a:r>
            <a:r>
              <a:rPr b="0" i="0" lang="en-US" sz="2800" u="none" cap="none" strike="noStrike">
                <a:solidFill>
                  <a:srgbClr val="00FF00"/>
                </a:solidFill>
                <a:latin typeface="Arial"/>
                <a:ea typeface="Arial"/>
                <a:cs typeface="Arial"/>
                <a:sym typeface="Arial"/>
              </a:rPr>
              <a:t>the</a:t>
            </a:r>
            <a:r>
              <a:rPr b="0" i="0" lang="en-US" sz="2800" u="none" cap="none" strike="noStrike">
                <a:solidFill>
                  <a:srgbClr val="FFFF00"/>
                </a:solidFill>
                <a:latin typeface="Arial"/>
                <a:ea typeface="Arial"/>
                <a:cs typeface="Arial"/>
                <a:sym typeface="Arial"/>
              </a:rPr>
              <a:t> car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Arial"/>
                <a:ea typeface="Arial"/>
                <a:cs typeface="Arial"/>
                <a:sym typeface="Arial"/>
              </a:rPr>
              <a:t>Words: ['the', 'clown', 'ran', 'after', 'the', 'car', 'and', 'the', 'car', 'ran', 'into', 'the', 'tent', 'and', 'the', 'tent', 'fell', 'down', 'on', 'the', 'clown', 'and', 'the', 'car']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Arial"/>
                <a:ea typeface="Arial"/>
                <a:cs typeface="Arial"/>
                <a:sym typeface="Arial"/>
              </a:rPr>
              <a:t>Counting...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Arial"/>
                <a:ea typeface="Arial"/>
                <a:cs typeface="Arial"/>
                <a:sym typeface="Arial"/>
              </a:rPr>
              <a:t>Counts {'and': 3, 'on': 1, 'ran': 2, 'car': 3, 'into': 1, 'after': 1, 'clown': 2, 'down': 1, 'fell': 1, </a:t>
            </a:r>
            <a:r>
              <a:rPr b="0" i="0" lang="en-US" sz="2800" u="none" cap="none" strike="noStrike">
                <a:solidFill>
                  <a:srgbClr val="00FF00"/>
                </a:solidFill>
                <a:latin typeface="Arial"/>
                <a:ea typeface="Arial"/>
                <a:cs typeface="Arial"/>
                <a:sym typeface="Arial"/>
              </a:rPr>
              <a:t>'the': 7</a:t>
            </a:r>
            <a:r>
              <a:rPr b="0" i="0" lang="en-US" sz="2800" u="none" cap="none" strike="noStrike">
                <a:solidFill>
                  <a:schemeClr val="lt1"/>
                </a:solidFill>
                <a:latin typeface="Arial"/>
                <a:ea typeface="Arial"/>
                <a:cs typeface="Arial"/>
                <a:sym typeface="Arial"/>
              </a:rPr>
              <a:t>, 'tent': 2}</a:t>
            </a:r>
            <a:endParaRPr b="0" i="0" sz="1400" u="none" cap="none" strike="noStrike">
              <a:solidFill>
                <a:srgbClr val="000000"/>
              </a:solidFill>
              <a:latin typeface="Arial"/>
              <a:ea typeface="Arial"/>
              <a:cs typeface="Arial"/>
              <a:sym typeface="Arial"/>
            </a:endParaRPr>
          </a:p>
        </p:txBody>
      </p:sp>
      <p:sp>
        <p:nvSpPr>
          <p:cNvPr id="96" name="Google Shape;96;p10"/>
          <p:cNvSpPr txBox="1"/>
          <p:nvPr/>
        </p:nvSpPr>
        <p:spPr>
          <a:xfrm>
            <a:off x="1155700" y="41566"/>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Arial"/>
              <a:buNone/>
            </a:pPr>
            <a:r>
              <a:rPr b="0" i="0" lang="en-US" sz="7600" u="none" cap="none" strike="noStrike">
                <a:solidFill>
                  <a:srgbClr val="FFD966"/>
                </a:solidFill>
                <a:latin typeface="Arial"/>
                <a:ea typeface="Arial"/>
                <a:cs typeface="Arial"/>
                <a:sym typeface="Arial"/>
              </a:rPr>
              <a:t>Counting Pattern for Words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1"/>
          <p:cNvSpPr txBox="1"/>
          <p:nvPr>
            <p:ph type="title"/>
          </p:nvPr>
        </p:nvSpPr>
        <p:spPr>
          <a:xfrm>
            <a:off x="1155700" y="23552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Definite Loops and Dictionaries</a:t>
            </a:r>
            <a:endParaRPr/>
          </a:p>
        </p:txBody>
      </p:sp>
      <p:sp>
        <p:nvSpPr>
          <p:cNvPr id="102" name="Google Shape;102;p11"/>
          <p:cNvSpPr txBox="1"/>
          <p:nvPr>
            <p:ph idx="1" type="body"/>
          </p:nvPr>
        </p:nvSpPr>
        <p:spPr>
          <a:xfrm>
            <a:off x="1155700" y="2243283"/>
            <a:ext cx="13931900" cy="2125663"/>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156"/>
              <a:buNone/>
            </a:pPr>
            <a:r>
              <a:rPr lang="en-US" sz="3600" u="none" cap="none" strike="noStrike">
                <a:solidFill>
                  <a:schemeClr val="lt1"/>
                </a:solidFill>
                <a:latin typeface="Arial"/>
                <a:ea typeface="Arial"/>
                <a:cs typeface="Arial"/>
                <a:sym typeface="Arial"/>
              </a:rPr>
              <a:t>Even though </a:t>
            </a:r>
            <a:r>
              <a:rPr lang="en-US" sz="3600" u="none" cap="none" strike="noStrike">
                <a:solidFill>
                  <a:srgbClr val="00FF00"/>
                </a:solidFill>
                <a:latin typeface="Arial"/>
                <a:ea typeface="Arial"/>
                <a:cs typeface="Arial"/>
                <a:sym typeface="Arial"/>
              </a:rPr>
              <a:t>dictionaries</a:t>
            </a:r>
            <a:r>
              <a:rPr lang="en-US" sz="3600" u="none" cap="none" strike="noStrike">
                <a:solidFill>
                  <a:schemeClr val="lt1"/>
                </a:solidFill>
                <a:latin typeface="Arial"/>
                <a:ea typeface="Arial"/>
                <a:cs typeface="Arial"/>
                <a:sym typeface="Arial"/>
              </a:rPr>
              <a:t> are not stored in order, we can write a </a:t>
            </a:r>
            <a:r>
              <a:rPr lang="en-US" sz="3600" u="none" cap="none" strike="noStrike">
                <a:solidFill>
                  <a:srgbClr val="FFFF00"/>
                </a:solidFill>
                <a:latin typeface="Arial"/>
                <a:ea typeface="Arial"/>
                <a:cs typeface="Arial"/>
                <a:sym typeface="Arial"/>
              </a:rPr>
              <a:t>for</a:t>
            </a:r>
            <a:r>
              <a:rPr lang="en-US" sz="3600" u="none" cap="none" strike="noStrike">
                <a:solidFill>
                  <a:schemeClr val="lt1"/>
                </a:solidFill>
                <a:latin typeface="Arial"/>
                <a:ea typeface="Arial"/>
                <a:cs typeface="Arial"/>
                <a:sym typeface="Arial"/>
              </a:rPr>
              <a:t> loop that goes through all the </a:t>
            </a:r>
            <a:r>
              <a:rPr lang="en-US" sz="3600" u="none" cap="none" strike="noStrike">
                <a:solidFill>
                  <a:srgbClr val="00FFFF"/>
                </a:solidFill>
                <a:latin typeface="Arial"/>
                <a:ea typeface="Arial"/>
                <a:cs typeface="Arial"/>
                <a:sym typeface="Arial"/>
              </a:rPr>
              <a:t>entries</a:t>
            </a:r>
            <a:r>
              <a:rPr lang="en-US" sz="3600" u="none" cap="none" strike="noStrike">
                <a:solidFill>
                  <a:schemeClr val="lt1"/>
                </a:solidFill>
                <a:latin typeface="Arial"/>
                <a:ea typeface="Arial"/>
                <a:cs typeface="Arial"/>
                <a:sym typeface="Arial"/>
              </a:rPr>
              <a:t> in a </a:t>
            </a:r>
            <a:r>
              <a:rPr lang="en-US" sz="3600" u="none" cap="none" strike="noStrike">
                <a:solidFill>
                  <a:srgbClr val="00FF00"/>
                </a:solidFill>
                <a:latin typeface="Arial"/>
                <a:ea typeface="Arial"/>
                <a:cs typeface="Arial"/>
                <a:sym typeface="Arial"/>
              </a:rPr>
              <a:t>dictionary</a:t>
            </a:r>
            <a:r>
              <a:rPr lang="en-US" sz="3600" u="none" cap="none" strike="noStrike">
                <a:solidFill>
                  <a:schemeClr val="lt1"/>
                </a:solidFill>
                <a:latin typeface="Arial"/>
                <a:ea typeface="Arial"/>
                <a:cs typeface="Arial"/>
                <a:sym typeface="Arial"/>
              </a:rPr>
              <a:t> - actually it goes through all of the </a:t>
            </a:r>
            <a:r>
              <a:rPr lang="en-US" sz="3600" u="none" cap="none" strike="noStrike">
                <a:solidFill>
                  <a:srgbClr val="00FFFF"/>
                </a:solidFill>
                <a:latin typeface="Arial"/>
                <a:ea typeface="Arial"/>
                <a:cs typeface="Arial"/>
                <a:sym typeface="Arial"/>
              </a:rPr>
              <a:t>keys</a:t>
            </a:r>
            <a:r>
              <a:rPr lang="en-US" sz="3600" u="none" cap="none" strike="noStrike">
                <a:solidFill>
                  <a:schemeClr val="lt1"/>
                </a:solidFill>
                <a:latin typeface="Arial"/>
                <a:ea typeface="Arial"/>
                <a:cs typeface="Arial"/>
                <a:sym typeface="Arial"/>
              </a:rPr>
              <a:t> in the </a:t>
            </a:r>
            <a:r>
              <a:rPr lang="en-US" sz="3600" u="none" cap="none" strike="noStrike">
                <a:solidFill>
                  <a:srgbClr val="00FF00"/>
                </a:solidFill>
                <a:latin typeface="Arial"/>
                <a:ea typeface="Arial"/>
                <a:cs typeface="Arial"/>
                <a:sym typeface="Arial"/>
              </a:rPr>
              <a:t>dictionary</a:t>
            </a:r>
            <a:r>
              <a:rPr lang="en-US" sz="3600" u="none" cap="none" strike="noStrike">
                <a:solidFill>
                  <a:schemeClr val="lt1"/>
                </a:solidFill>
                <a:latin typeface="Arial"/>
                <a:ea typeface="Arial"/>
                <a:cs typeface="Arial"/>
                <a:sym typeface="Arial"/>
              </a:rPr>
              <a:t> and</a:t>
            </a:r>
            <a:r>
              <a:rPr lang="en-US" sz="3600" u="none" cap="none" strike="noStrike">
                <a:solidFill>
                  <a:srgbClr val="00FFFF"/>
                </a:solidFill>
                <a:latin typeface="Arial"/>
                <a:ea typeface="Arial"/>
                <a:cs typeface="Arial"/>
                <a:sym typeface="Arial"/>
              </a:rPr>
              <a:t> looks up</a:t>
            </a:r>
            <a:r>
              <a:rPr lang="en-US" sz="3600" u="none" cap="none" strike="noStrike">
                <a:solidFill>
                  <a:schemeClr val="lt1"/>
                </a:solidFill>
                <a:latin typeface="Arial"/>
                <a:ea typeface="Arial"/>
                <a:cs typeface="Arial"/>
                <a:sym typeface="Arial"/>
              </a:rPr>
              <a:t> the values</a:t>
            </a:r>
            <a:endParaRPr/>
          </a:p>
        </p:txBody>
      </p:sp>
      <p:sp>
        <p:nvSpPr>
          <p:cNvPr id="103" name="Google Shape;103;p11"/>
          <p:cNvSpPr txBox="1"/>
          <p:nvPr/>
        </p:nvSpPr>
        <p:spPr>
          <a:xfrm>
            <a:off x="2914649" y="4368947"/>
            <a:ext cx="10929939" cy="44148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rgbClr val="00FF00"/>
                </a:solidFill>
                <a:latin typeface="Courier"/>
                <a:ea typeface="Courier"/>
                <a:cs typeface="Courier"/>
                <a:sym typeface="Courier"/>
              </a:rPr>
              <a:t>counts</a:t>
            </a:r>
            <a:r>
              <a:rPr b="0" i="0" lang="en-US" sz="2400" u="none" cap="none" strike="noStrike">
                <a:solidFill>
                  <a:schemeClr val="lt1"/>
                </a:solidFill>
                <a:latin typeface="Courier"/>
                <a:ea typeface="Courier"/>
                <a:cs typeface="Courier"/>
                <a:sym typeface="Courier"/>
              </a:rPr>
              <a:t> = { </a:t>
            </a:r>
            <a:r>
              <a:rPr b="0" i="0" lang="en-US" sz="2400" u="none" cap="none" strike="noStrike">
                <a:solidFill>
                  <a:srgbClr val="00FFFF"/>
                </a:solidFill>
                <a:latin typeface="Courier"/>
                <a:ea typeface="Courier"/>
                <a:cs typeface="Courier"/>
                <a:sym typeface="Courier"/>
              </a:rPr>
              <a:t>'chuck'</a:t>
            </a:r>
            <a:r>
              <a:rPr b="0" i="0" lang="en-US" sz="2400" u="none" cap="none" strike="noStrike">
                <a:solidFill>
                  <a:schemeClr val="lt1"/>
                </a:solidFill>
                <a:latin typeface="Courier"/>
                <a:ea typeface="Courier"/>
                <a:cs typeface="Courier"/>
                <a:sym typeface="Courier"/>
              </a:rPr>
              <a:t> : 1 , </a:t>
            </a:r>
            <a:r>
              <a:rPr b="0" i="0" lang="en-US" sz="2400" u="none" cap="none" strike="noStrike">
                <a:solidFill>
                  <a:srgbClr val="00FFFF"/>
                </a:solidFill>
                <a:latin typeface="Courier"/>
                <a:ea typeface="Courier"/>
                <a:cs typeface="Courier"/>
                <a:sym typeface="Courier"/>
              </a:rPr>
              <a:t>'fred'</a:t>
            </a:r>
            <a:r>
              <a:rPr b="0" i="0" lang="en-US" sz="2400" u="none" cap="none" strike="noStrike">
                <a:solidFill>
                  <a:schemeClr val="lt1"/>
                </a:solidFill>
                <a:latin typeface="Courier"/>
                <a:ea typeface="Courier"/>
                <a:cs typeface="Courier"/>
                <a:sym typeface="Courier"/>
              </a:rPr>
              <a:t> : 42, </a:t>
            </a:r>
            <a:r>
              <a:rPr b="0" i="0" lang="en-US" sz="2400" u="none" cap="none" strike="noStrike">
                <a:solidFill>
                  <a:srgbClr val="00FFFF"/>
                </a:solidFill>
                <a:latin typeface="Courier"/>
                <a:ea typeface="Courier"/>
                <a:cs typeface="Courier"/>
                <a:sym typeface="Courier"/>
              </a:rPr>
              <a:t>'jan'</a:t>
            </a:r>
            <a:r>
              <a:rPr b="0" i="0" lang="en-US" sz="2400" u="none" cap="none" strike="noStrike">
                <a:solidFill>
                  <a:schemeClr val="lt1"/>
                </a:solidFill>
                <a:latin typeface="Courier"/>
                <a:ea typeface="Courier"/>
                <a:cs typeface="Courier"/>
                <a:sym typeface="Courier"/>
              </a:rPr>
              <a:t>: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FF"/>
                </a:solidFill>
                <a:latin typeface="Courier"/>
                <a:ea typeface="Courier"/>
                <a:cs typeface="Courier"/>
                <a:sym typeface="Courier"/>
              </a:rPr>
              <a:t>key</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counts</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rgbClr val="00FFFF"/>
                </a:solidFill>
                <a:latin typeface="Courier"/>
                <a:ea typeface="Courier"/>
                <a:cs typeface="Courier"/>
                <a:sym typeface="Courier"/>
              </a:rPr>
              <a:t>key</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counts</a:t>
            </a:r>
            <a:r>
              <a:rPr b="0" i="0" lang="en-US" sz="2400" u="none" cap="none" strike="noStrike">
                <a:solidFill>
                  <a:srgbClr val="00FFFF"/>
                </a:solidFill>
                <a:latin typeface="Courier"/>
                <a:ea typeface="Courier"/>
                <a:cs typeface="Courier"/>
                <a:sym typeface="Courier"/>
              </a:rPr>
              <a:t>[key]</a:t>
            </a:r>
            <a:r>
              <a:rPr b="0" i="0" lang="en-US" sz="2400" u="none" cap="none" strike="noStrike">
                <a:solidFill>
                  <a:srgbClr val="FFFF00"/>
                </a:solidFill>
                <a:latin typeface="Courier"/>
                <a:ea typeface="Courier"/>
                <a:cs typeface="Courier"/>
                <a:sym typeface="Courier"/>
              </a:rPr>
              <a:t>)</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New"/>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New"/>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FF"/>
              </a:buClr>
              <a:buSzPts val="600"/>
              <a:buFont typeface="Courier New"/>
              <a:buNone/>
            </a:pPr>
            <a:r>
              <a:rPr b="0" i="0" lang="en-US" sz="2400" u="none" cap="none" strike="noStrike">
                <a:solidFill>
                  <a:srgbClr val="00FFFF"/>
                </a:solidFill>
                <a:latin typeface="Courier"/>
                <a:ea typeface="Courier"/>
                <a:cs typeface="Courier"/>
                <a:sym typeface="Courier"/>
              </a:rPr>
              <a:t>jan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600"/>
              <a:buFont typeface="Courier New"/>
              <a:buNone/>
            </a:pPr>
            <a:r>
              <a:rPr b="0" i="0" lang="en-US" sz="2400" u="none" cap="none" strike="noStrike">
                <a:solidFill>
                  <a:srgbClr val="00FFFF"/>
                </a:solidFill>
                <a:latin typeface="Courier"/>
                <a:ea typeface="Courier"/>
                <a:cs typeface="Courier"/>
                <a:sym typeface="Courier"/>
              </a:rPr>
              <a:t>chuck</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600"/>
              <a:buFont typeface="Courier New"/>
              <a:buNone/>
            </a:pPr>
            <a:r>
              <a:rPr b="0" i="0" lang="en-US" sz="2400" u="none" cap="none" strike="noStrike">
                <a:solidFill>
                  <a:srgbClr val="00FFFF"/>
                </a:solidFill>
                <a:latin typeface="Courier"/>
                <a:ea typeface="Courier"/>
                <a:cs typeface="Courier"/>
                <a:sym typeface="Courier"/>
              </a:rPr>
              <a:t>fred</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ourier New"/>
              <a:buNone/>
            </a:pPr>
            <a:r>
              <a:t/>
            </a:r>
            <a:endParaRPr b="0" i="0" sz="2400" u="none" cap="none" strike="noStrike">
              <a:solidFill>
                <a:schemeClr val="lt1"/>
              </a:solidFill>
              <a:latin typeface="Courier"/>
              <a:ea typeface="Courier"/>
              <a:cs typeface="Courier"/>
              <a:sym typeface="Couri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2"/>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650"/>
              <a:buFont typeface="Cabin"/>
              <a:buNone/>
            </a:pPr>
            <a:r>
              <a:rPr lang="en-US" sz="6600" u="none" cap="none" strike="noStrike">
                <a:solidFill>
                  <a:srgbClr val="FFD966"/>
                </a:solidFill>
                <a:latin typeface="Arial"/>
                <a:ea typeface="Arial"/>
                <a:cs typeface="Arial"/>
                <a:sym typeface="Arial"/>
              </a:rPr>
              <a:t>Retrieving Lists of Keys and Values</a:t>
            </a:r>
            <a:endParaRPr/>
          </a:p>
        </p:txBody>
      </p:sp>
      <p:sp>
        <p:nvSpPr>
          <p:cNvPr id="109" name="Google Shape;109;p12"/>
          <p:cNvSpPr txBox="1"/>
          <p:nvPr>
            <p:ph idx="1" type="body"/>
          </p:nvPr>
        </p:nvSpPr>
        <p:spPr>
          <a:xfrm>
            <a:off x="1155700" y="2825921"/>
            <a:ext cx="3878711" cy="3612886"/>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You can get a list of </a:t>
            </a:r>
            <a:r>
              <a:rPr lang="en-US" sz="3600" u="none" cap="none" strike="noStrike">
                <a:solidFill>
                  <a:srgbClr val="00FF00"/>
                </a:solidFill>
                <a:latin typeface="Arial"/>
                <a:ea typeface="Arial"/>
                <a:cs typeface="Arial"/>
                <a:sym typeface="Arial"/>
              </a:rPr>
              <a:t>keys</a:t>
            </a:r>
            <a:r>
              <a:rPr lang="en-US" sz="3600" u="none" cap="none" strike="noStrike">
                <a:solidFill>
                  <a:schemeClr val="lt1"/>
                </a:solidFill>
                <a:latin typeface="Arial"/>
                <a:ea typeface="Arial"/>
                <a:cs typeface="Arial"/>
                <a:sym typeface="Arial"/>
              </a:rPr>
              <a:t>, </a:t>
            </a:r>
            <a:r>
              <a:rPr lang="en-US" sz="3600" u="none" cap="none" strike="noStrike">
                <a:solidFill>
                  <a:srgbClr val="FF00FF"/>
                </a:solidFill>
                <a:latin typeface="Arial"/>
                <a:ea typeface="Arial"/>
                <a:cs typeface="Arial"/>
                <a:sym typeface="Arial"/>
              </a:rPr>
              <a:t>values,</a:t>
            </a:r>
            <a:r>
              <a:rPr lang="en-US" sz="3600" u="none" cap="none" strike="noStrike">
                <a:solidFill>
                  <a:schemeClr val="lt1"/>
                </a:solidFill>
                <a:latin typeface="Arial"/>
                <a:ea typeface="Arial"/>
                <a:cs typeface="Arial"/>
                <a:sym typeface="Arial"/>
              </a:rPr>
              <a:t> or</a:t>
            </a:r>
            <a:r>
              <a:rPr lang="en-US" sz="3600" u="none" cap="none" strike="noStrike">
                <a:solidFill>
                  <a:srgbClr val="FF7F00"/>
                </a:solidFill>
                <a:latin typeface="Arial"/>
                <a:ea typeface="Arial"/>
                <a:cs typeface="Arial"/>
                <a:sym typeface="Arial"/>
              </a:rPr>
              <a:t> items (both)</a:t>
            </a:r>
            <a:r>
              <a:rPr lang="en-US" sz="3600" u="none" cap="none" strike="noStrike">
                <a:solidFill>
                  <a:schemeClr val="lt1"/>
                </a:solidFill>
                <a:latin typeface="Arial"/>
                <a:ea typeface="Arial"/>
                <a:cs typeface="Arial"/>
                <a:sym typeface="Arial"/>
              </a:rPr>
              <a:t> from a dictionary</a:t>
            </a:r>
            <a:endParaRPr/>
          </a:p>
        </p:txBody>
      </p:sp>
      <p:sp>
        <p:nvSpPr>
          <p:cNvPr id="110" name="Google Shape;110;p12"/>
          <p:cNvSpPr txBox="1"/>
          <p:nvPr/>
        </p:nvSpPr>
        <p:spPr>
          <a:xfrm>
            <a:off x="6001650" y="2540000"/>
            <a:ext cx="9628799" cy="52739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25"/>
              <a:buFont typeface="Cabin"/>
              <a:buNone/>
            </a:pPr>
            <a:r>
              <a:rPr b="0" i="0" lang="en-US" sz="2500" u="none" cap="none" strike="noStrike">
                <a:solidFill>
                  <a:schemeClr val="lt1"/>
                </a:solidFill>
                <a:latin typeface="Courier"/>
                <a:ea typeface="Courier"/>
                <a:cs typeface="Courier"/>
                <a:sym typeface="Courier"/>
              </a:rPr>
              <a:t>jjj = { 'chuck' : 1 , 'fred' : 42, 'jan':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25"/>
              <a:buFont typeface="Courier"/>
              <a:buNone/>
            </a:pPr>
            <a:r>
              <a:rPr b="0" i="0" lang="en-US" sz="2500" u="none" cap="none" strike="noStrike">
                <a:solidFill>
                  <a:srgbClr val="FFFF00"/>
                </a:solidFill>
                <a:latin typeface="Courier"/>
                <a:ea typeface="Courier"/>
                <a:cs typeface="Courier"/>
                <a:sym typeface="Courier"/>
              </a:rPr>
              <a:t>print(</a:t>
            </a:r>
            <a:r>
              <a:rPr b="0" i="0" lang="en-US" sz="2500" u="none" cap="none" strike="noStrike">
                <a:solidFill>
                  <a:srgbClr val="FF00FF"/>
                </a:solidFill>
                <a:latin typeface="Courier"/>
                <a:ea typeface="Courier"/>
                <a:cs typeface="Courier"/>
                <a:sym typeface="Courier"/>
              </a:rPr>
              <a:t>list</a:t>
            </a:r>
            <a:r>
              <a:rPr b="0" i="0" lang="en-US" sz="2500" u="none" cap="none" strike="noStrike">
                <a:solidFill>
                  <a:schemeClr val="lt1"/>
                </a:solidFill>
                <a:latin typeface="Courier"/>
                <a:ea typeface="Courier"/>
                <a:cs typeface="Courier"/>
                <a:sym typeface="Courier"/>
              </a:rPr>
              <a:t>(jjj)</a:t>
            </a:r>
            <a:r>
              <a:rPr b="0" i="0" lang="en-US" sz="2500" u="none" cap="none" strike="noStrike">
                <a:solidFill>
                  <a:srgbClr val="FFFF00"/>
                </a:solidFill>
                <a:latin typeface="Courier"/>
                <a:ea typeface="Courier"/>
                <a:cs typeface="Courier"/>
                <a:sym typeface="Courier"/>
              </a:rPr>
              <a:t>)</a:t>
            </a:r>
            <a:endParaRPr b="0" i="0" sz="25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25"/>
              <a:buFont typeface="Cabin"/>
              <a:buNone/>
            </a:pPr>
            <a:r>
              <a:rPr b="0" i="0" lang="en-US" sz="2500" u="none" cap="none" strike="noStrike">
                <a:solidFill>
                  <a:srgbClr val="00FF00"/>
                </a:solidFill>
                <a:latin typeface="Courier"/>
                <a:ea typeface="Courier"/>
                <a:cs typeface="Courier"/>
                <a:sym typeface="Courier"/>
              </a:rPr>
              <a:t>['jan', 'chuck', 'fred']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25"/>
              <a:buFont typeface="Cabin"/>
              <a:buNone/>
            </a:pPr>
            <a:r>
              <a:t/>
            </a:r>
            <a:endParaRPr b="0" i="0" sz="25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25"/>
              <a:buFont typeface="Courier"/>
              <a:buNone/>
            </a:pPr>
            <a:r>
              <a:rPr b="0" i="0" lang="en-US" sz="2500" u="none" cap="none" strike="noStrike">
                <a:solidFill>
                  <a:srgbClr val="FFFF00"/>
                </a:solidFill>
                <a:latin typeface="Courier"/>
                <a:ea typeface="Courier"/>
                <a:cs typeface="Courier"/>
                <a:sym typeface="Courier"/>
              </a:rPr>
              <a:t>print(</a:t>
            </a:r>
            <a:r>
              <a:rPr b="0" i="0" lang="en-US" sz="2500" u="none" cap="none" strike="noStrike">
                <a:solidFill>
                  <a:schemeClr val="lt1"/>
                </a:solidFill>
                <a:latin typeface="Courier"/>
                <a:ea typeface="Courier"/>
                <a:cs typeface="Courier"/>
                <a:sym typeface="Courier"/>
              </a:rPr>
              <a:t>jjj.</a:t>
            </a:r>
            <a:r>
              <a:rPr b="0" i="0" lang="en-US" sz="2500" u="none" cap="none" strike="noStrike">
                <a:solidFill>
                  <a:srgbClr val="FF00FF"/>
                </a:solidFill>
                <a:latin typeface="Courier"/>
                <a:ea typeface="Courier"/>
                <a:cs typeface="Courier"/>
                <a:sym typeface="Courier"/>
              </a:rPr>
              <a:t>keys()</a:t>
            </a:r>
            <a:r>
              <a:rPr b="0" i="0" lang="en-US" sz="2500" u="none" cap="none" strike="noStrike">
                <a:solidFill>
                  <a:srgbClr val="FFFF00"/>
                </a:solidFill>
                <a:latin typeface="Courier"/>
                <a:ea typeface="Courier"/>
                <a:cs typeface="Courier"/>
                <a:sym typeface="Courier"/>
              </a:rPr>
              <a:t>)</a:t>
            </a:r>
            <a:endParaRPr b="0" i="0" sz="25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25"/>
              <a:buFont typeface="Cabin"/>
              <a:buNone/>
            </a:pPr>
            <a:r>
              <a:rPr b="0" i="0" lang="en-US" sz="2500" u="none" cap="none" strike="noStrike">
                <a:solidFill>
                  <a:srgbClr val="00FF00"/>
                </a:solidFill>
                <a:latin typeface="Courier"/>
                <a:ea typeface="Courier"/>
                <a:cs typeface="Courier"/>
                <a:sym typeface="Courier"/>
              </a:rPr>
              <a:t>['jan', 'chuck', 'fred']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25"/>
              <a:buFont typeface="Cabin"/>
              <a:buNone/>
            </a:pPr>
            <a:r>
              <a:t/>
            </a:r>
            <a:endParaRPr b="0" i="0" sz="25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25"/>
              <a:buFont typeface="Courier"/>
              <a:buNone/>
            </a:pPr>
            <a:r>
              <a:rPr b="0" i="0" lang="en-US" sz="2500" u="none" cap="none" strike="noStrike">
                <a:solidFill>
                  <a:srgbClr val="FFFF00"/>
                </a:solidFill>
                <a:latin typeface="Courier"/>
                <a:ea typeface="Courier"/>
                <a:cs typeface="Courier"/>
                <a:sym typeface="Courier"/>
              </a:rPr>
              <a:t>print(</a:t>
            </a:r>
            <a:r>
              <a:rPr b="0" i="0" lang="en-US" sz="2500" u="none" cap="none" strike="noStrike">
                <a:solidFill>
                  <a:schemeClr val="lt1"/>
                </a:solidFill>
                <a:latin typeface="Courier"/>
                <a:ea typeface="Courier"/>
                <a:cs typeface="Courier"/>
                <a:sym typeface="Courier"/>
              </a:rPr>
              <a:t>jjj.</a:t>
            </a:r>
            <a:r>
              <a:rPr b="0" i="0" lang="en-US" sz="2500" u="none" cap="none" strike="noStrike">
                <a:solidFill>
                  <a:srgbClr val="FF00FF"/>
                </a:solidFill>
                <a:latin typeface="Courier"/>
                <a:ea typeface="Courier"/>
                <a:cs typeface="Courier"/>
                <a:sym typeface="Courier"/>
              </a:rPr>
              <a:t>values()</a:t>
            </a:r>
            <a:r>
              <a:rPr b="0" i="0" lang="en-US" sz="2500" u="none" cap="none" strike="noStrike">
                <a:solidFill>
                  <a:srgbClr val="FFFF00"/>
                </a:solidFill>
                <a:latin typeface="Courier"/>
                <a:ea typeface="Courier"/>
                <a:cs typeface="Courier"/>
                <a:sym typeface="Courier"/>
              </a:rPr>
              <a:t>)</a:t>
            </a:r>
            <a:endParaRPr b="0" i="0" sz="25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625"/>
              <a:buFont typeface="Cabin"/>
              <a:buNone/>
            </a:pPr>
            <a:r>
              <a:rPr b="0" i="0" lang="en-US" sz="2500" u="none" cap="none" strike="noStrike">
                <a:solidFill>
                  <a:srgbClr val="FF00FF"/>
                </a:solidFill>
                <a:latin typeface="Courier"/>
                <a:ea typeface="Courier"/>
                <a:cs typeface="Courier"/>
                <a:sym typeface="Courier"/>
              </a:rPr>
              <a:t>[100, 1,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25"/>
              <a:buFont typeface="Cabin"/>
              <a:buNone/>
            </a:pPr>
            <a:r>
              <a:t/>
            </a:r>
            <a:endParaRPr b="0" i="0" sz="25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25"/>
              <a:buFont typeface="Courier"/>
              <a:buNone/>
            </a:pPr>
            <a:r>
              <a:rPr b="0" i="0" lang="en-US" sz="2500" u="none" cap="none" strike="noStrike">
                <a:solidFill>
                  <a:srgbClr val="FFFF00"/>
                </a:solidFill>
                <a:latin typeface="Courier"/>
                <a:ea typeface="Courier"/>
                <a:cs typeface="Courier"/>
                <a:sym typeface="Courier"/>
              </a:rPr>
              <a:t>print(</a:t>
            </a:r>
            <a:r>
              <a:rPr b="0" i="0" lang="en-US" sz="2500" u="none" cap="none" strike="noStrike">
                <a:solidFill>
                  <a:schemeClr val="lt1"/>
                </a:solidFill>
                <a:latin typeface="Courier"/>
                <a:ea typeface="Courier"/>
                <a:cs typeface="Courier"/>
                <a:sym typeface="Courier"/>
              </a:rPr>
              <a:t>jjj.</a:t>
            </a:r>
            <a:r>
              <a:rPr b="0" i="0" lang="en-US" sz="2500" u="none" cap="none" strike="noStrike">
                <a:solidFill>
                  <a:srgbClr val="FF7F00"/>
                </a:solidFill>
                <a:latin typeface="Courier"/>
                <a:ea typeface="Courier"/>
                <a:cs typeface="Courier"/>
                <a:sym typeface="Courier"/>
              </a:rPr>
              <a:t>items()</a:t>
            </a:r>
            <a:r>
              <a:rPr b="0" i="0" lang="en-US" sz="2500" u="none" cap="none" strike="noStrike">
                <a:solidFill>
                  <a:srgbClr val="FFFF00"/>
                </a:solidFill>
                <a:latin typeface="Courier"/>
                <a:ea typeface="Courier"/>
                <a:cs typeface="Courier"/>
                <a:sym typeface="Courier"/>
              </a:rPr>
              <a:t>)</a:t>
            </a:r>
            <a:endParaRPr b="0" i="0" sz="2500" u="none" cap="none" strike="noStrike">
              <a:solidFill>
                <a:srgbClr val="FF7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25"/>
              <a:buFont typeface="Cabin"/>
              <a:buNone/>
            </a:pPr>
            <a:r>
              <a:rPr b="0" i="0" lang="en-US" sz="2500" u="none" cap="none" strike="noStrike">
                <a:solidFill>
                  <a:srgbClr val="FF7F00"/>
                </a:solidFill>
                <a:latin typeface="Courier"/>
                <a:ea typeface="Courier"/>
                <a:cs typeface="Courier"/>
                <a:sym typeface="Courier"/>
              </a:rPr>
              <a:t>[('jan', 100), ('chuck', 1), ('fred',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25"/>
              <a:buFont typeface="Cabin"/>
              <a:buNone/>
            </a:pPr>
            <a:r>
              <a:t/>
            </a:r>
            <a:endParaRPr b="0" i="0" sz="2500" u="none" cap="none" strike="noStrike">
              <a:solidFill>
                <a:schemeClr val="lt1"/>
              </a:solidFill>
              <a:latin typeface="Courier"/>
              <a:ea typeface="Courier"/>
              <a:cs typeface="Courier"/>
              <a:sym typeface="Courier"/>
            </a:endParaRPr>
          </a:p>
        </p:txBody>
      </p:sp>
      <p:sp>
        <p:nvSpPr>
          <p:cNvPr id="111" name="Google Shape;111;p12"/>
          <p:cNvSpPr txBox="1"/>
          <p:nvPr/>
        </p:nvSpPr>
        <p:spPr>
          <a:xfrm>
            <a:off x="8699850" y="8264618"/>
            <a:ext cx="693059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Arial"/>
                <a:ea typeface="Arial"/>
                <a:cs typeface="Arial"/>
                <a:sym typeface="Arial"/>
              </a:rPr>
              <a:t>What is a “tuple”? - coming soon...</a:t>
            </a:r>
            <a:endParaRPr b="0" i="0" sz="1400" u="none" cap="none" strike="noStrike">
              <a:solidFill>
                <a:srgbClr val="000000"/>
              </a:solidFill>
              <a:latin typeface="Arial"/>
              <a:ea typeface="Arial"/>
              <a:cs typeface="Arial"/>
              <a:sym typeface="Arial"/>
            </a:endParaRPr>
          </a:p>
        </p:txBody>
      </p:sp>
      <p:cxnSp>
        <p:nvCxnSpPr>
          <p:cNvPr id="112" name="Google Shape;112;p12"/>
          <p:cNvCxnSpPr/>
          <p:nvPr/>
        </p:nvCxnSpPr>
        <p:spPr>
          <a:xfrm>
            <a:off x="10544587" y="7327515"/>
            <a:ext cx="271462" cy="729044"/>
          </a:xfrm>
          <a:prstGeom prst="straightConnector1">
            <a:avLst/>
          </a:prstGeom>
          <a:noFill/>
          <a:ln cap="rnd" cmpd="sng" w="76200">
            <a:solidFill>
              <a:schemeClr val="lt1"/>
            </a:solidFill>
            <a:prstDash val="solid"/>
            <a:miter lim="8000"/>
            <a:headEnd len="med" w="med" type="stealth"/>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title"/>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Bonus: Two Iteration Variables!</a:t>
            </a:r>
            <a:endParaRPr/>
          </a:p>
        </p:txBody>
      </p:sp>
      <p:sp>
        <p:nvSpPr>
          <p:cNvPr id="118" name="Google Shape;118;p13"/>
          <p:cNvSpPr txBox="1"/>
          <p:nvPr>
            <p:ph idx="1" type="body"/>
          </p:nvPr>
        </p:nvSpPr>
        <p:spPr>
          <a:xfrm>
            <a:off x="1155700" y="2603500"/>
            <a:ext cx="5399399" cy="5702299"/>
          </a:xfrm>
          <a:prstGeom prst="rect">
            <a:avLst/>
          </a:prstGeom>
          <a:noFill/>
          <a:ln>
            <a:noFill/>
          </a:ln>
        </p:spPr>
        <p:txBody>
          <a:bodyPr anchorCtr="0" anchor="ctr" bIns="38100" lIns="38100" spcFirstLastPara="1" rIns="38100" wrap="square" tIns="38100">
            <a:noAutofit/>
          </a:bodyPr>
          <a:lstStyle/>
          <a:p>
            <a:pPr indent="-457200" lvl="0" marL="457200" marR="0" rtl="0" algn="l">
              <a:lnSpc>
                <a:spcPct val="100000"/>
              </a:lnSpc>
              <a:spcBef>
                <a:spcPts val="0"/>
              </a:spcBef>
              <a:spcAft>
                <a:spcPts val="0"/>
              </a:spcAft>
              <a:buSzPts val="3600"/>
              <a:buFont typeface="Cabin"/>
              <a:buChar char="•"/>
            </a:pPr>
            <a:r>
              <a:rPr lang="en-US" sz="3600" u="none" cap="none" strike="noStrike">
                <a:solidFill>
                  <a:schemeClr val="lt1"/>
                </a:solidFill>
                <a:latin typeface="Arial"/>
                <a:ea typeface="Arial"/>
                <a:cs typeface="Arial"/>
                <a:sym typeface="Arial"/>
              </a:rPr>
              <a:t>We loop through the </a:t>
            </a:r>
            <a:r>
              <a:rPr lang="en-US" sz="3600" u="none" cap="none" strike="noStrike">
                <a:solidFill>
                  <a:srgbClr val="FF7F00"/>
                </a:solidFill>
                <a:latin typeface="Arial"/>
                <a:ea typeface="Arial"/>
                <a:cs typeface="Arial"/>
                <a:sym typeface="Arial"/>
              </a:rPr>
              <a:t>key</a:t>
            </a:r>
            <a:r>
              <a:rPr lang="en-US" sz="3600" u="none" cap="none" strike="noStrike">
                <a:solidFill>
                  <a:schemeClr val="lt1"/>
                </a:solidFill>
                <a:latin typeface="Arial"/>
                <a:ea typeface="Arial"/>
                <a:cs typeface="Arial"/>
                <a:sym typeface="Arial"/>
              </a:rPr>
              <a:t>-</a:t>
            </a:r>
            <a:r>
              <a:rPr lang="en-US" sz="3600" u="none" cap="none" strike="noStrike">
                <a:solidFill>
                  <a:srgbClr val="FFFF00"/>
                </a:solidFill>
                <a:latin typeface="Arial"/>
                <a:ea typeface="Arial"/>
                <a:cs typeface="Arial"/>
                <a:sym typeface="Arial"/>
              </a:rPr>
              <a:t>value</a:t>
            </a:r>
            <a:r>
              <a:rPr lang="en-US" sz="3600" u="none" cap="none" strike="noStrike">
                <a:solidFill>
                  <a:schemeClr val="lt1"/>
                </a:solidFill>
                <a:latin typeface="Arial"/>
                <a:ea typeface="Arial"/>
                <a:cs typeface="Arial"/>
                <a:sym typeface="Arial"/>
              </a:rPr>
              <a:t> pairs in a dictionary using *two* iteration variables</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Each iteration, the first variable is the </a:t>
            </a:r>
            <a:r>
              <a:rPr lang="en-US" sz="3600" u="none" cap="none" strike="noStrike">
                <a:solidFill>
                  <a:srgbClr val="FF7F00"/>
                </a:solidFill>
                <a:latin typeface="Arial"/>
                <a:ea typeface="Arial"/>
                <a:cs typeface="Arial"/>
                <a:sym typeface="Arial"/>
              </a:rPr>
              <a:t>key</a:t>
            </a:r>
            <a:r>
              <a:rPr lang="en-US" sz="3600" u="none" cap="none" strike="noStrike">
                <a:solidFill>
                  <a:schemeClr val="lt1"/>
                </a:solidFill>
                <a:latin typeface="Arial"/>
                <a:ea typeface="Arial"/>
                <a:cs typeface="Arial"/>
                <a:sym typeface="Arial"/>
              </a:rPr>
              <a:t> and the second variable is the corresponding </a:t>
            </a:r>
            <a:r>
              <a:rPr lang="en-US" sz="3600" u="none" cap="none" strike="noStrike">
                <a:solidFill>
                  <a:srgbClr val="FFFF00"/>
                </a:solidFill>
                <a:latin typeface="Arial"/>
                <a:ea typeface="Arial"/>
                <a:cs typeface="Arial"/>
                <a:sym typeface="Arial"/>
              </a:rPr>
              <a:t>value </a:t>
            </a:r>
            <a:r>
              <a:rPr lang="en-US" sz="3600" u="none" cap="none" strike="noStrike">
                <a:solidFill>
                  <a:schemeClr val="lt1"/>
                </a:solidFill>
                <a:latin typeface="Arial"/>
                <a:ea typeface="Arial"/>
                <a:cs typeface="Arial"/>
                <a:sym typeface="Arial"/>
              </a:rPr>
              <a:t>for the key</a:t>
            </a:r>
            <a:endParaRPr/>
          </a:p>
        </p:txBody>
      </p:sp>
      <p:sp>
        <p:nvSpPr>
          <p:cNvPr id="119" name="Google Shape;119;p13"/>
          <p:cNvSpPr txBox="1"/>
          <p:nvPr/>
        </p:nvSpPr>
        <p:spPr>
          <a:xfrm>
            <a:off x="7429500" y="2970250"/>
            <a:ext cx="8515350" cy="47879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rgbClr val="00FF00"/>
                </a:solidFill>
                <a:latin typeface="Courier"/>
                <a:ea typeface="Courier"/>
                <a:cs typeface="Courier"/>
                <a:sym typeface="Courier"/>
              </a:rPr>
              <a:t>jjj</a:t>
            </a:r>
            <a:r>
              <a:rPr b="0" i="0" lang="en-US" sz="2400" u="none" cap="none" strike="noStrike">
                <a:solidFill>
                  <a:schemeClr val="lt1"/>
                </a:solidFill>
                <a:latin typeface="Courier"/>
                <a:ea typeface="Courier"/>
                <a:cs typeface="Courier"/>
                <a:sym typeface="Courier"/>
              </a:rPr>
              <a:t> = { 'chuck' : 1 , 'fred' : 42, 'jan':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for </a:t>
            </a:r>
            <a:r>
              <a:rPr b="0" i="0" lang="en-US" sz="2400" u="none" cap="none" strike="noStrike">
                <a:solidFill>
                  <a:srgbClr val="FF7F00"/>
                </a:solidFill>
                <a:latin typeface="Courier"/>
                <a:ea typeface="Courier"/>
                <a:cs typeface="Courier"/>
                <a:sym typeface="Courier"/>
              </a:rPr>
              <a:t>aaa</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FFFF00"/>
                </a:solidFill>
                <a:latin typeface="Courier"/>
                <a:ea typeface="Courier"/>
                <a:cs typeface="Courier"/>
                <a:sym typeface="Courier"/>
              </a:rPr>
              <a:t>bbb</a:t>
            </a:r>
            <a:r>
              <a:rPr b="0" i="0" lang="en-US" sz="2400" u="none" cap="none" strike="noStrike">
                <a:solidFill>
                  <a:schemeClr val="lt1"/>
                </a:solidFill>
                <a:latin typeface="Courier"/>
                <a:ea typeface="Courier"/>
                <a:cs typeface="Courier"/>
                <a:sym typeface="Courier"/>
              </a:rPr>
              <a:t> in </a:t>
            </a:r>
            <a:r>
              <a:rPr b="0" i="0" lang="en-US" sz="2400" u="none" cap="none" strike="noStrike">
                <a:solidFill>
                  <a:srgbClr val="00FF00"/>
                </a:solidFill>
                <a:latin typeface="Courier"/>
                <a:ea typeface="Courier"/>
                <a:cs typeface="Courier"/>
                <a:sym typeface="Courier"/>
              </a:rPr>
              <a:t>jjj</a:t>
            </a:r>
            <a:r>
              <a:rPr b="0" i="0" lang="en-US" sz="2400" u="none" cap="none" strike="noStrike">
                <a:solidFill>
                  <a:srgbClr val="FF00FF"/>
                </a:solidFill>
                <a:latin typeface="Courier"/>
                <a:ea typeface="Courier"/>
                <a:cs typeface="Courier"/>
                <a:sym typeface="Courier"/>
              </a:rPr>
              <a:t>.items</a:t>
            </a:r>
            <a:r>
              <a:rPr b="0" i="0" lang="en-US" sz="24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    print(</a:t>
            </a:r>
            <a:r>
              <a:rPr b="0" i="0" lang="en-US" sz="2400" u="none" cap="none" strike="noStrike">
                <a:solidFill>
                  <a:srgbClr val="FF7F00"/>
                </a:solidFill>
                <a:latin typeface="Courier"/>
                <a:ea typeface="Courier"/>
                <a:cs typeface="Courier"/>
                <a:sym typeface="Courier"/>
              </a:rPr>
              <a:t>aaa</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bbb</a:t>
            </a:r>
            <a:r>
              <a:rPr b="0" i="0" lang="en-US" sz="2400" u="none" cap="none" strike="noStrike">
                <a:solidFill>
                  <a:schemeClr val="lt1"/>
                </a:solidFill>
                <a:latin typeface="Courier"/>
                <a:ea typeface="Courier"/>
                <a:cs typeface="Courier"/>
                <a:sym typeface="Courier"/>
              </a:rPr>
              <a:t>)</a:t>
            </a:r>
            <a:endParaRPr b="0" i="0" sz="24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600"/>
              <a:buFont typeface="Cabin"/>
              <a:buNone/>
            </a:pPr>
            <a:r>
              <a:rPr b="0" i="0" lang="en-US" sz="2400" u="none" cap="none" strike="noStrike">
                <a:solidFill>
                  <a:srgbClr val="FF7F00"/>
                </a:solidFill>
                <a:latin typeface="Courier"/>
                <a:ea typeface="Courier"/>
                <a:cs typeface="Courier"/>
                <a:sym typeface="Courier"/>
              </a:rPr>
              <a:t>jan</a:t>
            </a:r>
            <a:r>
              <a:rPr b="0" i="0" lang="en-US" sz="2400" u="none" cap="none" strike="noStrike">
                <a:solidFill>
                  <a:srgbClr val="FFFF00"/>
                </a:solidFill>
                <a:latin typeface="Courier"/>
                <a:ea typeface="Courier"/>
                <a:cs typeface="Courier"/>
                <a:sym typeface="Courier"/>
              </a:rPr>
              <a:t>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600"/>
              <a:buFont typeface="Cabin"/>
              <a:buNone/>
            </a:pPr>
            <a:r>
              <a:rPr b="0" i="0" lang="en-US" sz="2400" u="none" cap="none" strike="noStrike">
                <a:solidFill>
                  <a:srgbClr val="FF7F00"/>
                </a:solidFill>
                <a:latin typeface="Courier"/>
                <a:ea typeface="Courier"/>
                <a:cs typeface="Courier"/>
                <a:sym typeface="Courier"/>
              </a:rPr>
              <a:t>chuck</a:t>
            </a:r>
            <a:r>
              <a:rPr b="0" i="0" lang="en-US" sz="2400" u="none" cap="none" strike="noStrike">
                <a:solidFill>
                  <a:srgbClr val="FFFF00"/>
                </a:solidFill>
                <a:latin typeface="Courier"/>
                <a:ea typeface="Courier"/>
                <a:cs typeface="Courier"/>
                <a:sym typeface="Courier"/>
              </a:rPr>
              <a: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600"/>
              <a:buFont typeface="Cabin"/>
              <a:buNone/>
            </a:pPr>
            <a:r>
              <a:rPr b="0" i="0" lang="en-US" sz="2400" u="none" cap="none" strike="noStrike">
                <a:solidFill>
                  <a:srgbClr val="FF7F00"/>
                </a:solidFill>
                <a:latin typeface="Courier"/>
                <a:ea typeface="Courier"/>
                <a:cs typeface="Courier"/>
                <a:sym typeface="Courier"/>
              </a:rPr>
              <a:t>fred</a:t>
            </a:r>
            <a:r>
              <a:rPr b="0" i="0" lang="en-US" sz="2400" u="none" cap="none" strike="noStrike">
                <a:solidFill>
                  <a:srgbClr val="FFFF00"/>
                </a:solidFill>
                <a:latin typeface="Courier"/>
                <a:ea typeface="Courier"/>
                <a:cs typeface="Courier"/>
                <a:sym typeface="Courier"/>
              </a:rPr>
              <a:t>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1" i="0" lang="en-US" sz="2400" u="none" cap="none" strike="noStrike">
                <a:solidFill>
                  <a:schemeClr val="lt1"/>
                </a:solidFill>
                <a:latin typeface="Courier"/>
                <a:ea typeface="Courier"/>
                <a:cs typeface="Courier"/>
                <a:sym typeface="Courier"/>
              </a:rPr>
              <a:t> </a:t>
            </a:r>
            <a:endParaRPr b="1" i="0" sz="24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Courier"/>
              <a:ea typeface="Courier"/>
              <a:cs typeface="Courier"/>
              <a:sym typeface="Courier"/>
            </a:endParaRPr>
          </a:p>
        </p:txBody>
      </p:sp>
      <p:sp>
        <p:nvSpPr>
          <p:cNvPr id="120" name="Google Shape;120;p13"/>
          <p:cNvSpPr txBox="1"/>
          <p:nvPr/>
        </p:nvSpPr>
        <p:spPr>
          <a:xfrm>
            <a:off x="12484101" y="6072180"/>
            <a:ext cx="1495499" cy="622199"/>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[chuck]</a:t>
            </a:r>
            <a:endParaRPr b="0" i="0" sz="1400" u="none" cap="none" strike="noStrike">
              <a:solidFill>
                <a:srgbClr val="000000"/>
              </a:solidFill>
              <a:latin typeface="Arial"/>
              <a:ea typeface="Arial"/>
              <a:cs typeface="Arial"/>
              <a:sym typeface="Arial"/>
            </a:endParaRPr>
          </a:p>
        </p:txBody>
      </p:sp>
      <p:sp>
        <p:nvSpPr>
          <p:cNvPr id="121" name="Google Shape;121;p13"/>
          <p:cNvSpPr txBox="1"/>
          <p:nvPr/>
        </p:nvSpPr>
        <p:spPr>
          <a:xfrm>
            <a:off x="14274802" y="6059480"/>
            <a:ext cx="368299" cy="647700"/>
          </a:xfrm>
          <a:prstGeom prst="rect">
            <a:avLst/>
          </a:prstGeom>
          <a:noFill/>
          <a:ln cap="rnd" cmpd="sng" w="25400">
            <a:solidFill>
              <a:srgbClr val="FFFF00"/>
            </a:solidFill>
            <a:prstDash val="solid"/>
            <a:miter lim="8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22" name="Google Shape;122;p13"/>
          <p:cNvSpPr txBox="1"/>
          <p:nvPr/>
        </p:nvSpPr>
        <p:spPr>
          <a:xfrm>
            <a:off x="12771437" y="6897680"/>
            <a:ext cx="1157400" cy="622199"/>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[fred]</a:t>
            </a:r>
            <a:endParaRPr b="0" i="0" sz="1400" u="none" cap="none" strike="noStrike">
              <a:solidFill>
                <a:srgbClr val="000000"/>
              </a:solidFill>
              <a:latin typeface="Arial"/>
              <a:ea typeface="Arial"/>
              <a:cs typeface="Arial"/>
              <a:sym typeface="Arial"/>
            </a:endParaRPr>
          </a:p>
        </p:txBody>
      </p:sp>
      <p:sp>
        <p:nvSpPr>
          <p:cNvPr id="123" name="Google Shape;123;p13"/>
          <p:cNvSpPr txBox="1"/>
          <p:nvPr/>
        </p:nvSpPr>
        <p:spPr>
          <a:xfrm>
            <a:off x="14224002" y="6884980"/>
            <a:ext cx="596900" cy="647700"/>
          </a:xfrm>
          <a:prstGeom prst="rect">
            <a:avLst/>
          </a:prstGeom>
          <a:noFill/>
          <a:ln cap="rnd" cmpd="sng" w="25400">
            <a:solidFill>
              <a:srgbClr val="FFFF00"/>
            </a:solidFill>
            <a:prstDash val="solid"/>
            <a:miter lim="8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42</a:t>
            </a:r>
            <a:endParaRPr b="0" i="0" sz="1400" u="none" cap="none" strike="noStrike">
              <a:solidFill>
                <a:srgbClr val="000000"/>
              </a:solidFill>
              <a:latin typeface="Arial"/>
              <a:ea typeface="Arial"/>
              <a:cs typeface="Arial"/>
              <a:sym typeface="Arial"/>
            </a:endParaRPr>
          </a:p>
        </p:txBody>
      </p:sp>
      <p:sp>
        <p:nvSpPr>
          <p:cNvPr id="124" name="Google Shape;124;p13"/>
          <p:cNvSpPr txBox="1"/>
          <p:nvPr/>
        </p:nvSpPr>
        <p:spPr>
          <a:xfrm>
            <a:off x="13095403" y="4510080"/>
            <a:ext cx="866887"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aaa</a:t>
            </a:r>
            <a:endParaRPr b="0" i="0" sz="3600" u="none" cap="none" strike="noStrike">
              <a:solidFill>
                <a:srgbClr val="FF7F00"/>
              </a:solidFill>
              <a:latin typeface="Arial"/>
              <a:ea typeface="Arial"/>
              <a:cs typeface="Arial"/>
              <a:sym typeface="Arial"/>
            </a:endParaRPr>
          </a:p>
        </p:txBody>
      </p:sp>
      <p:sp>
        <p:nvSpPr>
          <p:cNvPr id="125" name="Google Shape;125;p13"/>
          <p:cNvSpPr txBox="1"/>
          <p:nvPr/>
        </p:nvSpPr>
        <p:spPr>
          <a:xfrm>
            <a:off x="14208127" y="4510080"/>
            <a:ext cx="800099"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bbb</a:t>
            </a:r>
            <a:endParaRPr b="0" i="0" sz="1400" u="none" cap="none" strike="noStrike">
              <a:solidFill>
                <a:srgbClr val="000000"/>
              </a:solidFill>
              <a:latin typeface="Arial"/>
              <a:ea typeface="Arial"/>
              <a:cs typeface="Arial"/>
              <a:sym typeface="Arial"/>
            </a:endParaRPr>
          </a:p>
        </p:txBody>
      </p:sp>
      <p:sp>
        <p:nvSpPr>
          <p:cNvPr id="126" name="Google Shape;126;p13"/>
          <p:cNvSpPr txBox="1"/>
          <p:nvPr/>
        </p:nvSpPr>
        <p:spPr>
          <a:xfrm>
            <a:off x="13023851" y="5259380"/>
            <a:ext cx="942900" cy="622199"/>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[jan]</a:t>
            </a:r>
            <a:endParaRPr b="0" i="0" sz="1400" u="none" cap="none" strike="noStrike">
              <a:solidFill>
                <a:srgbClr val="000000"/>
              </a:solidFill>
              <a:latin typeface="Arial"/>
              <a:ea typeface="Arial"/>
              <a:cs typeface="Arial"/>
              <a:sym typeface="Arial"/>
            </a:endParaRPr>
          </a:p>
        </p:txBody>
      </p:sp>
      <p:sp>
        <p:nvSpPr>
          <p:cNvPr id="127" name="Google Shape;127;p13"/>
          <p:cNvSpPr txBox="1"/>
          <p:nvPr/>
        </p:nvSpPr>
        <p:spPr>
          <a:xfrm>
            <a:off x="14262102" y="5246680"/>
            <a:ext cx="825499" cy="647700"/>
          </a:xfrm>
          <a:prstGeom prst="rect">
            <a:avLst/>
          </a:prstGeom>
          <a:noFill/>
          <a:ln cap="rnd" cmpd="sng" w="25400">
            <a:solidFill>
              <a:srgbClr val="FFFF00"/>
            </a:solidFill>
            <a:prstDash val="solid"/>
            <a:miter lim="8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100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4"/>
          <p:cNvSpPr txBox="1"/>
          <p:nvPr/>
        </p:nvSpPr>
        <p:spPr>
          <a:xfrm>
            <a:off x="693525" y="1799356"/>
            <a:ext cx="9221999" cy="735806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name = input('Enter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handle = open(name)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00"/>
              <a:buFont typeface="Arial"/>
              <a:buNone/>
            </a:pPr>
            <a:r>
              <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FF00FF"/>
                </a:solidFill>
                <a:latin typeface="Courier"/>
                <a:ea typeface="Courier"/>
                <a:cs typeface="Courier"/>
                <a:sym typeface="Courier"/>
              </a:rPr>
              <a:t>counts = dict()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ourier"/>
              <a:buNone/>
            </a:pPr>
            <a:r>
              <a:rPr b="0" i="0" lang="en-US" sz="2600" u="none" cap="none" strike="noStrike">
                <a:solidFill>
                  <a:srgbClr val="FF00FF"/>
                </a:solidFill>
                <a:latin typeface="Courier"/>
                <a:ea typeface="Courier"/>
                <a:cs typeface="Courier"/>
                <a:sym typeface="Courier"/>
              </a:rPr>
              <a:t>for line in handle: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ourier"/>
              <a:buNone/>
            </a:pPr>
            <a:r>
              <a:rPr b="0" i="0" lang="en-US" sz="2600" u="none" cap="none" strike="noStrike">
                <a:solidFill>
                  <a:srgbClr val="FF00FF"/>
                </a:solidFill>
                <a:latin typeface="Courier"/>
                <a:ea typeface="Courier"/>
                <a:cs typeface="Courier"/>
                <a:sym typeface="Courier"/>
              </a:rPr>
              <a:t>    words = line.split()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FF00FF"/>
                </a:solidFill>
                <a:latin typeface="Courier"/>
                <a:ea typeface="Courier"/>
                <a:cs typeface="Courier"/>
                <a:sym typeface="Courier"/>
              </a:rPr>
              <a:t>    for word in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FF00FF"/>
                </a:solidFill>
                <a:latin typeface="Courier"/>
                <a:ea typeface="Courier"/>
                <a:cs typeface="Courier"/>
                <a:sym typeface="Courier"/>
              </a:rPr>
              <a:t>        counts[word] = counts.get(word,0)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2600"/>
              <a:buFont typeface="Cabin"/>
              <a:buNone/>
            </a:pPr>
            <a:r>
              <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FF"/>
                </a:solidFill>
                <a:latin typeface="Courier"/>
                <a:ea typeface="Courier"/>
                <a:cs typeface="Courier"/>
                <a:sym typeface="Courier"/>
              </a:rPr>
              <a:t>bigcount = None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FF"/>
                </a:solidFill>
                <a:latin typeface="Courier"/>
                <a:ea typeface="Courier"/>
                <a:cs typeface="Courier"/>
                <a:sym typeface="Courier"/>
              </a:rPr>
              <a:t>bigword = None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FF"/>
                </a:solidFill>
                <a:latin typeface="Courier"/>
                <a:ea typeface="Courier"/>
                <a:cs typeface="Courier"/>
                <a:sym typeface="Courier"/>
              </a:rPr>
              <a:t>for word,count in counts.items():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FF"/>
                </a:solidFill>
                <a:latin typeface="Courier"/>
                <a:ea typeface="Courier"/>
                <a:cs typeface="Courier"/>
                <a:sym typeface="Courier"/>
              </a:rPr>
              <a:t>    if bigcount is None or count &gt; bigcount: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FF"/>
                </a:solidFill>
                <a:latin typeface="Courier"/>
                <a:ea typeface="Courier"/>
                <a:cs typeface="Courier"/>
                <a:sym typeface="Courier"/>
              </a:rPr>
              <a:t>        bigword =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FF"/>
                </a:solidFill>
                <a:latin typeface="Courier"/>
                <a:ea typeface="Courier"/>
                <a:cs typeface="Courier"/>
                <a:sym typeface="Courier"/>
              </a:rPr>
              <a:t>        bigcount = 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2600"/>
              <a:buFont typeface="Cabin"/>
              <a:buNone/>
            </a:pPr>
            <a:r>
              <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FF7F00"/>
                </a:solidFill>
                <a:latin typeface="Courier"/>
                <a:ea typeface="Courier"/>
                <a:cs typeface="Courier"/>
                <a:sym typeface="Courier"/>
              </a:rPr>
              <a:t>print(bigword, bigcount)</a:t>
            </a:r>
            <a:endParaRPr b="0" i="0" sz="2600" u="none" cap="none" strike="noStrike">
              <a:solidFill>
                <a:srgbClr val="FF7F00"/>
              </a:solidFill>
              <a:latin typeface="Courier"/>
              <a:ea typeface="Courier"/>
              <a:cs typeface="Courier"/>
              <a:sym typeface="Courier"/>
            </a:endParaRPr>
          </a:p>
        </p:txBody>
      </p:sp>
      <p:sp>
        <p:nvSpPr>
          <p:cNvPr id="133" name="Google Shape;133;p14"/>
          <p:cNvSpPr txBox="1"/>
          <p:nvPr/>
        </p:nvSpPr>
        <p:spPr>
          <a:xfrm>
            <a:off x="10626725" y="7630538"/>
            <a:ext cx="4421403"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Using two nested loops</a:t>
            </a:r>
            <a:endParaRPr b="0" i="0" sz="3200" u="none" cap="none" strike="noStrike">
              <a:solidFill>
                <a:schemeClr val="lt1"/>
              </a:solidFill>
              <a:latin typeface="Arial"/>
              <a:ea typeface="Arial"/>
              <a:cs typeface="Arial"/>
              <a:sym typeface="Arial"/>
            </a:endParaRPr>
          </a:p>
        </p:txBody>
      </p:sp>
      <p:sp>
        <p:nvSpPr>
          <p:cNvPr id="134" name="Google Shape;134;p14"/>
          <p:cNvSpPr txBox="1"/>
          <p:nvPr/>
        </p:nvSpPr>
        <p:spPr>
          <a:xfrm>
            <a:off x="712356" y="124693"/>
            <a:ext cx="151003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b="0" i="0" lang="en-US" sz="7600" u="none" cap="none" strike="noStrike">
                <a:solidFill>
                  <a:srgbClr val="FFD966"/>
                </a:solidFill>
                <a:latin typeface="Arial"/>
                <a:ea typeface="Arial"/>
                <a:cs typeface="Arial"/>
                <a:sym typeface="Arial"/>
              </a:rPr>
              <a:t>Finding the Most Occurring Word</a:t>
            </a:r>
            <a:endParaRPr b="0" i="0" sz="7600" u="none" cap="none" strike="noStrike">
              <a:solidFill>
                <a:srgbClr val="FFD966"/>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txBox="1"/>
          <p:nvPr/>
        </p:nvSpPr>
        <p:spPr>
          <a:xfrm>
            <a:off x="1155700" y="789709"/>
            <a:ext cx="13931900" cy="175029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b="0" i="0" lang="en-US" sz="7600" u="none" cap="none" strike="noStrike">
                <a:solidFill>
                  <a:srgbClr val="FFD966"/>
                </a:solidFill>
                <a:latin typeface="Arial"/>
                <a:ea typeface="Arial"/>
                <a:cs typeface="Arial"/>
                <a:sym typeface="Arial"/>
              </a:rPr>
              <a:t>Summary</a:t>
            </a:r>
            <a:endParaRPr b="0" i="0" sz="7600" u="none" cap="none" strike="noStrike">
              <a:solidFill>
                <a:srgbClr val="FFD966"/>
              </a:solidFill>
              <a:latin typeface="Arial"/>
              <a:ea typeface="Arial"/>
              <a:cs typeface="Arial"/>
              <a:sym typeface="Arial"/>
            </a:endParaRPr>
          </a:p>
        </p:txBody>
      </p:sp>
      <p:sp>
        <p:nvSpPr>
          <p:cNvPr id="140" name="Google Shape;140;p15"/>
          <p:cNvSpPr txBox="1"/>
          <p:nvPr/>
        </p:nvSpPr>
        <p:spPr>
          <a:xfrm>
            <a:off x="1155700" y="2603500"/>
            <a:ext cx="14139718" cy="5702299"/>
          </a:xfrm>
          <a:prstGeom prst="rect">
            <a:avLst/>
          </a:prstGeom>
          <a:noFill/>
          <a:ln>
            <a:noFill/>
          </a:ln>
        </p:spPr>
        <p:txBody>
          <a:bodyPr anchorCtr="0" anchor="ctr" bIns="38100" lIns="38100" spcFirstLastPara="1" rIns="38100" wrap="square" tIns="38100">
            <a:noAutofit/>
          </a:bodyPr>
          <a:lstStyle/>
          <a:p>
            <a:pPr indent="-571500" lvl="0" marL="571500" marR="0" rtl="0" algn="l">
              <a:lnSpc>
                <a:spcPct val="100000"/>
              </a:lnSpc>
              <a:spcBef>
                <a:spcPts val="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Lists versus Dictionaries</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10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Dictionary constants</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10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The most common word</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10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Using the get() method</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10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Using the keys(), values(), items() methods</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10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Writing dictionary loops</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10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Converting a dictionary into a tuple</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1000"/>
              </a:spcBef>
              <a:spcAft>
                <a:spcPts val="0"/>
              </a:spcAft>
              <a:buClr>
                <a:srgbClr val="000000"/>
              </a:buClr>
              <a:buSzPts val="3600"/>
              <a:buFont typeface="Arial"/>
              <a:buNone/>
            </a:pPr>
            <a:r>
              <a:t/>
            </a:r>
            <a:endParaRPr b="0" i="0" sz="3600" u="none" cap="none" strike="noStrike">
              <a:solidFill>
                <a:schemeClr val="lt1"/>
              </a:solidFill>
              <a:latin typeface="Arial"/>
              <a:ea typeface="Arial"/>
              <a:cs typeface="Arial"/>
              <a:sym typeface="Arial"/>
            </a:endParaRPr>
          </a:p>
          <a:p>
            <a:pPr indent="-342900" lvl="0" marL="571500" marR="0" rtl="0" algn="l">
              <a:lnSpc>
                <a:spcPct val="100000"/>
              </a:lnSpc>
              <a:spcBef>
                <a:spcPts val="1000"/>
              </a:spcBef>
              <a:spcAft>
                <a:spcPts val="0"/>
              </a:spcAft>
              <a:buClr>
                <a:srgbClr val="000000"/>
              </a:buClr>
              <a:buSzPts val="3600"/>
              <a:buFont typeface="Arial"/>
              <a:buNone/>
            </a:pPr>
            <a:r>
              <a:t/>
            </a:r>
            <a:endParaRPr b="0" i="0" sz="36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6"/>
          <p:cNvSpPr txBox="1"/>
          <p:nvPr>
            <p:ph idx="4294967295" type="title"/>
          </p:nvPr>
        </p:nvSpPr>
        <p:spPr>
          <a:xfrm>
            <a:off x="1462700" y="1354179"/>
            <a:ext cx="12469201" cy="414537"/>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146" name="Google Shape;146;p16"/>
          <p:cNvSpPr txBox="1"/>
          <p:nvPr/>
        </p:nvSpPr>
        <p:spPr>
          <a:xfrm>
            <a:off x="1206100" y="2296123"/>
            <a:ext cx="6797699" cy="553342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Insert new Contributors or translation credits here</a:t>
            </a:r>
            <a:endParaRPr b="0" i="0" sz="1400" u="none" cap="none" strike="noStrike">
              <a:solidFill>
                <a:srgbClr val="000000"/>
              </a:solidFill>
              <a:latin typeface="Arial"/>
              <a:ea typeface="Arial"/>
              <a:cs typeface="Arial"/>
              <a:sym typeface="Arial"/>
            </a:endParaRPr>
          </a:p>
        </p:txBody>
      </p:sp>
      <p:pic>
        <p:nvPicPr>
          <p:cNvPr id="147" name="Google Shape;147;p16"/>
          <p:cNvPicPr preferRelativeResize="0"/>
          <p:nvPr/>
        </p:nvPicPr>
        <p:blipFill rotWithShape="1">
          <a:blip r:embed="rId5">
            <a:alphaModFix/>
          </a:blip>
          <a:srcRect b="0" l="0" r="0" t="0"/>
          <a:stretch/>
        </p:blipFill>
        <p:spPr>
          <a:xfrm>
            <a:off x="13897688" y="1227248"/>
            <a:ext cx="1968599" cy="668400"/>
          </a:xfrm>
          <a:prstGeom prst="rect">
            <a:avLst/>
          </a:prstGeom>
          <a:noFill/>
          <a:ln>
            <a:noFill/>
          </a:ln>
        </p:spPr>
      </p:pic>
      <p:sp>
        <p:nvSpPr>
          <p:cNvPr id="148" name="Google Shape;148;p16"/>
          <p:cNvSpPr txBox="1"/>
          <p:nvPr/>
        </p:nvSpPr>
        <p:spPr>
          <a:xfrm>
            <a:off x="8704400" y="2426599"/>
            <a:ext cx="6797699" cy="540295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