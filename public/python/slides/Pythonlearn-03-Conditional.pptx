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9144000" cx="16256000"/>
  <p:notesSz cx="6858000" cy="9144000"/>
  <p:embeddedFontLst>
    <p:embeddedFont>
      <p:font typeface="Gill Sans"/>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 uri="GoogleSlidesCustomDataVersion2">
      <go:slidesCustomData xmlns:go="http://customooxmlschemas.google.com/" r:id="rId32" roundtripDataSignature="AMtx7mi6FDr9kBmoH6pDgxydl2XCSQJO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1B50F9-680E-4C21-8E4A-F44573E38204}">
  <a:tblStyle styleId="{9E1B50F9-680E-4C21-8E4A-F44573E38204}" styleName="Table_0">
    <a:wholeTbl>
      <a:tcTxStyle b="off" i="off">
        <a:font>
          <a:latin typeface="Arial"/>
          <a:ea typeface="Arial"/>
          <a:cs typeface="Arial"/>
        </a:font>
        <a:srgbClr val="80808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GillSans-bold.fntdata"/><Relationship Id="rId30" Type="http://schemas.openxmlformats.org/officeDocument/2006/relationships/font" Target="fonts/GillSans-regular.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solidFill>
                <a:schemeClr val="dk2"/>
              </a:solidFill>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In order to write useful programs, we almost always need the ability to check conditions and change the behavior of the program accordingly. Conditional statements give us this ability. They are one of the core concepts in learning Python.</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In order to understand how conditional statements work, we must first understand the concept of a boolean expression. </a:t>
            </a:r>
            <a:r>
              <a:rPr lang="en-US" sz="1200">
                <a:solidFill>
                  <a:schemeClr val="dk1"/>
                </a:solidFill>
                <a:latin typeface="Arial"/>
                <a:ea typeface="Arial"/>
                <a:cs typeface="Arial"/>
                <a:sym typeface="Arial"/>
              </a:rPr>
              <a:t>A boolean expression is an expression that is either true (yes) or false (no). The following example use the less then operator &lt; to check if the assigned value of x is less than 10.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x = 5</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x &lt; 10 🡪 will result in True (yes)</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 x &gt; 10 🡪 will result in False (no)</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We could use this boolean expression to divide the flow of our code into two different directions. Consider the flowchart of our program on the left hand side:</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We create a variable named x and assign a value of 5 to it</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There is a boolean expression to check if x &lt; 10?</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If the result is True (yes), then our program executes print() function to print ’Smaller’ string and moves to the next level, which is another boolean expression</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If the result is False (no), then our program moves to the next level, which is another boolean expression</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Since x &lt; 10 yields True, our program will print “Smaller” and move to the next level</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There is a boolean expression to check if x &gt; 20?</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Again, if True is yield, print(‘Bigger’) will be executed. If False is yield, the program will do nothing but move the next level.</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Since  x &gt; 20 yields False, our program will simply move to the next level.</a:t>
            </a:r>
            <a:endParaRPr/>
          </a:p>
          <a:p>
            <a:pPr indent="-171450" lvl="0" marL="17145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At the last level, our program will execute print(’Finis’) function to print ‘Finis’ string.</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By inserting boolean expressions in our scripts, we have the ability to control the flow of our logic! A Reserved Keyword (if) along with a boolean expression provide us an if-statement in Python to execute some statements only when the if-statement holds True. Such a concept is very powerful to be able to write more complex programs! In terms of Python syntax, our flowchart on the left maps to the following Python program:</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300"/>
              <a:buFont typeface="Cabin"/>
              <a:buNone/>
            </a:pPr>
            <a:r>
              <a:rPr lang="en-US" sz="1200" u="none" cap="none" strike="noStrike">
                <a:solidFill>
                  <a:srgbClr val="00FF00"/>
                </a:solidFill>
                <a:latin typeface="Courier"/>
                <a:ea typeface="Courier"/>
                <a:cs typeface="Courier"/>
                <a:sym typeface="Courier"/>
              </a:rPr>
              <a:t>x = 5</a:t>
            </a:r>
            <a:endParaRPr/>
          </a:p>
          <a:p>
            <a:pPr indent="0" lvl="0" marL="0" marR="0" rtl="0" algn="l">
              <a:lnSpc>
                <a:spcPct val="100000"/>
              </a:lnSpc>
              <a:spcBef>
                <a:spcPts val="0"/>
              </a:spcBef>
              <a:spcAft>
                <a:spcPts val="0"/>
              </a:spcAft>
              <a:buClr>
                <a:srgbClr val="FFFF00"/>
              </a:buClr>
              <a:buSzPts val="300"/>
              <a:buFont typeface="Cabin"/>
              <a:buNone/>
            </a:pPr>
            <a:r>
              <a:rPr lang="en-US" sz="1200" u="none" cap="none" strike="noStrike">
                <a:solidFill>
                  <a:srgbClr val="FFFF00"/>
                </a:solidFill>
                <a:latin typeface="Courier"/>
                <a:ea typeface="Courier"/>
                <a:cs typeface="Courier"/>
                <a:sym typeface="Courier"/>
              </a:rPr>
              <a:t>if</a:t>
            </a:r>
            <a:r>
              <a:rPr lang="en-US" sz="1200" u="none" cap="none" strike="noStrike">
                <a:solidFill>
                  <a:srgbClr val="FF7F00"/>
                </a:solidFill>
                <a:latin typeface="Courier"/>
                <a:ea typeface="Courier"/>
                <a:cs typeface="Courier"/>
                <a:sym typeface="Courier"/>
              </a:rPr>
              <a:t> </a:t>
            </a:r>
            <a:r>
              <a:rPr lang="en-US" sz="1200" u="none" cap="none" strike="noStrike">
                <a:solidFill>
                  <a:srgbClr val="00FF00"/>
                </a:solidFill>
                <a:latin typeface="Courier"/>
                <a:ea typeface="Courier"/>
                <a:cs typeface="Courier"/>
                <a:sym typeface="Courier"/>
              </a:rPr>
              <a:t>x &lt; 10:</a:t>
            </a:r>
            <a:endParaRPr/>
          </a:p>
          <a:p>
            <a:pPr indent="0" lvl="0" marL="0" rtl="0" algn="l">
              <a:lnSpc>
                <a:spcPct val="100000"/>
              </a:lnSpc>
              <a:spcBef>
                <a:spcPts val="0"/>
              </a:spcBef>
              <a:spcAft>
                <a:spcPts val="0"/>
              </a:spcAft>
              <a:buSzPts val="1400"/>
              <a:buNone/>
            </a:pPr>
            <a:r>
              <a:rPr lang="en-US" sz="1200" u="none" cap="none" strike="noStrike">
                <a:solidFill>
                  <a:srgbClr val="FF7F00"/>
                </a:solidFill>
                <a:latin typeface="Courier"/>
                <a:ea typeface="Courier"/>
                <a:cs typeface="Courier"/>
                <a:sym typeface="Courier"/>
              </a:rPr>
              <a:t>    </a:t>
            </a:r>
            <a:r>
              <a:rPr lang="en-US" sz="1200" u="none" cap="none" strike="noStrike">
                <a:solidFill>
                  <a:srgbClr val="FFFF00"/>
                </a:solidFill>
                <a:latin typeface="Courier"/>
                <a:ea typeface="Courier"/>
                <a:cs typeface="Courier"/>
                <a:sym typeface="Courier"/>
              </a:rPr>
              <a:t>print(</a:t>
            </a:r>
            <a:r>
              <a:rPr lang="en-US" sz="1200" u="none" cap="none" strike="noStrike">
                <a:solidFill>
                  <a:srgbClr val="00FF00"/>
                </a:solidFill>
                <a:latin typeface="Courier"/>
                <a:ea typeface="Courier"/>
                <a:cs typeface="Courier"/>
                <a:sym typeface="Courier"/>
              </a:rPr>
              <a:t>'</a:t>
            </a:r>
            <a:r>
              <a:rPr lang="en-US" sz="1200">
                <a:solidFill>
                  <a:srgbClr val="00FF00"/>
                </a:solidFill>
                <a:latin typeface="Courier"/>
                <a:ea typeface="Courier"/>
                <a:cs typeface="Courier"/>
                <a:sym typeface="Courier"/>
              </a:rPr>
              <a:t>Smaller'</a:t>
            </a:r>
            <a:r>
              <a:rPr lang="en-US" sz="1200">
                <a:solidFill>
                  <a:srgbClr val="FFFF00"/>
                </a:solidFill>
                <a:latin typeface="Courier"/>
                <a:ea typeface="Courier"/>
                <a:cs typeface="Courier"/>
                <a:sym typeface="Courier"/>
              </a:rPr>
              <a:t>)</a:t>
            </a:r>
            <a:endParaRPr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abin"/>
              <a:buNone/>
            </a:pPr>
            <a:r>
              <a:rPr lang="en-US" sz="1200" u="none" cap="none" strike="noStrike">
                <a:solidFill>
                  <a:srgbClr val="FFFF00"/>
                </a:solidFill>
                <a:latin typeface="Courier"/>
                <a:ea typeface="Courier"/>
                <a:cs typeface="Courier"/>
                <a:sym typeface="Courier"/>
              </a:rPr>
              <a:t>if</a:t>
            </a:r>
            <a:r>
              <a:rPr lang="en-US" sz="1200" u="none" cap="none" strike="noStrike">
                <a:solidFill>
                  <a:srgbClr val="FF7F00"/>
                </a:solidFill>
                <a:latin typeface="Courier"/>
                <a:ea typeface="Courier"/>
                <a:cs typeface="Courier"/>
                <a:sym typeface="Courier"/>
              </a:rPr>
              <a:t> </a:t>
            </a:r>
            <a:r>
              <a:rPr lang="en-US" sz="1200" u="none" cap="none" strike="noStrike">
                <a:solidFill>
                  <a:srgbClr val="00FF00"/>
                </a:solidFill>
                <a:latin typeface="Courier"/>
                <a:ea typeface="Courier"/>
                <a:cs typeface="Courier"/>
                <a:sym typeface="Courier"/>
              </a:rPr>
              <a:t>x &gt; 20:</a:t>
            </a:r>
            <a:endParaRPr/>
          </a:p>
          <a:p>
            <a:pPr indent="0" lvl="0" marL="0" rtl="0" algn="l">
              <a:lnSpc>
                <a:spcPct val="100000"/>
              </a:lnSpc>
              <a:spcBef>
                <a:spcPts val="0"/>
              </a:spcBef>
              <a:spcAft>
                <a:spcPts val="0"/>
              </a:spcAft>
              <a:buSzPts val="1400"/>
              <a:buNone/>
            </a:pPr>
            <a:r>
              <a:rPr lang="en-US" sz="1200" u="none" cap="none" strike="noStrike">
                <a:solidFill>
                  <a:srgbClr val="FF7F00"/>
                </a:solidFill>
                <a:latin typeface="Courier"/>
                <a:ea typeface="Courier"/>
                <a:cs typeface="Courier"/>
                <a:sym typeface="Courier"/>
              </a:rPr>
              <a:t>    </a:t>
            </a:r>
            <a:r>
              <a:rPr lang="en-US" sz="1200" u="none" cap="none" strike="noStrike">
                <a:solidFill>
                  <a:srgbClr val="FFFF00"/>
                </a:solidFill>
                <a:latin typeface="Courier"/>
                <a:ea typeface="Courier"/>
                <a:cs typeface="Courier"/>
                <a:sym typeface="Courier"/>
              </a:rPr>
              <a:t>print(</a:t>
            </a:r>
            <a:r>
              <a:rPr lang="en-US" sz="1200" u="none" cap="none" strike="noStrike">
                <a:solidFill>
                  <a:srgbClr val="00FF00"/>
                </a:solidFill>
                <a:latin typeface="Courier"/>
                <a:ea typeface="Courier"/>
                <a:cs typeface="Courier"/>
                <a:sym typeface="Courier"/>
              </a:rPr>
              <a:t>'</a:t>
            </a:r>
            <a:r>
              <a:rPr lang="en-US" sz="1200">
                <a:solidFill>
                  <a:srgbClr val="00FF00"/>
                </a:solidFill>
                <a:latin typeface="Courier"/>
                <a:ea typeface="Courier"/>
                <a:cs typeface="Courier"/>
                <a:sym typeface="Courier"/>
              </a:rPr>
              <a:t>Bigger'</a:t>
            </a:r>
            <a:r>
              <a:rPr lang="en-US" sz="1200">
                <a:solidFill>
                  <a:srgbClr val="FFFF00"/>
                </a:solidFill>
                <a:latin typeface="Courier"/>
                <a:ea typeface="Courier"/>
                <a:cs typeface="Courier"/>
                <a:sym typeface="Courier"/>
              </a:rPr>
              <a:t>)</a:t>
            </a:r>
            <a:endParaRPr sz="1200" u="none" cap="none" strike="noStrike">
              <a:solidFill>
                <a:srgbClr val="00FF00"/>
              </a:solidFill>
              <a:latin typeface="Courier"/>
              <a:ea typeface="Courier"/>
              <a:cs typeface="Courier"/>
              <a:sym typeface="Courier"/>
            </a:endParaRPr>
          </a:p>
          <a:p>
            <a:pPr indent="0" lvl="0" marL="0" marR="0" rtl="0" algn="ctr">
              <a:lnSpc>
                <a:spcPct val="100000"/>
              </a:lnSpc>
              <a:spcBef>
                <a:spcPts val="0"/>
              </a:spcBef>
              <a:spcAft>
                <a:spcPts val="0"/>
              </a:spcAft>
              <a:buClr>
                <a:schemeClr val="dk1"/>
              </a:buClr>
              <a:buSzPts val="1200"/>
              <a:buFont typeface="Arial"/>
              <a:buNone/>
            </a:pPr>
            <a:r>
              <a:t/>
            </a:r>
            <a:endParaRPr sz="1200" u="none" cap="none" strike="noStrike">
              <a:solidFill>
                <a:srgbClr val="00FF00"/>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a:solidFill>
                  <a:srgbClr val="FFFF00"/>
                </a:solidFill>
                <a:latin typeface="Courier"/>
                <a:ea typeface="Courier"/>
                <a:cs typeface="Courier"/>
                <a:sym typeface="Courier"/>
              </a:rPr>
              <a:t>p</a:t>
            </a:r>
            <a:r>
              <a:rPr lang="en-US" sz="1200" u="none" cap="none" strike="noStrike">
                <a:solidFill>
                  <a:srgbClr val="FFFF00"/>
                </a:solidFill>
                <a:latin typeface="Courier"/>
                <a:ea typeface="Courier"/>
                <a:cs typeface="Courier"/>
                <a:sym typeface="Courier"/>
              </a:rPr>
              <a:t>rint(</a:t>
            </a:r>
            <a:r>
              <a:rPr lang="en-US" sz="1200" u="none" cap="none" strike="noStrike">
                <a:solidFill>
                  <a:srgbClr val="00FF00"/>
                </a:solidFill>
                <a:latin typeface="Courier"/>
                <a:ea typeface="Courier"/>
                <a:cs typeface="Courier"/>
                <a:sym typeface="Courier"/>
              </a:rPr>
              <a:t>'Finis'</a:t>
            </a:r>
            <a:r>
              <a:rPr lang="en-US" sz="1200">
                <a:solidFill>
                  <a:srgbClr val="FFFF00"/>
                </a:solidFill>
                <a:latin typeface="Courier"/>
                <a:ea typeface="Courier"/>
                <a:cs typeface="Courier"/>
                <a:sym typeface="Courier"/>
              </a:rPr>
              <a:t>)</a:t>
            </a:r>
            <a:endParaRPr sz="1200">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200" u="none" cap="none" strike="noStrike">
                <a:solidFill>
                  <a:srgbClr val="FFFF00"/>
                </a:solidFill>
                <a:latin typeface="Courier"/>
                <a:ea typeface="Courier"/>
                <a:cs typeface="Courier"/>
                <a:sym typeface="Courier"/>
              </a:rPr>
              <a:t>There are few important concepts in the above Python code that we are going to dive into next. We are going to start with comparison operators first.</a:t>
            </a:r>
            <a:endParaRPr sz="1200" u="none" cap="none" strike="noStrike">
              <a:solidFill>
                <a:srgbClr val="00FF00"/>
              </a:solidFill>
              <a:latin typeface="Courier"/>
              <a:ea typeface="Courier"/>
              <a:cs typeface="Courier"/>
              <a:sym typeface="Courie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Python provides several very useful comparison operators for us to create boolean expressions that yield either True (Yes) or False (No) result. Python syntax and the corresponding meaning for these operators are listed in this table.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 operator is used to assign values to variables, whereas == operator is used to check if the left-hand-side expression is equal to the right-hand-side expression.</a:t>
            </a:r>
            <a:endParaRPr/>
          </a:p>
          <a:p>
            <a:pPr indent="0" lvl="0" marL="0" rtl="0" algn="l">
              <a:lnSpc>
                <a:spcPct val="100000"/>
              </a:lnSpc>
              <a:spcBef>
                <a:spcPts val="0"/>
              </a:spcBef>
              <a:spcAft>
                <a:spcPts val="0"/>
              </a:spcAft>
              <a:buClr>
                <a:schemeClr val="dk1"/>
              </a:buClr>
              <a:buSzPts val="1200"/>
              <a:buFont typeface="Arial"/>
              <a:buNone/>
            </a:pPr>
            <a:r>
              <a:rPr lang="en-US"/>
              <a:t>! = operator is used to check if the left-hand-side expression is different from the right-hand-side expression.</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Comparison operators simply yield True and False boolean results. They do not change the variables or expressions. They are extremely useful and we will use them heavily in building Python programs.</a:t>
            </a:r>
            <a:endParaRPr/>
          </a:p>
        </p:txBody>
      </p:sp>
      <p:sp>
        <p:nvSpPr>
          <p:cNvPr id="60" name="Google Shape;6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After understanding how comparison operators provide us boolean values, let us use them in conjunction with if-statement.</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The simplest form of a conditional execution is the if-statement. We insert a boolean logical condition after if-statement and end the condition with a colon character (:). The colon character creates a code block that will be evaluated all together if the boolean logical condition yields a True value. It is very important to note that the statements after the if-statement within the same code block are all indented (4 spaces towards right from the if-statement block). Python uses indentation to create code blocks that are evaluated at the same time. If the logical condition within if-statement is True, then the indented statements get executed. If the logical condition within if-statement is False, the indented statements are skipped.</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if-statement helps us imbed one-way decisions in our program. It is an essential method to add decision-making components within our Python programs.</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69" name="Google Shape;6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Let us talk more about the key indentation feature and rule in Python. Indentation matters in Python! After an if-statement or after a for-statement (which we are going to cover later in Iterations subject), we include indentation to create a code-block that will get executed if the if-statement yields a True logical condition. Once our if-statement is done, we have to reduce our indentation back to the level of if-statement to indicate the end of the code block. Blank lines within the indented code block are ignored by the interpreter. Similarly, we can include comments to express our code using (#) hash-tag operator.</a:t>
            </a:r>
            <a:endParaRPr/>
          </a:p>
        </p:txBody>
      </p:sp>
      <p:sp>
        <p:nvSpPr>
          <p:cNvPr id="92" name="Google Shape;9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Let us focus on two decisions as we build our program: should we create a code block or not?</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As soon as we come to if-statement, we increase our indentation to create a code block that will be evaluated only when the boolean condition x &gt; 2 holds True. Thus, the two print() statements in the code block after the if-statement are evaluated first when the boolean condition holds True. If the boolean-condition yields False, then this code block is skipped. Therefore, the next print statement, i.e., print(’Done with 2’), should be at the same level as the if-statement. To achieve this, we decrease our indentation to the same level as x=5 and if x &gt; 2: statements. </a:t>
            </a:r>
            <a:endParaRPr/>
          </a:p>
        </p:txBody>
      </p:sp>
      <p:sp>
        <p:nvSpPr>
          <p:cNvPr id="98" name="Google Shape;9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An if-statement in our code requires its own code block through indentation. Similarly, a for-statement requires a code block as well. The statements in a code block will be executed first before moving further in our code. We might have an if-statement within a for-statement, this new if-statement also requires its own code block that will be achieved with its own further indentation. Once a code block achieves its task, we can decrease our indentation to our desired level to tell Python interpreter what statements it should be executing. We control the execution of our statements in our program through indentation. This indentation feature of Python gently forces us to be precise in indicating what code-block our statement belongs to.</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Indentation in Python not only keeps our code readable but also forces us to think twice which code-block our statements should be located in our code logic. We are going to get used to indentation feature of Python trough experience.</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09" name="Google Shape;10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a:t>As we indicated earlier, an </a:t>
            </a:r>
            <a:r>
              <a:rPr lang="en-US" sz="1200">
                <a:solidFill>
                  <a:schemeClr val="dk1"/>
                </a:solidFill>
                <a:latin typeface="Arial"/>
                <a:ea typeface="Arial"/>
                <a:cs typeface="Arial"/>
                <a:sym typeface="Arial"/>
              </a:rPr>
              <a:t>if-statement helps us imbed one-way decisions in our program. We can also include another if-statement within the same code-block of an if-statement to create nested decisions in our program. For example, we create a variable named x and assign a value of 42, x = 42. We create a code block with an if-statement to check if the variable x holds a value greater than 1 through if x &gt; 1. This statements in this code-block will be evaluated since the boolean condition x &gt; 1 holds True. First, print(’More then one’) statement will be executed. Next, the statements in the code-block for following if-statement will be executed since the boolean condition for this if-statement also holds True. Thus, print(‘Less than 100’) statement will be executed. Finally, print(All done’) will be executed. As we can see x&lt;100 boolean decision is nested within x&gt;1 boolean condition. In order x&lt;100 condition to be evaluated, x &gt; 1 condition should evaluate to True. We should also note that we keep the indentation rule to create a code-block after each if-statement.  </a:t>
            </a:r>
            <a:endParaRPr/>
          </a:p>
        </p:txBody>
      </p:sp>
      <p:sp>
        <p:nvSpPr>
          <p:cNvPr id="118" name="Google Shape;11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200"/>
              <a:buFont typeface="Arial"/>
              <a:buNone/>
            </a:pPr>
            <a:r>
              <a:rPr lang="en-US" sz="1200" u="none" cap="none" strike="noStrike">
                <a:solidFill>
                  <a:schemeClr val="lt1"/>
                </a:solidFill>
                <a:latin typeface="Arial"/>
                <a:ea typeface="Arial"/>
                <a:cs typeface="Arial"/>
                <a:sym typeface="Arial"/>
              </a:rPr>
              <a:t>Sometimes we want to do one thing if a logical expression is True and something else if the expression is False. It is like a fork in the road: we must choose </a:t>
            </a:r>
            <a:r>
              <a:rPr lang="en-US" sz="1200" u="none" cap="none" strike="noStrike">
                <a:solidFill>
                  <a:srgbClr val="FFFF00"/>
                </a:solidFill>
                <a:latin typeface="Arial"/>
                <a:ea typeface="Arial"/>
                <a:cs typeface="Arial"/>
                <a:sym typeface="Arial"/>
              </a:rPr>
              <a:t>one or the other</a:t>
            </a:r>
            <a:r>
              <a:rPr lang="en-US" sz="1200" u="none" cap="none" strike="noStrike">
                <a:solidFill>
                  <a:schemeClr val="lt1"/>
                </a:solidFill>
                <a:latin typeface="Arial"/>
                <a:ea typeface="Arial"/>
                <a:cs typeface="Arial"/>
                <a:sym typeface="Arial"/>
              </a:rPr>
              <a:t> path but not both. We create such two-way decisions in our code by including an else statement after an if-statement. An else statement simply catches anything that is not caught by the previous if-statement. For example,</a:t>
            </a:r>
            <a:endParaRPr/>
          </a:p>
          <a:p>
            <a:pPr indent="0" lvl="0" marL="0" marR="0" rtl="0" algn="l">
              <a:lnSpc>
                <a:spcPct val="100000"/>
              </a:lnSpc>
              <a:spcBef>
                <a:spcPts val="0"/>
              </a:spcBef>
              <a:spcAft>
                <a:spcPts val="0"/>
              </a:spcAft>
              <a:buClr>
                <a:schemeClr val="dk1"/>
              </a:buClr>
              <a:buSzPts val="1200"/>
              <a:buFont typeface="Arial"/>
              <a:buNone/>
            </a:pPr>
            <a:r>
              <a:t/>
            </a:r>
            <a:endParaRPr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200"/>
              <a:buFont typeface="Arial"/>
              <a:buNone/>
            </a:pPr>
            <a:r>
              <a:rPr lang="en-US" sz="1200" u="none" cap="none" strike="noStrike">
                <a:solidFill>
                  <a:schemeClr val="lt1"/>
                </a:solidFill>
                <a:latin typeface="Arial"/>
                <a:ea typeface="Arial"/>
                <a:cs typeface="Arial"/>
                <a:sym typeface="Arial"/>
              </a:rPr>
              <a:t>if x &gt; 2: 🡪 statements in this code block will be executed when the variable x holds a value that is greater than 2.</a:t>
            </a:r>
            <a:endParaRPr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200"/>
              <a:buFont typeface="Arial"/>
              <a:buNone/>
            </a:pPr>
            <a:r>
              <a:rPr lang="en-US" sz="1200" u="none" cap="none" strike="noStrike">
                <a:solidFill>
                  <a:schemeClr val="lt1"/>
                </a:solidFill>
                <a:latin typeface="Arial"/>
                <a:ea typeface="Arial"/>
                <a:cs typeface="Arial"/>
                <a:sym typeface="Arial"/>
              </a:rPr>
              <a:t>else: 🡪 statements in this code block will be executed when the variable x holds a value that is less than or equal to 2.</a:t>
            </a:r>
            <a:endParaRPr sz="1200" u="none" cap="none" strike="noStrike">
              <a:solidFill>
                <a:schemeClr val="lt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Thus, when the variable x is assigned a value of 4, x = 4, x &gt; 2 will hold True and print(‘Bigger’) will be executed and expressions in else statement will be skipped. Next, print(‘All Done’) will be executed. Instead, when the variable x is assigned a value of 1, x = 1, x &gt; 2 will yield False and the expressions in if-statement will be skipped and the expression in else statement print(‘Smaller’) will be executed. Next, print(‘All Done’) will be executed.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We should note that just like an if-statement, an else-statement begins with a colon ( : ) operator and all the expressions within an else statement belongs to its own code block through its own indentation.</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43" name="Google Shape;14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166" name="Google Shape;166;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Sometimes there are more than two possibilities and we need more than two branches. One way to express a computation like that is a chained conditional:</a:t>
            </a:r>
            <a:endParaRPr/>
          </a:p>
          <a:p>
            <a:pPr indent="0" lvl="0" marL="0" marR="0" rtl="0" algn="l">
              <a:lnSpc>
                <a:spcPct val="100000"/>
              </a:lnSpc>
              <a:spcBef>
                <a:spcPts val="0"/>
              </a:spcBef>
              <a:spcAft>
                <a:spcPts val="0"/>
              </a:spcAft>
              <a:buClr>
                <a:srgbClr val="FFFF00"/>
              </a:buClr>
              <a:buSzPts val="300"/>
              <a:buFont typeface="Cabin"/>
              <a:buNone/>
            </a:pPr>
            <a:r>
              <a:t/>
            </a:r>
            <a:endParaRPr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00FF00"/>
                </a:solidFill>
                <a:latin typeface="Courier"/>
                <a:ea typeface="Courier"/>
                <a:cs typeface="Courier"/>
                <a:sym typeface="Courier"/>
              </a:rPr>
              <a:t>if</a:t>
            </a:r>
            <a:r>
              <a:rPr i="0" lang="en-US" sz="1200" u="none" cap="none" strike="noStrike">
                <a:solidFill>
                  <a:schemeClr val="lt1"/>
                </a:solidFill>
                <a:latin typeface="Courier"/>
                <a:ea typeface="Courier"/>
                <a:cs typeface="Courier"/>
                <a:sym typeface="Courier"/>
              </a:rPr>
              <a:t> x &lt; 2 :</a:t>
            </a:r>
            <a:endParaRPr/>
          </a:p>
          <a:p>
            <a:pPr indent="0" lvl="0" marL="0" rtl="0" algn="l">
              <a:lnSpc>
                <a:spcPct val="100000"/>
              </a:lnSpc>
              <a:spcBef>
                <a:spcPts val="0"/>
              </a:spcBef>
              <a:spcAft>
                <a:spcPts val="0"/>
              </a:spcAft>
              <a:buSzPts val="1400"/>
              <a:buNone/>
            </a:pP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a:t>
            </a:r>
            <a:r>
              <a:rPr lang="en-US" sz="1200">
                <a:solidFill>
                  <a:schemeClr val="lt1"/>
                </a:solidFill>
                <a:latin typeface="Courier"/>
                <a:ea typeface="Courier"/>
                <a:cs typeface="Courier"/>
                <a:sym typeface="Courier"/>
              </a:rPr>
              <a:t>s</a:t>
            </a:r>
            <a:r>
              <a:rPr i="0" lang="en-US" sz="1200" u="none" cap="none" strike="noStrike">
                <a:solidFill>
                  <a:schemeClr val="lt1"/>
                </a:solidFill>
                <a:latin typeface="Courier"/>
                <a:ea typeface="Courier"/>
                <a:cs typeface="Courier"/>
                <a:sym typeface="Courier"/>
              </a:rPr>
              <a:t>mall'</a:t>
            </a:r>
            <a:r>
              <a:rPr lang="en-US" sz="1200">
                <a:solidFill>
                  <a:srgbClr val="00FF00"/>
                </a:solidFill>
                <a:latin typeface="Courier"/>
                <a:ea typeface="Courier"/>
                <a:cs typeface="Courier"/>
                <a:sym typeface="Courier"/>
              </a:rPr>
              <a:t>)</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00FF00"/>
                </a:solidFill>
                <a:latin typeface="Courier"/>
                <a:ea typeface="Courier"/>
                <a:cs typeface="Courier"/>
                <a:sym typeface="Courier"/>
              </a:rPr>
              <a:t>elif</a:t>
            </a:r>
            <a:r>
              <a:rPr i="0" lang="en-US" sz="1200" u="none" cap="none" strike="noStrike">
                <a:solidFill>
                  <a:schemeClr val="lt1"/>
                </a:solidFill>
                <a:latin typeface="Courier"/>
                <a:ea typeface="Courier"/>
                <a:cs typeface="Courier"/>
                <a:sym typeface="Courier"/>
              </a:rPr>
              <a:t> x &lt; 10 :</a:t>
            </a:r>
            <a:endParaRPr/>
          </a:p>
          <a:p>
            <a:pPr indent="0" lvl="0" marL="0" rtl="0" algn="l">
              <a:lnSpc>
                <a:spcPct val="100000"/>
              </a:lnSpc>
              <a:spcBef>
                <a:spcPts val="0"/>
              </a:spcBef>
              <a:spcAft>
                <a:spcPts val="0"/>
              </a:spcAft>
              <a:buSzPts val="1400"/>
              <a:buNone/>
            </a:pP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a:t>
            </a:r>
            <a:r>
              <a:rPr lang="en-US" sz="1200">
                <a:solidFill>
                  <a:schemeClr val="lt1"/>
                </a:solidFill>
                <a:latin typeface="Courier"/>
                <a:ea typeface="Courier"/>
                <a:cs typeface="Courier"/>
                <a:sym typeface="Courier"/>
              </a:rPr>
              <a:t>Medium'</a:t>
            </a:r>
            <a:r>
              <a:rPr lang="en-US" sz="1200">
                <a:solidFill>
                  <a:srgbClr val="00FF00"/>
                </a:solidFill>
                <a:latin typeface="Courier"/>
                <a:ea typeface="Courier"/>
                <a:cs typeface="Courier"/>
                <a:sym typeface="Courier"/>
              </a:rPr>
              <a:t>)</a:t>
            </a:r>
            <a:endParaRPr i="0" sz="1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00FF00"/>
                </a:solidFill>
                <a:latin typeface="Courier"/>
                <a:ea typeface="Courier"/>
                <a:cs typeface="Courier"/>
                <a:sym typeface="Courier"/>
              </a:rPr>
              <a:t>else</a:t>
            </a:r>
            <a:r>
              <a:rPr i="0" lang="en-US" sz="1200" u="none" cap="none" strike="noStrike">
                <a:solidFill>
                  <a:schemeClr val="lt1"/>
                </a:solidFill>
                <a:latin typeface="Courier"/>
                <a:ea typeface="Courier"/>
                <a:cs typeface="Courier"/>
                <a:sym typeface="Courier"/>
              </a:rPr>
              <a:t> :</a:t>
            </a:r>
            <a:endParaRPr/>
          </a:p>
          <a:p>
            <a:pPr indent="0" lvl="0" marL="0" rtl="0" algn="l">
              <a:lnSpc>
                <a:spcPct val="100000"/>
              </a:lnSpc>
              <a:spcBef>
                <a:spcPts val="0"/>
              </a:spcBef>
              <a:spcAft>
                <a:spcPts val="0"/>
              </a:spcAft>
              <a:buSzPts val="1400"/>
              <a:buNone/>
            </a:pPr>
            <a:r>
              <a:rPr i="0" lang="en-US" sz="1200" u="none" cap="none" strike="noStrike">
                <a:solidFill>
                  <a:schemeClr val="lt1"/>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print(</a:t>
            </a:r>
            <a:r>
              <a:rPr i="0" lang="en-US" sz="1200" u="none" cap="none" strike="noStrike">
                <a:solidFill>
                  <a:schemeClr val="lt1"/>
                </a:solidFill>
                <a:latin typeface="Courier"/>
                <a:ea typeface="Courier"/>
                <a:cs typeface="Courier"/>
                <a:sym typeface="Courier"/>
              </a:rPr>
              <a:t>'LARGE'</a:t>
            </a:r>
            <a:r>
              <a:rPr lang="en-US" sz="1200">
                <a:solidFill>
                  <a:srgbClr val="00FF00"/>
                </a:solidFill>
                <a:latin typeface="Courier"/>
                <a:ea typeface="Courier"/>
                <a:cs typeface="Courier"/>
                <a:sym typeface="Courier"/>
              </a:rPr>
              <a:t>)</a:t>
            </a:r>
            <a:endParaRPr i="0" sz="12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i="0" lang="en-US" sz="1200" u="none" cap="none" strike="noStrike">
                <a:solidFill>
                  <a:srgbClr val="00FF00"/>
                </a:solidFill>
                <a:latin typeface="Courier"/>
                <a:ea typeface="Courier"/>
                <a:cs typeface="Courier"/>
                <a:sym typeface="Courier"/>
              </a:rPr>
              <a:t>print</a:t>
            </a:r>
            <a:r>
              <a:rPr lang="en-US" sz="1200">
                <a:solidFill>
                  <a:schemeClr val="lt1"/>
                </a:solidFill>
                <a:latin typeface="Courier"/>
                <a:ea typeface="Courier"/>
                <a:cs typeface="Courier"/>
                <a:sym typeface="Courier"/>
              </a:rPr>
              <a:t>(</a:t>
            </a:r>
            <a:r>
              <a:rPr i="0" lang="en-US" sz="1200" u="none" cap="none" strike="noStrike">
                <a:solidFill>
                  <a:schemeClr val="lt1"/>
                </a:solidFill>
                <a:latin typeface="Courier"/>
                <a:ea typeface="Courier"/>
                <a:cs typeface="Courier"/>
                <a:sym typeface="Courier"/>
              </a:rPr>
              <a:t>'All done'</a:t>
            </a:r>
            <a:r>
              <a:rPr lang="en-US" sz="1200">
                <a:solidFill>
                  <a:srgbClr val="00FF00"/>
                </a:solidFill>
                <a:latin typeface="Courier"/>
                <a:ea typeface="Courier"/>
                <a:cs typeface="Courier"/>
                <a:sym typeface="Courier"/>
              </a:rPr>
              <a:t>)</a:t>
            </a:r>
            <a:endParaRPr i="0" sz="12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elif is an abbreviation of “else if.” Again, exactly one branch will be executed. Each condition is checked in order. If the first is False, the next is checked, and so on. If one of them is True, the corresponding branch executes, and the statement ends. Even if more than one condition is True, only the first True branch executes. Therefore, the order of conditions matters! </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171" name="Google Shape;17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Suppose that the variable x is assigned a value of zero, x = 0. First, check x &lt; 2. It yields True. Thus, evaluate print(‘small’) and exit the statement. Finally, evaluate print(‘All done’).</a:t>
            </a:r>
            <a:endParaRPr/>
          </a:p>
        </p:txBody>
      </p:sp>
      <p:sp>
        <p:nvSpPr>
          <p:cNvPr id="197" name="Google Shape;19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a:t>Suppose that the variable x is assigned a value of 5, x = 5. First, check x &lt; 2. It yields False. Let us check the next condition. x &lt; 10 yields True. Thus, evaluate print(‘Medium’) and exit the statement. Finally, evaluate print(‘All done’).</a:t>
            </a:r>
            <a:endParaRPr/>
          </a:p>
        </p:txBody>
      </p:sp>
      <p:sp>
        <p:nvSpPr>
          <p:cNvPr id="224" name="Google Shape;22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a:t>Suppose that the variable x is assigned a value of 20, x = 20. First, check x &lt; 2. It yields False. Let us check the next condition. x &lt; 10 yields False. Let us move the next condition. Since this branch is else, print(‘LARGE’) is evaluated. Finally, print(’All Done’) is evaluated.</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51" name="Google Shape;25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We should note that there is no limit on the number of elif statements. Also, if there is an else clause, it</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has to be at the end, but there doesn’t have to be one. An else clause is simply an optional one.</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For example, in the following code there is no else clause. Since x&lt;10 condition yields True and print(‘Medium’) is executed and finally print(‘All done’) is executed.</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i="0" sz="12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300"/>
              <a:buFont typeface="Cabin"/>
              <a:buNone/>
            </a:pPr>
            <a:r>
              <a:rPr i="0" lang="en-US" sz="1200" u="none" cap="none" strike="noStrike">
                <a:solidFill>
                  <a:srgbClr val="FF9900"/>
                </a:solidFill>
                <a:latin typeface="Courier"/>
                <a:ea typeface="Courier"/>
                <a:cs typeface="Courier"/>
                <a:sym typeface="Courier"/>
              </a:rPr>
              <a:t>x = 5</a:t>
            </a:r>
            <a:endParaRPr/>
          </a:p>
          <a:p>
            <a:pPr indent="0" lvl="0" marL="0" marR="0" rtl="0" algn="l">
              <a:lnSpc>
                <a:spcPct val="100000"/>
              </a:lnSpc>
              <a:spcBef>
                <a:spcPts val="0"/>
              </a:spcBef>
              <a:spcAft>
                <a:spcPts val="0"/>
              </a:spcAft>
              <a:buClr>
                <a:srgbClr val="FF7F00"/>
              </a:buClr>
              <a:buSzPts val="300"/>
              <a:buFont typeface="Cabin"/>
              <a:buNone/>
            </a:pPr>
            <a:r>
              <a:rPr i="0" lang="en-US" sz="1200" u="none" cap="none" strike="noStrike">
                <a:solidFill>
                  <a:srgbClr val="FF9900"/>
                </a:solidFill>
                <a:latin typeface="Courier"/>
                <a:ea typeface="Courier"/>
                <a:cs typeface="Courier"/>
                <a:sym typeface="Courier"/>
              </a:rPr>
              <a:t>if x &lt; 2 :</a:t>
            </a:r>
            <a:endParaRPr/>
          </a:p>
          <a:p>
            <a:pPr indent="0" lvl="0" marL="0" rtl="0" algn="l">
              <a:lnSpc>
                <a:spcPct val="100000"/>
              </a:lnSpc>
              <a:spcBef>
                <a:spcPts val="0"/>
              </a:spcBef>
              <a:spcAft>
                <a:spcPts val="0"/>
              </a:spcAft>
              <a:buSzPts val="1400"/>
              <a:buNone/>
            </a:pPr>
            <a:r>
              <a:rPr i="0" lang="en-US" sz="1200" u="none" cap="none" strike="noStrike">
                <a:solidFill>
                  <a:srgbClr val="00FF00"/>
                </a:solidFill>
                <a:latin typeface="Courier"/>
                <a:ea typeface="Courier"/>
                <a:cs typeface="Courier"/>
                <a:sym typeface="Courier"/>
              </a:rPr>
              <a:t>    </a:t>
            </a:r>
            <a:r>
              <a:rPr lang="en-US" sz="1200">
                <a:solidFill>
                  <a:srgbClr val="00FF00"/>
                </a:solidFill>
                <a:latin typeface="Courier"/>
                <a:ea typeface="Courier"/>
                <a:cs typeface="Courier"/>
                <a:sym typeface="Courier"/>
              </a:rPr>
              <a:t>print('Small')</a:t>
            </a:r>
            <a:endParaRPr i="0"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300"/>
              <a:buFont typeface="Cabin"/>
              <a:buNone/>
            </a:pPr>
            <a:r>
              <a:rPr i="0" lang="en-US" sz="1200" u="none" cap="none" strike="noStrike">
                <a:solidFill>
                  <a:srgbClr val="FF9900"/>
                </a:solidFill>
                <a:latin typeface="Courier"/>
                <a:ea typeface="Courier"/>
                <a:cs typeface="Courier"/>
                <a:sym typeface="Courier"/>
              </a:rPr>
              <a:t>elif x &lt; 10 :</a:t>
            </a:r>
            <a:endParaRPr/>
          </a:p>
          <a:p>
            <a:pPr indent="0" lvl="0" marL="0" rtl="0" algn="l">
              <a:lnSpc>
                <a:spcPct val="100000"/>
              </a:lnSpc>
              <a:spcBef>
                <a:spcPts val="0"/>
              </a:spcBef>
              <a:spcAft>
                <a:spcPts val="0"/>
              </a:spcAft>
              <a:buSzPts val="1400"/>
              <a:buNone/>
            </a:pPr>
            <a:r>
              <a:rPr i="0" lang="en-US" sz="1200" u="none" cap="none" strike="noStrike">
                <a:solidFill>
                  <a:srgbClr val="FF7F00"/>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 </a:t>
            </a:r>
            <a:r>
              <a:rPr lang="en-US" sz="1200">
                <a:solidFill>
                  <a:srgbClr val="00FF00"/>
                </a:solidFill>
                <a:latin typeface="Courier"/>
                <a:ea typeface="Courier"/>
                <a:cs typeface="Courier"/>
                <a:sym typeface="Courier"/>
              </a:rPr>
              <a:t>print('Medium')</a:t>
            </a:r>
            <a:endParaRPr i="0" sz="1200" u="none" cap="none" strike="noStrike">
              <a:solidFill>
                <a:srgbClr val="00FF00"/>
              </a:solidFill>
              <a:latin typeface="Courier"/>
              <a:ea typeface="Courier"/>
              <a:cs typeface="Courier"/>
              <a:sym typeface="Courier"/>
            </a:endParaRPr>
          </a:p>
          <a:p>
            <a:pPr indent="0" lvl="0" marL="0" marR="0" rtl="0" algn="ctr">
              <a:lnSpc>
                <a:spcPct val="100000"/>
              </a:lnSpc>
              <a:spcBef>
                <a:spcPts val="0"/>
              </a:spcBef>
              <a:spcAft>
                <a:spcPts val="0"/>
              </a:spcAft>
              <a:buClr>
                <a:schemeClr val="dk1"/>
              </a:buClr>
              <a:buSzPts val="1200"/>
              <a:buFont typeface="Arial"/>
              <a:buNone/>
            </a:pPr>
            <a:r>
              <a:t/>
            </a:r>
            <a:endParaRPr i="0" sz="1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300"/>
              <a:buFont typeface="Cabin"/>
              <a:buNone/>
            </a:pPr>
            <a:r>
              <a:rPr i="0" lang="en-US" sz="1200" u="none" cap="none" strike="noStrike">
                <a:solidFill>
                  <a:srgbClr val="FF9900"/>
                </a:solidFill>
                <a:latin typeface="Courier"/>
                <a:ea typeface="Courier"/>
                <a:cs typeface="Courier"/>
                <a:sym typeface="Courier"/>
              </a:rPr>
              <a:t>print('All done')</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78" name="Google Shape;27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Let us take a look at two simple puzzles to practice our knowledge on multi-way (chained) conditionals.</a:t>
            </a:r>
            <a:endParaRPr/>
          </a:p>
          <a:p>
            <a:pPr indent="0" lvl="0" marL="0" rtl="0" algn="l">
              <a:lnSpc>
                <a:spcPct val="100000"/>
              </a:lnSpc>
              <a:spcBef>
                <a:spcPts val="0"/>
              </a:spcBef>
              <a:spcAft>
                <a:spcPts val="0"/>
              </a:spcAft>
              <a:buClr>
                <a:schemeClr val="dk1"/>
              </a:buClr>
              <a:buSzPts val="1200"/>
              <a:buFont typeface="Arial"/>
              <a:buNone/>
            </a:pPr>
            <a:r>
              <a:rPr lang="en-US"/>
              <a:t>In the following code, else branch will never be reached because either x &lt; 2 or x &gt;= 2 conditions will yield True. Thus, else branch is a redundant one.</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if x &lt; 2 :</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    print('Below 2</a:t>
            </a:r>
            <a:r>
              <a:rPr lang="en-US" sz="1200">
                <a:solidFill>
                  <a:srgbClr val="FFFF00"/>
                </a:solidFill>
                <a:latin typeface="Courier"/>
                <a:ea typeface="Courier"/>
                <a:cs typeface="Courier"/>
                <a:sym typeface="Courier"/>
              </a:rPr>
              <a:t>')</a:t>
            </a:r>
            <a:endParaRPr i="0"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elif x &gt;= 2 : </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    print('Two or more</a:t>
            </a:r>
            <a:r>
              <a:rPr lang="en-US" sz="1200">
                <a:solidFill>
                  <a:srgbClr val="FFFF00"/>
                </a:solidFill>
                <a:latin typeface="Courier"/>
                <a:ea typeface="Courier"/>
                <a:cs typeface="Courier"/>
                <a:sym typeface="Courier"/>
              </a:rPr>
              <a:t>')</a:t>
            </a:r>
            <a:endParaRPr i="0"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else :</a:t>
            </a: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    print('Something else</a:t>
            </a:r>
            <a:r>
              <a:rPr lang="en-US" sz="1200">
                <a:solidFill>
                  <a:srgbClr val="FFFF00"/>
                </a:solidFill>
                <a:latin typeface="Courier"/>
                <a:ea typeface="Courier"/>
                <a:cs typeface="Courier"/>
                <a:sym typeface="Courier"/>
              </a:rPr>
              <a:t>'</a:t>
            </a:r>
            <a:r>
              <a:rPr b="1" lang="en-US" sz="1200">
                <a:solidFill>
                  <a:srgbClr val="FFFF00"/>
                </a:solidFill>
                <a:latin typeface="Courier"/>
                <a:ea typeface="Courier"/>
                <a:cs typeface="Courier"/>
                <a:sym typeface="Courier"/>
              </a:rPr>
              <a:t>)</a:t>
            </a:r>
            <a:endParaRPr b="1" i="0"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Similarly, in the following code, elif x &lt; 10: branch will never be reached because elif x &lt; 20: branch will yield True for any value of x that is between 3 and 19. The order of branches matters! We can rectify this by moving elif x &lt; 10: branch before elif x &lt; 20: branch.</a:t>
            </a:r>
            <a:endParaRPr/>
          </a:p>
        </p:txBody>
      </p:sp>
      <p:sp>
        <p:nvSpPr>
          <p:cNvPr id="285" name="Google Shape;28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astr = 'Hello Bob</a:t>
            </a:r>
            <a:r>
              <a:rPr lang="en-US" sz="1200">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istr = int(astr)</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print('First', istr)</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In the above code, the variable astr is assigned a string value of ‘Hello Bob’ and then this variable is parsed into an integer variable istr = int(astr). </a:t>
            </a:r>
            <a:r>
              <a:rPr lang="en-US" sz="1200">
                <a:solidFill>
                  <a:schemeClr val="dk1"/>
                </a:solidFill>
                <a:latin typeface="Arial"/>
                <a:ea typeface="Arial"/>
                <a:cs typeface="Arial"/>
                <a:sym typeface="Arial"/>
              </a:rPr>
              <a:t>However if you place this code in a Python script, your script immediately stops with an error “ invalid literal for int()”. It does not execute the following statements after the error. Because the string value ‘Hello Bob’ cannot be casted into an integer value. The program simply fails with an unfriendly error message. Even though the next statements would have produced good results, our program is simply halted by this error. How can we deal with such errors in our programs in Python?  </a:t>
            </a:r>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293" name="Google Shape;29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There is a conditional execution structure built into Python to handle these types of expected and unexpected errors called “try / except”. </a:t>
            </a:r>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The idea of try and except is that you know that some sequence of instruction(s) may have a problem and you want to add some statements to be executed if an error occurs. These extra statements (the except block) are ignored if there is no error. You can think of the try and except feature in Python as an “insurance policy” on a sequence of statements. You make sure that your program does not fail upon an error.</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305" name="Google Shape;30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We can rewrite our program with an except/try conditions as follows:</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astr = 'Hello Bob'</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try:</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    </a:t>
            </a:r>
            <a:r>
              <a:rPr i="0" lang="en-US" sz="1200" u="none" cap="none" strike="noStrike">
                <a:solidFill>
                  <a:srgbClr val="FF9900"/>
                </a:solidFill>
                <a:latin typeface="Courier"/>
                <a:ea typeface="Courier"/>
                <a:cs typeface="Courier"/>
                <a:sym typeface="Courier"/>
              </a:rPr>
              <a:t>istr = int(astr)</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except:</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    istr = -1</a:t>
            </a:r>
            <a:endParaRPr/>
          </a:p>
          <a:p>
            <a:pPr indent="0" lvl="0" marL="0" marR="0" rtl="0" algn="l">
              <a:lnSpc>
                <a:spcPct val="100000"/>
              </a:lnSpc>
              <a:spcBef>
                <a:spcPts val="0"/>
              </a:spcBef>
              <a:spcAft>
                <a:spcPts val="0"/>
              </a:spcAft>
              <a:buClr>
                <a:srgbClr val="FFFF00"/>
              </a:buClr>
              <a:buSzPts val="300"/>
              <a:buFont typeface="Cabin"/>
              <a:buNone/>
            </a:pPr>
            <a:r>
              <a:t/>
            </a:r>
            <a:endParaRPr i="0"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astr = '123'</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try:</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   </a:t>
            </a:r>
            <a:r>
              <a:rPr i="0" lang="en-US" sz="1200" u="none" cap="none" strike="noStrike">
                <a:solidFill>
                  <a:srgbClr val="00FF00"/>
                </a:solidFill>
                <a:latin typeface="Courier"/>
                <a:ea typeface="Courier"/>
                <a:cs typeface="Courier"/>
                <a:sym typeface="Courier"/>
              </a:rPr>
              <a:t> istr = int(astr)</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except:</a:t>
            </a:r>
            <a:endParaRPr/>
          </a:p>
          <a:p>
            <a:pPr indent="0" lvl="0" marL="0" marR="0" rtl="0" algn="l">
              <a:lnSpc>
                <a:spcPct val="100000"/>
              </a:lnSpc>
              <a:spcBef>
                <a:spcPts val="0"/>
              </a:spcBef>
              <a:spcAft>
                <a:spcPts val="0"/>
              </a:spcAft>
              <a:buClr>
                <a:srgbClr val="FFFF00"/>
              </a:buClr>
              <a:buSzPts val="300"/>
              <a:buFont typeface="Cabin"/>
              <a:buNone/>
            </a:pPr>
            <a:r>
              <a:rPr i="0" lang="en-US" sz="1200" u="none" cap="none" strike="noStrike">
                <a:solidFill>
                  <a:srgbClr val="FFFF00"/>
                </a:solidFill>
                <a:latin typeface="Courier"/>
                <a:ea typeface="Courier"/>
                <a:cs typeface="Courier"/>
                <a:sym typeface="Courier"/>
              </a:rPr>
              <a:t>    istr = -1</a:t>
            </a:r>
            <a:endParaRPr/>
          </a:p>
          <a:p>
            <a:pPr indent="0" lvl="0" marL="0" marR="0" rtl="0" algn="ctr">
              <a:lnSpc>
                <a:spcPct val="100000"/>
              </a:lnSpc>
              <a:spcBef>
                <a:spcPts val="0"/>
              </a:spcBef>
              <a:spcAft>
                <a:spcPts val="0"/>
              </a:spcAft>
              <a:buClr>
                <a:schemeClr val="dk1"/>
              </a:buClr>
              <a:buSzPts val="1200"/>
              <a:buFont typeface="Arial"/>
              <a:buNone/>
            </a:pPr>
            <a:r>
              <a:t/>
            </a:r>
            <a:endParaRPr i="0"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SzPts val="1400"/>
              <a:buNone/>
            </a:pPr>
            <a:r>
              <a:rPr i="0" lang="en-US" sz="1200" u="none" cap="none" strike="noStrike">
                <a:solidFill>
                  <a:srgbClr val="FFFF00"/>
                </a:solidFill>
                <a:latin typeface="Courier"/>
                <a:ea typeface="Courier"/>
                <a:cs typeface="Courier"/>
                <a:sym typeface="Courier"/>
              </a:rPr>
              <a:t>print('Second', </a:t>
            </a:r>
            <a:r>
              <a:rPr lang="en-US" sz="1200">
                <a:solidFill>
                  <a:srgbClr val="FFFF00"/>
                </a:solidFill>
                <a:latin typeface="Courier"/>
                <a:ea typeface="Courier"/>
                <a:cs typeface="Courier"/>
                <a:sym typeface="Courier"/>
              </a:rPr>
              <a:t>istr)</a:t>
            </a:r>
            <a:endParaRPr i="0" sz="12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300"/>
              <a:buFont typeface="Cabin"/>
              <a:buNone/>
            </a:pPr>
            <a:r>
              <a:t/>
            </a:r>
            <a:endParaRPr i="0" sz="1200" u="none" cap="none" strike="noStrike">
              <a:solidFill>
                <a:srgbClr val="FFFF00"/>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rgbClr val="FF9900"/>
              </a:buClr>
              <a:buSzPts val="1200"/>
              <a:buFont typeface="Arial"/>
              <a:buNone/>
            </a:pPr>
            <a:r>
              <a:rPr lang="en-US" sz="1200" u="none" cap="none" strike="noStrike">
                <a:solidFill>
                  <a:srgbClr val="FF9900"/>
                </a:solidFill>
                <a:latin typeface="Arial"/>
                <a:ea typeface="Arial"/>
                <a:cs typeface="Arial"/>
                <a:sym typeface="Arial"/>
              </a:rPr>
              <a:t>When the first conversion to integer fails, the program just drops into the except: clause and the program continues by assigning -1 value to variable istr. The program prints:  First -1 </a:t>
            </a:r>
            <a:endParaRPr/>
          </a:p>
          <a:p>
            <a:pPr indent="0" lvl="0" marL="0" marR="0" rtl="0" algn="l">
              <a:lnSpc>
                <a:spcPct val="100000"/>
              </a:lnSpc>
              <a:spcBef>
                <a:spcPts val="0"/>
              </a:spcBef>
              <a:spcAft>
                <a:spcPts val="0"/>
              </a:spcAft>
              <a:buClr>
                <a:srgbClr val="FF9900"/>
              </a:buClr>
              <a:buSzPts val="1200"/>
              <a:buFont typeface="Arial"/>
              <a:buNone/>
            </a:pPr>
            <a:r>
              <a:rPr lang="en-US" sz="1200" u="none" cap="none" strike="noStrike">
                <a:solidFill>
                  <a:srgbClr val="FF9900"/>
                </a:solidFill>
                <a:latin typeface="Arial"/>
                <a:ea typeface="Arial"/>
                <a:cs typeface="Arial"/>
                <a:sym typeface="Arial"/>
              </a:rPr>
              <a:t>Similarly, </a:t>
            </a:r>
            <a:r>
              <a:rPr lang="en-US" sz="1200" u="none" cap="none" strike="noStrike">
                <a:solidFill>
                  <a:srgbClr val="00FF00"/>
                </a:solidFill>
                <a:latin typeface="Arial"/>
                <a:ea typeface="Arial"/>
                <a:cs typeface="Arial"/>
                <a:sym typeface="Arial"/>
              </a:rPr>
              <a:t>when the second conversion to integer succeeds, the program just skips the except: clause and the program continues. The program prints: Second 123</a:t>
            </a:r>
            <a:endParaRPr/>
          </a:p>
          <a:p>
            <a:pPr indent="0" lvl="0" marL="0" marR="0" rtl="0" algn="l">
              <a:lnSpc>
                <a:spcPct val="100000"/>
              </a:lnSpc>
              <a:spcBef>
                <a:spcPts val="0"/>
              </a:spcBef>
              <a:spcAft>
                <a:spcPts val="0"/>
              </a:spcAft>
              <a:buClr>
                <a:schemeClr val="dk1"/>
              </a:buClr>
              <a:buSzPts val="1200"/>
              <a:buFont typeface="Arial"/>
              <a:buNone/>
            </a:pPr>
            <a:r>
              <a:t/>
            </a:r>
            <a:endParaRPr sz="12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1200"/>
              <a:buFont typeface="Arial"/>
              <a:buNone/>
            </a:pPr>
            <a:r>
              <a:rPr lang="en-US" sz="1200" u="none" cap="none" strike="noStrike">
                <a:solidFill>
                  <a:srgbClr val="00FF00"/>
                </a:solidFill>
                <a:latin typeface="Arial"/>
                <a:ea typeface="Arial"/>
                <a:cs typeface="Arial"/>
                <a:sym typeface="Arial"/>
              </a:rPr>
              <a:t>We should note that try/except conditions create code blocks. Thus, they start with a colon  ( : ) operator and the statements in code blocks should be indented. </a:t>
            </a:r>
            <a:endParaRPr sz="12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t/>
            </a:r>
            <a:endParaRPr sz="1200" u="none" cap="none" strike="noStrike">
              <a:solidFill>
                <a:srgbClr val="FF99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t/>
            </a:r>
            <a:endParaRPr sz="1200" u="none" cap="none" strike="noStrike">
              <a:solidFill>
                <a:srgbClr val="FF9900"/>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311" name="Google Shape;31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Python starts by executing the sequence of statements in the try block. If all goes well, it skips the except block and proceeds. If an exception occurs in the try block, Python jumps out of the try block and executes the sequence of statements in the except block.</a:t>
            </a:r>
            <a:endParaRPr/>
          </a:p>
          <a:p>
            <a:pPr indent="0" lvl="0" marL="0" rtl="0" algn="l">
              <a:lnSpc>
                <a:spcPct val="100000"/>
              </a:lnSpc>
              <a:spcBef>
                <a:spcPts val="0"/>
              </a:spcBef>
              <a:spcAft>
                <a:spcPts val="0"/>
              </a:spcAft>
              <a:buSzPts val="1400"/>
              <a:buNone/>
            </a:pPr>
            <a:r>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Handling an exception with a try statement is called catching an exception. In this example, the except clause assigns a valid integer value to the variable istr. In general, catching an exception gives you a chance to fix the problem, or try again, or at least end the program gracefully rather than have the program halted.</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Arial"/>
              <a:buNone/>
            </a:pPr>
            <a:r>
              <a:t/>
            </a:r>
            <a:endParaRPr/>
          </a:p>
        </p:txBody>
      </p:sp>
      <p:sp>
        <p:nvSpPr>
          <p:cNvPr id="322" name="Google Shape;32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rPr lang="en-US"/>
              <a:t>Here is another sample code with try/except conditions. Suppose that you ask the user to input a number on keyboard. You check if you can parse the user input into an integer in try code block. If this type conversion fails, your code jumps to except clause and assigns -1 to variable ival. </a:t>
            </a:r>
            <a:endParaRPr/>
          </a:p>
          <a:p>
            <a:pPr indent="0" lvl="0" marL="0" rtl="0" algn="l">
              <a:lnSpc>
                <a:spcPct val="100000"/>
              </a:lnSpc>
              <a:spcBef>
                <a:spcPts val="0"/>
              </a:spcBef>
              <a:spcAft>
                <a:spcPts val="0"/>
              </a:spcAft>
              <a:buClr>
                <a:schemeClr val="dk1"/>
              </a:buClr>
              <a:buSzPts val="1200"/>
              <a:buFont typeface="Arial"/>
              <a:buNone/>
            </a:pPr>
            <a:r>
              <a:t/>
            </a:r>
            <a:endParaRPr/>
          </a:p>
          <a:p>
            <a:pPr indent="0" lvl="0" marL="0" rtl="0" algn="l">
              <a:lnSpc>
                <a:spcPct val="100000"/>
              </a:lnSpc>
              <a:spcBef>
                <a:spcPts val="0"/>
              </a:spcBef>
              <a:spcAft>
                <a:spcPts val="0"/>
              </a:spcAft>
              <a:buClr>
                <a:schemeClr val="dk1"/>
              </a:buClr>
              <a:buSzPts val="1200"/>
              <a:buFont typeface="Arial"/>
              <a:buNone/>
            </a:pPr>
            <a:r>
              <a:rPr lang="en-US"/>
              <a:t>Suppose the user enters 42 on keyboard. Then, your program will execute print(‘Nice work’).</a:t>
            </a:r>
            <a:endParaRPr/>
          </a:p>
          <a:p>
            <a:pPr indent="0" lvl="0" marL="0" rtl="0" algn="l">
              <a:lnSpc>
                <a:spcPct val="100000"/>
              </a:lnSpc>
              <a:spcBef>
                <a:spcPts val="0"/>
              </a:spcBef>
              <a:spcAft>
                <a:spcPts val="0"/>
              </a:spcAft>
              <a:buClr>
                <a:schemeClr val="dk1"/>
              </a:buClr>
              <a:buSzPts val="1200"/>
              <a:buFont typeface="Arial"/>
              <a:buNone/>
            </a:pPr>
            <a:r>
              <a:rPr lang="en-US"/>
              <a:t>Suppose the user enters forty-two on keyboard. Then, your program will execute print(‘Not a number’).</a:t>
            </a:r>
            <a:endParaRPr/>
          </a:p>
        </p:txBody>
      </p:sp>
      <p:sp>
        <p:nvSpPr>
          <p:cNvPr id="344" name="Google Shape;34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350" name="Google Shape;35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357" name="Google Shape;357;p2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 name="Shape 10"/>
        <p:cNvGrpSpPr/>
        <p:nvPr/>
      </p:nvGrpSpPr>
      <p:grpSpPr>
        <a:xfrm>
          <a:off x="0" y="0"/>
          <a:ext cx="0" cy="0"/>
          <a:chOff x="0" y="0"/>
          <a:chExt cx="0" cy="0"/>
        </a:xfrm>
      </p:grpSpPr>
      <p:sp>
        <p:nvSpPr>
          <p:cNvPr id="11" name="Google Shape;11;p25"/>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4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 name="Google Shape;12;p25"/>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rgbClr val="000000"/>
              </a:buClr>
              <a:buSzPts val="4000"/>
              <a:buFont typeface="Arial"/>
              <a:buNone/>
              <a:defRPr/>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3" name="Shape 13"/>
        <p:cNvGrpSpPr/>
        <p:nvPr/>
      </p:nvGrpSpPr>
      <p:grpSpPr>
        <a:xfrm>
          <a:off x="0" y="0"/>
          <a:ext cx="0" cy="0"/>
          <a:chOff x="0" y="0"/>
          <a:chExt cx="0" cy="0"/>
        </a:xfrm>
      </p:grpSpPr>
      <p:sp>
        <p:nvSpPr>
          <p:cNvPr id="14" name="Google Shape;14;p26"/>
          <p:cNvSpPr txBox="1"/>
          <p:nvPr>
            <p:ph type="title"/>
          </p:nvPr>
        </p:nvSpPr>
        <p:spPr>
          <a:xfrm>
            <a:off x="1155700" y="745588"/>
            <a:ext cx="13932000" cy="1794312"/>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4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5" name="Shape 15"/>
        <p:cNvGrpSpPr/>
        <p:nvPr/>
      </p:nvGrpSpPr>
      <p:grpSpPr>
        <a:xfrm>
          <a:off x="0" y="0"/>
          <a:ext cx="0" cy="0"/>
          <a:chOff x="0" y="0"/>
          <a:chExt cx="0" cy="0"/>
        </a:xfrm>
      </p:grpSpPr>
      <p:sp>
        <p:nvSpPr>
          <p:cNvPr id="16" name="Google Shape;16;p27"/>
          <p:cNvSpPr txBox="1"/>
          <p:nvPr>
            <p:ph type="title"/>
          </p:nvPr>
        </p:nvSpPr>
        <p:spPr>
          <a:xfrm>
            <a:off x="1155700" y="745588"/>
            <a:ext cx="13932000" cy="1794312"/>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4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27"/>
          <p:cNvSpPr txBox="1"/>
          <p:nvPr>
            <p:ph idx="1" type="body"/>
          </p:nvPr>
        </p:nvSpPr>
        <p:spPr>
          <a:xfrm>
            <a:off x="1155700" y="2603501"/>
            <a:ext cx="13932000" cy="5640168"/>
          </a:xfrm>
          <a:prstGeom prst="rect">
            <a:avLst/>
          </a:prstGeom>
          <a:noFill/>
          <a:ln>
            <a:noFill/>
          </a:ln>
        </p:spPr>
        <p:txBody>
          <a:bodyPr anchorCtr="0" anchor="t" bIns="91425" lIns="91425" spcFirstLastPara="1" rIns="91425" wrap="square" tIns="91425">
            <a:noAutofit/>
          </a:bodyPr>
          <a:lstStyle>
            <a:lvl1pPr indent="-482600" lvl="0" marL="457200" algn="l">
              <a:lnSpc>
                <a:spcPct val="100000"/>
              </a:lnSpc>
              <a:spcBef>
                <a:spcPts val="3500"/>
              </a:spcBef>
              <a:spcAft>
                <a:spcPts val="0"/>
              </a:spcAft>
              <a:buClr>
                <a:schemeClr val="lt1"/>
              </a:buClr>
              <a:buSzPts val="4000"/>
              <a:buFont typeface="Cabin"/>
              <a:buChar char="•"/>
              <a:defRPr/>
            </a:lvl1pPr>
            <a:lvl2pPr indent="-317500" lvl="1" marL="914400" algn="l">
              <a:lnSpc>
                <a:spcPct val="100000"/>
              </a:lnSpc>
              <a:spcBef>
                <a:spcPts val="3500"/>
              </a:spcBef>
              <a:spcAft>
                <a:spcPts val="0"/>
              </a:spcAft>
              <a:buClr>
                <a:schemeClr val="lt1"/>
              </a:buClr>
              <a:buSzPts val="1400"/>
              <a:buFont typeface="Cabin"/>
              <a:buChar char="•"/>
              <a:defRPr/>
            </a:lvl2pPr>
            <a:lvl3pPr indent="-317500" lvl="2" marL="1371600" algn="l">
              <a:lnSpc>
                <a:spcPct val="100000"/>
              </a:lnSpc>
              <a:spcBef>
                <a:spcPts val="3500"/>
              </a:spcBef>
              <a:spcAft>
                <a:spcPts val="0"/>
              </a:spcAft>
              <a:buClr>
                <a:schemeClr val="lt1"/>
              </a:buClr>
              <a:buSzPts val="1400"/>
              <a:buFont typeface="Cabin"/>
              <a:buChar char="•"/>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4400"/>
              <a:buFont typeface="Arial"/>
              <a:buNone/>
              <a:defRPr b="0" i="0" sz="4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rgbClr val="000000"/>
              </a:buClr>
              <a:buSzPts val="4000"/>
              <a:buFont typeface="Arial"/>
              <a:buNone/>
              <a:defRPr b="0" i="0" sz="4000" u="none" cap="none" strike="noStrike">
                <a:solidFill>
                  <a:srgbClr val="000000"/>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4"/>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24"/>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pythonlearn.com" TargetMode="External"/><Relationship Id="rId4" Type="http://schemas.openxmlformats.org/officeDocument/2006/relationships/hyperlink" Target="http://www.pythonlearn.com"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en.wikipedia.org/wiki/George_Bool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www.dr-chuck.com/"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Conditional Execution</a:t>
            </a:r>
            <a:endParaRPr/>
          </a:p>
        </p:txBody>
      </p:sp>
      <p:sp>
        <p:nvSpPr>
          <p:cNvPr id="24" name="Google Shape;24;p1"/>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rgbClr val="FFFFFF"/>
                </a:solidFill>
                <a:latin typeface="Arial"/>
                <a:ea typeface="Arial"/>
                <a:cs typeface="Arial"/>
                <a:sym typeface="Arial"/>
              </a:rPr>
              <a:t>Chapter 3</a:t>
            </a:r>
            <a:endParaRPr/>
          </a:p>
        </p:txBody>
      </p:sp>
      <p:sp>
        <p:nvSpPr>
          <p:cNvPr id="25" name="Google Shape;25;p1"/>
          <p:cNvSpPr txBox="1"/>
          <p:nvPr/>
        </p:nvSpPr>
        <p:spPr>
          <a:xfrm>
            <a:off x="4081449" y="7179647"/>
            <a:ext cx="8032200"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b="0" i="0" sz="3200" u="none" cap="none" strike="noStrike">
              <a:solidFill>
                <a:srgbClr val="FFFF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800"/>
              <a:buFont typeface="Cabin"/>
              <a:buNone/>
            </a:pPr>
            <a:r>
              <a:rPr b="0" i="0" lang="en-US" sz="3200" u="sng" cap="none" strike="noStrike">
                <a:solidFill>
                  <a:srgbClr val="FFFF00"/>
                </a:solidFill>
                <a:latin typeface="Arial"/>
                <a:ea typeface="Arial"/>
                <a:cs typeface="Arial"/>
                <a:sym typeface="Arial"/>
                <a:hlinkClick r:id="rId3">
                  <a:extLst>
                    <a:ext uri="{A12FA001-AC4F-418D-AE19-62706E023703}">
                      <ahyp:hlinkClr val="tx"/>
                    </a:ext>
                  </a:extLst>
                </a:hlinkClick>
              </a:rPr>
              <a:t>www.py4e.com</a:t>
            </a:r>
            <a:endParaRPr b="0" i="0" sz="3200" u="sng" cap="none" strike="noStrike">
              <a:solidFill>
                <a:srgbClr val="FFFF00"/>
              </a:solidFill>
              <a:latin typeface="Arial"/>
              <a:ea typeface="Arial"/>
              <a:cs typeface="Arial"/>
              <a:sym typeface="Arial"/>
              <a:hlinkClick r:id="rId4">
                <a:extLst>
                  <a:ext uri="{A12FA001-AC4F-418D-AE19-62706E023703}">
                    <ahyp:hlinkClr val="tx"/>
                  </a:ext>
                </a:extLst>
              </a:hlinkClick>
            </a:endParaRPr>
          </a:p>
        </p:txBody>
      </p:sp>
      <p:pic>
        <p:nvPicPr>
          <p:cNvPr id="26" name="Google Shape;26;p1"/>
          <p:cNvPicPr preferRelativeResize="0"/>
          <p:nvPr/>
        </p:nvPicPr>
        <p:blipFill rotWithShape="1">
          <a:blip r:embed="rId5">
            <a:alphaModFix/>
          </a:blip>
          <a:srcRect b="0" l="0" r="0" t="0"/>
          <a:stretch/>
        </p:blipFill>
        <p:spPr>
          <a:xfrm>
            <a:off x="13800663" y="7483947"/>
            <a:ext cx="1968599" cy="66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2"/>
          <p:cNvSpPr txBox="1"/>
          <p:nvPr>
            <p:ph type="title"/>
          </p:nvPr>
        </p:nvSpPr>
        <p:spPr>
          <a:xfrm>
            <a:off x="5854700" y="768096"/>
            <a:ext cx="9588499" cy="1365504"/>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Conditional Steps</a:t>
            </a:r>
            <a:endParaRPr/>
          </a:p>
        </p:txBody>
      </p:sp>
      <p:sp>
        <p:nvSpPr>
          <p:cNvPr id="32" name="Google Shape;32;p2"/>
          <p:cNvSpPr txBox="1"/>
          <p:nvPr/>
        </p:nvSpPr>
        <p:spPr>
          <a:xfrm>
            <a:off x="13684013" y="3562350"/>
            <a:ext cx="1581150" cy="21843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00"/>
                </a:solidFill>
                <a:latin typeface="Arial"/>
                <a:ea typeface="Arial"/>
                <a:cs typeface="Arial"/>
                <a:sym typeface="Arial"/>
              </a:rPr>
              <a:t>Smaller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FFFF00"/>
                </a:solidFill>
                <a:latin typeface="Arial"/>
                <a:ea typeface="Arial"/>
                <a:cs typeface="Arial"/>
                <a:sym typeface="Arial"/>
              </a:rPr>
              <a:t>Finish</a:t>
            </a:r>
            <a:endParaRPr b="0" i="0" sz="1400" u="none" cap="none" strike="noStrike">
              <a:solidFill>
                <a:srgbClr val="000000"/>
              </a:solidFill>
              <a:latin typeface="Arial"/>
              <a:ea typeface="Arial"/>
              <a:cs typeface="Arial"/>
              <a:sym typeface="Arial"/>
            </a:endParaRPr>
          </a:p>
        </p:txBody>
      </p:sp>
      <p:sp>
        <p:nvSpPr>
          <p:cNvPr id="33" name="Google Shape;33;p2"/>
          <p:cNvSpPr txBox="1"/>
          <p:nvPr/>
        </p:nvSpPr>
        <p:spPr>
          <a:xfrm>
            <a:off x="7799386" y="2873375"/>
            <a:ext cx="4535286" cy="498474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Program: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F7F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00"/>
              <a:buFont typeface="Cabin"/>
              <a:buNone/>
            </a:pPr>
            <a:r>
              <a:rPr b="0" i="0" lang="en-US" sz="2800" u="none" cap="none" strike="noStrike">
                <a:solidFill>
                  <a:srgbClr val="00FF00"/>
                </a:solidFill>
                <a:latin typeface="Courier"/>
                <a:ea typeface="Courier"/>
                <a:cs typeface="Courier"/>
                <a:sym typeface="Courier"/>
              </a:rPr>
              <a:t>x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if</a:t>
            </a:r>
            <a:r>
              <a:rPr b="0" i="0" lang="en-US" sz="2800" u="none" cap="none" strike="noStrike">
                <a:solidFill>
                  <a:srgbClr val="FF7F00"/>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x &lt;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00"/>
              <a:buFont typeface="Courier"/>
              <a:buNone/>
            </a:pPr>
            <a:r>
              <a:rPr b="0" i="0" lang="en-US" sz="2800" u="none" cap="none" strike="noStrike">
                <a:solidFill>
                  <a:srgbClr val="FF7F00"/>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00FF00"/>
                </a:solidFill>
                <a:latin typeface="Courier"/>
                <a:ea typeface="Courier"/>
                <a:cs typeface="Courier"/>
                <a:sym typeface="Courier"/>
              </a:rPr>
              <a:t>'Smaller'</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if</a:t>
            </a:r>
            <a:r>
              <a:rPr b="0" i="0" lang="en-US" sz="2800" u="none" cap="none" strike="noStrike">
                <a:solidFill>
                  <a:srgbClr val="FF7F00"/>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x &gt; 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00"/>
              <a:buFont typeface="Courier"/>
              <a:buNone/>
            </a:pPr>
            <a:r>
              <a:rPr b="0" i="0" lang="en-US" sz="2800" u="none" cap="none" strike="noStrike">
                <a:solidFill>
                  <a:srgbClr val="FF7F00"/>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00FF00"/>
                </a:solidFill>
                <a:latin typeface="Courier"/>
                <a:ea typeface="Courier"/>
                <a:cs typeface="Courier"/>
                <a:sym typeface="Courier"/>
              </a:rPr>
              <a:t>'Bigger'</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00FF00"/>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00FF00"/>
                </a:solidFill>
                <a:latin typeface="Courier"/>
                <a:ea typeface="Courier"/>
                <a:cs typeface="Courier"/>
                <a:sym typeface="Courier"/>
              </a:rPr>
              <a:t>'Finish'</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00FF00"/>
              </a:solidFill>
              <a:latin typeface="Courier"/>
              <a:ea typeface="Courier"/>
              <a:cs typeface="Courier"/>
              <a:sym typeface="Courier"/>
            </a:endParaRPr>
          </a:p>
        </p:txBody>
      </p:sp>
      <p:sp>
        <p:nvSpPr>
          <p:cNvPr id="34" name="Google Shape;34;p2"/>
          <p:cNvSpPr txBox="1"/>
          <p:nvPr/>
        </p:nvSpPr>
        <p:spPr>
          <a:xfrm>
            <a:off x="1244600" y="977900"/>
            <a:ext cx="2743199" cy="5970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Arial"/>
                <a:ea typeface="Arial"/>
                <a:cs typeface="Arial"/>
                <a:sym typeface="Arial"/>
              </a:rPr>
              <a:t>x = 5</a:t>
            </a:r>
            <a:endParaRPr b="0" i="0" sz="1400" u="none" cap="none" strike="noStrike">
              <a:solidFill>
                <a:srgbClr val="000000"/>
              </a:solidFill>
              <a:latin typeface="Arial"/>
              <a:ea typeface="Arial"/>
              <a:cs typeface="Arial"/>
              <a:sym typeface="Arial"/>
            </a:endParaRPr>
          </a:p>
        </p:txBody>
      </p:sp>
      <p:cxnSp>
        <p:nvCxnSpPr>
          <p:cNvPr id="35" name="Google Shape;35;p2"/>
          <p:cNvCxnSpPr/>
          <p:nvPr/>
        </p:nvCxnSpPr>
        <p:spPr>
          <a:xfrm rot="10800000">
            <a:off x="2597149" y="1560512"/>
            <a:ext cx="14287" cy="566736"/>
          </a:xfrm>
          <a:prstGeom prst="straightConnector1">
            <a:avLst/>
          </a:prstGeom>
          <a:noFill/>
          <a:ln cap="rnd" cmpd="sng" w="76200">
            <a:solidFill>
              <a:srgbClr val="00FFFF"/>
            </a:solidFill>
            <a:prstDash val="solid"/>
            <a:miter lim="8000"/>
            <a:headEnd len="med" w="med" type="stealth"/>
            <a:tailEnd len="sm" w="sm" type="none"/>
          </a:ln>
        </p:spPr>
      </p:cxnSp>
      <p:cxnSp>
        <p:nvCxnSpPr>
          <p:cNvPr id="36" name="Google Shape;36;p2"/>
          <p:cNvCxnSpPr>
            <a:endCxn id="33" idx="3"/>
          </p:cNvCxnSpPr>
          <p:nvPr/>
        </p:nvCxnSpPr>
        <p:spPr>
          <a:xfrm flipH="1">
            <a:off x="12334672" y="4948149"/>
            <a:ext cx="1206300" cy="417600"/>
          </a:xfrm>
          <a:prstGeom prst="straightConnector1">
            <a:avLst/>
          </a:prstGeom>
          <a:noFill/>
          <a:ln cap="rnd" cmpd="sng" w="50800">
            <a:solidFill>
              <a:srgbClr val="FFFFFF"/>
            </a:solidFill>
            <a:prstDash val="solid"/>
            <a:miter lim="8000"/>
            <a:headEnd len="med" w="med" type="stealth"/>
            <a:tailEnd len="sm" w="sm" type="none"/>
          </a:ln>
        </p:spPr>
      </p:cxnSp>
      <p:sp>
        <p:nvSpPr>
          <p:cNvPr id="37" name="Google Shape;37;p2"/>
          <p:cNvSpPr/>
          <p:nvPr/>
        </p:nvSpPr>
        <p:spPr>
          <a:xfrm>
            <a:off x="1181100" y="2120900"/>
            <a:ext cx="2870200" cy="1270000"/>
          </a:xfrm>
          <a:prstGeom prst="diamond">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Arial"/>
                <a:ea typeface="Arial"/>
                <a:cs typeface="Arial"/>
                <a:sym typeface="Arial"/>
              </a:rPr>
              <a:t>x &lt; 10 ?</a:t>
            </a:r>
            <a:endParaRPr b="0" i="0" sz="1400" u="none" cap="none" strike="noStrike">
              <a:solidFill>
                <a:srgbClr val="000000"/>
              </a:solidFill>
              <a:latin typeface="Arial"/>
              <a:ea typeface="Arial"/>
              <a:cs typeface="Arial"/>
              <a:sym typeface="Arial"/>
            </a:endParaRPr>
          </a:p>
        </p:txBody>
      </p:sp>
      <p:cxnSp>
        <p:nvCxnSpPr>
          <p:cNvPr id="38" name="Google Shape;38;p2"/>
          <p:cNvCxnSpPr/>
          <p:nvPr/>
        </p:nvCxnSpPr>
        <p:spPr>
          <a:xfrm rot="10800000">
            <a:off x="2597150" y="3338512"/>
            <a:ext cx="19049" cy="1609725"/>
          </a:xfrm>
          <a:prstGeom prst="straightConnector1">
            <a:avLst/>
          </a:prstGeom>
          <a:noFill/>
          <a:ln cap="rnd" cmpd="sng" w="76200">
            <a:solidFill>
              <a:srgbClr val="00FFFF"/>
            </a:solidFill>
            <a:prstDash val="solid"/>
            <a:miter lim="8000"/>
            <a:headEnd len="med" w="med" type="stealth"/>
            <a:tailEnd len="sm" w="sm" type="none"/>
          </a:ln>
        </p:spPr>
      </p:cxnSp>
      <p:sp>
        <p:nvSpPr>
          <p:cNvPr id="39" name="Google Shape;39;p2"/>
          <p:cNvSpPr txBox="1"/>
          <p:nvPr/>
        </p:nvSpPr>
        <p:spPr>
          <a:xfrm>
            <a:off x="3327400" y="3352800"/>
            <a:ext cx="2921000" cy="7492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Arial"/>
              <a:buNone/>
            </a:pPr>
            <a:r>
              <a:rPr b="0" i="0" lang="en-US" sz="3000" u="none" cap="none" strike="noStrike">
                <a:solidFill>
                  <a:schemeClr val="lt1"/>
                </a:solidFill>
                <a:latin typeface="Arial"/>
                <a:ea typeface="Arial"/>
                <a:cs typeface="Arial"/>
                <a:sym typeface="Arial"/>
              </a:rPr>
              <a:t>print('Smaller')</a:t>
            </a:r>
            <a:endParaRPr b="0" i="0" sz="3000" u="none" cap="none" strike="noStrike">
              <a:solidFill>
                <a:schemeClr val="lt1"/>
              </a:solidFill>
              <a:latin typeface="Arial"/>
              <a:ea typeface="Arial"/>
              <a:cs typeface="Arial"/>
              <a:sym typeface="Arial"/>
            </a:endParaRPr>
          </a:p>
        </p:txBody>
      </p:sp>
      <p:cxnSp>
        <p:nvCxnSpPr>
          <p:cNvPr id="40" name="Google Shape;40;p2"/>
          <p:cNvCxnSpPr/>
          <p:nvPr/>
        </p:nvCxnSpPr>
        <p:spPr>
          <a:xfrm rot="10800000">
            <a:off x="4038599" y="2749549"/>
            <a:ext cx="777875" cy="15875"/>
          </a:xfrm>
          <a:prstGeom prst="straightConnector1">
            <a:avLst/>
          </a:prstGeom>
          <a:noFill/>
          <a:ln cap="rnd" cmpd="sng" w="76200">
            <a:solidFill>
              <a:srgbClr val="00FFFF"/>
            </a:solidFill>
            <a:prstDash val="solid"/>
            <a:miter lim="8000"/>
            <a:headEnd len="sm" w="sm" type="none"/>
            <a:tailEnd len="sm" w="sm" type="none"/>
          </a:ln>
        </p:spPr>
      </p:cxnSp>
      <p:cxnSp>
        <p:nvCxnSpPr>
          <p:cNvPr id="41" name="Google Shape;41;p2"/>
          <p:cNvCxnSpPr/>
          <p:nvPr/>
        </p:nvCxnSpPr>
        <p:spPr>
          <a:xfrm flipH="1" rot="10800000">
            <a:off x="4783137" y="2749550"/>
            <a:ext cx="15875" cy="644524"/>
          </a:xfrm>
          <a:prstGeom prst="straightConnector1">
            <a:avLst/>
          </a:prstGeom>
          <a:noFill/>
          <a:ln cap="rnd" cmpd="sng" w="76200">
            <a:solidFill>
              <a:srgbClr val="00FFFF"/>
            </a:solidFill>
            <a:prstDash val="solid"/>
            <a:miter lim="8000"/>
            <a:headEnd len="med" w="med" type="stealth"/>
            <a:tailEnd len="sm" w="sm" type="none"/>
          </a:ln>
        </p:spPr>
      </p:cxnSp>
      <p:cxnSp>
        <p:nvCxnSpPr>
          <p:cNvPr id="42" name="Google Shape;42;p2"/>
          <p:cNvCxnSpPr/>
          <p:nvPr/>
        </p:nvCxnSpPr>
        <p:spPr>
          <a:xfrm flipH="1">
            <a:off x="4783137" y="4087812"/>
            <a:ext cx="15875" cy="314324"/>
          </a:xfrm>
          <a:prstGeom prst="straightConnector1">
            <a:avLst/>
          </a:prstGeom>
          <a:noFill/>
          <a:ln cap="rnd" cmpd="sng" w="76200">
            <a:solidFill>
              <a:srgbClr val="00FFFF"/>
            </a:solidFill>
            <a:prstDash val="solid"/>
            <a:miter lim="8000"/>
            <a:headEnd len="sm" w="sm" type="none"/>
            <a:tailEnd len="sm" w="sm" type="none"/>
          </a:ln>
        </p:spPr>
      </p:cxnSp>
      <p:cxnSp>
        <p:nvCxnSpPr>
          <p:cNvPr id="43" name="Google Shape;43;p2"/>
          <p:cNvCxnSpPr/>
          <p:nvPr/>
        </p:nvCxnSpPr>
        <p:spPr>
          <a:xfrm>
            <a:off x="2649536" y="4419600"/>
            <a:ext cx="2149474" cy="0"/>
          </a:xfrm>
          <a:prstGeom prst="straightConnector1">
            <a:avLst/>
          </a:prstGeom>
          <a:noFill/>
          <a:ln cap="rnd" cmpd="sng" w="76200">
            <a:solidFill>
              <a:srgbClr val="00FFFF"/>
            </a:solidFill>
            <a:prstDash val="solid"/>
            <a:miter lim="8000"/>
            <a:headEnd len="med" w="med" type="stealth"/>
            <a:tailEnd len="sm" w="sm" type="none"/>
          </a:ln>
        </p:spPr>
      </p:cxnSp>
      <p:sp>
        <p:nvSpPr>
          <p:cNvPr id="44" name="Google Shape;44;p2"/>
          <p:cNvSpPr/>
          <p:nvPr/>
        </p:nvSpPr>
        <p:spPr>
          <a:xfrm>
            <a:off x="1181100" y="4864100"/>
            <a:ext cx="2870200" cy="1270000"/>
          </a:xfrm>
          <a:prstGeom prst="diamond">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Arial"/>
                <a:ea typeface="Arial"/>
                <a:cs typeface="Arial"/>
                <a:sym typeface="Arial"/>
              </a:rPr>
              <a:t>x &gt; 20 ?</a:t>
            </a:r>
            <a:endParaRPr b="0" i="0" sz="1400" u="none" cap="none" strike="noStrike">
              <a:solidFill>
                <a:srgbClr val="000000"/>
              </a:solidFill>
              <a:latin typeface="Arial"/>
              <a:ea typeface="Arial"/>
              <a:cs typeface="Arial"/>
              <a:sym typeface="Arial"/>
            </a:endParaRPr>
          </a:p>
        </p:txBody>
      </p:sp>
      <p:cxnSp>
        <p:nvCxnSpPr>
          <p:cNvPr id="45" name="Google Shape;45;p2"/>
          <p:cNvCxnSpPr/>
          <p:nvPr/>
        </p:nvCxnSpPr>
        <p:spPr>
          <a:xfrm rot="10800000">
            <a:off x="2597150" y="6081711"/>
            <a:ext cx="19049" cy="1609725"/>
          </a:xfrm>
          <a:prstGeom prst="straightConnector1">
            <a:avLst/>
          </a:prstGeom>
          <a:noFill/>
          <a:ln cap="rnd" cmpd="sng" w="76200">
            <a:solidFill>
              <a:srgbClr val="00FFFF"/>
            </a:solidFill>
            <a:prstDash val="solid"/>
            <a:miter lim="8000"/>
            <a:headEnd len="med" w="med" type="stealth"/>
            <a:tailEnd len="sm" w="sm" type="none"/>
          </a:ln>
        </p:spPr>
      </p:cxnSp>
      <p:sp>
        <p:nvSpPr>
          <p:cNvPr id="46" name="Google Shape;46;p2"/>
          <p:cNvSpPr txBox="1"/>
          <p:nvPr/>
        </p:nvSpPr>
        <p:spPr>
          <a:xfrm>
            <a:off x="3327400" y="6096000"/>
            <a:ext cx="2921000" cy="7492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Arial"/>
              <a:buNone/>
            </a:pPr>
            <a:r>
              <a:rPr b="0" i="0" lang="en-US" sz="3000" u="none" cap="none" strike="noStrike">
                <a:solidFill>
                  <a:schemeClr val="lt1"/>
                </a:solidFill>
                <a:latin typeface="Arial"/>
                <a:ea typeface="Arial"/>
                <a:cs typeface="Arial"/>
                <a:sym typeface="Arial"/>
              </a:rPr>
              <a:t>print('Bigger')</a:t>
            </a:r>
            <a:endParaRPr b="0" i="0" sz="3000" u="none" cap="none" strike="noStrike">
              <a:solidFill>
                <a:schemeClr val="lt1"/>
              </a:solidFill>
              <a:latin typeface="Arial"/>
              <a:ea typeface="Arial"/>
              <a:cs typeface="Arial"/>
              <a:sym typeface="Arial"/>
            </a:endParaRPr>
          </a:p>
        </p:txBody>
      </p:sp>
      <p:cxnSp>
        <p:nvCxnSpPr>
          <p:cNvPr id="47" name="Google Shape;47;p2"/>
          <p:cNvCxnSpPr/>
          <p:nvPr/>
        </p:nvCxnSpPr>
        <p:spPr>
          <a:xfrm rot="10800000">
            <a:off x="4038599" y="5492749"/>
            <a:ext cx="777875" cy="15875"/>
          </a:xfrm>
          <a:prstGeom prst="straightConnector1">
            <a:avLst/>
          </a:prstGeom>
          <a:noFill/>
          <a:ln cap="rnd" cmpd="sng" w="76200">
            <a:solidFill>
              <a:srgbClr val="00FFFF"/>
            </a:solidFill>
            <a:prstDash val="solid"/>
            <a:miter lim="8000"/>
            <a:headEnd len="sm" w="sm" type="none"/>
            <a:tailEnd len="sm" w="sm" type="none"/>
          </a:ln>
        </p:spPr>
      </p:cxnSp>
      <p:cxnSp>
        <p:nvCxnSpPr>
          <p:cNvPr id="48" name="Google Shape;48;p2"/>
          <p:cNvCxnSpPr/>
          <p:nvPr/>
        </p:nvCxnSpPr>
        <p:spPr>
          <a:xfrm flipH="1" rot="10800000">
            <a:off x="4783137" y="5492750"/>
            <a:ext cx="15875" cy="644524"/>
          </a:xfrm>
          <a:prstGeom prst="straightConnector1">
            <a:avLst/>
          </a:prstGeom>
          <a:noFill/>
          <a:ln cap="rnd" cmpd="sng" w="76200">
            <a:solidFill>
              <a:srgbClr val="00FFFF"/>
            </a:solidFill>
            <a:prstDash val="solid"/>
            <a:miter lim="8000"/>
            <a:headEnd len="med" w="med" type="stealth"/>
            <a:tailEnd len="sm" w="sm" type="none"/>
          </a:ln>
        </p:spPr>
      </p:cxnSp>
      <p:cxnSp>
        <p:nvCxnSpPr>
          <p:cNvPr id="49" name="Google Shape;49;p2"/>
          <p:cNvCxnSpPr/>
          <p:nvPr/>
        </p:nvCxnSpPr>
        <p:spPr>
          <a:xfrm flipH="1">
            <a:off x="4783137" y="6831011"/>
            <a:ext cx="15875" cy="314324"/>
          </a:xfrm>
          <a:prstGeom prst="straightConnector1">
            <a:avLst/>
          </a:prstGeom>
          <a:noFill/>
          <a:ln cap="rnd" cmpd="sng" w="76200">
            <a:solidFill>
              <a:srgbClr val="00FFFF"/>
            </a:solidFill>
            <a:prstDash val="solid"/>
            <a:miter lim="8000"/>
            <a:headEnd len="sm" w="sm" type="none"/>
            <a:tailEnd len="sm" w="sm" type="none"/>
          </a:ln>
        </p:spPr>
      </p:cxnSp>
      <p:cxnSp>
        <p:nvCxnSpPr>
          <p:cNvPr id="50" name="Google Shape;50;p2"/>
          <p:cNvCxnSpPr/>
          <p:nvPr/>
        </p:nvCxnSpPr>
        <p:spPr>
          <a:xfrm>
            <a:off x="2649536" y="7162800"/>
            <a:ext cx="2149474" cy="0"/>
          </a:xfrm>
          <a:prstGeom prst="straightConnector1">
            <a:avLst/>
          </a:prstGeom>
          <a:noFill/>
          <a:ln cap="rnd" cmpd="sng" w="76200">
            <a:solidFill>
              <a:srgbClr val="00FFFF"/>
            </a:solidFill>
            <a:prstDash val="solid"/>
            <a:miter lim="8000"/>
            <a:headEnd len="med" w="med" type="stealth"/>
            <a:tailEnd len="sm" w="sm" type="none"/>
          </a:ln>
        </p:spPr>
      </p:cxnSp>
      <p:cxnSp>
        <p:nvCxnSpPr>
          <p:cNvPr id="51" name="Google Shape;51;p2"/>
          <p:cNvCxnSpPr/>
          <p:nvPr/>
        </p:nvCxnSpPr>
        <p:spPr>
          <a:xfrm flipH="1">
            <a:off x="11431588" y="5508625"/>
            <a:ext cx="2109314" cy="1654175"/>
          </a:xfrm>
          <a:prstGeom prst="straightConnector1">
            <a:avLst/>
          </a:prstGeom>
          <a:noFill/>
          <a:ln cap="rnd" cmpd="sng" w="50800">
            <a:solidFill>
              <a:srgbClr val="FFFFFF"/>
            </a:solidFill>
            <a:prstDash val="solid"/>
            <a:miter lim="8000"/>
            <a:headEnd len="med" w="med" type="stealth"/>
            <a:tailEnd len="sm" w="sm" type="none"/>
          </a:ln>
        </p:spPr>
      </p:cxnSp>
      <p:sp>
        <p:nvSpPr>
          <p:cNvPr id="52" name="Google Shape;52;p2"/>
          <p:cNvSpPr txBox="1"/>
          <p:nvPr/>
        </p:nvSpPr>
        <p:spPr>
          <a:xfrm>
            <a:off x="1244600" y="7658100"/>
            <a:ext cx="2743199" cy="596900"/>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Arial"/>
              <a:buNone/>
            </a:pPr>
            <a:r>
              <a:rPr b="0" i="0" lang="en-US" sz="3000" u="none" cap="none" strike="noStrike">
                <a:solidFill>
                  <a:schemeClr val="lt1"/>
                </a:solidFill>
                <a:latin typeface="Arial"/>
                <a:ea typeface="Arial"/>
                <a:cs typeface="Arial"/>
                <a:sym typeface="Arial"/>
              </a:rPr>
              <a:t>print('Finish')</a:t>
            </a:r>
            <a:endParaRPr b="0" i="0" sz="3000" u="none" cap="none" strike="noStrike">
              <a:solidFill>
                <a:schemeClr val="lt1"/>
              </a:solidFill>
              <a:latin typeface="Arial"/>
              <a:ea typeface="Arial"/>
              <a:cs typeface="Arial"/>
              <a:sym typeface="Arial"/>
            </a:endParaRPr>
          </a:p>
        </p:txBody>
      </p:sp>
      <p:sp>
        <p:nvSpPr>
          <p:cNvPr id="53" name="Google Shape;53;p2"/>
          <p:cNvSpPr txBox="1"/>
          <p:nvPr/>
        </p:nvSpPr>
        <p:spPr>
          <a:xfrm>
            <a:off x="4414837" y="2108200"/>
            <a:ext cx="725486"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none" cap="none" strike="noStrike">
                <a:solidFill>
                  <a:srgbClr val="FFFFFF"/>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54" name="Google Shape;54;p2"/>
          <p:cNvSpPr txBox="1"/>
          <p:nvPr/>
        </p:nvSpPr>
        <p:spPr>
          <a:xfrm>
            <a:off x="5747875" y="2785050"/>
            <a:ext cx="3657600" cy="45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txBox="1"/>
          <p:nvPr/>
        </p:nvSpPr>
        <p:spPr>
          <a:xfrm>
            <a:off x="1549262" y="6097586"/>
            <a:ext cx="725399" cy="52776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none" cap="none" strike="noStrike">
                <a:solidFill>
                  <a:srgbClr val="FFFFFF"/>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56" name="Google Shape;56;p2"/>
          <p:cNvSpPr txBox="1"/>
          <p:nvPr/>
        </p:nvSpPr>
        <p:spPr>
          <a:xfrm>
            <a:off x="4436269" y="4765676"/>
            <a:ext cx="725486"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none" cap="none" strike="noStrike">
                <a:solidFill>
                  <a:srgbClr val="FFFFFF"/>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57" name="Google Shape;57;p2"/>
          <p:cNvSpPr txBox="1"/>
          <p:nvPr/>
        </p:nvSpPr>
        <p:spPr>
          <a:xfrm>
            <a:off x="1590537" y="3394076"/>
            <a:ext cx="725399" cy="70802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none" cap="none" strike="noStrike">
                <a:solidFill>
                  <a:srgbClr val="FFFFFF"/>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1155700" y="745588"/>
            <a:ext cx="13932000"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Comparison Operators</a:t>
            </a:r>
            <a:endParaRPr/>
          </a:p>
        </p:txBody>
      </p:sp>
      <p:sp>
        <p:nvSpPr>
          <p:cNvPr id="63" name="Google Shape;63;p3"/>
          <p:cNvSpPr txBox="1"/>
          <p:nvPr>
            <p:ph idx="1" type="body"/>
          </p:nvPr>
        </p:nvSpPr>
        <p:spPr>
          <a:xfrm>
            <a:off x="1155700" y="2603501"/>
            <a:ext cx="6444313" cy="5158685"/>
          </a:xfrm>
          <a:prstGeom prst="rect">
            <a:avLst/>
          </a:prstGeom>
          <a:noFill/>
          <a:ln>
            <a:noFill/>
          </a:ln>
        </p:spPr>
        <p:txBody>
          <a:bodyPr anchorCtr="0" anchor="ctr" bIns="38100" lIns="38100" spcFirstLastPara="1" rIns="38100" wrap="square" tIns="38100">
            <a:noAutofit/>
          </a:bodyPr>
          <a:lstStyle/>
          <a:p>
            <a:pPr indent="-345694" lvl="0" marL="749300" marR="0" rtl="0" algn="l">
              <a:lnSpc>
                <a:spcPct val="100000"/>
              </a:lnSpc>
              <a:spcBef>
                <a:spcPts val="0"/>
              </a:spcBef>
              <a:spcAft>
                <a:spcPts val="0"/>
              </a:spcAft>
              <a:buClr>
                <a:srgbClr val="FFFF00"/>
              </a:buClr>
              <a:buSzPts val="2800"/>
              <a:buFont typeface="Cabin"/>
              <a:buChar char="•"/>
            </a:pPr>
            <a:r>
              <a:rPr lang="en-US" sz="2800" u="none" cap="none" strike="noStrike">
                <a:solidFill>
                  <a:srgbClr val="FFFF00"/>
                </a:solidFill>
                <a:latin typeface="Arial"/>
                <a:ea typeface="Arial"/>
                <a:cs typeface="Arial"/>
                <a:sym typeface="Arial"/>
              </a:rPr>
              <a:t>Boolean expressions </a:t>
            </a:r>
            <a:r>
              <a:rPr lang="en-US" sz="2800" u="none" cap="none" strike="noStrike">
                <a:solidFill>
                  <a:srgbClr val="FFFFFF"/>
                </a:solidFill>
                <a:latin typeface="Arial"/>
                <a:ea typeface="Arial"/>
                <a:cs typeface="Arial"/>
                <a:sym typeface="Arial"/>
              </a:rPr>
              <a:t>ask a question and produce a Yes or No result which we use to control program flow</a:t>
            </a:r>
            <a:endParaRPr/>
          </a:p>
          <a:p>
            <a:pPr indent="-345694" lvl="0" marL="749300" marR="0" rtl="0" algn="l">
              <a:lnSpc>
                <a:spcPct val="100000"/>
              </a:lnSpc>
              <a:spcBef>
                <a:spcPts val="3500"/>
              </a:spcBef>
              <a:spcAft>
                <a:spcPts val="0"/>
              </a:spcAft>
              <a:buClr>
                <a:srgbClr val="FFFF00"/>
              </a:buClr>
              <a:buSzPts val="2800"/>
              <a:buFont typeface="Cabin"/>
              <a:buChar char="•"/>
            </a:pPr>
            <a:r>
              <a:rPr lang="en-US" sz="2800" u="none" cap="none" strike="noStrike">
                <a:solidFill>
                  <a:srgbClr val="FFFF00"/>
                </a:solidFill>
                <a:latin typeface="Arial"/>
                <a:ea typeface="Arial"/>
                <a:cs typeface="Arial"/>
                <a:sym typeface="Arial"/>
              </a:rPr>
              <a:t>Boolean expressions</a:t>
            </a:r>
            <a:r>
              <a:rPr lang="en-US" sz="2800" u="none" cap="none" strike="noStrike">
                <a:solidFill>
                  <a:srgbClr val="FFFFFF"/>
                </a:solidFill>
                <a:latin typeface="Arial"/>
                <a:ea typeface="Arial"/>
                <a:cs typeface="Arial"/>
                <a:sym typeface="Arial"/>
              </a:rPr>
              <a:t> using </a:t>
            </a:r>
            <a:r>
              <a:rPr lang="en-US" sz="2800" u="none" cap="none" strike="noStrike">
                <a:solidFill>
                  <a:srgbClr val="00FFFF"/>
                </a:solidFill>
                <a:latin typeface="Arial"/>
                <a:ea typeface="Arial"/>
                <a:cs typeface="Arial"/>
                <a:sym typeface="Arial"/>
              </a:rPr>
              <a:t>comparison operators</a:t>
            </a:r>
            <a:r>
              <a:rPr lang="en-US" sz="2800" u="none" cap="none" strike="noStrike">
                <a:solidFill>
                  <a:srgbClr val="FFFFFF"/>
                </a:solidFill>
                <a:latin typeface="Arial"/>
                <a:ea typeface="Arial"/>
                <a:cs typeface="Arial"/>
                <a:sym typeface="Arial"/>
              </a:rPr>
              <a:t> evaluate to True / False or Yes / No</a:t>
            </a:r>
            <a:endParaRPr/>
          </a:p>
          <a:p>
            <a:pPr indent="-345694" lvl="0" marL="749300" marR="0" rtl="0" algn="l">
              <a:lnSpc>
                <a:spcPct val="100000"/>
              </a:lnSpc>
              <a:spcBef>
                <a:spcPts val="3500"/>
              </a:spcBef>
              <a:spcAft>
                <a:spcPts val="0"/>
              </a:spcAft>
              <a:buClr>
                <a:srgbClr val="FFFFFF"/>
              </a:buClr>
              <a:buSzPts val="2800"/>
              <a:buFont typeface="Cabin"/>
              <a:buChar char="•"/>
            </a:pPr>
            <a:r>
              <a:rPr lang="en-US" sz="2800" u="none" cap="none" strike="noStrike">
                <a:solidFill>
                  <a:srgbClr val="FFFFFF"/>
                </a:solidFill>
                <a:latin typeface="Arial"/>
                <a:ea typeface="Arial"/>
                <a:cs typeface="Arial"/>
                <a:sym typeface="Arial"/>
              </a:rPr>
              <a:t>Comparison operators look at variables but do not change the variables</a:t>
            </a:r>
            <a:endParaRPr/>
          </a:p>
        </p:txBody>
      </p:sp>
      <p:sp>
        <p:nvSpPr>
          <p:cNvPr id="64" name="Google Shape;64;p3"/>
          <p:cNvSpPr txBox="1"/>
          <p:nvPr/>
        </p:nvSpPr>
        <p:spPr>
          <a:xfrm>
            <a:off x="4377856" y="7762186"/>
            <a:ext cx="9042900" cy="48148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600"/>
              <a:buFont typeface="Cabin"/>
              <a:buNone/>
            </a:pPr>
            <a:r>
              <a:rPr b="0" i="0" lang="en-US" sz="2400" u="sng" cap="none" strike="noStrike">
                <a:solidFill>
                  <a:srgbClr val="FFFF00"/>
                </a:solidFill>
                <a:latin typeface="Arial"/>
                <a:ea typeface="Arial"/>
                <a:cs typeface="Arial"/>
                <a:sym typeface="Arial"/>
                <a:hlinkClick r:id="rId3">
                  <a:extLst>
                    <a:ext uri="{A12FA001-AC4F-418D-AE19-62706E023703}">
                      <ahyp:hlinkClr val="tx"/>
                    </a:ext>
                  </a:extLst>
                </a:hlinkClick>
              </a:rPr>
              <a:t>http://en.wikipedia.org/wiki/George_Boole</a:t>
            </a:r>
            <a:endParaRPr b="0" i="0" sz="1400" u="none" cap="none" strike="noStrike">
              <a:solidFill>
                <a:srgbClr val="000000"/>
              </a:solidFill>
              <a:latin typeface="Arial"/>
              <a:ea typeface="Arial"/>
              <a:cs typeface="Arial"/>
              <a:sym typeface="Arial"/>
            </a:endParaRPr>
          </a:p>
        </p:txBody>
      </p:sp>
      <p:sp>
        <p:nvSpPr>
          <p:cNvPr id="65" name="Google Shape;65;p3"/>
          <p:cNvSpPr txBox="1"/>
          <p:nvPr/>
        </p:nvSpPr>
        <p:spPr>
          <a:xfrm>
            <a:off x="8751728" y="6917437"/>
            <a:ext cx="6794231" cy="5132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Arial"/>
                <a:ea typeface="Arial"/>
                <a:cs typeface="Arial"/>
                <a:sym typeface="Arial"/>
              </a:rPr>
              <a:t>Remember:  “=” is used for assignment.</a:t>
            </a:r>
            <a:endParaRPr b="0" i="0" sz="1400" u="none" cap="none" strike="noStrike">
              <a:solidFill>
                <a:srgbClr val="000000"/>
              </a:solidFill>
              <a:latin typeface="Arial"/>
              <a:ea typeface="Arial"/>
              <a:cs typeface="Arial"/>
              <a:sym typeface="Arial"/>
            </a:endParaRPr>
          </a:p>
        </p:txBody>
      </p:sp>
      <p:graphicFrame>
        <p:nvGraphicFramePr>
          <p:cNvPr id="66" name="Google Shape;66;p3"/>
          <p:cNvGraphicFramePr/>
          <p:nvPr/>
        </p:nvGraphicFramePr>
        <p:xfrm>
          <a:off x="8440443" y="2530257"/>
          <a:ext cx="3000000" cy="3000000"/>
        </p:xfrm>
        <a:graphic>
          <a:graphicData uri="http://schemas.openxmlformats.org/drawingml/2006/table">
            <a:tbl>
              <a:tblPr>
                <a:noFill/>
                <a:tableStyleId>{9E1B50F9-680E-4C21-8E4A-F44573E38204}</a:tableStyleId>
              </a:tblPr>
              <a:tblGrid>
                <a:gridCol w="2276725"/>
                <a:gridCol w="4828800"/>
              </a:tblGrid>
              <a:tr h="579425">
                <a:tc>
                  <a:txBody>
                    <a:bodyPr/>
                    <a:lstStyle/>
                    <a:p>
                      <a:pPr indent="0" lvl="0" marL="0" marR="0" rtl="0" algn="ctr">
                        <a:lnSpc>
                          <a:spcPct val="100000"/>
                        </a:lnSpc>
                        <a:spcBef>
                          <a:spcPts val="0"/>
                        </a:spcBef>
                        <a:spcAft>
                          <a:spcPts val="0"/>
                        </a:spcAft>
                        <a:buClr>
                          <a:srgbClr val="00FFFF"/>
                        </a:buClr>
                        <a:buSzPts val="825"/>
                        <a:buFont typeface="Cabin"/>
                        <a:buNone/>
                      </a:pPr>
                      <a:r>
                        <a:rPr b="0" i="0" lang="en-US" sz="3300" u="none" cap="none" strike="noStrike">
                          <a:solidFill>
                            <a:srgbClr val="00FFFF"/>
                          </a:solidFill>
                          <a:latin typeface="Arial"/>
                          <a:ea typeface="Arial"/>
                          <a:cs typeface="Arial"/>
                          <a:sym typeface="Arial"/>
                        </a:rPr>
                        <a:t>Python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7F7F7F">
                        <a:alpha val="48627"/>
                      </a:srgbClr>
                    </a:solidFill>
                  </a:tcPr>
                </a:tc>
                <a:tc>
                  <a:txBody>
                    <a:bodyPr/>
                    <a:lstStyle/>
                    <a:p>
                      <a:pPr indent="0" lvl="0" marL="0" marR="0" rtl="0" algn="ctr">
                        <a:lnSpc>
                          <a:spcPct val="100000"/>
                        </a:lnSpc>
                        <a:spcBef>
                          <a:spcPts val="0"/>
                        </a:spcBef>
                        <a:spcAft>
                          <a:spcPts val="0"/>
                        </a:spcAft>
                        <a:buClr>
                          <a:schemeClr val="lt1"/>
                        </a:buClr>
                        <a:buSzPts val="825"/>
                        <a:buFont typeface="Cabin"/>
                        <a:buNone/>
                      </a:pPr>
                      <a:r>
                        <a:rPr b="0" i="0" lang="en-US" sz="3300" u="none" cap="none" strike="noStrike">
                          <a:solidFill>
                            <a:srgbClr val="FFFF00"/>
                          </a:solidFill>
                          <a:latin typeface="Arial"/>
                          <a:ea typeface="Arial"/>
                          <a:cs typeface="Arial"/>
                          <a:sym typeface="Arial"/>
                        </a:rPr>
                        <a:t>Meaning</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7F7F7F">
                        <a:alpha val="48627"/>
                      </a:srgbClr>
                    </a:solidFill>
                  </a:tcPr>
                </a:tc>
              </a:tr>
              <a:tr h="54767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&lt;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Less than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54927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&lt;=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Less than or Equal to</a:t>
                      </a:r>
                      <a:endParaRPr b="0" i="0" sz="3100" u="none" cap="none" strike="noStrike">
                        <a:solidFill>
                          <a:schemeClr val="lt1"/>
                        </a:solidFill>
                        <a:latin typeface="Arial"/>
                        <a:ea typeface="Arial"/>
                        <a:cs typeface="Arial"/>
                        <a:sym typeface="Arial"/>
                      </a:endParaRPr>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54927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 == </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Equal to</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54767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&gt;=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Greater than or Equal to</a:t>
                      </a:r>
                      <a:endParaRPr b="0" i="0" sz="3100" u="none" cap="none" strike="noStrike">
                        <a:solidFill>
                          <a:schemeClr val="lt1"/>
                        </a:solidFill>
                        <a:latin typeface="Arial"/>
                        <a:ea typeface="Arial"/>
                        <a:cs typeface="Arial"/>
                        <a:sym typeface="Arial"/>
                      </a:endParaRPr>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54927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&gt;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Greater than</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r h="547675">
                <a:tc>
                  <a:txBody>
                    <a:bodyPr/>
                    <a:lstStyle/>
                    <a:p>
                      <a:pPr indent="0" lvl="0" marL="0" marR="0" rtl="0" algn="ctr">
                        <a:lnSpc>
                          <a:spcPct val="100000"/>
                        </a:lnSpc>
                        <a:spcBef>
                          <a:spcPts val="0"/>
                        </a:spcBef>
                        <a:spcAft>
                          <a:spcPts val="0"/>
                        </a:spcAft>
                        <a:buClr>
                          <a:srgbClr val="00FFFF"/>
                        </a:buClr>
                        <a:buSzPts val="775"/>
                        <a:buFont typeface="Cabin"/>
                        <a:buNone/>
                      </a:pPr>
                      <a:r>
                        <a:rPr b="0" i="0" lang="en-US" sz="3100" u="none" cap="none" strike="noStrike">
                          <a:solidFill>
                            <a:srgbClr val="00FFFF"/>
                          </a:solidFill>
                          <a:latin typeface="Arial"/>
                          <a:ea typeface="Arial"/>
                          <a:cs typeface="Arial"/>
                          <a:sym typeface="Arial"/>
                        </a:rPr>
                        <a:t>!=</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775"/>
                        <a:buFont typeface="Cabin"/>
                        <a:buNone/>
                      </a:pPr>
                      <a:r>
                        <a:rPr b="0" i="0" lang="en-US" sz="3100" u="none" cap="none" strike="noStrike">
                          <a:solidFill>
                            <a:schemeClr val="lt1"/>
                          </a:solidFill>
                          <a:latin typeface="Arial"/>
                          <a:ea typeface="Arial"/>
                          <a:cs typeface="Arial"/>
                          <a:sym typeface="Arial"/>
                        </a:rPr>
                        <a:t>Not equal</a:t>
                      </a:r>
                      <a:endParaRPr sz="1400" u="none" cap="none" strike="noStrike"/>
                    </a:p>
                  </a:txBody>
                  <a:tcPr marT="38100" marB="38100" marR="38100" marL="38100" anchor="ctr">
                    <a:lnL cap="flat" cmpd="sng" w="25400">
                      <a:solidFill>
                        <a:srgbClr val="FFFFFF"/>
                      </a:solidFill>
                      <a:prstDash val="solid"/>
                      <a:round/>
                      <a:headEnd len="sm" w="sm" type="none"/>
                      <a:tailEnd len="sm" w="sm" type="none"/>
                    </a:lnL>
                    <a:lnR cap="flat" cmpd="sng" w="25400">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type="title"/>
          </p:nvPr>
        </p:nvSpPr>
        <p:spPr>
          <a:xfrm>
            <a:off x="2028825" y="564876"/>
            <a:ext cx="9515632" cy="10705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650"/>
              <a:buFont typeface="Cabin"/>
              <a:buNone/>
            </a:pPr>
            <a:r>
              <a:rPr lang="en-US" sz="6600" u="none" cap="none" strike="noStrike">
                <a:solidFill>
                  <a:srgbClr val="FFD966"/>
                </a:solidFill>
                <a:latin typeface="Arial"/>
                <a:ea typeface="Arial"/>
                <a:cs typeface="Arial"/>
                <a:sym typeface="Arial"/>
              </a:rPr>
              <a:t>One-Way Decisions</a:t>
            </a:r>
            <a:endParaRPr/>
          </a:p>
        </p:txBody>
      </p:sp>
      <p:sp>
        <p:nvSpPr>
          <p:cNvPr id="72" name="Google Shape;72;p4"/>
          <p:cNvSpPr txBox="1"/>
          <p:nvPr/>
        </p:nvSpPr>
        <p:spPr>
          <a:xfrm>
            <a:off x="631900" y="1543987"/>
            <a:ext cx="5712000" cy="65057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x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800"/>
              <a:buFont typeface="Courier"/>
              <a:buNone/>
            </a:pPr>
            <a:r>
              <a:rPr b="0" i="0" lang="en-US" sz="3200" u="none" cap="none" strike="noStrike">
                <a:solidFill>
                  <a:srgbClr val="FF9900"/>
                </a:solidFill>
                <a:latin typeface="Courier"/>
                <a:ea typeface="Courier"/>
                <a:cs typeface="Courier"/>
                <a:sym typeface="Courier"/>
              </a:rPr>
              <a:t>print('Before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00FFFF"/>
                </a:solidFill>
                <a:latin typeface="Courier"/>
                <a:ea typeface="Courier"/>
                <a:cs typeface="Courier"/>
                <a:sym typeface="Courier"/>
              </a:rPr>
              <a:t>if  x == 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ourier"/>
              <a:buNone/>
            </a:pPr>
            <a:r>
              <a:rPr b="0" i="0" lang="en-US" sz="3200" u="none" cap="none" strike="noStrike">
                <a:solidFill>
                  <a:srgbClr val="00FFFF"/>
                </a:solidFill>
                <a:latin typeface="Courier"/>
                <a:ea typeface="Courier"/>
                <a:cs typeface="Courier"/>
                <a:sym typeface="Courier"/>
              </a:rPr>
              <a:t>    print('Is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ourier"/>
              <a:buNone/>
            </a:pPr>
            <a:r>
              <a:rPr b="0" i="0" lang="en-US" sz="3200" u="none" cap="none" strike="noStrike">
                <a:solidFill>
                  <a:srgbClr val="00FFFF"/>
                </a:solidFill>
                <a:latin typeface="Courier"/>
                <a:ea typeface="Courier"/>
                <a:cs typeface="Courier"/>
                <a:sym typeface="Courier"/>
              </a:rPr>
              <a:t>    print('Is Still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ourier"/>
              <a:buNone/>
            </a:pPr>
            <a:r>
              <a:rPr b="0" i="0" lang="en-US" sz="3200" u="none" cap="none" strike="noStrike">
                <a:solidFill>
                  <a:srgbClr val="00FFFF"/>
                </a:solidFill>
                <a:latin typeface="Courier"/>
                <a:ea typeface="Courier"/>
                <a:cs typeface="Courier"/>
                <a:sym typeface="Courier"/>
              </a:rPr>
              <a:t>    print('Third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800"/>
              <a:buFont typeface="Courier"/>
              <a:buNone/>
            </a:pPr>
            <a:r>
              <a:rPr b="0" i="0" lang="en-US" sz="3200" u="none" cap="none" strike="noStrike">
                <a:solidFill>
                  <a:srgbClr val="FF9900"/>
                </a:solidFill>
                <a:latin typeface="Courier"/>
                <a:ea typeface="Courier"/>
                <a:cs typeface="Courier"/>
                <a:sym typeface="Courier"/>
              </a:rPr>
              <a:t>print('Afterwards 5')</a:t>
            </a:r>
            <a:endParaRPr b="0" i="0" sz="32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800"/>
              <a:buFont typeface="Courier"/>
              <a:buNone/>
            </a:pPr>
            <a:r>
              <a:rPr b="0" i="0" lang="en-US" sz="3200" u="none" cap="none" strike="noStrike">
                <a:solidFill>
                  <a:srgbClr val="FF9900"/>
                </a:solidFill>
                <a:latin typeface="Courier"/>
                <a:ea typeface="Courier"/>
                <a:cs typeface="Courier"/>
                <a:sym typeface="Courier"/>
              </a:rPr>
              <a:t>print('Before 6')</a:t>
            </a:r>
            <a:endParaRPr b="0" i="0" sz="32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800"/>
              <a:buFont typeface="Cabin"/>
              <a:buNone/>
            </a:pPr>
            <a:r>
              <a:rPr b="0" i="0" lang="en-US" sz="3200" u="none" cap="none" strike="noStrike">
                <a:solidFill>
                  <a:srgbClr val="00FF00"/>
                </a:solidFill>
                <a:latin typeface="Courier"/>
                <a:ea typeface="Courier"/>
                <a:cs typeface="Courier"/>
                <a:sym typeface="Courier"/>
              </a:rPr>
              <a:t>if x == 6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800"/>
              <a:buFont typeface="Courier"/>
              <a:buNone/>
            </a:pPr>
            <a:r>
              <a:rPr b="0" i="0" lang="en-US" sz="3200" u="none" cap="none" strike="noStrike">
                <a:solidFill>
                  <a:srgbClr val="00FF00"/>
                </a:solidFill>
                <a:latin typeface="Courier"/>
                <a:ea typeface="Courier"/>
                <a:cs typeface="Courier"/>
                <a:sym typeface="Courier"/>
              </a:rPr>
              <a:t>    print('Is 6')</a:t>
            </a:r>
            <a:endParaRPr b="0" i="0" sz="3200" u="none" cap="none" strike="noStrike">
              <a:solidFill>
                <a:schemeClr val="accen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800"/>
              <a:buFont typeface="Courier"/>
              <a:buNone/>
            </a:pPr>
            <a:r>
              <a:rPr b="0" i="0" lang="en-US" sz="3200" u="none" cap="none" strike="noStrike">
                <a:solidFill>
                  <a:srgbClr val="00FF00"/>
                </a:solidFill>
                <a:latin typeface="Courier"/>
                <a:ea typeface="Courier"/>
                <a:cs typeface="Courier"/>
                <a:sym typeface="Courier"/>
              </a:rPr>
              <a:t>    print('Is Still 6')</a:t>
            </a:r>
            <a:endParaRPr b="0" i="0" sz="3200" u="none" cap="none" strike="noStrike">
              <a:solidFill>
                <a:schemeClr val="accen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800"/>
              <a:buFont typeface="Courier"/>
              <a:buNone/>
            </a:pPr>
            <a:r>
              <a:rPr b="0" i="0" lang="en-US" sz="3200" u="none" cap="none" strike="noStrike">
                <a:solidFill>
                  <a:srgbClr val="00FF00"/>
                </a:solidFill>
                <a:latin typeface="Courier"/>
                <a:ea typeface="Courier"/>
                <a:cs typeface="Courier"/>
                <a:sym typeface="Courier"/>
              </a:rPr>
              <a:t>    print('Third 6')</a:t>
            </a:r>
            <a:endParaRPr b="0" i="0" sz="3200" u="none" cap="none" strike="noStrike">
              <a:solidFill>
                <a:schemeClr val="accent1"/>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800"/>
              <a:buFont typeface="Courier"/>
              <a:buNone/>
            </a:pPr>
            <a:r>
              <a:rPr b="0" i="0" lang="en-US" sz="3200" u="none" cap="none" strike="noStrike">
                <a:solidFill>
                  <a:srgbClr val="FF9900"/>
                </a:solidFill>
                <a:latin typeface="Courier"/>
                <a:ea typeface="Courier"/>
                <a:cs typeface="Courier"/>
                <a:sym typeface="Courier"/>
              </a:rPr>
              <a:t>print('Afterwards 6')</a:t>
            </a:r>
            <a:endParaRPr b="0" i="0" sz="3200" u="none" cap="none" strike="noStrike">
              <a:solidFill>
                <a:srgbClr val="FF9900"/>
              </a:solidFill>
              <a:latin typeface="Courier"/>
              <a:ea typeface="Courier"/>
              <a:cs typeface="Courier"/>
              <a:sym typeface="Courier"/>
            </a:endParaRPr>
          </a:p>
        </p:txBody>
      </p:sp>
      <p:sp>
        <p:nvSpPr>
          <p:cNvPr id="73" name="Google Shape;73;p4"/>
          <p:cNvSpPr txBox="1"/>
          <p:nvPr/>
        </p:nvSpPr>
        <p:spPr>
          <a:xfrm>
            <a:off x="7321666" y="2088625"/>
            <a:ext cx="2826846" cy="59610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Before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900"/>
              <a:buFont typeface="Cabin"/>
              <a:buNone/>
            </a:pPr>
            <a:r>
              <a:t/>
            </a:r>
            <a:endParaRPr b="0" i="0" sz="3600" u="none" cap="none" strike="noStrike">
              <a:solidFill>
                <a:srgbClr val="FF99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FF"/>
                </a:solidFill>
                <a:latin typeface="Arial"/>
                <a:ea typeface="Arial"/>
                <a:cs typeface="Arial"/>
                <a:sym typeface="Arial"/>
              </a:rPr>
              <a:t>Is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FF"/>
                </a:solidFill>
                <a:latin typeface="Arial"/>
                <a:ea typeface="Arial"/>
                <a:cs typeface="Arial"/>
                <a:sym typeface="Arial"/>
              </a:rPr>
              <a:t>Is Still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900"/>
              <a:buFont typeface="Cabin"/>
              <a:buNone/>
            </a:pPr>
            <a:r>
              <a:rPr b="0" i="0" lang="en-US" sz="3600" u="none" cap="none" strike="noStrike">
                <a:solidFill>
                  <a:srgbClr val="00FFFF"/>
                </a:solidFill>
                <a:latin typeface="Arial"/>
                <a:ea typeface="Arial"/>
                <a:cs typeface="Arial"/>
                <a:sym typeface="Arial"/>
              </a:rPr>
              <a:t>Third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Afterwards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Before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900"/>
              <a:buFont typeface="Cabin"/>
              <a:buNone/>
            </a:pPr>
            <a:r>
              <a:t/>
            </a:r>
            <a:endParaRPr b="0" i="0" sz="3600" u="none" cap="none" strike="noStrike">
              <a:solidFill>
                <a:srgbClr val="FF99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900"/>
              <a:buFont typeface="Cabin"/>
              <a:buNone/>
            </a:pPr>
            <a:r>
              <a:t/>
            </a:r>
            <a:endParaRPr b="0" i="0" sz="3600" u="none" cap="none" strike="noStrike">
              <a:solidFill>
                <a:srgbClr val="FF99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900"/>
              <a:buFont typeface="Cabin"/>
              <a:buNone/>
            </a:pPr>
            <a:r>
              <a:t/>
            </a:r>
            <a:endParaRPr b="0" i="0" sz="3600" u="none" cap="none" strike="noStrike">
              <a:solidFill>
                <a:srgbClr val="FF99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900"/>
              <a:buFont typeface="Cabin"/>
              <a:buNone/>
            </a:pPr>
            <a:r>
              <a:rPr b="0" i="0" lang="en-US" sz="3600" u="none" cap="none" strike="noStrike">
                <a:solidFill>
                  <a:srgbClr val="FF9900"/>
                </a:solidFill>
                <a:latin typeface="Arial"/>
                <a:ea typeface="Arial"/>
                <a:cs typeface="Arial"/>
                <a:sym typeface="Arial"/>
              </a:rPr>
              <a:t>Afterwards 6</a:t>
            </a:r>
            <a:endParaRPr b="0" i="0" sz="1400" u="none" cap="none" strike="noStrike">
              <a:solidFill>
                <a:srgbClr val="000000"/>
              </a:solidFill>
              <a:latin typeface="Arial"/>
              <a:ea typeface="Arial"/>
              <a:cs typeface="Arial"/>
              <a:sym typeface="Arial"/>
            </a:endParaRPr>
          </a:p>
        </p:txBody>
      </p:sp>
      <p:cxnSp>
        <p:nvCxnSpPr>
          <p:cNvPr id="74" name="Google Shape;74;p4"/>
          <p:cNvCxnSpPr/>
          <p:nvPr/>
        </p:nvCxnSpPr>
        <p:spPr>
          <a:xfrm rot="10800000">
            <a:off x="6384210" y="3857360"/>
            <a:ext cx="794254" cy="65259"/>
          </a:xfrm>
          <a:prstGeom prst="straightConnector1">
            <a:avLst/>
          </a:prstGeom>
          <a:noFill/>
          <a:ln cap="rnd" cmpd="sng" w="76200">
            <a:solidFill>
              <a:srgbClr val="00FFFF"/>
            </a:solidFill>
            <a:prstDash val="solid"/>
            <a:miter lim="8000"/>
            <a:headEnd len="med" w="med" type="stealth"/>
            <a:tailEnd len="sm" w="sm" type="none"/>
          </a:ln>
        </p:spPr>
      </p:cxnSp>
      <p:cxnSp>
        <p:nvCxnSpPr>
          <p:cNvPr id="75" name="Google Shape;75;p4"/>
          <p:cNvCxnSpPr/>
          <p:nvPr/>
        </p:nvCxnSpPr>
        <p:spPr>
          <a:xfrm flipH="1">
            <a:off x="5382786" y="6345736"/>
            <a:ext cx="1669419" cy="116062"/>
          </a:xfrm>
          <a:prstGeom prst="straightConnector1">
            <a:avLst/>
          </a:prstGeom>
          <a:noFill/>
          <a:ln cap="rnd" cmpd="sng" w="76200">
            <a:solidFill>
              <a:srgbClr val="00FF00"/>
            </a:solidFill>
            <a:prstDash val="solid"/>
            <a:miter lim="8000"/>
            <a:headEnd len="med" w="med" type="stealth"/>
            <a:tailEnd len="sm" w="sm" type="none"/>
          </a:ln>
        </p:spPr>
      </p:cxnSp>
      <p:cxnSp>
        <p:nvCxnSpPr>
          <p:cNvPr id="76" name="Google Shape;76;p4"/>
          <p:cNvCxnSpPr/>
          <p:nvPr/>
        </p:nvCxnSpPr>
        <p:spPr>
          <a:xfrm rot="10800000">
            <a:off x="12087268" y="1315710"/>
            <a:ext cx="14400" cy="566699"/>
          </a:xfrm>
          <a:prstGeom prst="straightConnector1">
            <a:avLst/>
          </a:prstGeom>
          <a:noFill/>
          <a:ln cap="rnd" cmpd="sng" w="76200">
            <a:solidFill>
              <a:srgbClr val="00FFFF"/>
            </a:solidFill>
            <a:prstDash val="solid"/>
            <a:miter lim="8000"/>
            <a:headEnd len="med" w="med" type="stealth"/>
            <a:tailEnd len="sm" w="sm" type="none"/>
          </a:ln>
        </p:spPr>
      </p:cxnSp>
      <p:sp>
        <p:nvSpPr>
          <p:cNvPr id="77" name="Google Shape;77;p4"/>
          <p:cNvSpPr/>
          <p:nvPr/>
        </p:nvSpPr>
        <p:spPr>
          <a:xfrm>
            <a:off x="10671332" y="1876061"/>
            <a:ext cx="2870100" cy="1269899"/>
          </a:xfrm>
          <a:prstGeom prst="diamond">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Arial"/>
                <a:ea typeface="Arial"/>
                <a:cs typeface="Arial"/>
                <a:sym typeface="Arial"/>
              </a:rPr>
              <a:t>x == 5 ?</a:t>
            </a:r>
            <a:endParaRPr b="0" i="0" sz="1400" u="none" cap="none" strike="noStrike">
              <a:solidFill>
                <a:srgbClr val="000000"/>
              </a:solidFill>
              <a:latin typeface="Arial"/>
              <a:ea typeface="Arial"/>
              <a:cs typeface="Arial"/>
              <a:sym typeface="Arial"/>
            </a:endParaRPr>
          </a:p>
        </p:txBody>
      </p:sp>
      <p:cxnSp>
        <p:nvCxnSpPr>
          <p:cNvPr id="78" name="Google Shape;78;p4"/>
          <p:cNvCxnSpPr/>
          <p:nvPr/>
        </p:nvCxnSpPr>
        <p:spPr>
          <a:xfrm rot="10800000">
            <a:off x="12087393" y="3093698"/>
            <a:ext cx="49200" cy="4060800"/>
          </a:xfrm>
          <a:prstGeom prst="straightConnector1">
            <a:avLst/>
          </a:prstGeom>
          <a:noFill/>
          <a:ln cap="rnd" cmpd="sng" w="76200">
            <a:solidFill>
              <a:srgbClr val="00FFFF"/>
            </a:solidFill>
            <a:prstDash val="solid"/>
            <a:miter lim="8000"/>
            <a:headEnd len="med" w="med" type="stealth"/>
            <a:tailEnd len="sm" w="sm" type="none"/>
          </a:ln>
        </p:spPr>
      </p:cxnSp>
      <p:cxnSp>
        <p:nvCxnSpPr>
          <p:cNvPr id="79" name="Google Shape;79;p4"/>
          <p:cNvCxnSpPr/>
          <p:nvPr/>
        </p:nvCxnSpPr>
        <p:spPr>
          <a:xfrm rot="10800000">
            <a:off x="13528956" y="2504710"/>
            <a:ext cx="724500" cy="5700"/>
          </a:xfrm>
          <a:prstGeom prst="straightConnector1">
            <a:avLst/>
          </a:prstGeom>
          <a:noFill/>
          <a:ln cap="rnd" cmpd="sng" w="76200">
            <a:solidFill>
              <a:srgbClr val="00FFFF"/>
            </a:solidFill>
            <a:prstDash val="solid"/>
            <a:miter lim="8000"/>
            <a:headEnd len="sm" w="sm" type="none"/>
            <a:tailEnd len="sm" w="sm" type="none"/>
          </a:ln>
        </p:spPr>
      </p:cxnSp>
      <p:cxnSp>
        <p:nvCxnSpPr>
          <p:cNvPr id="80" name="Google Shape;80;p4"/>
          <p:cNvCxnSpPr/>
          <p:nvPr/>
        </p:nvCxnSpPr>
        <p:spPr>
          <a:xfrm flipH="1" rot="10800000">
            <a:off x="14273369" y="2504835"/>
            <a:ext cx="15899" cy="644400"/>
          </a:xfrm>
          <a:prstGeom prst="straightConnector1">
            <a:avLst/>
          </a:prstGeom>
          <a:noFill/>
          <a:ln cap="rnd" cmpd="sng" w="50800">
            <a:solidFill>
              <a:srgbClr val="00FFFF"/>
            </a:solidFill>
            <a:prstDash val="solid"/>
            <a:miter lim="8000"/>
            <a:headEnd len="med" w="med" type="stealth"/>
            <a:tailEnd len="sm" w="sm" type="none"/>
          </a:ln>
        </p:spPr>
      </p:cxnSp>
      <p:cxnSp>
        <p:nvCxnSpPr>
          <p:cNvPr id="81" name="Google Shape;81;p4"/>
          <p:cNvCxnSpPr/>
          <p:nvPr/>
        </p:nvCxnSpPr>
        <p:spPr>
          <a:xfrm>
            <a:off x="12144418" y="6345736"/>
            <a:ext cx="2149499" cy="0"/>
          </a:xfrm>
          <a:prstGeom prst="straightConnector1">
            <a:avLst/>
          </a:prstGeom>
          <a:noFill/>
          <a:ln cap="rnd" cmpd="sng" w="76200">
            <a:solidFill>
              <a:srgbClr val="00FFFF"/>
            </a:solidFill>
            <a:prstDash val="solid"/>
            <a:miter lim="8000"/>
            <a:headEnd len="med" w="med" type="stealth"/>
            <a:tailEnd len="sm" w="sm" type="none"/>
          </a:ln>
        </p:spPr>
      </p:cxnSp>
      <p:sp>
        <p:nvSpPr>
          <p:cNvPr id="82" name="Google Shape;82;p4"/>
          <p:cNvSpPr txBox="1"/>
          <p:nvPr/>
        </p:nvSpPr>
        <p:spPr>
          <a:xfrm>
            <a:off x="13365944" y="1667311"/>
            <a:ext cx="1114555"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83" name="Google Shape;83;p4"/>
          <p:cNvSpPr txBox="1"/>
          <p:nvPr/>
        </p:nvSpPr>
        <p:spPr>
          <a:xfrm>
            <a:off x="12817632" y="4212861"/>
            <a:ext cx="2921099" cy="7493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Arial"/>
              <a:buNone/>
            </a:pPr>
            <a:r>
              <a:rPr b="0" i="0" lang="en-US" sz="3500" u="none" cap="none" strike="noStrike">
                <a:solidFill>
                  <a:schemeClr val="lt1"/>
                </a:solidFill>
                <a:latin typeface="Arial"/>
                <a:ea typeface="Arial"/>
                <a:cs typeface="Arial"/>
                <a:sym typeface="Arial"/>
              </a:rPr>
              <a:t>print('Still 5')</a:t>
            </a:r>
            <a:endParaRPr b="0" i="0" sz="3500" u="none" cap="none" strike="noStrike">
              <a:solidFill>
                <a:schemeClr val="lt1"/>
              </a:solidFill>
              <a:latin typeface="Arial"/>
              <a:ea typeface="Arial"/>
              <a:cs typeface="Arial"/>
              <a:sym typeface="Arial"/>
            </a:endParaRPr>
          </a:p>
        </p:txBody>
      </p:sp>
      <p:sp>
        <p:nvSpPr>
          <p:cNvPr id="84" name="Google Shape;84;p4"/>
          <p:cNvSpPr txBox="1"/>
          <p:nvPr/>
        </p:nvSpPr>
        <p:spPr>
          <a:xfrm>
            <a:off x="12817632" y="5317761"/>
            <a:ext cx="2921099" cy="7493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Arial"/>
              <a:buNone/>
            </a:pPr>
            <a:r>
              <a:rPr b="0" i="0" lang="en-US" sz="3500" u="none" cap="none" strike="noStrike">
                <a:solidFill>
                  <a:schemeClr val="lt1"/>
                </a:solidFill>
                <a:latin typeface="Arial"/>
                <a:ea typeface="Arial"/>
                <a:cs typeface="Arial"/>
                <a:sym typeface="Arial"/>
              </a:rPr>
              <a:t>print('Third 5')</a:t>
            </a:r>
            <a:endParaRPr b="0" i="0" sz="3500" u="none" cap="none" strike="noStrike">
              <a:solidFill>
                <a:schemeClr val="lt1"/>
              </a:solidFill>
              <a:latin typeface="Arial"/>
              <a:ea typeface="Arial"/>
              <a:cs typeface="Arial"/>
              <a:sym typeface="Arial"/>
            </a:endParaRPr>
          </a:p>
        </p:txBody>
      </p:sp>
      <p:sp>
        <p:nvSpPr>
          <p:cNvPr id="85" name="Google Shape;85;p4"/>
          <p:cNvSpPr txBox="1"/>
          <p:nvPr/>
        </p:nvSpPr>
        <p:spPr>
          <a:xfrm>
            <a:off x="10988832" y="3171461"/>
            <a:ext cx="7239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86" name="Google Shape;86;p4"/>
          <p:cNvSpPr txBox="1"/>
          <p:nvPr/>
        </p:nvSpPr>
        <p:spPr>
          <a:xfrm>
            <a:off x="12817632" y="3107961"/>
            <a:ext cx="2921099" cy="749399"/>
          </a:xfrm>
          <a:prstGeom prst="rect">
            <a:avLst/>
          </a:prstGeom>
          <a:noFill/>
          <a:ln cap="flat" cmpd="sng" w="76200">
            <a:solidFill>
              <a:srgbClr val="00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75"/>
              <a:buFont typeface="Arial"/>
              <a:buNone/>
            </a:pPr>
            <a:r>
              <a:rPr b="0" i="0" lang="en-US" sz="3500" u="none" cap="none" strike="noStrike">
                <a:solidFill>
                  <a:schemeClr val="lt1"/>
                </a:solidFill>
                <a:latin typeface="Arial"/>
                <a:ea typeface="Arial"/>
                <a:cs typeface="Arial"/>
                <a:sym typeface="Arial"/>
              </a:rPr>
              <a:t>print('Is 5’)</a:t>
            </a:r>
            <a:endParaRPr b="0" i="0" sz="3500" u="none" cap="none" strike="noStrike">
              <a:solidFill>
                <a:schemeClr val="lt1"/>
              </a:solidFill>
              <a:latin typeface="Arial"/>
              <a:ea typeface="Arial"/>
              <a:cs typeface="Arial"/>
              <a:sym typeface="Arial"/>
            </a:endParaRPr>
          </a:p>
        </p:txBody>
      </p:sp>
      <p:cxnSp>
        <p:nvCxnSpPr>
          <p:cNvPr id="87" name="Google Shape;87;p4"/>
          <p:cNvCxnSpPr>
            <a:endCxn id="86" idx="2"/>
          </p:cNvCxnSpPr>
          <p:nvPr/>
        </p:nvCxnSpPr>
        <p:spPr>
          <a:xfrm flipH="1" rot="10800000">
            <a:off x="14267982" y="3857360"/>
            <a:ext cx="10200" cy="355500"/>
          </a:xfrm>
          <a:prstGeom prst="straightConnector1">
            <a:avLst/>
          </a:prstGeom>
          <a:noFill/>
          <a:ln cap="rnd" cmpd="sng" w="76200">
            <a:solidFill>
              <a:srgbClr val="00FFFF"/>
            </a:solidFill>
            <a:prstDash val="solid"/>
            <a:miter lim="8000"/>
            <a:headEnd len="med" w="med" type="stealth"/>
            <a:tailEnd len="sm" w="sm" type="none"/>
          </a:ln>
        </p:spPr>
      </p:cxnSp>
      <p:cxnSp>
        <p:nvCxnSpPr>
          <p:cNvPr id="88" name="Google Shape;88;p4"/>
          <p:cNvCxnSpPr/>
          <p:nvPr/>
        </p:nvCxnSpPr>
        <p:spPr>
          <a:xfrm flipH="1" rot="10800000">
            <a:off x="14267981" y="4999998"/>
            <a:ext cx="10200" cy="355500"/>
          </a:xfrm>
          <a:prstGeom prst="straightConnector1">
            <a:avLst/>
          </a:prstGeom>
          <a:noFill/>
          <a:ln cap="rnd" cmpd="sng" w="76200">
            <a:solidFill>
              <a:srgbClr val="00FFFF"/>
            </a:solidFill>
            <a:prstDash val="solid"/>
            <a:miter lim="8000"/>
            <a:headEnd len="med" w="med" type="stealth"/>
            <a:tailEnd len="sm" w="sm" type="none"/>
          </a:ln>
        </p:spPr>
      </p:cxnSp>
      <p:cxnSp>
        <p:nvCxnSpPr>
          <p:cNvPr id="89" name="Google Shape;89;p4"/>
          <p:cNvCxnSpPr/>
          <p:nvPr/>
        </p:nvCxnSpPr>
        <p:spPr>
          <a:xfrm flipH="1" rot="10800000">
            <a:off x="14276219" y="6066435"/>
            <a:ext cx="10200" cy="355500"/>
          </a:xfrm>
          <a:prstGeom prst="straightConnector1">
            <a:avLst/>
          </a:prstGeom>
          <a:noFill/>
          <a:ln cap="rnd" cmpd="sng" w="76200">
            <a:solidFill>
              <a:srgbClr val="00FFFF"/>
            </a:solidFill>
            <a:prstDash val="solid"/>
            <a:miter lim="8000"/>
            <a:headEnd len="med" w="med" type="stealth"/>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type="title"/>
          </p:nvPr>
        </p:nvSpPr>
        <p:spPr>
          <a:xfrm>
            <a:off x="727075" y="745588"/>
            <a:ext cx="13512800"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Indentation</a:t>
            </a:r>
            <a:endParaRPr/>
          </a:p>
        </p:txBody>
      </p:sp>
      <p:sp>
        <p:nvSpPr>
          <p:cNvPr id="95" name="Google Shape;95;p5"/>
          <p:cNvSpPr txBox="1"/>
          <p:nvPr>
            <p:ph idx="1" type="body"/>
          </p:nvPr>
        </p:nvSpPr>
        <p:spPr>
          <a:xfrm>
            <a:off x="946523" y="2592296"/>
            <a:ext cx="14269177" cy="5640168"/>
          </a:xfrm>
          <a:prstGeom prst="rect">
            <a:avLst/>
          </a:prstGeom>
          <a:noFill/>
          <a:ln>
            <a:noFill/>
          </a:ln>
        </p:spPr>
        <p:txBody>
          <a:bodyPr anchorCtr="0" anchor="ctr" bIns="38100" lIns="38100" spcFirstLastPara="1" rIns="38100" wrap="square" tIns="38100">
            <a:noAutofit/>
          </a:bodyPr>
          <a:lstStyle/>
          <a:p>
            <a:pPr indent="-345694" lvl="0" marL="749300" marR="0" rtl="0" algn="l">
              <a:lnSpc>
                <a:spcPct val="100000"/>
              </a:lnSpc>
              <a:spcBef>
                <a:spcPts val="0"/>
              </a:spcBef>
              <a:spcAft>
                <a:spcPts val="0"/>
              </a:spcAft>
              <a:buClr>
                <a:srgbClr val="FF7F00"/>
              </a:buClr>
              <a:buSzPts val="3200"/>
              <a:buFont typeface="Cabin"/>
              <a:buChar char="•"/>
            </a:pPr>
            <a:r>
              <a:rPr lang="en-US" sz="3200" u="none" cap="none" strike="noStrike">
                <a:solidFill>
                  <a:srgbClr val="FF9900"/>
                </a:solidFill>
                <a:latin typeface="Arial"/>
                <a:ea typeface="Arial"/>
                <a:cs typeface="Arial"/>
                <a:sym typeface="Arial"/>
              </a:rPr>
              <a:t>Increase indent </a:t>
            </a:r>
            <a:r>
              <a:rPr lang="en-US" sz="3200" u="none" cap="none" strike="noStrike">
                <a:solidFill>
                  <a:schemeClr val="lt1"/>
                </a:solidFill>
                <a:latin typeface="Arial"/>
                <a:ea typeface="Arial"/>
                <a:cs typeface="Arial"/>
                <a:sym typeface="Arial"/>
              </a:rPr>
              <a:t>indent after an </a:t>
            </a:r>
            <a:r>
              <a:rPr lang="en-US" sz="3200" u="none" cap="none" strike="noStrike">
                <a:solidFill>
                  <a:srgbClr val="FFFF00"/>
                </a:solidFill>
                <a:latin typeface="Arial"/>
                <a:ea typeface="Arial"/>
                <a:cs typeface="Arial"/>
                <a:sym typeface="Arial"/>
              </a:rPr>
              <a:t>if</a:t>
            </a:r>
            <a:r>
              <a:rPr lang="en-US" sz="3200" u="none" cap="none" strike="noStrike">
                <a:solidFill>
                  <a:schemeClr val="lt1"/>
                </a:solidFill>
                <a:latin typeface="Arial"/>
                <a:ea typeface="Arial"/>
                <a:cs typeface="Arial"/>
                <a:sym typeface="Arial"/>
              </a:rPr>
              <a:t> statement or </a:t>
            </a:r>
            <a:r>
              <a:rPr lang="en-US" sz="3200" u="none" cap="none" strike="noStrike">
                <a:solidFill>
                  <a:srgbClr val="FFFF00"/>
                </a:solidFill>
                <a:latin typeface="Arial"/>
                <a:ea typeface="Arial"/>
                <a:cs typeface="Arial"/>
                <a:sym typeface="Arial"/>
              </a:rPr>
              <a:t>for</a:t>
            </a:r>
            <a:r>
              <a:rPr lang="en-US" sz="3200" u="none" cap="none" strike="noStrike">
                <a:solidFill>
                  <a:schemeClr val="lt1"/>
                </a:solidFill>
                <a:latin typeface="Arial"/>
                <a:ea typeface="Arial"/>
                <a:cs typeface="Arial"/>
                <a:sym typeface="Arial"/>
              </a:rPr>
              <a:t> statement (after : )</a:t>
            </a:r>
            <a:endParaRPr/>
          </a:p>
          <a:p>
            <a:pPr indent="-345694" lvl="0" marL="749300" marR="0" rtl="0" algn="l">
              <a:lnSpc>
                <a:spcPct val="100000"/>
              </a:lnSpc>
              <a:spcBef>
                <a:spcPts val="3500"/>
              </a:spcBef>
              <a:spcAft>
                <a:spcPts val="0"/>
              </a:spcAft>
              <a:buClr>
                <a:srgbClr val="FF7F00"/>
              </a:buClr>
              <a:buSzPts val="3200"/>
              <a:buFont typeface="Cabin"/>
              <a:buChar char="•"/>
            </a:pPr>
            <a:r>
              <a:rPr lang="en-US" sz="3200" u="none" cap="none" strike="noStrike">
                <a:solidFill>
                  <a:srgbClr val="FF9900"/>
                </a:solidFill>
                <a:latin typeface="Arial"/>
                <a:ea typeface="Arial"/>
                <a:cs typeface="Arial"/>
                <a:sym typeface="Arial"/>
              </a:rPr>
              <a:t>Maintain indent</a:t>
            </a:r>
            <a:r>
              <a:rPr lang="en-US" sz="3200" u="none" cap="none" strike="noStrike">
                <a:solidFill>
                  <a:schemeClr val="lt1"/>
                </a:solidFill>
                <a:latin typeface="Arial"/>
                <a:ea typeface="Arial"/>
                <a:cs typeface="Arial"/>
                <a:sym typeface="Arial"/>
              </a:rPr>
              <a:t> to indicate the </a:t>
            </a:r>
            <a:r>
              <a:rPr lang="en-US" sz="3200" u="none" cap="none" strike="noStrike">
                <a:solidFill>
                  <a:srgbClr val="FF9900"/>
                </a:solidFill>
                <a:latin typeface="Arial"/>
                <a:ea typeface="Arial"/>
                <a:cs typeface="Arial"/>
                <a:sym typeface="Arial"/>
              </a:rPr>
              <a:t>scope</a:t>
            </a:r>
            <a:r>
              <a:rPr lang="en-US" sz="3200" u="none" cap="none" strike="noStrike">
                <a:solidFill>
                  <a:schemeClr val="lt1"/>
                </a:solidFill>
                <a:latin typeface="Arial"/>
                <a:ea typeface="Arial"/>
                <a:cs typeface="Arial"/>
                <a:sym typeface="Arial"/>
              </a:rPr>
              <a:t> of the block (which lines are affected by the</a:t>
            </a:r>
            <a:r>
              <a:rPr lang="en-US" sz="3200" u="none" cap="none" strike="noStrike">
                <a:solidFill>
                  <a:srgbClr val="FFFF00"/>
                </a:solidFill>
                <a:latin typeface="Arial"/>
                <a:ea typeface="Arial"/>
                <a:cs typeface="Arial"/>
                <a:sym typeface="Arial"/>
              </a:rPr>
              <a:t> if</a:t>
            </a:r>
            <a:r>
              <a:rPr lang="en-US" sz="3200" u="none" cap="none" strike="noStrike">
                <a:solidFill>
                  <a:schemeClr val="lt1"/>
                </a:solidFill>
                <a:latin typeface="Arial"/>
                <a:ea typeface="Arial"/>
                <a:cs typeface="Arial"/>
                <a:sym typeface="Arial"/>
              </a:rPr>
              <a:t>/</a:t>
            </a:r>
            <a:r>
              <a:rPr lang="en-US" sz="3200" u="none" cap="none" strike="noStrike">
                <a:solidFill>
                  <a:srgbClr val="FFFF00"/>
                </a:solidFill>
                <a:latin typeface="Arial"/>
                <a:ea typeface="Arial"/>
                <a:cs typeface="Arial"/>
                <a:sym typeface="Arial"/>
              </a:rPr>
              <a:t>for</a:t>
            </a:r>
            <a:r>
              <a:rPr lang="en-US" sz="3200" u="none" cap="none" strike="noStrike">
                <a:solidFill>
                  <a:schemeClr val="lt1"/>
                </a:solidFill>
                <a:latin typeface="Arial"/>
                <a:ea typeface="Arial"/>
                <a:cs typeface="Arial"/>
                <a:sym typeface="Arial"/>
              </a:rPr>
              <a:t>)</a:t>
            </a:r>
            <a:endParaRPr/>
          </a:p>
          <a:p>
            <a:pPr indent="-345694" lvl="0" marL="749300" marR="0" rtl="0" algn="l">
              <a:lnSpc>
                <a:spcPct val="100000"/>
              </a:lnSpc>
              <a:spcBef>
                <a:spcPts val="3500"/>
              </a:spcBef>
              <a:spcAft>
                <a:spcPts val="0"/>
              </a:spcAft>
              <a:buClr>
                <a:srgbClr val="FF7F00"/>
              </a:buClr>
              <a:buSzPts val="3200"/>
              <a:buFont typeface="Cabin"/>
              <a:buChar char="•"/>
            </a:pPr>
            <a:r>
              <a:rPr lang="en-US" sz="3200" u="none" cap="none" strike="noStrike">
                <a:solidFill>
                  <a:srgbClr val="FF9900"/>
                </a:solidFill>
                <a:latin typeface="Arial"/>
                <a:ea typeface="Arial"/>
                <a:cs typeface="Arial"/>
                <a:sym typeface="Arial"/>
              </a:rPr>
              <a:t>Reduce indent</a:t>
            </a:r>
            <a:r>
              <a:rPr lang="en-US" sz="3200" u="none" cap="none" strike="noStrike">
                <a:solidFill>
                  <a:schemeClr val="lt1"/>
                </a:solidFill>
                <a:latin typeface="Arial"/>
                <a:ea typeface="Arial"/>
                <a:cs typeface="Arial"/>
                <a:sym typeface="Arial"/>
              </a:rPr>
              <a:t> </a:t>
            </a:r>
            <a:r>
              <a:rPr lang="en-US" sz="3200" u="none" cap="none" strike="noStrike">
                <a:solidFill>
                  <a:srgbClr val="FFFFFF"/>
                </a:solidFill>
                <a:latin typeface="Arial"/>
                <a:ea typeface="Arial"/>
                <a:cs typeface="Arial"/>
                <a:sym typeface="Arial"/>
              </a:rPr>
              <a:t>back to </a:t>
            </a:r>
            <a:r>
              <a:rPr lang="en-US" sz="3200" u="none" cap="none" strike="noStrike">
                <a:solidFill>
                  <a:schemeClr val="lt1"/>
                </a:solidFill>
                <a:latin typeface="Arial"/>
                <a:ea typeface="Arial"/>
                <a:cs typeface="Arial"/>
                <a:sym typeface="Arial"/>
              </a:rPr>
              <a:t>the level of the </a:t>
            </a:r>
            <a:r>
              <a:rPr lang="en-US" sz="3200" u="none" cap="none" strike="noStrike">
                <a:solidFill>
                  <a:srgbClr val="FFFF00"/>
                </a:solidFill>
                <a:latin typeface="Arial"/>
                <a:ea typeface="Arial"/>
                <a:cs typeface="Arial"/>
                <a:sym typeface="Arial"/>
              </a:rPr>
              <a:t>if</a:t>
            </a:r>
            <a:r>
              <a:rPr lang="en-US" sz="3200" u="none" cap="none" strike="noStrike">
                <a:solidFill>
                  <a:schemeClr val="lt1"/>
                </a:solidFill>
                <a:latin typeface="Arial"/>
                <a:ea typeface="Arial"/>
                <a:cs typeface="Arial"/>
                <a:sym typeface="Arial"/>
              </a:rPr>
              <a:t> statement or </a:t>
            </a:r>
            <a:r>
              <a:rPr lang="en-US" sz="3200" u="none" cap="none" strike="noStrike">
                <a:solidFill>
                  <a:srgbClr val="FFFF00"/>
                </a:solidFill>
                <a:latin typeface="Arial"/>
                <a:ea typeface="Arial"/>
                <a:cs typeface="Arial"/>
                <a:sym typeface="Arial"/>
              </a:rPr>
              <a:t>for</a:t>
            </a:r>
            <a:r>
              <a:rPr lang="en-US" sz="3200" u="none" cap="none" strike="noStrike">
                <a:solidFill>
                  <a:schemeClr val="lt1"/>
                </a:solidFill>
                <a:latin typeface="Arial"/>
                <a:ea typeface="Arial"/>
                <a:cs typeface="Arial"/>
                <a:sym typeface="Arial"/>
              </a:rPr>
              <a:t> statement to indicate the end of the block</a:t>
            </a:r>
            <a:endParaRPr/>
          </a:p>
          <a:p>
            <a:pPr indent="-345694" lvl="0" marL="749300" marR="0" rtl="0" algn="l">
              <a:lnSpc>
                <a:spcPct val="100000"/>
              </a:lnSpc>
              <a:spcBef>
                <a:spcPts val="3500"/>
              </a:spcBef>
              <a:spcAft>
                <a:spcPts val="0"/>
              </a:spcAft>
              <a:buClr>
                <a:srgbClr val="FFFF00"/>
              </a:buClr>
              <a:buSzPts val="3200"/>
              <a:buFont typeface="Cabin"/>
              <a:buChar char="•"/>
            </a:pPr>
            <a:r>
              <a:rPr lang="en-US" sz="3200" u="none" cap="none" strike="noStrike">
                <a:solidFill>
                  <a:srgbClr val="FFFF00"/>
                </a:solidFill>
                <a:latin typeface="Arial"/>
                <a:ea typeface="Arial"/>
                <a:cs typeface="Arial"/>
                <a:sym typeface="Arial"/>
              </a:rPr>
              <a:t>Blank lines</a:t>
            </a:r>
            <a:r>
              <a:rPr lang="en-US" sz="3200" u="none" cap="none" strike="noStrike">
                <a:solidFill>
                  <a:srgbClr val="FFFFFF"/>
                </a:solidFill>
                <a:latin typeface="Arial"/>
                <a:ea typeface="Arial"/>
                <a:cs typeface="Arial"/>
                <a:sym typeface="Arial"/>
              </a:rPr>
              <a:t> are ignored - they do not affect </a:t>
            </a:r>
            <a:r>
              <a:rPr lang="en-US" sz="3200" u="none" cap="none" strike="noStrike">
                <a:solidFill>
                  <a:srgbClr val="FF9900"/>
                </a:solidFill>
                <a:latin typeface="Arial"/>
                <a:ea typeface="Arial"/>
                <a:cs typeface="Arial"/>
                <a:sym typeface="Arial"/>
              </a:rPr>
              <a:t>indentation</a:t>
            </a:r>
            <a:endParaRPr/>
          </a:p>
          <a:p>
            <a:pPr indent="-345694" lvl="0" marL="749300" marR="0" rtl="0" algn="l">
              <a:lnSpc>
                <a:spcPct val="100000"/>
              </a:lnSpc>
              <a:spcBef>
                <a:spcPts val="3500"/>
              </a:spcBef>
              <a:spcAft>
                <a:spcPts val="0"/>
              </a:spcAft>
              <a:buClr>
                <a:srgbClr val="FFFF00"/>
              </a:buClr>
              <a:buSzPts val="3200"/>
              <a:buFont typeface="Cabin"/>
              <a:buChar char="•"/>
            </a:pPr>
            <a:r>
              <a:rPr lang="en-US" sz="3200" u="none" cap="none" strike="noStrike">
                <a:solidFill>
                  <a:srgbClr val="FFFF00"/>
                </a:solidFill>
                <a:latin typeface="Arial"/>
                <a:ea typeface="Arial"/>
                <a:cs typeface="Arial"/>
                <a:sym typeface="Arial"/>
              </a:rPr>
              <a:t>Comments</a:t>
            </a:r>
            <a:r>
              <a:rPr lang="en-US" sz="3200" u="none" cap="none" strike="noStrike">
                <a:solidFill>
                  <a:schemeClr val="lt1"/>
                </a:solidFill>
                <a:latin typeface="Arial"/>
                <a:ea typeface="Arial"/>
                <a:cs typeface="Arial"/>
                <a:sym typeface="Arial"/>
              </a:rPr>
              <a:t> on a line by themselves are ignored w</a:t>
            </a:r>
            <a:r>
              <a:rPr lang="en-US" sz="3200">
                <a:solidFill>
                  <a:schemeClr val="lt1"/>
                </a:solidFill>
                <a:latin typeface="Arial"/>
                <a:ea typeface="Arial"/>
                <a:cs typeface="Arial"/>
                <a:sym typeface="Arial"/>
              </a:rPr>
              <a:t>ith regard to</a:t>
            </a:r>
            <a:r>
              <a:rPr lang="en-US" sz="3200" u="none" cap="none" strike="noStrike">
                <a:solidFill>
                  <a:srgbClr val="FF9900"/>
                </a:solidFill>
                <a:latin typeface="Arial"/>
                <a:ea typeface="Arial"/>
                <a:cs typeface="Arial"/>
                <a:sym typeface="Arial"/>
              </a:rPr>
              <a:t> indentation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nvSpPr>
        <p:spPr>
          <a:xfrm>
            <a:off x="5395988" y="2404978"/>
            <a:ext cx="8156726" cy="2754852"/>
          </a:xfrm>
          <a:prstGeom prst="rect">
            <a:avLst/>
          </a:prstGeom>
          <a:noFill/>
          <a:ln cap="rnd" cmpd="sng" w="12700">
            <a:solidFill>
              <a:srgbClr val="FFFF00"/>
            </a:solidFill>
            <a:prstDash val="solid"/>
            <a:miter lim="8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Cabin"/>
              <a:buNone/>
            </a:pPr>
            <a:r>
              <a:rPr b="1" i="0" lang="en-US" sz="3200" u="none" cap="none" strike="noStrike">
                <a:solidFill>
                  <a:schemeClr val="lt1"/>
                </a:solidFill>
                <a:latin typeface="Courier"/>
                <a:ea typeface="Courier"/>
                <a:cs typeface="Courier"/>
                <a:sym typeface="Courier"/>
              </a:rPr>
              <a:t> </a:t>
            </a:r>
            <a:r>
              <a:rPr b="0" i="0" lang="en-US" sz="3200" u="none" cap="none" strike="noStrike">
                <a:solidFill>
                  <a:schemeClr val="lt1"/>
                </a:solidFill>
                <a:latin typeface="Courier"/>
                <a:ea typeface="Courier"/>
                <a:cs typeface="Courier"/>
                <a:sym typeface="Courier"/>
              </a:rPr>
              <a:t>x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 if x &gt;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     print('Bigger than 2')</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     print('Still bigger')</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 print('Done with 2')</a:t>
            </a:r>
            <a:endParaRPr b="0" i="0" sz="1400" u="none" cap="none" strike="noStrike">
              <a:solidFill>
                <a:srgbClr val="000000"/>
              </a:solidFill>
              <a:latin typeface="Arial"/>
              <a:ea typeface="Arial"/>
              <a:cs typeface="Arial"/>
              <a:sym typeface="Arial"/>
            </a:endParaRPr>
          </a:p>
        </p:txBody>
      </p:sp>
      <p:sp>
        <p:nvSpPr>
          <p:cNvPr id="101" name="Google Shape;101;p6"/>
          <p:cNvSpPr txBox="1"/>
          <p:nvPr/>
        </p:nvSpPr>
        <p:spPr>
          <a:xfrm>
            <a:off x="4144962" y="957300"/>
            <a:ext cx="7183437" cy="125726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increase / </a:t>
            </a:r>
            <a:r>
              <a:rPr b="0" i="0" lang="en-US" sz="3600" u="none" cap="none" strike="noStrike">
                <a:solidFill>
                  <a:srgbClr val="FFFF00"/>
                </a:solidFill>
                <a:latin typeface="Arial"/>
                <a:ea typeface="Arial"/>
                <a:cs typeface="Arial"/>
                <a:sym typeface="Arial"/>
              </a:rPr>
              <a:t>maintain</a:t>
            </a:r>
            <a:r>
              <a:rPr b="0" i="0" lang="en-US" sz="3600" u="none" cap="none" strike="noStrike">
                <a:solidFill>
                  <a:srgbClr val="00FF00"/>
                </a:solidFill>
                <a:latin typeface="Arial"/>
                <a:ea typeface="Arial"/>
                <a:cs typeface="Arial"/>
                <a:sym typeface="Arial"/>
              </a:rPr>
              <a:t> </a:t>
            </a:r>
            <a:r>
              <a:rPr b="0" i="0" lang="en-US" sz="3600" u="none" cap="none" strike="noStrike">
                <a:solidFill>
                  <a:srgbClr val="FFFFFF"/>
                </a:solidFill>
                <a:latin typeface="Arial"/>
                <a:ea typeface="Arial"/>
                <a:cs typeface="Arial"/>
                <a:sym typeface="Arial"/>
              </a:rPr>
              <a:t>after if or for</a:t>
            </a:r>
            <a:endParaRPr b="0" i="0" sz="36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FF00"/>
              </a:buClr>
              <a:buSzPts val="1200"/>
              <a:buFont typeface="Cabin"/>
              <a:buNone/>
            </a:pPr>
            <a:r>
              <a:t/>
            </a:r>
            <a:endParaRPr b="0" i="0" sz="1200" u="none" cap="none" strike="noStrike">
              <a:solidFill>
                <a:srgbClr val="00FF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9900"/>
                </a:solidFill>
                <a:latin typeface="Arial"/>
                <a:ea typeface="Arial"/>
                <a:cs typeface="Arial"/>
                <a:sym typeface="Arial"/>
              </a:rPr>
              <a:t>decrease </a:t>
            </a:r>
            <a:r>
              <a:rPr b="0" i="0" lang="en-US" sz="3600" u="none" cap="none" strike="noStrike">
                <a:solidFill>
                  <a:srgbClr val="F3F3F3"/>
                </a:solidFill>
                <a:latin typeface="Arial"/>
                <a:ea typeface="Arial"/>
                <a:cs typeface="Arial"/>
                <a:sym typeface="Arial"/>
              </a:rPr>
              <a:t>to indicate end of block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1400"/>
              <a:buFont typeface="Cabin"/>
              <a:buNone/>
            </a:pPr>
            <a:r>
              <a:t/>
            </a:r>
            <a:endParaRPr b="0" i="0" sz="1400" u="none" cap="none" strike="noStrike">
              <a:solidFill>
                <a:srgbClr val="000000"/>
              </a:solidFill>
              <a:latin typeface="Arial"/>
              <a:ea typeface="Arial"/>
              <a:cs typeface="Arial"/>
              <a:sym typeface="Arial"/>
            </a:endParaRPr>
          </a:p>
        </p:txBody>
      </p:sp>
      <p:cxnSp>
        <p:nvCxnSpPr>
          <p:cNvPr id="102" name="Google Shape;102;p6"/>
          <p:cNvCxnSpPr/>
          <p:nvPr/>
        </p:nvCxnSpPr>
        <p:spPr>
          <a:xfrm>
            <a:off x="3187095" y="4787900"/>
            <a:ext cx="568200" cy="0"/>
          </a:xfrm>
          <a:prstGeom prst="straightConnector1">
            <a:avLst/>
          </a:prstGeom>
          <a:noFill/>
          <a:ln cap="rnd" cmpd="sng" w="76200">
            <a:solidFill>
              <a:srgbClr val="FF9900"/>
            </a:solidFill>
            <a:prstDash val="solid"/>
            <a:miter lim="8000"/>
            <a:headEnd len="med" w="med" type="stealth"/>
            <a:tailEnd len="sm" w="sm" type="none"/>
          </a:ln>
        </p:spPr>
      </p:cxnSp>
      <p:cxnSp>
        <p:nvCxnSpPr>
          <p:cNvPr id="103" name="Google Shape;103;p6"/>
          <p:cNvCxnSpPr/>
          <p:nvPr/>
        </p:nvCxnSpPr>
        <p:spPr>
          <a:xfrm rot="10800000">
            <a:off x="3818860" y="3721062"/>
            <a:ext cx="673199" cy="4799"/>
          </a:xfrm>
          <a:prstGeom prst="straightConnector1">
            <a:avLst/>
          </a:prstGeom>
          <a:noFill/>
          <a:ln cap="rnd" cmpd="sng" w="76200">
            <a:solidFill>
              <a:srgbClr val="00FF00"/>
            </a:solidFill>
            <a:prstDash val="solid"/>
            <a:miter lim="8000"/>
            <a:headEnd len="med" w="med" type="stealth"/>
            <a:tailEnd len="sm" w="sm" type="none"/>
          </a:ln>
        </p:spPr>
      </p:cxnSp>
      <p:cxnSp>
        <p:nvCxnSpPr>
          <p:cNvPr id="104" name="Google Shape;104;p6"/>
          <p:cNvCxnSpPr/>
          <p:nvPr/>
        </p:nvCxnSpPr>
        <p:spPr>
          <a:xfrm rot="10800000">
            <a:off x="3830000" y="4241762"/>
            <a:ext cx="673199" cy="4799"/>
          </a:xfrm>
          <a:prstGeom prst="straightConnector1">
            <a:avLst/>
          </a:prstGeom>
          <a:noFill/>
          <a:ln cap="rnd" cmpd="sng" w="76200">
            <a:solidFill>
              <a:srgbClr val="FFFF00"/>
            </a:solidFill>
            <a:prstDash val="solid"/>
            <a:miter lim="8000"/>
            <a:headEnd len="med" w="med" type="stealth"/>
            <a:tailEnd len="sm" w="sm" type="none"/>
          </a:ln>
        </p:spPr>
      </p:cxnSp>
      <p:cxnSp>
        <p:nvCxnSpPr>
          <p:cNvPr id="105" name="Google Shape;105;p6"/>
          <p:cNvCxnSpPr/>
          <p:nvPr/>
        </p:nvCxnSpPr>
        <p:spPr>
          <a:xfrm rot="10800000">
            <a:off x="3395540" y="2705061"/>
            <a:ext cx="673199" cy="4799"/>
          </a:xfrm>
          <a:prstGeom prst="straightConnector1">
            <a:avLst/>
          </a:prstGeom>
          <a:noFill/>
          <a:ln cap="rnd" cmpd="sng" w="76200">
            <a:solidFill>
              <a:srgbClr val="FFFF00"/>
            </a:solidFill>
            <a:prstDash val="solid"/>
            <a:miter lim="8000"/>
            <a:headEnd len="med" w="med" type="stealth"/>
            <a:tailEnd len="sm" w="sm" type="none"/>
          </a:ln>
        </p:spPr>
      </p:cxnSp>
      <p:cxnSp>
        <p:nvCxnSpPr>
          <p:cNvPr id="106" name="Google Shape;106;p6"/>
          <p:cNvCxnSpPr/>
          <p:nvPr/>
        </p:nvCxnSpPr>
        <p:spPr>
          <a:xfrm rot="10800000">
            <a:off x="3395540" y="3187661"/>
            <a:ext cx="673199" cy="4799"/>
          </a:xfrm>
          <a:prstGeom prst="straightConnector1">
            <a:avLst/>
          </a:prstGeom>
          <a:noFill/>
          <a:ln cap="rnd" cmpd="sng" w="76200">
            <a:solidFill>
              <a:srgbClr val="FFFF00"/>
            </a:solidFill>
            <a:prstDash val="solid"/>
            <a:miter lim="8000"/>
            <a:headEnd len="med" w="med" type="stealth"/>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nvSpPr>
        <p:spPr>
          <a:xfrm>
            <a:off x="4598450" y="5392512"/>
            <a:ext cx="7704000" cy="2421299"/>
          </a:xfrm>
          <a:prstGeom prst="rect">
            <a:avLst/>
          </a:prstGeom>
          <a:noFill/>
          <a:ln cap="rnd" cmpd="sng" w="76200">
            <a:solidFill>
              <a:srgbClr val="FFFF00"/>
            </a:solidFill>
            <a:prstDash val="solid"/>
            <a:miter lim="8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7"/>
          <p:cNvSpPr txBox="1"/>
          <p:nvPr/>
        </p:nvSpPr>
        <p:spPr>
          <a:xfrm>
            <a:off x="4576700" y="2941773"/>
            <a:ext cx="7704000" cy="1509299"/>
          </a:xfrm>
          <a:prstGeom prst="rect">
            <a:avLst/>
          </a:prstGeom>
          <a:noFill/>
          <a:ln cap="rnd" cmpd="sng" w="76200">
            <a:solidFill>
              <a:srgbClr val="FFFF00"/>
            </a:solidFill>
            <a:prstDash val="solid"/>
            <a:miter lim="8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7"/>
          <p:cNvSpPr txBox="1"/>
          <p:nvPr/>
        </p:nvSpPr>
        <p:spPr>
          <a:xfrm>
            <a:off x="5533200" y="6313475"/>
            <a:ext cx="6377099" cy="1016999"/>
          </a:xfrm>
          <a:prstGeom prst="rect">
            <a:avLst/>
          </a:prstGeom>
          <a:noFill/>
          <a:ln cap="rnd" cmpd="sng" w="76200">
            <a:solidFill>
              <a:srgbClr val="00FF00"/>
            </a:solidFill>
            <a:prstDash val="solid"/>
            <a:miter lim="8000"/>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7"/>
          <p:cNvSpPr txBox="1"/>
          <p:nvPr/>
        </p:nvSpPr>
        <p:spPr>
          <a:xfrm>
            <a:off x="4598449" y="2438400"/>
            <a:ext cx="7918337" cy="58547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x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if x &gt;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    print('Bigger than 2')</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    print('Still bigger')</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print('Done with 2')</a:t>
            </a:r>
            <a:endParaRPr b="0" i="0" sz="3200" u="none" cap="none" strike="noStrike">
              <a:solidFill>
                <a:schemeClr val="lt1"/>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for i in range(5)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    print(i)</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    if i &gt; 2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chemeClr val="lt1"/>
                </a:solidFill>
                <a:latin typeface="Courier"/>
                <a:ea typeface="Courier"/>
                <a:cs typeface="Courier"/>
                <a:sym typeface="Courier"/>
              </a:rPr>
              <a:t>        print('Bigger than 2')</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    print('Done with i', i)</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Courier"/>
                <a:ea typeface="Courier"/>
                <a:cs typeface="Courier"/>
                <a:sym typeface="Courier"/>
              </a:rPr>
              <a:t>print('All Done')</a:t>
            </a:r>
            <a:endParaRPr b="0" i="0" sz="3200" u="none" cap="none" strike="noStrike">
              <a:solidFill>
                <a:schemeClr val="lt1"/>
              </a:solidFill>
              <a:latin typeface="Courier"/>
              <a:ea typeface="Courier"/>
              <a:cs typeface="Courier"/>
              <a:sym typeface="Courier"/>
            </a:endParaRPr>
          </a:p>
        </p:txBody>
      </p:sp>
      <p:sp>
        <p:nvSpPr>
          <p:cNvPr id="115" name="Google Shape;115;p7"/>
          <p:cNvSpPr txBox="1"/>
          <p:nvPr/>
        </p:nvSpPr>
        <p:spPr>
          <a:xfrm>
            <a:off x="2147475" y="524656"/>
            <a:ext cx="12044775" cy="1494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1650"/>
              <a:buFont typeface="Cabin"/>
              <a:buNone/>
            </a:pPr>
            <a:r>
              <a:rPr b="0" i="0" lang="en-US" sz="6600" u="none" cap="none" strike="noStrike">
                <a:solidFill>
                  <a:srgbClr val="FFD966"/>
                </a:solidFill>
                <a:latin typeface="Arial"/>
                <a:ea typeface="Arial"/>
                <a:cs typeface="Arial"/>
                <a:sym typeface="Arial"/>
              </a:rPr>
              <a:t>Think About begin/end Blocks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1400"/>
              <a:buFont typeface="Cabin"/>
              <a:buNone/>
            </a:pPr>
            <a:r>
              <a:t/>
            </a:r>
            <a:endParaRPr b="0" i="0" sz="1400" u="none" cap="none" strike="noStrike">
              <a:solidFill>
                <a:srgbClr val="FFFF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txBox="1"/>
          <p:nvPr/>
        </p:nvSpPr>
        <p:spPr>
          <a:xfrm>
            <a:off x="797475" y="3210450"/>
            <a:ext cx="6953818" cy="333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x = 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if x &gt;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ourier"/>
              <a:buNone/>
            </a:pPr>
            <a:r>
              <a:rPr b="0" i="0" lang="en-US" sz="3000" u="none" cap="none" strike="noStrike">
                <a:solidFill>
                  <a:srgbClr val="00FF00"/>
                </a:solidFill>
                <a:latin typeface="Courier"/>
                <a:ea typeface="Courier"/>
                <a:cs typeface="Courier"/>
                <a:sym typeface="Courier"/>
              </a:rPr>
              <a:t>    print('More than one')</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if x &lt; 100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ourier"/>
              <a:buNone/>
            </a:pPr>
            <a:r>
              <a:rPr b="0" i="0" lang="en-US" sz="3000" u="none" cap="none" strike="noStrike">
                <a:solidFill>
                  <a:srgbClr val="FF9900"/>
                </a:solidFill>
                <a:latin typeface="Courier"/>
                <a:ea typeface="Courier"/>
                <a:cs typeface="Courier"/>
                <a:sym typeface="Courier"/>
              </a:rPr>
              <a:t>        print('Less than 100') </a:t>
            </a:r>
            <a:endParaRPr b="0" i="0" sz="30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750"/>
              <a:buFont typeface="Courier"/>
              <a:buNone/>
            </a:pPr>
            <a:r>
              <a:rPr b="0" i="0" lang="en-US" sz="3000" u="none" cap="none" strike="noStrike">
                <a:solidFill>
                  <a:srgbClr val="00FFFF"/>
                </a:solidFill>
                <a:latin typeface="Courier"/>
                <a:ea typeface="Courier"/>
                <a:cs typeface="Courier"/>
                <a:sym typeface="Courier"/>
              </a:rPr>
              <a:t>print('All done')</a:t>
            </a:r>
            <a:endParaRPr b="0" i="0" sz="3000" u="none" cap="none" strike="noStrike">
              <a:solidFill>
                <a:srgbClr val="00FFFF"/>
              </a:solidFill>
              <a:latin typeface="Courier"/>
              <a:ea typeface="Courier"/>
              <a:cs typeface="Courier"/>
              <a:sym typeface="Courier"/>
            </a:endParaRPr>
          </a:p>
        </p:txBody>
      </p:sp>
      <p:sp>
        <p:nvSpPr>
          <p:cNvPr id="121" name="Google Shape;121;p8"/>
          <p:cNvSpPr txBox="1"/>
          <p:nvPr/>
        </p:nvSpPr>
        <p:spPr>
          <a:xfrm>
            <a:off x="1168400" y="689548"/>
            <a:ext cx="4813299" cy="216795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650"/>
              <a:buFont typeface="Cabin"/>
              <a:buNone/>
            </a:pPr>
            <a:r>
              <a:rPr b="0" i="0" lang="en-US" sz="6600" u="none" cap="none" strike="noStrike">
                <a:solidFill>
                  <a:srgbClr val="FFD966"/>
                </a:solidFill>
                <a:latin typeface="Arial"/>
                <a:ea typeface="Arial"/>
                <a:cs typeface="Arial"/>
                <a:sym typeface="Arial"/>
              </a:rPr>
              <a:t>Nested Decisions</a:t>
            </a:r>
            <a:endParaRPr b="0" i="0" sz="1400" u="none" cap="none" strike="noStrike">
              <a:solidFill>
                <a:srgbClr val="000000"/>
              </a:solidFill>
              <a:latin typeface="Arial"/>
              <a:ea typeface="Arial"/>
              <a:cs typeface="Arial"/>
              <a:sym typeface="Arial"/>
            </a:endParaRPr>
          </a:p>
        </p:txBody>
      </p:sp>
      <p:cxnSp>
        <p:nvCxnSpPr>
          <p:cNvPr id="122" name="Google Shape;122;p8"/>
          <p:cNvCxnSpPr/>
          <p:nvPr/>
        </p:nvCxnSpPr>
        <p:spPr>
          <a:xfrm rot="10800000">
            <a:off x="9451261" y="830128"/>
            <a:ext cx="13265" cy="408228"/>
          </a:xfrm>
          <a:prstGeom prst="straightConnector1">
            <a:avLst/>
          </a:prstGeom>
          <a:noFill/>
          <a:ln cap="rnd" cmpd="sng" w="63500">
            <a:solidFill>
              <a:srgbClr val="00FF00"/>
            </a:solidFill>
            <a:prstDash val="solid"/>
            <a:miter lim="8000"/>
            <a:headEnd len="med" w="med" type="stealth"/>
            <a:tailEnd len="sm" w="sm" type="none"/>
          </a:ln>
        </p:spPr>
      </p:cxnSp>
      <p:sp>
        <p:nvSpPr>
          <p:cNvPr id="123" name="Google Shape;123;p8"/>
          <p:cNvSpPr/>
          <p:nvPr/>
        </p:nvSpPr>
        <p:spPr>
          <a:xfrm>
            <a:off x="7986419" y="1182730"/>
            <a:ext cx="2966810" cy="1229106"/>
          </a:xfrm>
          <a:prstGeom prst="diamond">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Arial"/>
                <a:ea typeface="Arial"/>
                <a:cs typeface="Arial"/>
                <a:sym typeface="Arial"/>
              </a:rPr>
              <a:t>x &gt; 1</a:t>
            </a:r>
            <a:endParaRPr b="0" i="0" sz="1400" u="none" cap="none" strike="noStrike">
              <a:solidFill>
                <a:srgbClr val="000000"/>
              </a:solidFill>
              <a:latin typeface="Arial"/>
              <a:ea typeface="Arial"/>
              <a:cs typeface="Arial"/>
              <a:sym typeface="Arial"/>
            </a:endParaRPr>
          </a:p>
        </p:txBody>
      </p:sp>
      <p:sp>
        <p:nvSpPr>
          <p:cNvPr id="124" name="Google Shape;124;p8"/>
          <p:cNvSpPr txBox="1"/>
          <p:nvPr/>
        </p:nvSpPr>
        <p:spPr>
          <a:xfrm>
            <a:off x="10253910" y="2433028"/>
            <a:ext cx="3488651" cy="105957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Arial"/>
                <a:ea typeface="Arial"/>
                <a:cs typeface="Arial"/>
                <a:sym typeface="Arial"/>
              </a:rPr>
              <a:t>print('More than one’)</a:t>
            </a:r>
            <a:endParaRPr b="0" i="0" sz="2600" u="none" cap="none" strike="noStrike">
              <a:solidFill>
                <a:schemeClr val="lt1"/>
              </a:solidFill>
              <a:latin typeface="Arial"/>
              <a:ea typeface="Arial"/>
              <a:cs typeface="Arial"/>
              <a:sym typeface="Arial"/>
            </a:endParaRPr>
          </a:p>
        </p:txBody>
      </p:sp>
      <p:sp>
        <p:nvSpPr>
          <p:cNvPr id="125" name="Google Shape;125;p8"/>
          <p:cNvSpPr/>
          <p:nvPr/>
        </p:nvSpPr>
        <p:spPr>
          <a:xfrm>
            <a:off x="10253910" y="3863455"/>
            <a:ext cx="3464810" cy="1229106"/>
          </a:xfrm>
          <a:prstGeom prst="diamond">
            <a:avLst/>
          </a:prstGeom>
          <a:noFill/>
          <a:ln cap="rnd" cmpd="sng" w="50800">
            <a:solidFill>
              <a:srgbClr val="FF99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Arial"/>
                <a:ea typeface="Arial"/>
                <a:cs typeface="Arial"/>
                <a:sym typeface="Arial"/>
              </a:rPr>
              <a:t>x &lt; 100</a:t>
            </a:r>
            <a:endParaRPr b="0" i="0" sz="1400" u="none" cap="none" strike="noStrike">
              <a:solidFill>
                <a:srgbClr val="000000"/>
              </a:solidFill>
              <a:latin typeface="Arial"/>
              <a:ea typeface="Arial"/>
              <a:cs typeface="Arial"/>
              <a:sym typeface="Arial"/>
            </a:endParaRPr>
          </a:p>
        </p:txBody>
      </p:sp>
      <p:sp>
        <p:nvSpPr>
          <p:cNvPr id="126" name="Google Shape;126;p8"/>
          <p:cNvSpPr txBox="1"/>
          <p:nvPr/>
        </p:nvSpPr>
        <p:spPr>
          <a:xfrm>
            <a:off x="12636709" y="5050179"/>
            <a:ext cx="3327815" cy="1059575"/>
          </a:xfrm>
          <a:prstGeom prst="rect">
            <a:avLst/>
          </a:prstGeom>
          <a:noFill/>
          <a:ln cap="rnd" cmpd="sng" w="50800">
            <a:solidFill>
              <a:srgbClr val="FF99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Arial"/>
                <a:ea typeface="Arial"/>
                <a:cs typeface="Arial"/>
                <a:sym typeface="Arial"/>
              </a:rPr>
              <a:t>print('Less than 100')</a:t>
            </a:r>
            <a:endParaRPr b="0" i="0" sz="2600" u="none" cap="none" strike="noStrike">
              <a:solidFill>
                <a:schemeClr val="lt1"/>
              </a:solidFill>
              <a:latin typeface="Arial"/>
              <a:ea typeface="Arial"/>
              <a:cs typeface="Arial"/>
              <a:sym typeface="Arial"/>
            </a:endParaRPr>
          </a:p>
        </p:txBody>
      </p:sp>
      <p:sp>
        <p:nvSpPr>
          <p:cNvPr id="127" name="Google Shape;127;p8"/>
          <p:cNvSpPr txBox="1"/>
          <p:nvPr/>
        </p:nvSpPr>
        <p:spPr>
          <a:xfrm>
            <a:off x="8018206" y="7095158"/>
            <a:ext cx="2892639" cy="1059491"/>
          </a:xfrm>
          <a:prstGeom prst="rect">
            <a:avLst/>
          </a:prstGeom>
          <a:noFill/>
          <a:ln cap="rnd" cmpd="sng" w="50800">
            <a:solidFill>
              <a:srgbClr val="00FFF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650"/>
              <a:buFont typeface="Cabin"/>
              <a:buNone/>
            </a:pPr>
            <a:r>
              <a:rPr b="0" i="0" lang="en-US" sz="2600" u="none" cap="none" strike="noStrike">
                <a:solidFill>
                  <a:schemeClr val="lt1"/>
                </a:solidFill>
                <a:latin typeface="Arial"/>
                <a:ea typeface="Arial"/>
                <a:cs typeface="Arial"/>
                <a:sym typeface="Arial"/>
              </a:rPr>
              <a:t>print('All Done')</a:t>
            </a:r>
            <a:endParaRPr b="0" i="0" sz="2600" u="none" cap="none" strike="noStrike">
              <a:solidFill>
                <a:schemeClr val="lt1"/>
              </a:solidFill>
              <a:latin typeface="Arial"/>
              <a:ea typeface="Arial"/>
              <a:cs typeface="Arial"/>
              <a:sym typeface="Arial"/>
            </a:endParaRPr>
          </a:p>
        </p:txBody>
      </p:sp>
      <p:cxnSp>
        <p:nvCxnSpPr>
          <p:cNvPr id="128" name="Google Shape;128;p8"/>
          <p:cNvCxnSpPr/>
          <p:nvPr/>
        </p:nvCxnSpPr>
        <p:spPr>
          <a:xfrm flipH="1" rot="10800000">
            <a:off x="10932038" y="1782610"/>
            <a:ext cx="1127071" cy="2752"/>
          </a:xfrm>
          <a:prstGeom prst="straightConnector1">
            <a:avLst/>
          </a:prstGeom>
          <a:noFill/>
          <a:ln cap="rnd" cmpd="sng" w="63500">
            <a:solidFill>
              <a:srgbClr val="00FF00"/>
            </a:solidFill>
            <a:prstDash val="solid"/>
            <a:miter lim="8000"/>
            <a:headEnd len="sm" w="sm" type="none"/>
            <a:tailEnd len="sm" w="sm" type="none"/>
          </a:ln>
        </p:spPr>
      </p:cxnSp>
      <p:cxnSp>
        <p:nvCxnSpPr>
          <p:cNvPr id="129" name="Google Shape;129;p8"/>
          <p:cNvCxnSpPr/>
          <p:nvPr/>
        </p:nvCxnSpPr>
        <p:spPr>
          <a:xfrm flipH="1" rot="10800000">
            <a:off x="12049889" y="1782495"/>
            <a:ext cx="9261" cy="631990"/>
          </a:xfrm>
          <a:prstGeom prst="straightConnector1">
            <a:avLst/>
          </a:prstGeom>
          <a:noFill/>
          <a:ln cap="rnd" cmpd="sng" w="63500">
            <a:solidFill>
              <a:srgbClr val="00FF00"/>
            </a:solidFill>
            <a:prstDash val="solid"/>
            <a:miter lim="8000"/>
            <a:headEnd len="med" w="med" type="stealth"/>
            <a:tailEnd len="sm" w="sm" type="none"/>
          </a:ln>
        </p:spPr>
      </p:cxnSp>
      <p:cxnSp>
        <p:nvCxnSpPr>
          <p:cNvPr id="130" name="Google Shape;130;p8"/>
          <p:cNvCxnSpPr/>
          <p:nvPr/>
        </p:nvCxnSpPr>
        <p:spPr>
          <a:xfrm flipH="1" rot="10800000">
            <a:off x="9434062" y="2399916"/>
            <a:ext cx="30462" cy="4684645"/>
          </a:xfrm>
          <a:prstGeom prst="straightConnector1">
            <a:avLst/>
          </a:prstGeom>
          <a:noFill/>
          <a:ln cap="rnd" cmpd="sng" w="63500">
            <a:solidFill>
              <a:srgbClr val="00FF00"/>
            </a:solidFill>
            <a:prstDash val="solid"/>
            <a:miter lim="8000"/>
            <a:headEnd len="med" w="med" type="stealth"/>
            <a:tailEnd len="sm" w="sm" type="none"/>
          </a:ln>
        </p:spPr>
      </p:cxnSp>
      <p:cxnSp>
        <p:nvCxnSpPr>
          <p:cNvPr id="131" name="Google Shape;131;p8"/>
          <p:cNvCxnSpPr/>
          <p:nvPr/>
        </p:nvCxnSpPr>
        <p:spPr>
          <a:xfrm>
            <a:off x="13697530" y="4456817"/>
            <a:ext cx="610580" cy="11920"/>
          </a:xfrm>
          <a:prstGeom prst="straightConnector1">
            <a:avLst/>
          </a:prstGeom>
          <a:noFill/>
          <a:ln cap="rnd" cmpd="sng" w="63500">
            <a:solidFill>
              <a:srgbClr val="FF9900"/>
            </a:solidFill>
            <a:prstDash val="solid"/>
            <a:miter lim="8000"/>
            <a:headEnd len="sm" w="sm" type="none"/>
            <a:tailEnd len="sm" w="sm" type="none"/>
          </a:ln>
        </p:spPr>
      </p:cxnSp>
      <p:cxnSp>
        <p:nvCxnSpPr>
          <p:cNvPr id="132" name="Google Shape;132;p8"/>
          <p:cNvCxnSpPr/>
          <p:nvPr/>
        </p:nvCxnSpPr>
        <p:spPr>
          <a:xfrm flipH="1" rot="10800000">
            <a:off x="14274997" y="4510191"/>
            <a:ext cx="6758" cy="542636"/>
          </a:xfrm>
          <a:prstGeom prst="straightConnector1">
            <a:avLst/>
          </a:prstGeom>
          <a:noFill/>
          <a:ln cap="rnd" cmpd="sng" w="63500">
            <a:solidFill>
              <a:srgbClr val="FF9900"/>
            </a:solidFill>
            <a:prstDash val="solid"/>
            <a:miter lim="8000"/>
            <a:headEnd len="med" w="med" type="stealth"/>
            <a:tailEnd len="sm" w="sm" type="none"/>
          </a:ln>
        </p:spPr>
      </p:cxnSp>
      <p:cxnSp>
        <p:nvCxnSpPr>
          <p:cNvPr id="133" name="Google Shape;133;p8"/>
          <p:cNvCxnSpPr>
            <a:stCxn id="125" idx="0"/>
            <a:endCxn id="124" idx="2"/>
          </p:cNvCxnSpPr>
          <p:nvPr/>
        </p:nvCxnSpPr>
        <p:spPr>
          <a:xfrm flipH="1" rot="10800000">
            <a:off x="11986315" y="3492655"/>
            <a:ext cx="12000" cy="370800"/>
          </a:xfrm>
          <a:prstGeom prst="straightConnector1">
            <a:avLst/>
          </a:prstGeom>
          <a:noFill/>
          <a:ln cap="rnd" cmpd="sng" w="63500">
            <a:solidFill>
              <a:srgbClr val="00FF00"/>
            </a:solidFill>
            <a:prstDash val="solid"/>
            <a:miter lim="8000"/>
            <a:headEnd len="med" w="med" type="stealth"/>
            <a:tailEnd len="sm" w="sm" type="none"/>
          </a:ln>
        </p:spPr>
      </p:cxnSp>
      <p:cxnSp>
        <p:nvCxnSpPr>
          <p:cNvPr id="134" name="Google Shape;134;p8"/>
          <p:cNvCxnSpPr/>
          <p:nvPr/>
        </p:nvCxnSpPr>
        <p:spPr>
          <a:xfrm>
            <a:off x="9496313" y="6618350"/>
            <a:ext cx="4749545" cy="0"/>
          </a:xfrm>
          <a:prstGeom prst="straightConnector1">
            <a:avLst/>
          </a:prstGeom>
          <a:noFill/>
          <a:ln cap="rnd" cmpd="sng" w="63500">
            <a:solidFill>
              <a:srgbClr val="00FF00"/>
            </a:solidFill>
            <a:prstDash val="solid"/>
            <a:miter lim="8000"/>
            <a:headEnd len="med" w="med" type="stealth"/>
            <a:tailEnd len="sm" w="sm" type="none"/>
          </a:ln>
        </p:spPr>
      </p:cxnSp>
      <p:sp>
        <p:nvSpPr>
          <p:cNvPr id="135" name="Google Shape;135;p8"/>
          <p:cNvSpPr txBox="1"/>
          <p:nvPr/>
        </p:nvSpPr>
        <p:spPr>
          <a:xfrm>
            <a:off x="11358517" y="1230411"/>
            <a:ext cx="918430" cy="4662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136" name="Google Shape;136;p8"/>
          <p:cNvSpPr txBox="1"/>
          <p:nvPr/>
        </p:nvSpPr>
        <p:spPr>
          <a:xfrm>
            <a:off x="13742561" y="3921731"/>
            <a:ext cx="917822" cy="4662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cxnSp>
        <p:nvCxnSpPr>
          <p:cNvPr id="137" name="Google Shape;137;p8"/>
          <p:cNvCxnSpPr/>
          <p:nvPr/>
        </p:nvCxnSpPr>
        <p:spPr>
          <a:xfrm rot="10800000">
            <a:off x="12003532" y="5123024"/>
            <a:ext cx="0" cy="1495324"/>
          </a:xfrm>
          <a:prstGeom prst="straightConnector1">
            <a:avLst/>
          </a:prstGeom>
          <a:noFill/>
          <a:ln cap="rnd" cmpd="sng" w="63500">
            <a:solidFill>
              <a:srgbClr val="FF9900"/>
            </a:solidFill>
            <a:prstDash val="solid"/>
            <a:miter lim="8000"/>
            <a:headEnd len="med" w="med" type="stealth"/>
            <a:tailEnd len="sm" w="sm" type="none"/>
          </a:ln>
        </p:spPr>
      </p:cxnSp>
      <p:sp>
        <p:nvSpPr>
          <p:cNvPr id="138" name="Google Shape;138;p8"/>
          <p:cNvSpPr txBox="1"/>
          <p:nvPr/>
        </p:nvSpPr>
        <p:spPr>
          <a:xfrm>
            <a:off x="11386329" y="5066072"/>
            <a:ext cx="451643" cy="4662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139" name="Google Shape;139;p8"/>
          <p:cNvSpPr txBox="1"/>
          <p:nvPr/>
        </p:nvSpPr>
        <p:spPr>
          <a:xfrm>
            <a:off x="8801078" y="2544284"/>
            <a:ext cx="451643" cy="4662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cxnSp>
        <p:nvCxnSpPr>
          <p:cNvPr id="140" name="Google Shape;140;p8"/>
          <p:cNvCxnSpPr/>
          <p:nvPr/>
        </p:nvCxnSpPr>
        <p:spPr>
          <a:xfrm flipH="1" rot="10800000">
            <a:off x="14274997" y="6163128"/>
            <a:ext cx="6758" cy="542636"/>
          </a:xfrm>
          <a:prstGeom prst="straightConnector1">
            <a:avLst/>
          </a:prstGeom>
          <a:noFill/>
          <a:ln cap="rnd" cmpd="sng" w="63500">
            <a:solidFill>
              <a:srgbClr val="FF9900"/>
            </a:solidFill>
            <a:prstDash val="solid"/>
            <a:miter lim="8000"/>
            <a:headEnd len="med" w="med" type="stealth"/>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type="title"/>
          </p:nvPr>
        </p:nvSpPr>
        <p:spPr>
          <a:xfrm>
            <a:off x="1155700" y="1126051"/>
            <a:ext cx="7758111"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650"/>
              <a:buFont typeface="Cabin"/>
              <a:buNone/>
            </a:pPr>
            <a:r>
              <a:rPr lang="en-US" sz="6600" u="none" cap="none" strike="noStrike">
                <a:solidFill>
                  <a:srgbClr val="FFD966"/>
                </a:solidFill>
                <a:latin typeface="Arial"/>
                <a:ea typeface="Arial"/>
                <a:cs typeface="Arial"/>
                <a:sym typeface="Arial"/>
              </a:rPr>
              <a:t>Two</a:t>
            </a:r>
            <a:r>
              <a:rPr lang="en-US" sz="6600">
                <a:solidFill>
                  <a:srgbClr val="FFD966"/>
                </a:solidFill>
                <a:latin typeface="Arial"/>
                <a:ea typeface="Arial"/>
                <a:cs typeface="Arial"/>
                <a:sym typeface="Arial"/>
              </a:rPr>
              <a:t>-w</a:t>
            </a:r>
            <a:r>
              <a:rPr lang="en-US" sz="6600" u="none" cap="none" strike="noStrike">
                <a:solidFill>
                  <a:srgbClr val="FFD966"/>
                </a:solidFill>
                <a:latin typeface="Arial"/>
                <a:ea typeface="Arial"/>
                <a:cs typeface="Arial"/>
                <a:sym typeface="Arial"/>
              </a:rPr>
              <a:t>ay Decisions with else:</a:t>
            </a:r>
            <a:endParaRPr sz="6600" u="none" cap="none" strike="noStrike">
              <a:solidFill>
                <a:srgbClr val="FFD966"/>
              </a:solidFill>
              <a:latin typeface="Arial"/>
              <a:ea typeface="Arial"/>
              <a:cs typeface="Arial"/>
              <a:sym typeface="Arial"/>
            </a:endParaRPr>
          </a:p>
        </p:txBody>
      </p:sp>
      <p:sp>
        <p:nvSpPr>
          <p:cNvPr id="146" name="Google Shape;146;p9"/>
          <p:cNvSpPr/>
          <p:nvPr/>
        </p:nvSpPr>
        <p:spPr>
          <a:xfrm>
            <a:off x="9980540" y="3241114"/>
            <a:ext cx="3257489" cy="1349530"/>
          </a:xfrm>
          <a:prstGeom prst="diamond">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x &gt; 2</a:t>
            </a:r>
            <a:endParaRPr b="0" i="0" sz="1400" u="none" cap="none" strike="noStrike">
              <a:solidFill>
                <a:srgbClr val="000000"/>
              </a:solidFill>
              <a:latin typeface="Arial"/>
              <a:ea typeface="Arial"/>
              <a:cs typeface="Arial"/>
              <a:sym typeface="Arial"/>
            </a:endParaRPr>
          </a:p>
        </p:txBody>
      </p:sp>
      <p:sp>
        <p:nvSpPr>
          <p:cNvPr id="147" name="Google Shape;147;p9"/>
          <p:cNvSpPr txBox="1"/>
          <p:nvPr/>
        </p:nvSpPr>
        <p:spPr>
          <a:xfrm>
            <a:off x="12784308" y="4613913"/>
            <a:ext cx="3176051" cy="1163389"/>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print('Bigger')</a:t>
            </a:r>
            <a:endParaRPr b="0" i="0" sz="3200" u="none" cap="none" strike="noStrike">
              <a:solidFill>
                <a:schemeClr val="lt1"/>
              </a:solidFill>
              <a:latin typeface="Arial"/>
              <a:ea typeface="Arial"/>
              <a:cs typeface="Arial"/>
              <a:sym typeface="Arial"/>
            </a:endParaRPr>
          </a:p>
        </p:txBody>
      </p:sp>
      <p:cxnSp>
        <p:nvCxnSpPr>
          <p:cNvPr id="148" name="Google Shape;148;p9"/>
          <p:cNvCxnSpPr/>
          <p:nvPr/>
        </p:nvCxnSpPr>
        <p:spPr>
          <a:xfrm flipH="1" rot="10800000">
            <a:off x="13214763" y="3892612"/>
            <a:ext cx="1278272" cy="11633"/>
          </a:xfrm>
          <a:prstGeom prst="straightConnector1">
            <a:avLst/>
          </a:prstGeom>
          <a:noFill/>
          <a:ln cap="rnd" cmpd="sng" w="63500">
            <a:solidFill>
              <a:srgbClr val="00FF00"/>
            </a:solidFill>
            <a:prstDash val="solid"/>
            <a:miter lim="8000"/>
            <a:headEnd len="sm" w="sm" type="none"/>
            <a:tailEnd len="sm" w="sm" type="none"/>
          </a:ln>
        </p:spPr>
      </p:cxnSp>
      <p:cxnSp>
        <p:nvCxnSpPr>
          <p:cNvPr id="149" name="Google Shape;149;p9"/>
          <p:cNvCxnSpPr/>
          <p:nvPr/>
        </p:nvCxnSpPr>
        <p:spPr>
          <a:xfrm flipH="1" rot="10800000">
            <a:off x="14442138" y="3910062"/>
            <a:ext cx="17450" cy="683491"/>
          </a:xfrm>
          <a:prstGeom prst="straightConnector1">
            <a:avLst/>
          </a:prstGeom>
          <a:noFill/>
          <a:ln cap="rnd" cmpd="sng" w="63500">
            <a:solidFill>
              <a:srgbClr val="00FF00"/>
            </a:solidFill>
            <a:prstDash val="solid"/>
            <a:miter lim="8000"/>
            <a:headEnd len="med" w="med" type="stealth"/>
            <a:tailEnd len="sm" w="sm" type="none"/>
          </a:ln>
        </p:spPr>
      </p:cxnSp>
      <p:cxnSp>
        <p:nvCxnSpPr>
          <p:cNvPr id="150" name="Google Shape;150;p9"/>
          <p:cNvCxnSpPr/>
          <p:nvPr/>
        </p:nvCxnSpPr>
        <p:spPr>
          <a:xfrm flipH="1" rot="10800000">
            <a:off x="11638370" y="6213572"/>
            <a:ext cx="2822672" cy="29085"/>
          </a:xfrm>
          <a:prstGeom prst="straightConnector1">
            <a:avLst/>
          </a:prstGeom>
          <a:noFill/>
          <a:ln cap="rnd" cmpd="sng" w="63500">
            <a:solidFill>
              <a:srgbClr val="00FF00"/>
            </a:solidFill>
            <a:prstDash val="solid"/>
            <a:miter lim="8000"/>
            <a:headEnd len="med" w="med" type="stealth"/>
            <a:tailEnd len="sm" w="sm" type="none"/>
          </a:ln>
        </p:spPr>
      </p:cxnSp>
      <p:sp>
        <p:nvSpPr>
          <p:cNvPr id="151" name="Google Shape;151;p9"/>
          <p:cNvSpPr txBox="1"/>
          <p:nvPr/>
        </p:nvSpPr>
        <p:spPr>
          <a:xfrm>
            <a:off x="13683027" y="3293467"/>
            <a:ext cx="810008" cy="51189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152" name="Google Shape;152;p9"/>
          <p:cNvSpPr txBox="1"/>
          <p:nvPr/>
        </p:nvSpPr>
        <p:spPr>
          <a:xfrm>
            <a:off x="9560265" y="3293467"/>
            <a:ext cx="495894" cy="51189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cxnSp>
        <p:nvCxnSpPr>
          <p:cNvPr id="153" name="Google Shape;153;p9"/>
          <p:cNvCxnSpPr/>
          <p:nvPr/>
        </p:nvCxnSpPr>
        <p:spPr>
          <a:xfrm rot="10800000">
            <a:off x="14434866" y="5765668"/>
            <a:ext cx="8725" cy="423181"/>
          </a:xfrm>
          <a:prstGeom prst="straightConnector1">
            <a:avLst/>
          </a:prstGeom>
          <a:noFill/>
          <a:ln cap="rnd" cmpd="sng" w="63500">
            <a:solidFill>
              <a:srgbClr val="00FF00"/>
            </a:solidFill>
            <a:prstDash val="solid"/>
            <a:miter lim="8000"/>
            <a:headEnd len="sm" w="sm" type="none"/>
            <a:tailEnd len="sm" w="sm" type="none"/>
          </a:ln>
        </p:spPr>
      </p:cxnSp>
      <p:cxnSp>
        <p:nvCxnSpPr>
          <p:cNvPr id="154" name="Google Shape;154;p9"/>
          <p:cNvCxnSpPr/>
          <p:nvPr/>
        </p:nvCxnSpPr>
        <p:spPr>
          <a:xfrm rot="10800000">
            <a:off x="11622373" y="2649239"/>
            <a:ext cx="4362" cy="629684"/>
          </a:xfrm>
          <a:prstGeom prst="straightConnector1">
            <a:avLst/>
          </a:prstGeom>
          <a:noFill/>
          <a:ln cap="rnd" cmpd="sng" w="63500">
            <a:solidFill>
              <a:srgbClr val="FFFFFF"/>
            </a:solidFill>
            <a:prstDash val="solid"/>
            <a:miter lim="8000"/>
            <a:headEnd len="med" w="med" type="stealth"/>
            <a:tailEnd len="sm" w="sm" type="none"/>
          </a:ln>
        </p:spPr>
      </p:cxnSp>
      <p:sp>
        <p:nvSpPr>
          <p:cNvPr id="155" name="Google Shape;155;p9"/>
          <p:cNvSpPr txBox="1"/>
          <p:nvPr/>
        </p:nvSpPr>
        <p:spPr>
          <a:xfrm>
            <a:off x="10061978" y="1751976"/>
            <a:ext cx="3176051" cy="884175"/>
          </a:xfrm>
          <a:prstGeom prst="rect">
            <a:avLst/>
          </a:prstGeom>
          <a:noFill/>
          <a:ln cap="rnd" cmpd="sng" w="50800">
            <a:solidFill>
              <a:srgbClr val="FFFFF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x = 4</a:t>
            </a:r>
            <a:endParaRPr b="0" i="0" sz="1400" u="none" cap="none" strike="noStrike">
              <a:solidFill>
                <a:srgbClr val="000000"/>
              </a:solidFill>
              <a:latin typeface="Arial"/>
              <a:ea typeface="Arial"/>
              <a:cs typeface="Arial"/>
              <a:sym typeface="Arial"/>
            </a:endParaRPr>
          </a:p>
        </p:txBody>
      </p:sp>
      <p:cxnSp>
        <p:nvCxnSpPr>
          <p:cNvPr id="156" name="Google Shape;156;p9"/>
          <p:cNvCxnSpPr/>
          <p:nvPr/>
        </p:nvCxnSpPr>
        <p:spPr>
          <a:xfrm flipH="1" rot="10800000">
            <a:off x="8805517" y="3915880"/>
            <a:ext cx="1278272" cy="11633"/>
          </a:xfrm>
          <a:prstGeom prst="straightConnector1">
            <a:avLst/>
          </a:prstGeom>
          <a:noFill/>
          <a:ln cap="rnd" cmpd="sng" w="63500">
            <a:solidFill>
              <a:srgbClr val="FF9900"/>
            </a:solidFill>
            <a:prstDash val="solid"/>
            <a:miter lim="8000"/>
            <a:headEnd len="sm" w="sm" type="none"/>
            <a:tailEnd len="sm" w="sm" type="none"/>
          </a:ln>
        </p:spPr>
      </p:cxnSp>
      <p:cxnSp>
        <p:nvCxnSpPr>
          <p:cNvPr id="157" name="Google Shape;157;p9"/>
          <p:cNvCxnSpPr/>
          <p:nvPr/>
        </p:nvCxnSpPr>
        <p:spPr>
          <a:xfrm flipH="1" rot="10800000">
            <a:off x="8788067" y="3910062"/>
            <a:ext cx="17450" cy="683491"/>
          </a:xfrm>
          <a:prstGeom prst="straightConnector1">
            <a:avLst/>
          </a:prstGeom>
          <a:noFill/>
          <a:ln cap="rnd" cmpd="sng" w="63500">
            <a:solidFill>
              <a:srgbClr val="FF9900"/>
            </a:solidFill>
            <a:prstDash val="solid"/>
            <a:miter lim="8000"/>
            <a:headEnd len="med" w="med" type="stealth"/>
            <a:tailEnd len="sm" w="sm" type="none"/>
          </a:ln>
        </p:spPr>
      </p:cxnSp>
      <p:cxnSp>
        <p:nvCxnSpPr>
          <p:cNvPr id="158" name="Google Shape;158;p9"/>
          <p:cNvCxnSpPr/>
          <p:nvPr/>
        </p:nvCxnSpPr>
        <p:spPr>
          <a:xfrm flipH="1">
            <a:off x="8783702" y="6222298"/>
            <a:ext cx="2856119" cy="2908"/>
          </a:xfrm>
          <a:prstGeom prst="straightConnector1">
            <a:avLst/>
          </a:prstGeom>
          <a:noFill/>
          <a:ln cap="rnd" cmpd="sng" w="63500">
            <a:solidFill>
              <a:srgbClr val="FF9900"/>
            </a:solidFill>
            <a:prstDash val="solid"/>
            <a:miter lim="8000"/>
            <a:headEnd len="med" w="med" type="stealth"/>
            <a:tailEnd len="sm" w="sm" type="none"/>
          </a:ln>
        </p:spPr>
      </p:cxnSp>
      <p:cxnSp>
        <p:nvCxnSpPr>
          <p:cNvPr id="159" name="Google Shape;159;p9"/>
          <p:cNvCxnSpPr/>
          <p:nvPr/>
        </p:nvCxnSpPr>
        <p:spPr>
          <a:xfrm rot="10800000">
            <a:off x="8757526" y="5777302"/>
            <a:ext cx="8725" cy="423181"/>
          </a:xfrm>
          <a:prstGeom prst="straightConnector1">
            <a:avLst/>
          </a:prstGeom>
          <a:noFill/>
          <a:ln cap="rnd" cmpd="sng" w="63500">
            <a:solidFill>
              <a:srgbClr val="FF9900"/>
            </a:solidFill>
            <a:prstDash val="solid"/>
            <a:miter lim="8000"/>
            <a:headEnd len="sm" w="sm" type="none"/>
            <a:tailEnd len="sm" w="sm" type="none"/>
          </a:ln>
        </p:spPr>
      </p:cxnSp>
      <p:cxnSp>
        <p:nvCxnSpPr>
          <p:cNvPr id="160" name="Google Shape;160;p9"/>
          <p:cNvCxnSpPr/>
          <p:nvPr/>
        </p:nvCxnSpPr>
        <p:spPr>
          <a:xfrm flipH="1" rot="10800000">
            <a:off x="11650004" y="6283375"/>
            <a:ext cx="17450" cy="683491"/>
          </a:xfrm>
          <a:prstGeom prst="straightConnector1">
            <a:avLst/>
          </a:prstGeom>
          <a:noFill/>
          <a:ln cap="rnd" cmpd="sng" w="63500">
            <a:solidFill>
              <a:srgbClr val="00FFFF"/>
            </a:solidFill>
            <a:prstDash val="solid"/>
            <a:miter lim="8000"/>
            <a:headEnd len="med" w="med" type="stealth"/>
            <a:tailEnd len="sm" w="sm" type="none"/>
          </a:ln>
        </p:spPr>
      </p:cxnSp>
      <p:sp>
        <p:nvSpPr>
          <p:cNvPr id="161" name="Google Shape;161;p9"/>
          <p:cNvSpPr txBox="1"/>
          <p:nvPr/>
        </p:nvSpPr>
        <p:spPr>
          <a:xfrm>
            <a:off x="10015442" y="6940691"/>
            <a:ext cx="3176051" cy="884175"/>
          </a:xfrm>
          <a:prstGeom prst="rect">
            <a:avLst/>
          </a:prstGeom>
          <a:noFill/>
          <a:ln cap="rnd" cmpd="sng" w="50800">
            <a:solidFill>
              <a:srgbClr val="00FFF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25"/>
              <a:buFont typeface="Cabin"/>
              <a:buNone/>
            </a:pPr>
            <a:r>
              <a:rPr b="0" i="0" lang="en-US" sz="3300" u="none" cap="none" strike="noStrike">
                <a:solidFill>
                  <a:schemeClr val="lt1"/>
                </a:solidFill>
                <a:latin typeface="Arial"/>
                <a:ea typeface="Arial"/>
                <a:cs typeface="Arial"/>
                <a:sym typeface="Arial"/>
              </a:rPr>
              <a:t>print('All Done')</a:t>
            </a:r>
            <a:endParaRPr b="0" i="0" sz="3300" u="none" cap="none" strike="noStrike">
              <a:solidFill>
                <a:schemeClr val="lt1"/>
              </a:solidFill>
              <a:latin typeface="Arial"/>
              <a:ea typeface="Arial"/>
              <a:cs typeface="Arial"/>
              <a:sym typeface="Arial"/>
            </a:endParaRPr>
          </a:p>
        </p:txBody>
      </p:sp>
      <p:sp>
        <p:nvSpPr>
          <p:cNvPr id="162" name="Google Shape;162;p9"/>
          <p:cNvSpPr txBox="1"/>
          <p:nvPr/>
        </p:nvSpPr>
        <p:spPr>
          <a:xfrm>
            <a:off x="1109119" y="3549412"/>
            <a:ext cx="4814099" cy="400966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FFFF"/>
                </a:solidFill>
                <a:latin typeface="Courier"/>
                <a:ea typeface="Courier"/>
                <a:cs typeface="Courier"/>
                <a:sym typeface="Courier"/>
              </a:rPr>
              <a:t>x = 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if x &gt;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    print('Bigger')</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9900"/>
                </a:solidFill>
                <a:latin typeface="Courier"/>
                <a:ea typeface="Courier"/>
                <a:cs typeface="Courier"/>
                <a:sym typeface="Courier"/>
              </a:rPr>
              <a:t>else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9900"/>
                </a:solidFill>
                <a:latin typeface="Courier"/>
                <a:ea typeface="Courier"/>
                <a:cs typeface="Courier"/>
                <a:sym typeface="Courier"/>
              </a:rPr>
              <a:t>    print('Smaller')</a:t>
            </a:r>
            <a:endParaRPr b="0" i="0" sz="3000" u="none" cap="none" strike="noStrike">
              <a:solidFill>
                <a:srgbClr val="FF9900"/>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00FFFF"/>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00FFFF"/>
                </a:solidFill>
                <a:latin typeface="Courier"/>
                <a:ea typeface="Courier"/>
                <a:cs typeface="Courier"/>
                <a:sym typeface="Courier"/>
              </a:rPr>
              <a:t>print('All done')</a:t>
            </a:r>
            <a:endParaRPr b="0" i="0" sz="3000" u="none" cap="none" strike="noStrike">
              <a:solidFill>
                <a:srgbClr val="00FFFF"/>
              </a:solidFill>
              <a:latin typeface="Courier"/>
              <a:ea typeface="Courier"/>
              <a:cs typeface="Courier"/>
              <a:sym typeface="Courier"/>
            </a:endParaRPr>
          </a:p>
        </p:txBody>
      </p:sp>
      <p:sp>
        <p:nvSpPr>
          <p:cNvPr id="163" name="Google Shape;163;p9"/>
          <p:cNvSpPr txBox="1"/>
          <p:nvPr/>
        </p:nvSpPr>
        <p:spPr>
          <a:xfrm>
            <a:off x="7083585" y="4602279"/>
            <a:ext cx="3393915" cy="1163389"/>
          </a:xfrm>
          <a:prstGeom prst="rect">
            <a:avLst/>
          </a:prstGeom>
          <a:noFill/>
          <a:ln cap="rnd" cmpd="sng" w="50800">
            <a:solidFill>
              <a:srgbClr val="FF99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print('Not bigger')</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FFD966"/>
              </a:buClr>
              <a:buSzPts val="7200"/>
              <a:buFont typeface="Arial"/>
              <a:buNone/>
            </a:pPr>
            <a:r>
              <a:rPr lang="en-US" sz="7200">
                <a:solidFill>
                  <a:srgbClr val="FFD966"/>
                </a:solidFill>
              </a:rPr>
              <a:t>More Conditional Structures…</a:t>
            </a:r>
            <a:endParaRPr sz="7200">
              <a:solidFill>
                <a:srgbClr val="FFD96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ph type="title"/>
          </p:nvPr>
        </p:nvSpPr>
        <p:spPr>
          <a:xfrm>
            <a:off x="1155700" y="745588"/>
            <a:ext cx="5759363"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Multi-way</a:t>
            </a:r>
            <a:endParaRPr/>
          </a:p>
        </p:txBody>
      </p:sp>
      <p:sp>
        <p:nvSpPr>
          <p:cNvPr id="174" name="Google Shape;174;p11"/>
          <p:cNvSpPr txBox="1"/>
          <p:nvPr/>
        </p:nvSpPr>
        <p:spPr>
          <a:xfrm>
            <a:off x="1023921" y="2933700"/>
            <a:ext cx="5102699" cy="445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t/>
            </a:r>
            <a:endParaRPr b="1"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00FF00"/>
                </a:solidFill>
                <a:latin typeface="Courier"/>
                <a:ea typeface="Courier"/>
                <a:cs typeface="Courier"/>
                <a:sym typeface="Courier"/>
              </a:rPr>
              <a:t>if</a:t>
            </a:r>
            <a:r>
              <a:rPr b="0" i="0" lang="en-US" sz="3000" u="none" cap="none" strike="noStrike">
                <a:solidFill>
                  <a:schemeClr val="lt1"/>
                </a:solidFill>
                <a:latin typeface="Courier"/>
                <a:ea typeface="Courier"/>
                <a:cs typeface="Courier"/>
                <a:sym typeface="Courier"/>
              </a:rPr>
              <a:t> x &lt;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'small'</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00FF00"/>
                </a:solidFill>
                <a:latin typeface="Courier"/>
                <a:ea typeface="Courier"/>
                <a:cs typeface="Courier"/>
                <a:sym typeface="Courier"/>
              </a:rPr>
              <a:t>elif</a:t>
            </a:r>
            <a:r>
              <a:rPr b="0" i="0" lang="en-US" sz="3000" u="none" cap="none" strike="noStrike">
                <a:solidFill>
                  <a:schemeClr val="lt1"/>
                </a:solidFill>
                <a:latin typeface="Courier"/>
                <a:ea typeface="Courier"/>
                <a:cs typeface="Courier"/>
                <a:sym typeface="Courier"/>
              </a:rPr>
              <a:t> x &lt;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'Medium'</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00FF00"/>
                </a:solidFill>
                <a:latin typeface="Courier"/>
                <a:ea typeface="Courier"/>
                <a:cs typeface="Courier"/>
                <a:sym typeface="Courier"/>
              </a:rPr>
              <a:t>else</a:t>
            </a:r>
            <a:r>
              <a:rPr b="0" i="0" lang="en-US" sz="30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'LARGE'</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('All done'</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p:txBody>
      </p:sp>
      <p:sp>
        <p:nvSpPr>
          <p:cNvPr id="175" name="Google Shape;175;p11"/>
          <p:cNvSpPr/>
          <p:nvPr/>
        </p:nvSpPr>
        <p:spPr>
          <a:xfrm>
            <a:off x="7796412" y="2286710"/>
            <a:ext cx="3139423" cy="1300743"/>
          </a:xfrm>
          <a:prstGeom prst="diamond">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25"/>
              <a:buFont typeface="Cabin"/>
              <a:buNone/>
            </a:pPr>
            <a:r>
              <a:rPr b="0" i="0" lang="en-US" sz="3700" u="none" cap="none" strike="noStrike">
                <a:solidFill>
                  <a:schemeClr val="lt1"/>
                </a:solidFill>
                <a:latin typeface="Arial"/>
                <a:ea typeface="Arial"/>
                <a:cs typeface="Arial"/>
                <a:sym typeface="Arial"/>
              </a:rPr>
              <a:t>x &lt; 2</a:t>
            </a:r>
            <a:endParaRPr b="0" i="0" sz="1400" u="none" cap="none" strike="noStrike">
              <a:solidFill>
                <a:srgbClr val="000000"/>
              </a:solidFill>
              <a:latin typeface="Arial"/>
              <a:ea typeface="Arial"/>
              <a:cs typeface="Arial"/>
              <a:sym typeface="Arial"/>
            </a:endParaRPr>
          </a:p>
        </p:txBody>
      </p:sp>
      <p:sp>
        <p:nvSpPr>
          <p:cNvPr id="176" name="Google Shape;176;p11"/>
          <p:cNvSpPr txBox="1"/>
          <p:nvPr/>
        </p:nvSpPr>
        <p:spPr>
          <a:xfrm>
            <a:off x="11552613" y="2376410"/>
            <a:ext cx="3061023" cy="11211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print('small')</a:t>
            </a:r>
            <a:endParaRPr b="0" i="0" sz="3200" u="none" cap="none" strike="noStrike">
              <a:solidFill>
                <a:schemeClr val="lt1"/>
              </a:solidFill>
              <a:latin typeface="Arial"/>
              <a:ea typeface="Arial"/>
              <a:cs typeface="Arial"/>
              <a:sym typeface="Arial"/>
            </a:endParaRPr>
          </a:p>
        </p:txBody>
      </p:sp>
      <p:cxnSp>
        <p:nvCxnSpPr>
          <p:cNvPr id="177" name="Google Shape;177;p11"/>
          <p:cNvCxnSpPr/>
          <p:nvPr/>
        </p:nvCxnSpPr>
        <p:spPr>
          <a:xfrm rot="10800000">
            <a:off x="10986368" y="2939840"/>
            <a:ext cx="528401" cy="0"/>
          </a:xfrm>
          <a:prstGeom prst="straightConnector1">
            <a:avLst/>
          </a:prstGeom>
          <a:noFill/>
          <a:ln cap="rnd" cmpd="sng" w="63500">
            <a:solidFill>
              <a:srgbClr val="00FF00"/>
            </a:solidFill>
            <a:prstDash val="solid"/>
            <a:miter lim="8000"/>
            <a:headEnd len="med" w="med" type="stealth"/>
            <a:tailEnd len="sm" w="sm" type="none"/>
          </a:ln>
        </p:spPr>
      </p:cxnSp>
      <p:cxnSp>
        <p:nvCxnSpPr>
          <p:cNvPr id="178" name="Google Shape;178;p11"/>
          <p:cNvCxnSpPr/>
          <p:nvPr/>
        </p:nvCxnSpPr>
        <p:spPr>
          <a:xfrm flipH="1" rot="10800000">
            <a:off x="9427836" y="6893651"/>
            <a:ext cx="5728196" cy="91113"/>
          </a:xfrm>
          <a:prstGeom prst="straightConnector1">
            <a:avLst/>
          </a:prstGeom>
          <a:noFill/>
          <a:ln cap="rnd" cmpd="sng" w="63500">
            <a:solidFill>
              <a:srgbClr val="00FF00"/>
            </a:solidFill>
            <a:prstDash val="solid"/>
            <a:miter lim="8000"/>
            <a:headEnd len="med" w="med" type="stealth"/>
            <a:tailEnd len="sm" w="sm" type="none"/>
          </a:ln>
        </p:spPr>
      </p:cxnSp>
      <p:sp>
        <p:nvSpPr>
          <p:cNvPr id="179" name="Google Shape;179;p11"/>
          <p:cNvSpPr txBox="1"/>
          <p:nvPr/>
        </p:nvSpPr>
        <p:spPr>
          <a:xfrm>
            <a:off x="10389312" y="2202616"/>
            <a:ext cx="695265"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180" name="Google Shape;180;p11"/>
          <p:cNvSpPr txBox="1"/>
          <p:nvPr/>
        </p:nvSpPr>
        <p:spPr>
          <a:xfrm>
            <a:off x="8658374" y="3503271"/>
            <a:ext cx="47781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cxnSp>
        <p:nvCxnSpPr>
          <p:cNvPr id="181" name="Google Shape;181;p11"/>
          <p:cNvCxnSpPr/>
          <p:nvPr/>
        </p:nvCxnSpPr>
        <p:spPr>
          <a:xfrm rot="10800000">
            <a:off x="15139226" y="2955278"/>
            <a:ext cx="33637" cy="3955201"/>
          </a:xfrm>
          <a:prstGeom prst="straightConnector1">
            <a:avLst/>
          </a:prstGeom>
          <a:noFill/>
          <a:ln cap="rnd" cmpd="sng" w="63500">
            <a:solidFill>
              <a:srgbClr val="00FF00"/>
            </a:solidFill>
            <a:prstDash val="solid"/>
            <a:miter lim="8000"/>
            <a:headEnd len="sm" w="sm" type="none"/>
            <a:tailEnd len="sm" w="sm" type="none"/>
          </a:ln>
        </p:spPr>
      </p:cxnSp>
      <p:cxnSp>
        <p:nvCxnSpPr>
          <p:cNvPr id="182" name="Google Shape;182;p11"/>
          <p:cNvCxnSpPr/>
          <p:nvPr/>
        </p:nvCxnSpPr>
        <p:spPr>
          <a:xfrm rot="10800000">
            <a:off x="9378748" y="1716348"/>
            <a:ext cx="4237" cy="606802"/>
          </a:xfrm>
          <a:prstGeom prst="straightConnector1">
            <a:avLst/>
          </a:prstGeom>
          <a:noFill/>
          <a:ln cap="rnd" cmpd="sng" w="63500">
            <a:solidFill>
              <a:srgbClr val="00FF00"/>
            </a:solidFill>
            <a:prstDash val="solid"/>
            <a:miter lim="8000"/>
            <a:headEnd len="med" w="med" type="stealth"/>
            <a:tailEnd len="sm" w="sm" type="none"/>
          </a:ln>
        </p:spPr>
      </p:cxnSp>
      <p:cxnSp>
        <p:nvCxnSpPr>
          <p:cNvPr id="183" name="Google Shape;183;p11"/>
          <p:cNvCxnSpPr/>
          <p:nvPr/>
        </p:nvCxnSpPr>
        <p:spPr>
          <a:xfrm flipH="1" rot="10800000">
            <a:off x="9382986" y="6743717"/>
            <a:ext cx="16686" cy="658714"/>
          </a:xfrm>
          <a:prstGeom prst="straightConnector1">
            <a:avLst/>
          </a:prstGeom>
          <a:noFill/>
          <a:ln cap="rnd" cmpd="sng" w="63500">
            <a:solidFill>
              <a:srgbClr val="00FF00"/>
            </a:solidFill>
            <a:prstDash val="solid"/>
            <a:miter lim="8000"/>
            <a:headEnd len="med" w="med" type="stealth"/>
            <a:tailEnd len="sm" w="sm" type="none"/>
          </a:ln>
        </p:spPr>
      </p:cxnSp>
      <p:sp>
        <p:nvSpPr>
          <p:cNvPr id="184" name="Google Shape;184;p11"/>
          <p:cNvSpPr txBox="1"/>
          <p:nvPr/>
        </p:nvSpPr>
        <p:spPr>
          <a:xfrm>
            <a:off x="7807624" y="7377204"/>
            <a:ext cx="3061023" cy="8520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25"/>
              <a:buFont typeface="Cabin"/>
              <a:buNone/>
            </a:pPr>
            <a:r>
              <a:rPr b="0" i="0" lang="en-US" sz="3300" u="none" cap="none" strike="noStrike">
                <a:solidFill>
                  <a:schemeClr val="lt1"/>
                </a:solidFill>
                <a:latin typeface="Arial"/>
                <a:ea typeface="Arial"/>
                <a:cs typeface="Arial"/>
                <a:sym typeface="Arial"/>
              </a:rPr>
              <a:t>print('All Done')</a:t>
            </a:r>
            <a:endParaRPr b="0" i="0" sz="3300" u="none" cap="none" strike="noStrike">
              <a:solidFill>
                <a:schemeClr val="lt1"/>
              </a:solidFill>
              <a:latin typeface="Arial"/>
              <a:ea typeface="Arial"/>
              <a:cs typeface="Arial"/>
              <a:sym typeface="Arial"/>
            </a:endParaRPr>
          </a:p>
        </p:txBody>
      </p:sp>
      <p:sp>
        <p:nvSpPr>
          <p:cNvPr id="185" name="Google Shape;185;p11"/>
          <p:cNvSpPr/>
          <p:nvPr/>
        </p:nvSpPr>
        <p:spPr>
          <a:xfrm>
            <a:off x="7785199" y="4002229"/>
            <a:ext cx="3139423" cy="1300743"/>
          </a:xfrm>
          <a:prstGeom prst="diamond">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25"/>
              <a:buFont typeface="Cabin"/>
              <a:buNone/>
            </a:pPr>
            <a:r>
              <a:rPr b="0" i="0" lang="en-US" sz="3700" u="none" cap="none" strike="noStrike">
                <a:solidFill>
                  <a:schemeClr val="lt1"/>
                </a:solidFill>
                <a:latin typeface="Arial"/>
                <a:ea typeface="Arial"/>
                <a:cs typeface="Arial"/>
                <a:sym typeface="Arial"/>
              </a:rPr>
              <a:t>x &lt; 10</a:t>
            </a:r>
            <a:endParaRPr b="0" i="0" sz="1400" u="none" cap="none" strike="noStrike">
              <a:solidFill>
                <a:srgbClr val="000000"/>
              </a:solidFill>
              <a:latin typeface="Arial"/>
              <a:ea typeface="Arial"/>
              <a:cs typeface="Arial"/>
              <a:sym typeface="Arial"/>
            </a:endParaRPr>
          </a:p>
        </p:txBody>
      </p:sp>
      <p:sp>
        <p:nvSpPr>
          <p:cNvPr id="186" name="Google Shape;186;p11"/>
          <p:cNvSpPr txBox="1"/>
          <p:nvPr/>
        </p:nvSpPr>
        <p:spPr>
          <a:xfrm>
            <a:off x="11541401" y="4091929"/>
            <a:ext cx="3061023" cy="11211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print('Medium')</a:t>
            </a:r>
            <a:endParaRPr b="0" i="0" sz="3200" u="none" cap="none" strike="noStrike">
              <a:solidFill>
                <a:schemeClr val="lt1"/>
              </a:solidFill>
              <a:latin typeface="Arial"/>
              <a:ea typeface="Arial"/>
              <a:cs typeface="Arial"/>
              <a:sym typeface="Arial"/>
            </a:endParaRPr>
          </a:p>
        </p:txBody>
      </p:sp>
      <p:cxnSp>
        <p:nvCxnSpPr>
          <p:cNvPr id="187" name="Google Shape;187;p11"/>
          <p:cNvCxnSpPr/>
          <p:nvPr/>
        </p:nvCxnSpPr>
        <p:spPr>
          <a:xfrm rot="10800000">
            <a:off x="10975155" y="4655359"/>
            <a:ext cx="528401" cy="0"/>
          </a:xfrm>
          <a:prstGeom prst="straightConnector1">
            <a:avLst/>
          </a:prstGeom>
          <a:noFill/>
          <a:ln cap="rnd" cmpd="sng" w="63500">
            <a:solidFill>
              <a:srgbClr val="00FF00"/>
            </a:solidFill>
            <a:prstDash val="solid"/>
            <a:miter lim="8000"/>
            <a:headEnd len="med" w="med" type="stealth"/>
            <a:tailEnd len="sm" w="sm" type="none"/>
          </a:ln>
        </p:spPr>
      </p:cxnSp>
      <p:sp>
        <p:nvSpPr>
          <p:cNvPr id="188" name="Google Shape;188;p11"/>
          <p:cNvSpPr txBox="1"/>
          <p:nvPr/>
        </p:nvSpPr>
        <p:spPr>
          <a:xfrm>
            <a:off x="10523862" y="3974197"/>
            <a:ext cx="77306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cxnSp>
        <p:nvCxnSpPr>
          <p:cNvPr id="189" name="Google Shape;189;p11"/>
          <p:cNvCxnSpPr/>
          <p:nvPr/>
        </p:nvCxnSpPr>
        <p:spPr>
          <a:xfrm rot="10800000">
            <a:off x="14652869" y="2939840"/>
            <a:ext cx="528401" cy="0"/>
          </a:xfrm>
          <a:prstGeom prst="straightConnector1">
            <a:avLst/>
          </a:prstGeom>
          <a:noFill/>
          <a:ln cap="rnd" cmpd="sng" w="63500">
            <a:solidFill>
              <a:srgbClr val="00FF00"/>
            </a:solidFill>
            <a:prstDash val="solid"/>
            <a:miter lim="8000"/>
            <a:headEnd len="med" w="med" type="stealth"/>
            <a:tailEnd len="sm" w="sm" type="none"/>
          </a:ln>
        </p:spPr>
      </p:cxnSp>
      <p:cxnSp>
        <p:nvCxnSpPr>
          <p:cNvPr id="190" name="Google Shape;190;p11"/>
          <p:cNvCxnSpPr/>
          <p:nvPr/>
        </p:nvCxnSpPr>
        <p:spPr>
          <a:xfrm rot="10800000">
            <a:off x="14619232" y="4644147"/>
            <a:ext cx="528401" cy="0"/>
          </a:xfrm>
          <a:prstGeom prst="straightConnector1">
            <a:avLst/>
          </a:prstGeom>
          <a:noFill/>
          <a:ln cap="rnd" cmpd="sng" w="63500">
            <a:solidFill>
              <a:srgbClr val="00FF00"/>
            </a:solidFill>
            <a:prstDash val="solid"/>
            <a:miter lim="8000"/>
            <a:headEnd len="med" w="med" type="stealth"/>
            <a:tailEnd len="sm" w="sm" type="none"/>
          </a:ln>
        </p:spPr>
      </p:cxnSp>
      <p:cxnSp>
        <p:nvCxnSpPr>
          <p:cNvPr id="191" name="Google Shape;191;p11"/>
          <p:cNvCxnSpPr/>
          <p:nvPr/>
        </p:nvCxnSpPr>
        <p:spPr>
          <a:xfrm rot="10800000">
            <a:off x="9338212" y="3578833"/>
            <a:ext cx="1324" cy="497678"/>
          </a:xfrm>
          <a:prstGeom prst="straightConnector1">
            <a:avLst/>
          </a:prstGeom>
          <a:noFill/>
          <a:ln cap="rnd" cmpd="sng" w="63500">
            <a:solidFill>
              <a:srgbClr val="00FF00"/>
            </a:solidFill>
            <a:prstDash val="solid"/>
            <a:miter lim="8000"/>
            <a:headEnd len="med" w="med" type="stealth"/>
            <a:tailEnd len="sm" w="sm" type="none"/>
          </a:ln>
        </p:spPr>
      </p:cxnSp>
      <p:sp>
        <p:nvSpPr>
          <p:cNvPr id="192" name="Google Shape;192;p11"/>
          <p:cNvSpPr txBox="1"/>
          <p:nvPr/>
        </p:nvSpPr>
        <p:spPr>
          <a:xfrm>
            <a:off x="7818837" y="5616835"/>
            <a:ext cx="3061023" cy="11211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print('LARGE')</a:t>
            </a:r>
            <a:endParaRPr b="0" i="0" sz="3200" u="none" cap="none" strike="noStrike">
              <a:solidFill>
                <a:schemeClr val="lt1"/>
              </a:solidFill>
              <a:latin typeface="Arial"/>
              <a:ea typeface="Arial"/>
              <a:cs typeface="Arial"/>
              <a:sym typeface="Arial"/>
            </a:endParaRPr>
          </a:p>
        </p:txBody>
      </p:sp>
      <p:cxnSp>
        <p:nvCxnSpPr>
          <p:cNvPr id="193" name="Google Shape;193;p11"/>
          <p:cNvCxnSpPr/>
          <p:nvPr/>
        </p:nvCxnSpPr>
        <p:spPr>
          <a:xfrm flipH="1" rot="10800000">
            <a:off x="9384387" y="5295942"/>
            <a:ext cx="4237" cy="361538"/>
          </a:xfrm>
          <a:prstGeom prst="straightConnector1">
            <a:avLst/>
          </a:prstGeom>
          <a:noFill/>
          <a:ln cap="rnd" cmpd="sng" w="63500">
            <a:solidFill>
              <a:srgbClr val="00FF00"/>
            </a:solidFill>
            <a:prstDash val="solid"/>
            <a:miter lim="8000"/>
            <a:headEnd len="med" w="med" type="stealth"/>
            <a:tailEnd len="sm" w="sm" type="none"/>
          </a:ln>
        </p:spPr>
      </p:cxnSp>
      <p:sp>
        <p:nvSpPr>
          <p:cNvPr id="194" name="Google Shape;194;p11"/>
          <p:cNvSpPr txBox="1"/>
          <p:nvPr/>
        </p:nvSpPr>
        <p:spPr>
          <a:xfrm>
            <a:off x="8478974" y="5073027"/>
            <a:ext cx="47781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2"/>
          <p:cNvSpPr txBox="1"/>
          <p:nvPr>
            <p:ph type="title"/>
          </p:nvPr>
        </p:nvSpPr>
        <p:spPr>
          <a:xfrm>
            <a:off x="1155700" y="745588"/>
            <a:ext cx="5759363"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Multi-way</a:t>
            </a:r>
            <a:endParaRPr/>
          </a:p>
        </p:txBody>
      </p:sp>
      <p:sp>
        <p:nvSpPr>
          <p:cNvPr id="200" name="Google Shape;200;p12"/>
          <p:cNvSpPr txBox="1"/>
          <p:nvPr/>
        </p:nvSpPr>
        <p:spPr>
          <a:xfrm>
            <a:off x="1023921" y="2933700"/>
            <a:ext cx="5102699" cy="445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chemeClr val="lt1"/>
                </a:solidFill>
                <a:latin typeface="Courier"/>
                <a:ea typeface="Courier"/>
                <a:cs typeface="Courier"/>
                <a:sym typeface="Courier"/>
              </a:rPr>
              <a:t>x = 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C000"/>
                </a:solidFill>
                <a:latin typeface="Courier"/>
                <a:ea typeface="Courier"/>
                <a:cs typeface="Courier"/>
                <a:sym typeface="Courier"/>
              </a:rPr>
              <a:t>if x &lt;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C000"/>
                </a:solidFill>
                <a:latin typeface="Courier"/>
                <a:ea typeface="Courier"/>
                <a:cs typeface="Courier"/>
                <a:sym typeface="Courier"/>
              </a:rPr>
              <a:t>    print('small')</a:t>
            </a:r>
            <a:endParaRPr b="0" i="0" sz="3000" u="none" cap="none" strike="noStrike">
              <a:solidFill>
                <a:srgbClr val="FFC0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00FF00"/>
                </a:solidFill>
                <a:latin typeface="Courier"/>
                <a:ea typeface="Courier"/>
                <a:cs typeface="Courier"/>
                <a:sym typeface="Courier"/>
              </a:rPr>
              <a:t>elif</a:t>
            </a:r>
            <a:r>
              <a:rPr b="0" i="0" lang="en-US" sz="3000" u="none" cap="none" strike="noStrike">
                <a:solidFill>
                  <a:schemeClr val="lt1"/>
                </a:solidFill>
                <a:latin typeface="Courier"/>
                <a:ea typeface="Courier"/>
                <a:cs typeface="Courier"/>
                <a:sym typeface="Courier"/>
              </a:rPr>
              <a:t> x &lt;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'Medium'</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00FF00"/>
                </a:solidFill>
                <a:latin typeface="Courier"/>
                <a:ea typeface="Courier"/>
                <a:cs typeface="Courier"/>
                <a:sym typeface="Courier"/>
              </a:rPr>
              <a:t>else</a:t>
            </a:r>
            <a:r>
              <a:rPr b="0" i="0" lang="en-US" sz="30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'LARGE'</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C000"/>
                </a:solidFill>
                <a:latin typeface="Courier"/>
                <a:ea typeface="Courier"/>
                <a:cs typeface="Courier"/>
                <a:sym typeface="Courier"/>
              </a:rPr>
              <a:t>print('All done')</a:t>
            </a:r>
            <a:endParaRPr b="0" i="0" sz="3000" u="none" cap="none" strike="noStrike">
              <a:solidFill>
                <a:srgbClr val="FFC000"/>
              </a:solidFill>
              <a:latin typeface="Courier"/>
              <a:ea typeface="Courier"/>
              <a:cs typeface="Courier"/>
              <a:sym typeface="Courier"/>
            </a:endParaRPr>
          </a:p>
        </p:txBody>
      </p:sp>
      <p:sp>
        <p:nvSpPr>
          <p:cNvPr id="201" name="Google Shape;201;p12"/>
          <p:cNvSpPr/>
          <p:nvPr/>
        </p:nvSpPr>
        <p:spPr>
          <a:xfrm>
            <a:off x="7794315" y="2283417"/>
            <a:ext cx="3139423" cy="1300743"/>
          </a:xfrm>
          <a:prstGeom prst="diamond">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25"/>
              <a:buFont typeface="Cabin"/>
              <a:buNone/>
            </a:pPr>
            <a:r>
              <a:rPr b="0" i="0" lang="en-US" sz="3700" u="none" cap="none" strike="noStrike">
                <a:solidFill>
                  <a:schemeClr val="lt1"/>
                </a:solidFill>
                <a:latin typeface="Arial"/>
                <a:ea typeface="Arial"/>
                <a:cs typeface="Arial"/>
                <a:sym typeface="Arial"/>
              </a:rPr>
              <a:t>x &lt; 2</a:t>
            </a:r>
            <a:endParaRPr b="0" i="0" sz="1400" u="none" cap="none" strike="noStrike">
              <a:solidFill>
                <a:srgbClr val="000000"/>
              </a:solidFill>
              <a:latin typeface="Arial"/>
              <a:ea typeface="Arial"/>
              <a:cs typeface="Arial"/>
              <a:sym typeface="Arial"/>
            </a:endParaRPr>
          </a:p>
        </p:txBody>
      </p:sp>
      <p:sp>
        <p:nvSpPr>
          <p:cNvPr id="202" name="Google Shape;202;p12"/>
          <p:cNvSpPr txBox="1"/>
          <p:nvPr/>
        </p:nvSpPr>
        <p:spPr>
          <a:xfrm>
            <a:off x="11550516" y="2373117"/>
            <a:ext cx="3061023" cy="1121165"/>
          </a:xfrm>
          <a:prstGeom prst="rect">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print('small')</a:t>
            </a:r>
            <a:endParaRPr b="0" i="0" sz="3200" u="none" cap="none" strike="noStrike">
              <a:solidFill>
                <a:schemeClr val="lt1"/>
              </a:solidFill>
              <a:latin typeface="Arial"/>
              <a:ea typeface="Arial"/>
              <a:cs typeface="Arial"/>
              <a:sym typeface="Arial"/>
            </a:endParaRPr>
          </a:p>
        </p:txBody>
      </p:sp>
      <p:cxnSp>
        <p:nvCxnSpPr>
          <p:cNvPr id="203" name="Google Shape;203;p12"/>
          <p:cNvCxnSpPr/>
          <p:nvPr/>
        </p:nvCxnSpPr>
        <p:spPr>
          <a:xfrm rot="10800000">
            <a:off x="10984271" y="2936547"/>
            <a:ext cx="528401" cy="0"/>
          </a:xfrm>
          <a:prstGeom prst="straightConnector1">
            <a:avLst/>
          </a:prstGeom>
          <a:noFill/>
          <a:ln cap="rnd" cmpd="sng" w="63500">
            <a:solidFill>
              <a:srgbClr val="FFC000"/>
            </a:solidFill>
            <a:prstDash val="solid"/>
            <a:miter lim="8000"/>
            <a:headEnd len="med" w="med" type="stealth"/>
            <a:tailEnd len="sm" w="sm" type="none"/>
          </a:ln>
        </p:spPr>
      </p:cxnSp>
      <p:cxnSp>
        <p:nvCxnSpPr>
          <p:cNvPr id="204" name="Google Shape;204;p12"/>
          <p:cNvCxnSpPr/>
          <p:nvPr/>
        </p:nvCxnSpPr>
        <p:spPr>
          <a:xfrm flipH="1" rot="10800000">
            <a:off x="9425739" y="6890358"/>
            <a:ext cx="5728196" cy="91113"/>
          </a:xfrm>
          <a:prstGeom prst="straightConnector1">
            <a:avLst/>
          </a:prstGeom>
          <a:noFill/>
          <a:ln cap="rnd" cmpd="sng" w="63500">
            <a:solidFill>
              <a:srgbClr val="FFC000"/>
            </a:solidFill>
            <a:prstDash val="solid"/>
            <a:miter lim="8000"/>
            <a:headEnd len="med" w="med" type="stealth"/>
            <a:tailEnd len="sm" w="sm" type="none"/>
          </a:ln>
        </p:spPr>
      </p:cxnSp>
      <p:sp>
        <p:nvSpPr>
          <p:cNvPr id="205" name="Google Shape;205;p12"/>
          <p:cNvSpPr txBox="1"/>
          <p:nvPr/>
        </p:nvSpPr>
        <p:spPr>
          <a:xfrm>
            <a:off x="10387215" y="2199323"/>
            <a:ext cx="695265"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206" name="Google Shape;206;p12"/>
          <p:cNvSpPr txBox="1"/>
          <p:nvPr/>
        </p:nvSpPr>
        <p:spPr>
          <a:xfrm>
            <a:off x="8656277" y="3499978"/>
            <a:ext cx="47781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cxnSp>
        <p:nvCxnSpPr>
          <p:cNvPr id="207" name="Google Shape;207;p12"/>
          <p:cNvCxnSpPr/>
          <p:nvPr/>
        </p:nvCxnSpPr>
        <p:spPr>
          <a:xfrm rot="10800000">
            <a:off x="15137129" y="2951985"/>
            <a:ext cx="33637" cy="3955201"/>
          </a:xfrm>
          <a:prstGeom prst="straightConnector1">
            <a:avLst/>
          </a:prstGeom>
          <a:noFill/>
          <a:ln cap="rnd" cmpd="sng" w="63500">
            <a:solidFill>
              <a:srgbClr val="FFC000"/>
            </a:solidFill>
            <a:prstDash val="solid"/>
            <a:miter lim="8000"/>
            <a:headEnd len="sm" w="sm" type="none"/>
            <a:tailEnd len="sm" w="sm" type="none"/>
          </a:ln>
        </p:spPr>
      </p:cxnSp>
      <p:cxnSp>
        <p:nvCxnSpPr>
          <p:cNvPr id="208" name="Google Shape;208;p12"/>
          <p:cNvCxnSpPr/>
          <p:nvPr/>
        </p:nvCxnSpPr>
        <p:spPr>
          <a:xfrm rot="10800000">
            <a:off x="9376651" y="1713055"/>
            <a:ext cx="4237" cy="606802"/>
          </a:xfrm>
          <a:prstGeom prst="straightConnector1">
            <a:avLst/>
          </a:prstGeom>
          <a:noFill/>
          <a:ln cap="rnd" cmpd="sng" w="63500">
            <a:solidFill>
              <a:srgbClr val="00FF00"/>
            </a:solidFill>
            <a:prstDash val="solid"/>
            <a:miter lim="8000"/>
            <a:headEnd len="med" w="med" type="stealth"/>
            <a:tailEnd len="sm" w="sm" type="none"/>
          </a:ln>
        </p:spPr>
      </p:cxnSp>
      <p:cxnSp>
        <p:nvCxnSpPr>
          <p:cNvPr id="209" name="Google Shape;209;p12"/>
          <p:cNvCxnSpPr/>
          <p:nvPr/>
        </p:nvCxnSpPr>
        <p:spPr>
          <a:xfrm flipH="1" rot="10800000">
            <a:off x="9380889" y="6740424"/>
            <a:ext cx="16686" cy="658714"/>
          </a:xfrm>
          <a:prstGeom prst="straightConnector1">
            <a:avLst/>
          </a:prstGeom>
          <a:noFill/>
          <a:ln cap="rnd" cmpd="sng" w="63500">
            <a:solidFill>
              <a:srgbClr val="00FF00"/>
            </a:solidFill>
            <a:prstDash val="solid"/>
            <a:miter lim="8000"/>
            <a:headEnd len="med" w="med" type="stealth"/>
            <a:tailEnd len="sm" w="sm" type="none"/>
          </a:ln>
        </p:spPr>
      </p:cxnSp>
      <p:sp>
        <p:nvSpPr>
          <p:cNvPr id="210" name="Google Shape;210;p12"/>
          <p:cNvSpPr txBox="1"/>
          <p:nvPr/>
        </p:nvSpPr>
        <p:spPr>
          <a:xfrm>
            <a:off x="7805527" y="7373911"/>
            <a:ext cx="3061023" cy="852065"/>
          </a:xfrm>
          <a:prstGeom prst="rect">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25"/>
              <a:buFont typeface="Cabin"/>
              <a:buNone/>
            </a:pPr>
            <a:r>
              <a:rPr b="0" i="0" lang="en-US" sz="3300" u="none" cap="none" strike="noStrike">
                <a:solidFill>
                  <a:schemeClr val="lt1"/>
                </a:solidFill>
                <a:latin typeface="Arial"/>
                <a:ea typeface="Arial"/>
                <a:cs typeface="Arial"/>
                <a:sym typeface="Arial"/>
              </a:rPr>
              <a:t>print('All Done')</a:t>
            </a:r>
            <a:endParaRPr b="0" i="0" sz="3300" u="none" cap="none" strike="noStrike">
              <a:solidFill>
                <a:schemeClr val="lt1"/>
              </a:solidFill>
              <a:latin typeface="Arial"/>
              <a:ea typeface="Arial"/>
              <a:cs typeface="Arial"/>
              <a:sym typeface="Arial"/>
            </a:endParaRPr>
          </a:p>
        </p:txBody>
      </p:sp>
      <p:sp>
        <p:nvSpPr>
          <p:cNvPr id="211" name="Google Shape;211;p12"/>
          <p:cNvSpPr/>
          <p:nvPr/>
        </p:nvSpPr>
        <p:spPr>
          <a:xfrm>
            <a:off x="7783102" y="3998936"/>
            <a:ext cx="3139423" cy="1300743"/>
          </a:xfrm>
          <a:prstGeom prst="diamond">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25"/>
              <a:buFont typeface="Cabin"/>
              <a:buNone/>
            </a:pPr>
            <a:r>
              <a:rPr b="0" i="0" lang="en-US" sz="3700" u="none" cap="none" strike="noStrike">
                <a:solidFill>
                  <a:schemeClr val="lt1"/>
                </a:solidFill>
                <a:latin typeface="Arial"/>
                <a:ea typeface="Arial"/>
                <a:cs typeface="Arial"/>
                <a:sym typeface="Arial"/>
              </a:rPr>
              <a:t>x &lt; 10</a:t>
            </a:r>
            <a:endParaRPr b="0" i="0" sz="1400" u="none" cap="none" strike="noStrike">
              <a:solidFill>
                <a:srgbClr val="000000"/>
              </a:solidFill>
              <a:latin typeface="Arial"/>
              <a:ea typeface="Arial"/>
              <a:cs typeface="Arial"/>
              <a:sym typeface="Arial"/>
            </a:endParaRPr>
          </a:p>
        </p:txBody>
      </p:sp>
      <p:sp>
        <p:nvSpPr>
          <p:cNvPr id="212" name="Google Shape;212;p12"/>
          <p:cNvSpPr txBox="1"/>
          <p:nvPr/>
        </p:nvSpPr>
        <p:spPr>
          <a:xfrm>
            <a:off x="11539304" y="4088636"/>
            <a:ext cx="3061023" cy="11211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print('Medium')</a:t>
            </a:r>
            <a:endParaRPr b="0" i="0" sz="3200" u="none" cap="none" strike="noStrike">
              <a:solidFill>
                <a:schemeClr val="lt1"/>
              </a:solidFill>
              <a:latin typeface="Arial"/>
              <a:ea typeface="Arial"/>
              <a:cs typeface="Arial"/>
              <a:sym typeface="Arial"/>
            </a:endParaRPr>
          </a:p>
        </p:txBody>
      </p:sp>
      <p:cxnSp>
        <p:nvCxnSpPr>
          <p:cNvPr id="213" name="Google Shape;213;p12"/>
          <p:cNvCxnSpPr/>
          <p:nvPr/>
        </p:nvCxnSpPr>
        <p:spPr>
          <a:xfrm rot="10800000">
            <a:off x="10973058" y="4652066"/>
            <a:ext cx="528401" cy="0"/>
          </a:xfrm>
          <a:prstGeom prst="straightConnector1">
            <a:avLst/>
          </a:prstGeom>
          <a:noFill/>
          <a:ln cap="rnd" cmpd="sng" w="63500">
            <a:solidFill>
              <a:srgbClr val="00FF00"/>
            </a:solidFill>
            <a:prstDash val="solid"/>
            <a:miter lim="8000"/>
            <a:headEnd len="med" w="med" type="stealth"/>
            <a:tailEnd len="sm" w="sm" type="none"/>
          </a:ln>
        </p:spPr>
      </p:cxnSp>
      <p:sp>
        <p:nvSpPr>
          <p:cNvPr id="214" name="Google Shape;214;p12"/>
          <p:cNvSpPr txBox="1"/>
          <p:nvPr/>
        </p:nvSpPr>
        <p:spPr>
          <a:xfrm>
            <a:off x="10521765" y="3970904"/>
            <a:ext cx="77306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cxnSp>
        <p:nvCxnSpPr>
          <p:cNvPr id="215" name="Google Shape;215;p12"/>
          <p:cNvCxnSpPr/>
          <p:nvPr/>
        </p:nvCxnSpPr>
        <p:spPr>
          <a:xfrm rot="10800000">
            <a:off x="14650772" y="2936547"/>
            <a:ext cx="528401" cy="0"/>
          </a:xfrm>
          <a:prstGeom prst="straightConnector1">
            <a:avLst/>
          </a:prstGeom>
          <a:noFill/>
          <a:ln cap="rnd" cmpd="sng" w="63500">
            <a:solidFill>
              <a:srgbClr val="FFC000"/>
            </a:solidFill>
            <a:prstDash val="solid"/>
            <a:miter lim="8000"/>
            <a:headEnd len="med" w="med" type="stealth"/>
            <a:tailEnd len="sm" w="sm" type="none"/>
          </a:ln>
        </p:spPr>
      </p:cxnSp>
      <p:cxnSp>
        <p:nvCxnSpPr>
          <p:cNvPr id="216" name="Google Shape;216;p12"/>
          <p:cNvCxnSpPr/>
          <p:nvPr/>
        </p:nvCxnSpPr>
        <p:spPr>
          <a:xfrm rot="10800000">
            <a:off x="14617135" y="4640854"/>
            <a:ext cx="528401" cy="0"/>
          </a:xfrm>
          <a:prstGeom prst="straightConnector1">
            <a:avLst/>
          </a:prstGeom>
          <a:noFill/>
          <a:ln cap="rnd" cmpd="sng" w="63500">
            <a:solidFill>
              <a:srgbClr val="00FF00"/>
            </a:solidFill>
            <a:prstDash val="solid"/>
            <a:miter lim="8000"/>
            <a:headEnd len="med" w="med" type="stealth"/>
            <a:tailEnd len="sm" w="sm" type="none"/>
          </a:ln>
        </p:spPr>
      </p:cxnSp>
      <p:cxnSp>
        <p:nvCxnSpPr>
          <p:cNvPr id="217" name="Google Shape;217;p12"/>
          <p:cNvCxnSpPr/>
          <p:nvPr/>
        </p:nvCxnSpPr>
        <p:spPr>
          <a:xfrm rot="10800000">
            <a:off x="9336115" y="3575540"/>
            <a:ext cx="1324" cy="497678"/>
          </a:xfrm>
          <a:prstGeom prst="straightConnector1">
            <a:avLst/>
          </a:prstGeom>
          <a:noFill/>
          <a:ln cap="rnd" cmpd="sng" w="63500">
            <a:solidFill>
              <a:srgbClr val="00FF00"/>
            </a:solidFill>
            <a:prstDash val="solid"/>
            <a:miter lim="8000"/>
            <a:headEnd len="med" w="med" type="stealth"/>
            <a:tailEnd len="sm" w="sm" type="none"/>
          </a:ln>
        </p:spPr>
      </p:cxnSp>
      <p:sp>
        <p:nvSpPr>
          <p:cNvPr id="218" name="Google Shape;218;p12"/>
          <p:cNvSpPr txBox="1"/>
          <p:nvPr/>
        </p:nvSpPr>
        <p:spPr>
          <a:xfrm>
            <a:off x="7816740" y="5613542"/>
            <a:ext cx="3061023" cy="11211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print('LARGE')</a:t>
            </a:r>
            <a:endParaRPr b="0" i="0" sz="3200" u="none" cap="none" strike="noStrike">
              <a:solidFill>
                <a:schemeClr val="lt1"/>
              </a:solidFill>
              <a:latin typeface="Arial"/>
              <a:ea typeface="Arial"/>
              <a:cs typeface="Arial"/>
              <a:sym typeface="Arial"/>
            </a:endParaRPr>
          </a:p>
        </p:txBody>
      </p:sp>
      <p:cxnSp>
        <p:nvCxnSpPr>
          <p:cNvPr id="219" name="Google Shape;219;p12"/>
          <p:cNvCxnSpPr/>
          <p:nvPr/>
        </p:nvCxnSpPr>
        <p:spPr>
          <a:xfrm flipH="1" rot="10800000">
            <a:off x="9382290" y="5292649"/>
            <a:ext cx="4237" cy="361538"/>
          </a:xfrm>
          <a:prstGeom prst="straightConnector1">
            <a:avLst/>
          </a:prstGeom>
          <a:noFill/>
          <a:ln cap="rnd" cmpd="sng" w="63500">
            <a:solidFill>
              <a:srgbClr val="00FF00"/>
            </a:solidFill>
            <a:prstDash val="solid"/>
            <a:miter lim="8000"/>
            <a:headEnd len="med" w="med" type="stealth"/>
            <a:tailEnd len="sm" w="sm" type="none"/>
          </a:ln>
        </p:spPr>
      </p:cxnSp>
      <p:sp>
        <p:nvSpPr>
          <p:cNvPr id="220" name="Google Shape;220;p12"/>
          <p:cNvSpPr txBox="1"/>
          <p:nvPr/>
        </p:nvSpPr>
        <p:spPr>
          <a:xfrm>
            <a:off x="8476877" y="5069734"/>
            <a:ext cx="47781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221" name="Google Shape;221;p12"/>
          <p:cNvSpPr txBox="1"/>
          <p:nvPr/>
        </p:nvSpPr>
        <p:spPr>
          <a:xfrm>
            <a:off x="7602488" y="972862"/>
            <a:ext cx="3467099" cy="691062"/>
          </a:xfrm>
          <a:prstGeom prst="rect">
            <a:avLst/>
          </a:prstGeom>
          <a:noFill/>
          <a:ln cap="rnd" cmpd="sng" w="50800">
            <a:solidFill>
              <a:srgbClr val="FFFFF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900"/>
              <a:buFont typeface="Cabin"/>
              <a:buNone/>
            </a:pPr>
            <a:r>
              <a:rPr b="0" i="0" lang="en-US" sz="3600" u="none" cap="none" strike="noStrike">
                <a:solidFill>
                  <a:srgbClr val="FFFFFF"/>
                </a:solidFill>
                <a:latin typeface="Arial"/>
                <a:ea typeface="Arial"/>
                <a:cs typeface="Arial"/>
                <a:sym typeface="Arial"/>
              </a:rPr>
              <a:t>x = 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3"/>
          <p:cNvSpPr txBox="1"/>
          <p:nvPr>
            <p:ph type="title"/>
          </p:nvPr>
        </p:nvSpPr>
        <p:spPr>
          <a:xfrm>
            <a:off x="1155700" y="745588"/>
            <a:ext cx="5759363"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Multi-way</a:t>
            </a:r>
            <a:endParaRPr/>
          </a:p>
        </p:txBody>
      </p:sp>
      <p:sp>
        <p:nvSpPr>
          <p:cNvPr id="227" name="Google Shape;227;p13"/>
          <p:cNvSpPr txBox="1"/>
          <p:nvPr/>
        </p:nvSpPr>
        <p:spPr>
          <a:xfrm>
            <a:off x="1023921" y="2933700"/>
            <a:ext cx="5102699" cy="445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chemeClr val="lt1"/>
                </a:solidFill>
                <a:latin typeface="Courier"/>
                <a:ea typeface="Courier"/>
                <a:cs typeface="Courier"/>
                <a:sym typeface="Courier"/>
              </a:rPr>
              <a:t>x = 5 </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C000"/>
                </a:solidFill>
                <a:latin typeface="Courier"/>
                <a:ea typeface="Courier"/>
                <a:cs typeface="Courier"/>
                <a:sym typeface="Courier"/>
              </a:rPr>
              <a:t>if x &lt;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'small'</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C000"/>
                </a:solidFill>
                <a:latin typeface="Courier"/>
                <a:ea typeface="Courier"/>
                <a:cs typeface="Courier"/>
                <a:sym typeface="Courier"/>
              </a:rPr>
              <a:t>elif x &lt;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C000"/>
                </a:solidFill>
                <a:latin typeface="Courier"/>
                <a:ea typeface="Courier"/>
                <a:cs typeface="Courier"/>
                <a:sym typeface="Courier"/>
              </a:rPr>
              <a:t>    print('Medium')</a:t>
            </a:r>
            <a:endParaRPr b="0" i="0" sz="3000" u="none" cap="none" strike="noStrike">
              <a:solidFill>
                <a:srgbClr val="FFC0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00FF00"/>
                </a:solidFill>
                <a:latin typeface="Courier"/>
                <a:ea typeface="Courier"/>
                <a:cs typeface="Courier"/>
                <a:sym typeface="Courier"/>
              </a:rPr>
              <a:t>else</a:t>
            </a:r>
            <a:r>
              <a:rPr b="0" i="0" lang="en-US" sz="30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'LARGE'</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C000"/>
                </a:solidFill>
                <a:latin typeface="Courier"/>
                <a:ea typeface="Courier"/>
                <a:cs typeface="Courier"/>
                <a:sym typeface="Courier"/>
              </a:rPr>
              <a:t>print('All done')</a:t>
            </a:r>
            <a:endParaRPr b="0" i="0" sz="3000" u="none" cap="none" strike="noStrike">
              <a:solidFill>
                <a:srgbClr val="FFC000"/>
              </a:solidFill>
              <a:latin typeface="Courier"/>
              <a:ea typeface="Courier"/>
              <a:cs typeface="Courier"/>
              <a:sym typeface="Courier"/>
            </a:endParaRPr>
          </a:p>
        </p:txBody>
      </p:sp>
      <p:sp>
        <p:nvSpPr>
          <p:cNvPr id="228" name="Google Shape;228;p13"/>
          <p:cNvSpPr/>
          <p:nvPr/>
        </p:nvSpPr>
        <p:spPr>
          <a:xfrm>
            <a:off x="7788036" y="2276842"/>
            <a:ext cx="3139423" cy="1300743"/>
          </a:xfrm>
          <a:prstGeom prst="diamond">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25"/>
              <a:buFont typeface="Cabin"/>
              <a:buNone/>
            </a:pPr>
            <a:r>
              <a:rPr b="0" i="0" lang="en-US" sz="3700" u="none" cap="none" strike="noStrike">
                <a:solidFill>
                  <a:schemeClr val="lt1"/>
                </a:solidFill>
                <a:latin typeface="Arial"/>
                <a:ea typeface="Arial"/>
                <a:cs typeface="Arial"/>
                <a:sym typeface="Arial"/>
              </a:rPr>
              <a:t>x &lt; 2</a:t>
            </a:r>
            <a:endParaRPr b="0" i="0" sz="1400" u="none" cap="none" strike="noStrike">
              <a:solidFill>
                <a:srgbClr val="000000"/>
              </a:solidFill>
              <a:latin typeface="Arial"/>
              <a:ea typeface="Arial"/>
              <a:cs typeface="Arial"/>
              <a:sym typeface="Arial"/>
            </a:endParaRPr>
          </a:p>
        </p:txBody>
      </p:sp>
      <p:sp>
        <p:nvSpPr>
          <p:cNvPr id="229" name="Google Shape;229;p13"/>
          <p:cNvSpPr txBox="1"/>
          <p:nvPr/>
        </p:nvSpPr>
        <p:spPr>
          <a:xfrm>
            <a:off x="11544237" y="2366542"/>
            <a:ext cx="3061023" cy="11211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print('small')</a:t>
            </a:r>
            <a:endParaRPr b="0" i="0" sz="3200" u="none" cap="none" strike="noStrike">
              <a:solidFill>
                <a:schemeClr val="lt1"/>
              </a:solidFill>
              <a:latin typeface="Arial"/>
              <a:ea typeface="Arial"/>
              <a:cs typeface="Arial"/>
              <a:sym typeface="Arial"/>
            </a:endParaRPr>
          </a:p>
        </p:txBody>
      </p:sp>
      <p:cxnSp>
        <p:nvCxnSpPr>
          <p:cNvPr id="230" name="Google Shape;230;p13"/>
          <p:cNvCxnSpPr/>
          <p:nvPr/>
        </p:nvCxnSpPr>
        <p:spPr>
          <a:xfrm rot="10800000">
            <a:off x="10977992" y="2929972"/>
            <a:ext cx="528401" cy="0"/>
          </a:xfrm>
          <a:prstGeom prst="straightConnector1">
            <a:avLst/>
          </a:prstGeom>
          <a:noFill/>
          <a:ln cap="rnd" cmpd="sng" w="63500">
            <a:solidFill>
              <a:srgbClr val="00FF00"/>
            </a:solidFill>
            <a:prstDash val="solid"/>
            <a:miter lim="8000"/>
            <a:headEnd len="med" w="med" type="stealth"/>
            <a:tailEnd len="sm" w="sm" type="none"/>
          </a:ln>
        </p:spPr>
      </p:cxnSp>
      <p:cxnSp>
        <p:nvCxnSpPr>
          <p:cNvPr id="231" name="Google Shape;231;p13"/>
          <p:cNvCxnSpPr/>
          <p:nvPr/>
        </p:nvCxnSpPr>
        <p:spPr>
          <a:xfrm flipH="1" rot="10800000">
            <a:off x="9419460" y="6883783"/>
            <a:ext cx="5728196" cy="91113"/>
          </a:xfrm>
          <a:prstGeom prst="straightConnector1">
            <a:avLst/>
          </a:prstGeom>
          <a:noFill/>
          <a:ln cap="rnd" cmpd="sng" w="63500">
            <a:solidFill>
              <a:srgbClr val="FFC000"/>
            </a:solidFill>
            <a:prstDash val="solid"/>
            <a:miter lim="8000"/>
            <a:headEnd len="med" w="med" type="stealth"/>
            <a:tailEnd len="sm" w="sm" type="none"/>
          </a:ln>
        </p:spPr>
      </p:cxnSp>
      <p:sp>
        <p:nvSpPr>
          <p:cNvPr id="232" name="Google Shape;232;p13"/>
          <p:cNvSpPr txBox="1"/>
          <p:nvPr/>
        </p:nvSpPr>
        <p:spPr>
          <a:xfrm>
            <a:off x="10380936" y="2192748"/>
            <a:ext cx="695265"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233" name="Google Shape;233;p13"/>
          <p:cNvSpPr txBox="1"/>
          <p:nvPr/>
        </p:nvSpPr>
        <p:spPr>
          <a:xfrm>
            <a:off x="8649998" y="3493403"/>
            <a:ext cx="47781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cxnSp>
        <p:nvCxnSpPr>
          <p:cNvPr id="234" name="Google Shape;234;p13"/>
          <p:cNvCxnSpPr/>
          <p:nvPr/>
        </p:nvCxnSpPr>
        <p:spPr>
          <a:xfrm rot="10800000">
            <a:off x="15130849" y="2945410"/>
            <a:ext cx="33637" cy="3955201"/>
          </a:xfrm>
          <a:prstGeom prst="straightConnector1">
            <a:avLst/>
          </a:prstGeom>
          <a:noFill/>
          <a:ln cap="rnd" cmpd="sng" w="63500">
            <a:solidFill>
              <a:srgbClr val="FFC000"/>
            </a:solidFill>
            <a:prstDash val="solid"/>
            <a:miter lim="8000"/>
            <a:headEnd len="sm" w="sm" type="none"/>
            <a:tailEnd len="sm" w="sm" type="none"/>
          </a:ln>
        </p:spPr>
      </p:cxnSp>
      <p:cxnSp>
        <p:nvCxnSpPr>
          <p:cNvPr id="235" name="Google Shape;235;p13"/>
          <p:cNvCxnSpPr/>
          <p:nvPr/>
        </p:nvCxnSpPr>
        <p:spPr>
          <a:xfrm rot="10800000">
            <a:off x="9370372" y="1706480"/>
            <a:ext cx="4237" cy="606802"/>
          </a:xfrm>
          <a:prstGeom prst="straightConnector1">
            <a:avLst/>
          </a:prstGeom>
          <a:noFill/>
          <a:ln cap="rnd" cmpd="sng" w="63500">
            <a:solidFill>
              <a:srgbClr val="FFC000"/>
            </a:solidFill>
            <a:prstDash val="solid"/>
            <a:miter lim="8000"/>
            <a:headEnd len="med" w="med" type="stealth"/>
            <a:tailEnd len="sm" w="sm" type="none"/>
          </a:ln>
        </p:spPr>
      </p:cxnSp>
      <p:cxnSp>
        <p:nvCxnSpPr>
          <p:cNvPr id="236" name="Google Shape;236;p13"/>
          <p:cNvCxnSpPr/>
          <p:nvPr/>
        </p:nvCxnSpPr>
        <p:spPr>
          <a:xfrm flipH="1" rot="10800000">
            <a:off x="9374610" y="6733849"/>
            <a:ext cx="16686" cy="658714"/>
          </a:xfrm>
          <a:prstGeom prst="straightConnector1">
            <a:avLst/>
          </a:prstGeom>
          <a:noFill/>
          <a:ln cap="rnd" cmpd="sng" w="63500">
            <a:solidFill>
              <a:srgbClr val="00FF00"/>
            </a:solidFill>
            <a:prstDash val="solid"/>
            <a:miter lim="8000"/>
            <a:headEnd len="med" w="med" type="stealth"/>
            <a:tailEnd len="sm" w="sm" type="none"/>
          </a:ln>
        </p:spPr>
      </p:cxnSp>
      <p:sp>
        <p:nvSpPr>
          <p:cNvPr id="237" name="Google Shape;237;p13"/>
          <p:cNvSpPr txBox="1"/>
          <p:nvPr/>
        </p:nvSpPr>
        <p:spPr>
          <a:xfrm>
            <a:off x="7799248" y="7367336"/>
            <a:ext cx="3061023" cy="852065"/>
          </a:xfrm>
          <a:prstGeom prst="rect">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25"/>
              <a:buFont typeface="Cabin"/>
              <a:buNone/>
            </a:pPr>
            <a:r>
              <a:rPr b="0" i="0" lang="en-US" sz="3300" u="none" cap="none" strike="noStrike">
                <a:solidFill>
                  <a:schemeClr val="lt1"/>
                </a:solidFill>
                <a:latin typeface="Arial"/>
                <a:ea typeface="Arial"/>
                <a:cs typeface="Arial"/>
                <a:sym typeface="Arial"/>
              </a:rPr>
              <a:t>print('All Done')</a:t>
            </a:r>
            <a:endParaRPr b="0" i="0" sz="3300" u="none" cap="none" strike="noStrike">
              <a:solidFill>
                <a:schemeClr val="lt1"/>
              </a:solidFill>
              <a:latin typeface="Arial"/>
              <a:ea typeface="Arial"/>
              <a:cs typeface="Arial"/>
              <a:sym typeface="Arial"/>
            </a:endParaRPr>
          </a:p>
        </p:txBody>
      </p:sp>
      <p:sp>
        <p:nvSpPr>
          <p:cNvPr id="238" name="Google Shape;238;p13"/>
          <p:cNvSpPr/>
          <p:nvPr/>
        </p:nvSpPr>
        <p:spPr>
          <a:xfrm>
            <a:off x="7776823" y="3992361"/>
            <a:ext cx="3139423" cy="1300743"/>
          </a:xfrm>
          <a:prstGeom prst="diamond">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25"/>
              <a:buFont typeface="Cabin"/>
              <a:buNone/>
            </a:pPr>
            <a:r>
              <a:rPr b="0" i="0" lang="en-US" sz="3700" u="none" cap="none" strike="noStrike">
                <a:solidFill>
                  <a:schemeClr val="lt1"/>
                </a:solidFill>
                <a:latin typeface="Arial"/>
                <a:ea typeface="Arial"/>
                <a:cs typeface="Arial"/>
                <a:sym typeface="Arial"/>
              </a:rPr>
              <a:t>x &lt; 10</a:t>
            </a:r>
            <a:endParaRPr b="0" i="0" sz="1400" u="none" cap="none" strike="noStrike">
              <a:solidFill>
                <a:srgbClr val="000000"/>
              </a:solidFill>
              <a:latin typeface="Arial"/>
              <a:ea typeface="Arial"/>
              <a:cs typeface="Arial"/>
              <a:sym typeface="Arial"/>
            </a:endParaRPr>
          </a:p>
        </p:txBody>
      </p:sp>
      <p:sp>
        <p:nvSpPr>
          <p:cNvPr id="239" name="Google Shape;239;p13"/>
          <p:cNvSpPr txBox="1"/>
          <p:nvPr/>
        </p:nvSpPr>
        <p:spPr>
          <a:xfrm>
            <a:off x="11533025" y="4082061"/>
            <a:ext cx="3061023" cy="1121165"/>
          </a:xfrm>
          <a:prstGeom prst="rect">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print('Medium')</a:t>
            </a:r>
            <a:endParaRPr b="0" i="0" sz="3200" u="none" cap="none" strike="noStrike">
              <a:solidFill>
                <a:schemeClr val="lt1"/>
              </a:solidFill>
              <a:latin typeface="Arial"/>
              <a:ea typeface="Arial"/>
              <a:cs typeface="Arial"/>
              <a:sym typeface="Arial"/>
            </a:endParaRPr>
          </a:p>
        </p:txBody>
      </p:sp>
      <p:cxnSp>
        <p:nvCxnSpPr>
          <p:cNvPr id="240" name="Google Shape;240;p13"/>
          <p:cNvCxnSpPr/>
          <p:nvPr/>
        </p:nvCxnSpPr>
        <p:spPr>
          <a:xfrm rot="10800000">
            <a:off x="10966779" y="4645491"/>
            <a:ext cx="528401" cy="0"/>
          </a:xfrm>
          <a:prstGeom prst="straightConnector1">
            <a:avLst/>
          </a:prstGeom>
          <a:noFill/>
          <a:ln cap="rnd" cmpd="sng" w="63500">
            <a:solidFill>
              <a:srgbClr val="FFC000"/>
            </a:solidFill>
            <a:prstDash val="solid"/>
            <a:miter lim="8000"/>
            <a:headEnd len="med" w="med" type="stealth"/>
            <a:tailEnd len="sm" w="sm" type="none"/>
          </a:ln>
        </p:spPr>
      </p:cxnSp>
      <p:sp>
        <p:nvSpPr>
          <p:cNvPr id="241" name="Google Shape;241;p13"/>
          <p:cNvSpPr txBox="1"/>
          <p:nvPr/>
        </p:nvSpPr>
        <p:spPr>
          <a:xfrm>
            <a:off x="10515486" y="3964329"/>
            <a:ext cx="77306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cxnSp>
        <p:nvCxnSpPr>
          <p:cNvPr id="242" name="Google Shape;242;p13"/>
          <p:cNvCxnSpPr/>
          <p:nvPr/>
        </p:nvCxnSpPr>
        <p:spPr>
          <a:xfrm rot="10800000">
            <a:off x="14644494" y="2929972"/>
            <a:ext cx="528401" cy="0"/>
          </a:xfrm>
          <a:prstGeom prst="straightConnector1">
            <a:avLst/>
          </a:prstGeom>
          <a:noFill/>
          <a:ln cap="rnd" cmpd="sng" w="63500">
            <a:solidFill>
              <a:srgbClr val="00FF00"/>
            </a:solidFill>
            <a:prstDash val="solid"/>
            <a:miter lim="8000"/>
            <a:headEnd len="med" w="med" type="stealth"/>
            <a:tailEnd len="sm" w="sm" type="none"/>
          </a:ln>
        </p:spPr>
      </p:cxnSp>
      <p:cxnSp>
        <p:nvCxnSpPr>
          <p:cNvPr id="243" name="Google Shape;243;p13"/>
          <p:cNvCxnSpPr/>
          <p:nvPr/>
        </p:nvCxnSpPr>
        <p:spPr>
          <a:xfrm rot="10800000">
            <a:off x="14610855" y="4634279"/>
            <a:ext cx="528401" cy="0"/>
          </a:xfrm>
          <a:prstGeom prst="straightConnector1">
            <a:avLst/>
          </a:prstGeom>
          <a:noFill/>
          <a:ln cap="rnd" cmpd="sng" w="63500">
            <a:solidFill>
              <a:srgbClr val="FFC000"/>
            </a:solidFill>
            <a:prstDash val="solid"/>
            <a:miter lim="8000"/>
            <a:headEnd len="med" w="med" type="stealth"/>
            <a:tailEnd len="sm" w="sm" type="none"/>
          </a:ln>
        </p:spPr>
      </p:cxnSp>
      <p:cxnSp>
        <p:nvCxnSpPr>
          <p:cNvPr id="244" name="Google Shape;244;p13"/>
          <p:cNvCxnSpPr/>
          <p:nvPr/>
        </p:nvCxnSpPr>
        <p:spPr>
          <a:xfrm rot="10800000">
            <a:off x="9329836" y="3568965"/>
            <a:ext cx="1324" cy="497678"/>
          </a:xfrm>
          <a:prstGeom prst="straightConnector1">
            <a:avLst/>
          </a:prstGeom>
          <a:noFill/>
          <a:ln cap="rnd" cmpd="sng" w="63500">
            <a:solidFill>
              <a:srgbClr val="FFC000"/>
            </a:solidFill>
            <a:prstDash val="solid"/>
            <a:miter lim="8000"/>
            <a:headEnd len="med" w="med" type="stealth"/>
            <a:tailEnd len="sm" w="sm" type="none"/>
          </a:ln>
        </p:spPr>
      </p:cxnSp>
      <p:sp>
        <p:nvSpPr>
          <p:cNvPr id="245" name="Google Shape;245;p13"/>
          <p:cNvSpPr txBox="1"/>
          <p:nvPr/>
        </p:nvSpPr>
        <p:spPr>
          <a:xfrm>
            <a:off x="7810461" y="5606967"/>
            <a:ext cx="3061023" cy="11211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print('LARGE')</a:t>
            </a:r>
            <a:endParaRPr b="0" i="0" sz="3200" u="none" cap="none" strike="noStrike">
              <a:solidFill>
                <a:schemeClr val="lt1"/>
              </a:solidFill>
              <a:latin typeface="Arial"/>
              <a:ea typeface="Arial"/>
              <a:cs typeface="Arial"/>
              <a:sym typeface="Arial"/>
            </a:endParaRPr>
          </a:p>
        </p:txBody>
      </p:sp>
      <p:cxnSp>
        <p:nvCxnSpPr>
          <p:cNvPr id="246" name="Google Shape;246;p13"/>
          <p:cNvCxnSpPr/>
          <p:nvPr/>
        </p:nvCxnSpPr>
        <p:spPr>
          <a:xfrm flipH="1" rot="10800000">
            <a:off x="9376011" y="5286074"/>
            <a:ext cx="4237" cy="361538"/>
          </a:xfrm>
          <a:prstGeom prst="straightConnector1">
            <a:avLst/>
          </a:prstGeom>
          <a:noFill/>
          <a:ln cap="rnd" cmpd="sng" w="63500">
            <a:solidFill>
              <a:srgbClr val="00FF00"/>
            </a:solidFill>
            <a:prstDash val="solid"/>
            <a:miter lim="8000"/>
            <a:headEnd len="med" w="med" type="stealth"/>
            <a:tailEnd len="sm" w="sm" type="none"/>
          </a:ln>
        </p:spPr>
      </p:cxnSp>
      <p:sp>
        <p:nvSpPr>
          <p:cNvPr id="247" name="Google Shape;247;p13"/>
          <p:cNvSpPr txBox="1"/>
          <p:nvPr/>
        </p:nvSpPr>
        <p:spPr>
          <a:xfrm>
            <a:off x="8470598" y="5063159"/>
            <a:ext cx="47781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248" name="Google Shape;248;p13"/>
          <p:cNvSpPr txBox="1"/>
          <p:nvPr/>
        </p:nvSpPr>
        <p:spPr>
          <a:xfrm>
            <a:off x="7596209" y="966287"/>
            <a:ext cx="3467099" cy="691062"/>
          </a:xfrm>
          <a:prstGeom prst="rect">
            <a:avLst/>
          </a:prstGeom>
          <a:noFill/>
          <a:ln cap="rnd" cmpd="sng" w="50800">
            <a:solidFill>
              <a:srgbClr val="FFFFF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900"/>
              <a:buFont typeface="Cabin"/>
              <a:buNone/>
            </a:pPr>
            <a:r>
              <a:rPr b="0" i="0" lang="en-US" sz="3600" u="none" cap="none" strike="noStrike">
                <a:solidFill>
                  <a:srgbClr val="FFFFFF"/>
                </a:solidFill>
                <a:latin typeface="Arial"/>
                <a:ea typeface="Arial"/>
                <a:cs typeface="Arial"/>
                <a:sym typeface="Arial"/>
              </a:rPr>
              <a:t>x = 5</a:t>
            </a:r>
            <a:endParaRPr b="0" i="0" sz="3600" u="none" cap="none" strike="noStrike">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4"/>
          <p:cNvSpPr txBox="1"/>
          <p:nvPr>
            <p:ph type="title"/>
          </p:nvPr>
        </p:nvSpPr>
        <p:spPr>
          <a:xfrm>
            <a:off x="1155700" y="745588"/>
            <a:ext cx="5759363"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Multi-way</a:t>
            </a:r>
            <a:endParaRPr/>
          </a:p>
        </p:txBody>
      </p:sp>
      <p:sp>
        <p:nvSpPr>
          <p:cNvPr id="254" name="Google Shape;254;p14"/>
          <p:cNvSpPr txBox="1"/>
          <p:nvPr/>
        </p:nvSpPr>
        <p:spPr>
          <a:xfrm>
            <a:off x="1033161" y="2935664"/>
            <a:ext cx="5102699" cy="445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chemeClr val="lt1"/>
                </a:solidFill>
                <a:latin typeface="Courier"/>
                <a:ea typeface="Courier"/>
                <a:cs typeface="Courier"/>
                <a:sym typeface="Courier"/>
              </a:rPr>
              <a:t>x = 20</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C000"/>
                </a:solidFill>
                <a:latin typeface="Courier"/>
                <a:ea typeface="Courier"/>
                <a:cs typeface="Courier"/>
                <a:sym typeface="Courier"/>
              </a:rPr>
              <a:t>if x &lt;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'small'</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C000"/>
                </a:solidFill>
                <a:latin typeface="Courier"/>
                <a:ea typeface="Courier"/>
                <a:cs typeface="Courier"/>
                <a:sym typeface="Courier"/>
              </a:rPr>
              <a:t>elif x &lt;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'Medium'</a:t>
            </a:r>
            <a:r>
              <a:rPr b="0" i="0" lang="en-US" sz="3000" u="none" cap="none" strike="noStrike">
                <a:solidFill>
                  <a:srgbClr val="00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C000"/>
                </a:solidFill>
                <a:latin typeface="Courier"/>
                <a:ea typeface="Courier"/>
                <a:cs typeface="Courier"/>
                <a:sym typeface="Courier"/>
              </a:rPr>
              <a:t>else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C000"/>
                </a:solidFill>
                <a:latin typeface="Courier"/>
                <a:ea typeface="Courier"/>
                <a:cs typeface="Courier"/>
                <a:sym typeface="Courier"/>
              </a:rPr>
              <a:t>    print('LARGE')</a:t>
            </a:r>
            <a:endParaRPr b="0" i="0" sz="3000" u="none" cap="none" strike="noStrike">
              <a:solidFill>
                <a:srgbClr val="FFC0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C000"/>
                </a:solidFill>
                <a:latin typeface="Courier"/>
                <a:ea typeface="Courier"/>
                <a:cs typeface="Courier"/>
                <a:sym typeface="Courier"/>
              </a:rPr>
              <a:t>print('All done'</a:t>
            </a:r>
            <a:r>
              <a:rPr b="1" i="0" lang="en-US" sz="3000" u="none" cap="none" strike="noStrike">
                <a:solidFill>
                  <a:srgbClr val="FFC000"/>
                </a:solidFill>
                <a:latin typeface="Courier"/>
                <a:ea typeface="Courier"/>
                <a:cs typeface="Courier"/>
                <a:sym typeface="Courier"/>
              </a:rPr>
              <a:t>)</a:t>
            </a:r>
            <a:endParaRPr b="1" i="0" sz="3000" u="none" cap="none" strike="noStrike">
              <a:solidFill>
                <a:srgbClr val="FFC000"/>
              </a:solidFill>
              <a:latin typeface="Courier"/>
              <a:ea typeface="Courier"/>
              <a:cs typeface="Courier"/>
              <a:sym typeface="Courier"/>
            </a:endParaRPr>
          </a:p>
        </p:txBody>
      </p:sp>
      <p:sp>
        <p:nvSpPr>
          <p:cNvPr id="255" name="Google Shape;255;p14"/>
          <p:cNvSpPr/>
          <p:nvPr/>
        </p:nvSpPr>
        <p:spPr>
          <a:xfrm>
            <a:off x="7776941" y="2267096"/>
            <a:ext cx="3139423" cy="1300743"/>
          </a:xfrm>
          <a:prstGeom prst="diamond">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25"/>
              <a:buFont typeface="Cabin"/>
              <a:buNone/>
            </a:pPr>
            <a:r>
              <a:rPr b="0" i="0" lang="en-US" sz="3700" u="none" cap="none" strike="noStrike">
                <a:solidFill>
                  <a:schemeClr val="lt1"/>
                </a:solidFill>
                <a:latin typeface="Arial"/>
                <a:ea typeface="Arial"/>
                <a:cs typeface="Arial"/>
                <a:sym typeface="Arial"/>
              </a:rPr>
              <a:t>x &lt; 2</a:t>
            </a:r>
            <a:endParaRPr b="0" i="0" sz="1400" u="none" cap="none" strike="noStrike">
              <a:solidFill>
                <a:srgbClr val="000000"/>
              </a:solidFill>
              <a:latin typeface="Arial"/>
              <a:ea typeface="Arial"/>
              <a:cs typeface="Arial"/>
              <a:sym typeface="Arial"/>
            </a:endParaRPr>
          </a:p>
        </p:txBody>
      </p:sp>
      <p:sp>
        <p:nvSpPr>
          <p:cNvPr id="256" name="Google Shape;256;p14"/>
          <p:cNvSpPr txBox="1"/>
          <p:nvPr/>
        </p:nvSpPr>
        <p:spPr>
          <a:xfrm>
            <a:off x="11533142" y="2356796"/>
            <a:ext cx="3061023" cy="11211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print('small')</a:t>
            </a:r>
            <a:endParaRPr b="0" i="0" sz="3200" u="none" cap="none" strike="noStrike">
              <a:solidFill>
                <a:schemeClr val="lt1"/>
              </a:solidFill>
              <a:latin typeface="Arial"/>
              <a:ea typeface="Arial"/>
              <a:cs typeface="Arial"/>
              <a:sym typeface="Arial"/>
            </a:endParaRPr>
          </a:p>
        </p:txBody>
      </p:sp>
      <p:cxnSp>
        <p:nvCxnSpPr>
          <p:cNvPr id="257" name="Google Shape;257;p14"/>
          <p:cNvCxnSpPr/>
          <p:nvPr/>
        </p:nvCxnSpPr>
        <p:spPr>
          <a:xfrm rot="10800000">
            <a:off x="10966897" y="2920226"/>
            <a:ext cx="528401" cy="0"/>
          </a:xfrm>
          <a:prstGeom prst="straightConnector1">
            <a:avLst/>
          </a:prstGeom>
          <a:noFill/>
          <a:ln cap="rnd" cmpd="sng" w="63500">
            <a:solidFill>
              <a:srgbClr val="00FF00"/>
            </a:solidFill>
            <a:prstDash val="solid"/>
            <a:miter lim="8000"/>
            <a:headEnd len="med" w="med" type="stealth"/>
            <a:tailEnd len="sm" w="sm" type="none"/>
          </a:ln>
        </p:spPr>
      </p:cxnSp>
      <p:cxnSp>
        <p:nvCxnSpPr>
          <p:cNvPr id="258" name="Google Shape;258;p14"/>
          <p:cNvCxnSpPr/>
          <p:nvPr/>
        </p:nvCxnSpPr>
        <p:spPr>
          <a:xfrm flipH="1" rot="10800000">
            <a:off x="9408365" y="6874037"/>
            <a:ext cx="5728196" cy="91113"/>
          </a:xfrm>
          <a:prstGeom prst="straightConnector1">
            <a:avLst/>
          </a:prstGeom>
          <a:noFill/>
          <a:ln cap="rnd" cmpd="sng" w="63500">
            <a:solidFill>
              <a:srgbClr val="00FF00"/>
            </a:solidFill>
            <a:prstDash val="solid"/>
            <a:miter lim="8000"/>
            <a:headEnd len="med" w="med" type="stealth"/>
            <a:tailEnd len="sm" w="sm" type="none"/>
          </a:ln>
        </p:spPr>
      </p:cxnSp>
      <p:sp>
        <p:nvSpPr>
          <p:cNvPr id="259" name="Google Shape;259;p14"/>
          <p:cNvSpPr txBox="1"/>
          <p:nvPr/>
        </p:nvSpPr>
        <p:spPr>
          <a:xfrm>
            <a:off x="10369841" y="2183002"/>
            <a:ext cx="695265"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260" name="Google Shape;260;p14"/>
          <p:cNvSpPr txBox="1"/>
          <p:nvPr/>
        </p:nvSpPr>
        <p:spPr>
          <a:xfrm>
            <a:off x="8638903" y="3483657"/>
            <a:ext cx="47781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cxnSp>
        <p:nvCxnSpPr>
          <p:cNvPr id="261" name="Google Shape;261;p14"/>
          <p:cNvCxnSpPr/>
          <p:nvPr/>
        </p:nvCxnSpPr>
        <p:spPr>
          <a:xfrm rot="10800000">
            <a:off x="15119754" y="2935664"/>
            <a:ext cx="33637" cy="3955201"/>
          </a:xfrm>
          <a:prstGeom prst="straightConnector1">
            <a:avLst/>
          </a:prstGeom>
          <a:noFill/>
          <a:ln cap="rnd" cmpd="sng" w="63500">
            <a:solidFill>
              <a:srgbClr val="00FF00"/>
            </a:solidFill>
            <a:prstDash val="solid"/>
            <a:miter lim="8000"/>
            <a:headEnd len="sm" w="sm" type="none"/>
            <a:tailEnd len="sm" w="sm" type="none"/>
          </a:ln>
        </p:spPr>
      </p:cxnSp>
      <p:cxnSp>
        <p:nvCxnSpPr>
          <p:cNvPr id="262" name="Google Shape;262;p14"/>
          <p:cNvCxnSpPr/>
          <p:nvPr/>
        </p:nvCxnSpPr>
        <p:spPr>
          <a:xfrm rot="10800000">
            <a:off x="9359277" y="1696734"/>
            <a:ext cx="4237" cy="606802"/>
          </a:xfrm>
          <a:prstGeom prst="straightConnector1">
            <a:avLst/>
          </a:prstGeom>
          <a:noFill/>
          <a:ln cap="rnd" cmpd="sng" w="63500">
            <a:solidFill>
              <a:srgbClr val="FFC000"/>
            </a:solidFill>
            <a:prstDash val="solid"/>
            <a:miter lim="8000"/>
            <a:headEnd len="med" w="med" type="stealth"/>
            <a:tailEnd len="sm" w="sm" type="none"/>
          </a:ln>
        </p:spPr>
      </p:cxnSp>
      <p:cxnSp>
        <p:nvCxnSpPr>
          <p:cNvPr id="263" name="Google Shape;263;p14"/>
          <p:cNvCxnSpPr/>
          <p:nvPr/>
        </p:nvCxnSpPr>
        <p:spPr>
          <a:xfrm flipH="1" rot="10800000">
            <a:off x="9363515" y="6724103"/>
            <a:ext cx="16686" cy="658714"/>
          </a:xfrm>
          <a:prstGeom prst="straightConnector1">
            <a:avLst/>
          </a:prstGeom>
          <a:noFill/>
          <a:ln cap="rnd" cmpd="sng" w="63500">
            <a:solidFill>
              <a:srgbClr val="FFC000"/>
            </a:solidFill>
            <a:prstDash val="solid"/>
            <a:miter lim="8000"/>
            <a:headEnd len="med" w="med" type="stealth"/>
            <a:tailEnd len="sm" w="sm" type="none"/>
          </a:ln>
        </p:spPr>
      </p:cxnSp>
      <p:sp>
        <p:nvSpPr>
          <p:cNvPr id="264" name="Google Shape;264;p14"/>
          <p:cNvSpPr txBox="1"/>
          <p:nvPr/>
        </p:nvSpPr>
        <p:spPr>
          <a:xfrm>
            <a:off x="7788153" y="7357590"/>
            <a:ext cx="3061023" cy="852065"/>
          </a:xfrm>
          <a:prstGeom prst="rect">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25"/>
              <a:buFont typeface="Cabin"/>
              <a:buNone/>
            </a:pPr>
            <a:r>
              <a:rPr b="0" i="0" lang="en-US" sz="3300" u="none" cap="none" strike="noStrike">
                <a:solidFill>
                  <a:schemeClr val="lt1"/>
                </a:solidFill>
                <a:latin typeface="Arial"/>
                <a:ea typeface="Arial"/>
                <a:cs typeface="Arial"/>
                <a:sym typeface="Arial"/>
              </a:rPr>
              <a:t>print('All Done')</a:t>
            </a:r>
            <a:endParaRPr b="0" i="0" sz="3300" u="none" cap="none" strike="noStrike">
              <a:solidFill>
                <a:schemeClr val="lt1"/>
              </a:solidFill>
              <a:latin typeface="Arial"/>
              <a:ea typeface="Arial"/>
              <a:cs typeface="Arial"/>
              <a:sym typeface="Arial"/>
            </a:endParaRPr>
          </a:p>
        </p:txBody>
      </p:sp>
      <p:sp>
        <p:nvSpPr>
          <p:cNvPr id="265" name="Google Shape;265;p14"/>
          <p:cNvSpPr/>
          <p:nvPr/>
        </p:nvSpPr>
        <p:spPr>
          <a:xfrm>
            <a:off x="7765728" y="3982615"/>
            <a:ext cx="3139423" cy="1300743"/>
          </a:xfrm>
          <a:prstGeom prst="diamond">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25"/>
              <a:buFont typeface="Cabin"/>
              <a:buNone/>
            </a:pPr>
            <a:r>
              <a:rPr b="0" i="0" lang="en-US" sz="3700" u="none" cap="none" strike="noStrike">
                <a:solidFill>
                  <a:schemeClr val="lt1"/>
                </a:solidFill>
                <a:latin typeface="Arial"/>
                <a:ea typeface="Arial"/>
                <a:cs typeface="Arial"/>
                <a:sym typeface="Arial"/>
              </a:rPr>
              <a:t>x &lt; 10</a:t>
            </a:r>
            <a:endParaRPr b="0" i="0" sz="1400" u="none" cap="none" strike="noStrike">
              <a:solidFill>
                <a:srgbClr val="000000"/>
              </a:solidFill>
              <a:latin typeface="Arial"/>
              <a:ea typeface="Arial"/>
              <a:cs typeface="Arial"/>
              <a:sym typeface="Arial"/>
            </a:endParaRPr>
          </a:p>
        </p:txBody>
      </p:sp>
      <p:sp>
        <p:nvSpPr>
          <p:cNvPr id="266" name="Google Shape;266;p14"/>
          <p:cNvSpPr txBox="1"/>
          <p:nvPr/>
        </p:nvSpPr>
        <p:spPr>
          <a:xfrm>
            <a:off x="11521930" y="4072315"/>
            <a:ext cx="3061023" cy="1121165"/>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print('Medium')</a:t>
            </a:r>
            <a:endParaRPr b="0" i="0" sz="3200" u="none" cap="none" strike="noStrike">
              <a:solidFill>
                <a:schemeClr val="lt1"/>
              </a:solidFill>
              <a:latin typeface="Arial"/>
              <a:ea typeface="Arial"/>
              <a:cs typeface="Arial"/>
              <a:sym typeface="Arial"/>
            </a:endParaRPr>
          </a:p>
        </p:txBody>
      </p:sp>
      <p:cxnSp>
        <p:nvCxnSpPr>
          <p:cNvPr id="267" name="Google Shape;267;p14"/>
          <p:cNvCxnSpPr/>
          <p:nvPr/>
        </p:nvCxnSpPr>
        <p:spPr>
          <a:xfrm rot="10800000">
            <a:off x="10955684" y="4635745"/>
            <a:ext cx="528401" cy="0"/>
          </a:xfrm>
          <a:prstGeom prst="straightConnector1">
            <a:avLst/>
          </a:prstGeom>
          <a:noFill/>
          <a:ln cap="rnd" cmpd="sng" w="63500">
            <a:solidFill>
              <a:srgbClr val="00FF00"/>
            </a:solidFill>
            <a:prstDash val="solid"/>
            <a:miter lim="8000"/>
            <a:headEnd len="med" w="med" type="stealth"/>
            <a:tailEnd len="sm" w="sm" type="none"/>
          </a:ln>
        </p:spPr>
      </p:cxnSp>
      <p:sp>
        <p:nvSpPr>
          <p:cNvPr id="268" name="Google Shape;268;p14"/>
          <p:cNvSpPr txBox="1"/>
          <p:nvPr/>
        </p:nvSpPr>
        <p:spPr>
          <a:xfrm>
            <a:off x="10504391" y="3954583"/>
            <a:ext cx="77306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cxnSp>
        <p:nvCxnSpPr>
          <p:cNvPr id="269" name="Google Shape;269;p14"/>
          <p:cNvCxnSpPr/>
          <p:nvPr/>
        </p:nvCxnSpPr>
        <p:spPr>
          <a:xfrm rot="10800000">
            <a:off x="14633399" y="2920226"/>
            <a:ext cx="528401" cy="0"/>
          </a:xfrm>
          <a:prstGeom prst="straightConnector1">
            <a:avLst/>
          </a:prstGeom>
          <a:noFill/>
          <a:ln cap="rnd" cmpd="sng" w="63500">
            <a:solidFill>
              <a:srgbClr val="00FF00"/>
            </a:solidFill>
            <a:prstDash val="solid"/>
            <a:miter lim="8000"/>
            <a:headEnd len="med" w="med" type="stealth"/>
            <a:tailEnd len="sm" w="sm" type="none"/>
          </a:ln>
        </p:spPr>
      </p:cxnSp>
      <p:cxnSp>
        <p:nvCxnSpPr>
          <p:cNvPr id="270" name="Google Shape;270;p14"/>
          <p:cNvCxnSpPr/>
          <p:nvPr/>
        </p:nvCxnSpPr>
        <p:spPr>
          <a:xfrm rot="10800000">
            <a:off x="14599762" y="4624533"/>
            <a:ext cx="528401" cy="0"/>
          </a:xfrm>
          <a:prstGeom prst="straightConnector1">
            <a:avLst/>
          </a:prstGeom>
          <a:noFill/>
          <a:ln cap="rnd" cmpd="sng" w="63500">
            <a:solidFill>
              <a:srgbClr val="00FF00"/>
            </a:solidFill>
            <a:prstDash val="solid"/>
            <a:miter lim="8000"/>
            <a:headEnd len="med" w="med" type="stealth"/>
            <a:tailEnd len="sm" w="sm" type="none"/>
          </a:ln>
        </p:spPr>
      </p:cxnSp>
      <p:cxnSp>
        <p:nvCxnSpPr>
          <p:cNvPr id="271" name="Google Shape;271;p14"/>
          <p:cNvCxnSpPr/>
          <p:nvPr/>
        </p:nvCxnSpPr>
        <p:spPr>
          <a:xfrm rot="10800000">
            <a:off x="9318741" y="3559219"/>
            <a:ext cx="1324" cy="497678"/>
          </a:xfrm>
          <a:prstGeom prst="straightConnector1">
            <a:avLst/>
          </a:prstGeom>
          <a:noFill/>
          <a:ln cap="rnd" cmpd="sng" w="63500">
            <a:solidFill>
              <a:srgbClr val="FFC000"/>
            </a:solidFill>
            <a:prstDash val="solid"/>
            <a:miter lim="8000"/>
            <a:headEnd len="med" w="med" type="stealth"/>
            <a:tailEnd len="sm" w="sm" type="none"/>
          </a:ln>
        </p:spPr>
      </p:cxnSp>
      <p:sp>
        <p:nvSpPr>
          <p:cNvPr id="272" name="Google Shape;272;p14"/>
          <p:cNvSpPr txBox="1"/>
          <p:nvPr/>
        </p:nvSpPr>
        <p:spPr>
          <a:xfrm>
            <a:off x="7799366" y="5597221"/>
            <a:ext cx="3061023" cy="1121165"/>
          </a:xfrm>
          <a:prstGeom prst="rect">
            <a:avLst/>
          </a:prstGeom>
          <a:noFill/>
          <a:ln cap="rnd" cmpd="sng" w="50800">
            <a:solidFill>
              <a:srgbClr val="FFC0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print('LARGE')</a:t>
            </a:r>
            <a:endParaRPr b="0" i="0" sz="3200" u="none" cap="none" strike="noStrike">
              <a:solidFill>
                <a:schemeClr val="lt1"/>
              </a:solidFill>
              <a:latin typeface="Arial"/>
              <a:ea typeface="Arial"/>
              <a:cs typeface="Arial"/>
              <a:sym typeface="Arial"/>
            </a:endParaRPr>
          </a:p>
        </p:txBody>
      </p:sp>
      <p:cxnSp>
        <p:nvCxnSpPr>
          <p:cNvPr id="273" name="Google Shape;273;p14"/>
          <p:cNvCxnSpPr/>
          <p:nvPr/>
        </p:nvCxnSpPr>
        <p:spPr>
          <a:xfrm flipH="1" rot="10800000">
            <a:off x="9364916" y="5276328"/>
            <a:ext cx="4237" cy="361538"/>
          </a:xfrm>
          <a:prstGeom prst="straightConnector1">
            <a:avLst/>
          </a:prstGeom>
          <a:noFill/>
          <a:ln cap="rnd" cmpd="sng" w="63500">
            <a:solidFill>
              <a:srgbClr val="FFC000"/>
            </a:solidFill>
            <a:prstDash val="solid"/>
            <a:miter lim="8000"/>
            <a:headEnd len="med" w="med" type="stealth"/>
            <a:tailEnd len="sm" w="sm" type="none"/>
          </a:ln>
        </p:spPr>
      </p:cxnSp>
      <p:sp>
        <p:nvSpPr>
          <p:cNvPr id="274" name="Google Shape;274;p14"/>
          <p:cNvSpPr txBox="1"/>
          <p:nvPr/>
        </p:nvSpPr>
        <p:spPr>
          <a:xfrm>
            <a:off x="8459503" y="5053413"/>
            <a:ext cx="477812" cy="49343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275" name="Google Shape;275;p14"/>
          <p:cNvSpPr txBox="1"/>
          <p:nvPr/>
        </p:nvSpPr>
        <p:spPr>
          <a:xfrm>
            <a:off x="7585114" y="956541"/>
            <a:ext cx="3467099" cy="691062"/>
          </a:xfrm>
          <a:prstGeom prst="rect">
            <a:avLst/>
          </a:prstGeom>
          <a:noFill/>
          <a:ln cap="rnd" cmpd="sng" w="50800">
            <a:solidFill>
              <a:srgbClr val="FFFFF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900"/>
              <a:buFont typeface="Cabin"/>
              <a:buNone/>
            </a:pPr>
            <a:r>
              <a:rPr b="0" i="0" lang="en-US" sz="3600" u="none" cap="none" strike="noStrike">
                <a:solidFill>
                  <a:srgbClr val="FFFFFF"/>
                </a:solidFill>
                <a:latin typeface="Arial"/>
                <a:ea typeface="Arial"/>
                <a:cs typeface="Arial"/>
                <a:sym typeface="Arial"/>
              </a:rPr>
              <a:t>x = 20</a:t>
            </a:r>
            <a:endParaRPr b="0" i="0" sz="3600" u="none" cap="none" strike="noStrike">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5"/>
          <p:cNvSpPr txBox="1"/>
          <p:nvPr>
            <p:ph type="title"/>
          </p:nvPr>
        </p:nvSpPr>
        <p:spPr>
          <a:xfrm>
            <a:off x="1060450" y="745588"/>
            <a:ext cx="5934648"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Multi-way</a:t>
            </a:r>
            <a:endParaRPr/>
          </a:p>
        </p:txBody>
      </p:sp>
      <p:sp>
        <p:nvSpPr>
          <p:cNvPr id="281" name="Google Shape;281;p15"/>
          <p:cNvSpPr txBox="1"/>
          <p:nvPr/>
        </p:nvSpPr>
        <p:spPr>
          <a:xfrm>
            <a:off x="1243605" y="3121862"/>
            <a:ext cx="5311799" cy="41870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FFFF"/>
                </a:solidFill>
                <a:latin typeface="Courier"/>
                <a:ea typeface="Courier"/>
                <a:cs typeface="Courier"/>
                <a:sym typeface="Courier"/>
              </a:rPr>
              <a:t># No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9900"/>
                </a:solidFill>
                <a:latin typeface="Courier"/>
                <a:ea typeface="Courier"/>
                <a:cs typeface="Courier"/>
                <a:sym typeface="Courier"/>
              </a:rPr>
              <a:t>x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9900"/>
                </a:solidFill>
                <a:latin typeface="Courier"/>
                <a:ea typeface="Courier"/>
                <a:cs typeface="Courier"/>
                <a:sym typeface="Courier"/>
              </a:rPr>
              <a:t>if x &lt;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ourier"/>
              <a:buNone/>
            </a:pPr>
            <a:r>
              <a:rPr b="0" i="0" lang="en-US" sz="3000" u="none" cap="none" strike="noStrike">
                <a:solidFill>
                  <a:srgbClr val="00FF00"/>
                </a:solidFill>
                <a:latin typeface="Courier"/>
                <a:ea typeface="Courier"/>
                <a:cs typeface="Courier"/>
                <a:sym typeface="Courier"/>
              </a:rPr>
              <a:t>    print('Small')</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9900"/>
                </a:solidFill>
                <a:latin typeface="Courier"/>
                <a:ea typeface="Courier"/>
                <a:cs typeface="Courier"/>
                <a:sym typeface="Courier"/>
              </a:rPr>
              <a:t>elif x &lt;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ourier"/>
              <a:buNone/>
            </a:pP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 print('Medium')</a:t>
            </a:r>
            <a:endParaRPr b="0" i="0" sz="3000" u="none" cap="none" strike="noStrike">
              <a:solidFill>
                <a:srgbClr val="00FF00"/>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9900"/>
                </a:solidFill>
                <a:latin typeface="Courier"/>
                <a:ea typeface="Courier"/>
                <a:cs typeface="Courier"/>
                <a:sym typeface="Courier"/>
              </a:rPr>
              <a:t>print('All done')</a:t>
            </a:r>
            <a:endParaRPr b="0" i="0" sz="3000" u="none" cap="none" strike="noStrike">
              <a:solidFill>
                <a:srgbClr val="FF9900"/>
              </a:solidFill>
              <a:latin typeface="Courier"/>
              <a:ea typeface="Courier"/>
              <a:cs typeface="Courier"/>
              <a:sym typeface="Courier"/>
            </a:endParaRPr>
          </a:p>
        </p:txBody>
      </p:sp>
      <p:sp>
        <p:nvSpPr>
          <p:cNvPr id="282" name="Google Shape;282;p15"/>
          <p:cNvSpPr txBox="1"/>
          <p:nvPr/>
        </p:nvSpPr>
        <p:spPr>
          <a:xfrm>
            <a:off x="8707420" y="1563873"/>
            <a:ext cx="6437700" cy="61777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if x &lt;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print('Small')</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elif x &lt;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print('Medium')</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elif x &lt; 20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print('Big')</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elif x &lt; 40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print('Large')</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elif x &lt;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print('Huge')</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else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print('Ginormous')</a:t>
            </a:r>
            <a:endParaRPr b="0" i="0" sz="3000" u="none" cap="none" strike="noStrike">
              <a:solidFill>
                <a:srgbClr val="FFFF00"/>
              </a:solidFill>
              <a:latin typeface="Courier"/>
              <a:ea typeface="Courier"/>
              <a:cs typeface="Courier"/>
              <a:sym typeface="Couri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6"/>
          <p:cNvSpPr txBox="1"/>
          <p:nvPr>
            <p:ph type="title"/>
          </p:nvPr>
        </p:nvSpPr>
        <p:spPr>
          <a:xfrm>
            <a:off x="1155700" y="745588"/>
            <a:ext cx="13211175"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Multi-way Puzzles</a:t>
            </a:r>
            <a:endParaRPr/>
          </a:p>
        </p:txBody>
      </p:sp>
      <p:sp>
        <p:nvSpPr>
          <p:cNvPr id="288" name="Google Shape;288;p16"/>
          <p:cNvSpPr txBox="1"/>
          <p:nvPr/>
        </p:nvSpPr>
        <p:spPr>
          <a:xfrm>
            <a:off x="8677001" y="3640379"/>
            <a:ext cx="6410699" cy="40464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9900"/>
                </a:solidFill>
                <a:latin typeface="Courier"/>
                <a:ea typeface="Courier"/>
                <a:cs typeface="Courier"/>
                <a:sym typeface="Courier"/>
              </a:rPr>
              <a:t>if x &lt;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9900"/>
                </a:solidFill>
                <a:latin typeface="Courier"/>
                <a:ea typeface="Courier"/>
                <a:cs typeface="Courier"/>
                <a:sym typeface="Courier"/>
              </a:rPr>
              <a:t>    print('Below 2')</a:t>
            </a:r>
            <a:endParaRPr b="0" i="0" sz="30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9900"/>
                </a:solidFill>
                <a:latin typeface="Courier"/>
                <a:ea typeface="Courier"/>
                <a:cs typeface="Courier"/>
                <a:sym typeface="Courier"/>
              </a:rPr>
              <a:t>elif x &lt; 20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9900"/>
                </a:solidFill>
                <a:latin typeface="Courier"/>
                <a:ea typeface="Courier"/>
                <a:cs typeface="Courier"/>
                <a:sym typeface="Courier"/>
              </a:rPr>
              <a:t>    print('Below 20')</a:t>
            </a:r>
            <a:endParaRPr b="0" i="0" sz="30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9900"/>
                </a:solidFill>
                <a:latin typeface="Courier"/>
                <a:ea typeface="Courier"/>
                <a:cs typeface="Courier"/>
                <a:sym typeface="Courier"/>
              </a:rPr>
              <a:t>elif x &lt; 10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9900"/>
                </a:solidFill>
                <a:latin typeface="Courier"/>
                <a:ea typeface="Courier"/>
                <a:cs typeface="Courier"/>
                <a:sym typeface="Courier"/>
              </a:rPr>
              <a:t>    print('Below 10')</a:t>
            </a:r>
            <a:endParaRPr b="0" i="0" sz="30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9900"/>
                </a:solidFill>
                <a:latin typeface="Courier"/>
                <a:ea typeface="Courier"/>
                <a:cs typeface="Courier"/>
                <a:sym typeface="Courier"/>
              </a:rPr>
              <a:t>else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9900"/>
                </a:solidFill>
                <a:latin typeface="Courier"/>
                <a:ea typeface="Courier"/>
                <a:cs typeface="Courier"/>
                <a:sym typeface="Courier"/>
              </a:rPr>
              <a:t>    print('Something else')</a:t>
            </a:r>
            <a:endParaRPr b="0" i="0" sz="3000" u="none" cap="none" strike="noStrike">
              <a:solidFill>
                <a:srgbClr val="FF9900"/>
              </a:solidFill>
              <a:latin typeface="Courier"/>
              <a:ea typeface="Courier"/>
              <a:cs typeface="Courier"/>
              <a:sym typeface="Courier"/>
            </a:endParaRPr>
          </a:p>
        </p:txBody>
      </p:sp>
      <p:sp>
        <p:nvSpPr>
          <p:cNvPr id="289" name="Google Shape;289;p16"/>
          <p:cNvSpPr txBox="1"/>
          <p:nvPr/>
        </p:nvSpPr>
        <p:spPr>
          <a:xfrm>
            <a:off x="1404925" y="4496066"/>
            <a:ext cx="6554852" cy="3220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if x &lt;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print('Below 2')</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elif x &gt;= 2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print('Two or more')</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else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    print('Something else'</a:t>
            </a:r>
            <a:r>
              <a:rPr b="1" i="0" lang="en-US" sz="3000" u="none" cap="none" strike="noStrike">
                <a:solidFill>
                  <a:srgbClr val="FFFF00"/>
                </a:solidFill>
                <a:latin typeface="Courier"/>
                <a:ea typeface="Courier"/>
                <a:cs typeface="Courier"/>
                <a:sym typeface="Courier"/>
              </a:rPr>
              <a:t>)</a:t>
            </a:r>
            <a:endParaRPr b="1" i="0" sz="3000" u="none" cap="none" strike="noStrike">
              <a:solidFill>
                <a:srgbClr val="FFFF00"/>
              </a:solidFill>
              <a:latin typeface="Courier"/>
              <a:ea typeface="Courier"/>
              <a:cs typeface="Courier"/>
              <a:sym typeface="Courier"/>
            </a:endParaRPr>
          </a:p>
        </p:txBody>
      </p:sp>
      <p:sp>
        <p:nvSpPr>
          <p:cNvPr id="290" name="Google Shape;290;p16"/>
          <p:cNvSpPr txBox="1"/>
          <p:nvPr/>
        </p:nvSpPr>
        <p:spPr>
          <a:xfrm>
            <a:off x="925250" y="2981784"/>
            <a:ext cx="6429707" cy="96837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Arial"/>
                <a:ea typeface="Arial"/>
                <a:cs typeface="Arial"/>
                <a:sym typeface="Arial"/>
              </a:rPr>
              <a:t>Which will never print regardless of the value for x?</a:t>
            </a:r>
            <a:endParaRPr b="0" i="0" sz="3600" u="none" cap="none" strike="noStrike">
              <a:solidFill>
                <a:srgbClr val="00FF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7"/>
          <p:cNvSpPr txBox="1"/>
          <p:nvPr/>
        </p:nvSpPr>
        <p:spPr>
          <a:xfrm>
            <a:off x="685800" y="3136354"/>
            <a:ext cx="6941884" cy="377678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astr = 'Hello Bob'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istr = int(astr)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print('First', istr)</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astr = '123'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istr = int(astr)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print('Second', istr)</a:t>
            </a:r>
            <a:endParaRPr b="0" i="0" sz="3000" u="none" cap="none" strike="noStrike">
              <a:solidFill>
                <a:srgbClr val="FFFF00"/>
              </a:solidFill>
              <a:latin typeface="Courier"/>
              <a:ea typeface="Courier"/>
              <a:cs typeface="Courier"/>
              <a:sym typeface="Courier"/>
            </a:endParaRPr>
          </a:p>
        </p:txBody>
      </p:sp>
      <p:sp>
        <p:nvSpPr>
          <p:cNvPr id="296" name="Google Shape;296;p17"/>
          <p:cNvSpPr txBox="1"/>
          <p:nvPr/>
        </p:nvSpPr>
        <p:spPr>
          <a:xfrm>
            <a:off x="7511141" y="2973069"/>
            <a:ext cx="8711206" cy="265439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Arial"/>
              <a:buNone/>
            </a:pPr>
            <a:r>
              <a:rPr b="0" i="0" lang="en-US" sz="3600" u="none" cap="none" strike="noStrike">
                <a:solidFill>
                  <a:srgbClr val="E06666"/>
                </a:solidFill>
                <a:latin typeface="Arial"/>
                <a:ea typeface="Arial"/>
                <a:cs typeface="Arial"/>
                <a:sym typeface="Arial"/>
              </a:rPr>
              <a:t>istr = int(astr)ValueError: invalid literal for int() with base 10: 'Hello Bob'</a:t>
            </a:r>
            <a:endParaRPr b="0" i="0" sz="3600" u="none" cap="none" strike="noStrike">
              <a:solidFill>
                <a:srgbClr val="E06666"/>
              </a:solidFill>
              <a:latin typeface="Arial"/>
              <a:ea typeface="Arial"/>
              <a:cs typeface="Arial"/>
              <a:sym typeface="Arial"/>
            </a:endParaRPr>
          </a:p>
        </p:txBody>
      </p:sp>
      <p:cxnSp>
        <p:nvCxnSpPr>
          <p:cNvPr id="297" name="Google Shape;297;p17"/>
          <p:cNvCxnSpPr/>
          <p:nvPr/>
        </p:nvCxnSpPr>
        <p:spPr>
          <a:xfrm>
            <a:off x="10837890" y="5229559"/>
            <a:ext cx="1855586" cy="1122385"/>
          </a:xfrm>
          <a:prstGeom prst="straightConnector1">
            <a:avLst/>
          </a:prstGeom>
          <a:noFill/>
          <a:ln cap="rnd" cmpd="sng" w="76200">
            <a:solidFill>
              <a:srgbClr val="E06666"/>
            </a:solidFill>
            <a:prstDash val="solid"/>
            <a:miter lim="8000"/>
            <a:headEnd len="med" w="med" type="stealth"/>
            <a:tailEnd len="sm" w="sm" type="none"/>
          </a:ln>
        </p:spPr>
      </p:cxnSp>
      <p:sp>
        <p:nvSpPr>
          <p:cNvPr id="298" name="Google Shape;298;p17"/>
          <p:cNvSpPr txBox="1"/>
          <p:nvPr/>
        </p:nvSpPr>
        <p:spPr>
          <a:xfrm>
            <a:off x="12693476" y="6329725"/>
            <a:ext cx="1904999" cy="70743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900"/>
              <a:buFont typeface="Cabin"/>
              <a:buNone/>
            </a:pPr>
            <a:r>
              <a:rPr b="0" i="0" lang="en-US" sz="3600" u="none" cap="none" strike="noStrike">
                <a:solidFill>
                  <a:srgbClr val="E06666"/>
                </a:solidFill>
                <a:latin typeface="Arial"/>
                <a:ea typeface="Arial"/>
                <a:cs typeface="Arial"/>
                <a:sym typeface="Arial"/>
              </a:rPr>
              <a:t>All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ts val="900"/>
              <a:buFont typeface="Cabin"/>
              <a:buNone/>
            </a:pPr>
            <a:r>
              <a:rPr b="0" i="0" lang="en-US" sz="3600" u="none" cap="none" strike="noStrike">
                <a:solidFill>
                  <a:srgbClr val="E06666"/>
                </a:solidFill>
                <a:latin typeface="Arial"/>
                <a:ea typeface="Arial"/>
                <a:cs typeface="Arial"/>
                <a:sym typeface="Arial"/>
              </a:rPr>
              <a:t>Done</a:t>
            </a:r>
            <a:endParaRPr b="0" i="0" sz="1400" u="none" cap="none" strike="noStrike">
              <a:solidFill>
                <a:srgbClr val="000000"/>
              </a:solidFill>
              <a:latin typeface="Arial"/>
              <a:ea typeface="Arial"/>
              <a:cs typeface="Arial"/>
              <a:sym typeface="Arial"/>
            </a:endParaRPr>
          </a:p>
        </p:txBody>
      </p:sp>
      <p:sp>
        <p:nvSpPr>
          <p:cNvPr id="299" name="Google Shape;299;p17"/>
          <p:cNvSpPr txBox="1"/>
          <p:nvPr/>
        </p:nvSpPr>
        <p:spPr>
          <a:xfrm>
            <a:off x="564025" y="5262217"/>
            <a:ext cx="5248945" cy="1683578"/>
          </a:xfrm>
          <a:prstGeom prst="rect">
            <a:avLst/>
          </a:prstGeom>
          <a:solidFill>
            <a:srgbClr val="E06666">
              <a:alpha val="49412"/>
            </a:srgbClr>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E06666"/>
              </a:solidFill>
              <a:latin typeface="Arial"/>
              <a:ea typeface="Arial"/>
              <a:cs typeface="Arial"/>
              <a:sym typeface="Arial"/>
            </a:endParaRPr>
          </a:p>
        </p:txBody>
      </p:sp>
      <p:sp>
        <p:nvSpPr>
          <p:cNvPr id="300" name="Google Shape;300;p17"/>
          <p:cNvSpPr txBox="1"/>
          <p:nvPr/>
        </p:nvSpPr>
        <p:spPr>
          <a:xfrm>
            <a:off x="7445827" y="5013001"/>
            <a:ext cx="3004457" cy="218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900"/>
              <a:buFont typeface="Cabin"/>
              <a:buNone/>
            </a:pPr>
            <a:r>
              <a:rPr b="0" i="0" lang="en-US" sz="3600" u="none" cap="none" strike="noStrike">
                <a:solidFill>
                  <a:srgbClr val="E06666"/>
                </a:solidFill>
                <a:latin typeface="Arial"/>
                <a:ea typeface="Arial"/>
                <a:cs typeface="Arial"/>
                <a:sym typeface="Arial"/>
              </a:rPr>
              <a:t>The program stops here</a:t>
            </a:r>
            <a:endParaRPr b="0" i="0" sz="1400" u="none" cap="none" strike="noStrike">
              <a:solidFill>
                <a:srgbClr val="000000"/>
              </a:solidFill>
              <a:latin typeface="Arial"/>
              <a:ea typeface="Arial"/>
              <a:cs typeface="Arial"/>
              <a:sym typeface="Arial"/>
            </a:endParaRPr>
          </a:p>
        </p:txBody>
      </p:sp>
      <p:cxnSp>
        <p:nvCxnSpPr>
          <p:cNvPr id="301" name="Google Shape;301;p17"/>
          <p:cNvCxnSpPr/>
          <p:nvPr/>
        </p:nvCxnSpPr>
        <p:spPr>
          <a:xfrm rot="10800000">
            <a:off x="6200673" y="5777252"/>
            <a:ext cx="1217400" cy="13499"/>
          </a:xfrm>
          <a:prstGeom prst="straightConnector1">
            <a:avLst/>
          </a:prstGeom>
          <a:noFill/>
          <a:ln cap="rnd" cmpd="sng" w="76200">
            <a:solidFill>
              <a:srgbClr val="E06666"/>
            </a:solidFill>
            <a:prstDash val="solid"/>
            <a:miter lim="8000"/>
            <a:headEnd len="med" w="med" type="stealth"/>
            <a:tailEnd len="sm" w="sm" type="none"/>
          </a:ln>
        </p:spPr>
      </p:cxnSp>
      <p:sp>
        <p:nvSpPr>
          <p:cNvPr id="302" name="Google Shape;302;p17"/>
          <p:cNvSpPr txBox="1"/>
          <p:nvPr/>
        </p:nvSpPr>
        <p:spPr>
          <a:xfrm>
            <a:off x="1155700" y="745588"/>
            <a:ext cx="13932000"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b="0" i="0" lang="en-US" sz="7600" u="none" cap="none" strike="noStrike">
                <a:solidFill>
                  <a:srgbClr val="FFD966"/>
                </a:solidFill>
                <a:latin typeface="Arial"/>
                <a:ea typeface="Arial"/>
                <a:cs typeface="Arial"/>
                <a:sym typeface="Arial"/>
              </a:rPr>
              <a:t>The try / except Structure</a:t>
            </a:r>
            <a:endParaRPr b="0" i="0" sz="7600" u="none" cap="none" strike="noStrike">
              <a:solidFill>
                <a:srgbClr val="FFD966"/>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155700" y="745588"/>
            <a:ext cx="13932000"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The try / except Structure</a:t>
            </a:r>
            <a:endParaRPr/>
          </a:p>
        </p:txBody>
      </p:sp>
      <p:sp>
        <p:nvSpPr>
          <p:cNvPr id="308" name="Google Shape;308;p18"/>
          <p:cNvSpPr txBox="1"/>
          <p:nvPr>
            <p:ph idx="1" type="body"/>
          </p:nvPr>
        </p:nvSpPr>
        <p:spPr>
          <a:xfrm>
            <a:off x="1155700" y="2603501"/>
            <a:ext cx="13932000" cy="4545516"/>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You surround a dangerous section of code with </a:t>
            </a:r>
            <a:r>
              <a:rPr lang="en-US" sz="3600" u="none" cap="none" strike="noStrike">
                <a:solidFill>
                  <a:srgbClr val="00FF00"/>
                </a:solidFill>
                <a:latin typeface="Arial"/>
                <a:ea typeface="Arial"/>
                <a:cs typeface="Arial"/>
                <a:sym typeface="Arial"/>
              </a:rPr>
              <a:t>try</a:t>
            </a:r>
            <a:r>
              <a:rPr lang="en-US" sz="3600" u="none" cap="none" strike="noStrike">
                <a:solidFill>
                  <a:schemeClr val="lt1"/>
                </a:solidFill>
                <a:latin typeface="Arial"/>
                <a:ea typeface="Arial"/>
                <a:cs typeface="Arial"/>
                <a:sym typeface="Arial"/>
              </a:rPr>
              <a:t> and </a:t>
            </a:r>
            <a:r>
              <a:rPr lang="en-US" sz="3600" u="none" cap="none" strike="noStrike">
                <a:solidFill>
                  <a:srgbClr val="FF9900"/>
                </a:solidFill>
                <a:latin typeface="Arial"/>
                <a:ea typeface="Arial"/>
                <a:cs typeface="Arial"/>
                <a:sym typeface="Arial"/>
              </a:rPr>
              <a:t>except</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If the code in the </a:t>
            </a:r>
            <a:r>
              <a:rPr lang="en-US" sz="3600" u="none" cap="none" strike="noStrike">
                <a:solidFill>
                  <a:srgbClr val="00FF00"/>
                </a:solidFill>
                <a:latin typeface="Arial"/>
                <a:ea typeface="Arial"/>
                <a:cs typeface="Arial"/>
                <a:sym typeface="Arial"/>
              </a:rPr>
              <a:t>try</a:t>
            </a:r>
            <a:r>
              <a:rPr lang="en-US" sz="3600" u="none" cap="none" strike="noStrike">
                <a:solidFill>
                  <a:schemeClr val="lt1"/>
                </a:solidFill>
                <a:latin typeface="Arial"/>
                <a:ea typeface="Arial"/>
                <a:cs typeface="Arial"/>
                <a:sym typeface="Arial"/>
              </a:rPr>
              <a:t> works - the </a:t>
            </a:r>
            <a:r>
              <a:rPr lang="en-US" sz="3600" u="none" cap="none" strike="noStrike">
                <a:solidFill>
                  <a:srgbClr val="FF9900"/>
                </a:solidFill>
                <a:latin typeface="Arial"/>
                <a:ea typeface="Arial"/>
                <a:cs typeface="Arial"/>
                <a:sym typeface="Arial"/>
              </a:rPr>
              <a:t>except</a:t>
            </a:r>
            <a:r>
              <a:rPr lang="en-US" sz="3600" u="none" cap="none" strike="noStrike">
                <a:solidFill>
                  <a:schemeClr val="lt1"/>
                </a:solidFill>
                <a:latin typeface="Arial"/>
                <a:ea typeface="Arial"/>
                <a:cs typeface="Arial"/>
                <a:sym typeface="Arial"/>
              </a:rPr>
              <a:t> is skipped</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If the code in the </a:t>
            </a:r>
            <a:r>
              <a:rPr lang="en-US" sz="3600" u="none" cap="none" strike="noStrike">
                <a:solidFill>
                  <a:srgbClr val="00FF00"/>
                </a:solidFill>
                <a:latin typeface="Arial"/>
                <a:ea typeface="Arial"/>
                <a:cs typeface="Arial"/>
                <a:sym typeface="Arial"/>
              </a:rPr>
              <a:t>try</a:t>
            </a:r>
            <a:r>
              <a:rPr lang="en-US" sz="3600" u="none" cap="none" strike="noStrike">
                <a:solidFill>
                  <a:schemeClr val="lt1"/>
                </a:solidFill>
                <a:latin typeface="Arial"/>
                <a:ea typeface="Arial"/>
                <a:cs typeface="Arial"/>
                <a:sym typeface="Arial"/>
              </a:rPr>
              <a:t> fails - it jumps to the </a:t>
            </a:r>
            <a:r>
              <a:rPr lang="en-US" sz="3600" u="none" cap="none" strike="noStrike">
                <a:solidFill>
                  <a:srgbClr val="FF9900"/>
                </a:solidFill>
                <a:latin typeface="Arial"/>
                <a:ea typeface="Arial"/>
                <a:cs typeface="Arial"/>
                <a:sym typeface="Arial"/>
              </a:rPr>
              <a:t>except</a:t>
            </a:r>
            <a:r>
              <a:rPr lang="en-US" sz="3600" u="none" cap="none" strike="noStrike">
                <a:solidFill>
                  <a:schemeClr val="lt1"/>
                </a:solidFill>
                <a:latin typeface="Arial"/>
                <a:ea typeface="Arial"/>
                <a:cs typeface="Arial"/>
                <a:sym typeface="Arial"/>
              </a:rPr>
              <a:t> section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nvSpPr>
        <p:spPr>
          <a:xfrm>
            <a:off x="2882900" y="1130300"/>
            <a:ext cx="5204399" cy="718924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astr = 'Hello Bob'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istr = int(astr)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except: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    istr = -1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print('First', istr)</a:t>
            </a:r>
            <a:endParaRPr b="0" i="0" sz="3000" u="none" cap="none" strike="noStrike">
              <a:solidFill>
                <a:srgbClr val="FFFF00"/>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astr = '123'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 istr = int(astr)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except: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    istr = -1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print('Second', istr)</a:t>
            </a:r>
            <a:endParaRPr b="0" i="0" sz="3000" u="none" cap="none" strike="noStrike">
              <a:solidFill>
                <a:srgbClr val="FFFF00"/>
              </a:solidFill>
              <a:latin typeface="Courier"/>
              <a:ea typeface="Courier"/>
              <a:cs typeface="Courier"/>
              <a:sym typeface="Courier"/>
            </a:endParaRPr>
          </a:p>
        </p:txBody>
      </p:sp>
      <p:sp>
        <p:nvSpPr>
          <p:cNvPr id="314" name="Google Shape;314;p19"/>
          <p:cNvSpPr txBox="1"/>
          <p:nvPr/>
        </p:nvSpPr>
        <p:spPr>
          <a:xfrm>
            <a:off x="8836025" y="1130300"/>
            <a:ext cx="5892799" cy="143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00"/>
              </a:buClr>
              <a:buSzPts val="750"/>
              <a:buFont typeface="Cabin"/>
              <a:buNone/>
            </a:pPr>
            <a:r>
              <a:rPr b="0" i="0" lang="en-US" sz="3000" u="none" cap="none" strike="noStrike">
                <a:solidFill>
                  <a:srgbClr val="FF9900"/>
                </a:solidFill>
                <a:latin typeface="Arial"/>
                <a:ea typeface="Arial"/>
                <a:cs typeface="Arial"/>
                <a:sym typeface="Arial"/>
              </a:rPr>
              <a:t>When the first conversion fails - it just drops into the except: clause and the program continues.</a:t>
            </a:r>
            <a:endParaRPr b="0" i="0" sz="1400" u="none" cap="none" strike="noStrike">
              <a:solidFill>
                <a:srgbClr val="000000"/>
              </a:solidFill>
              <a:latin typeface="Arial"/>
              <a:ea typeface="Arial"/>
              <a:cs typeface="Arial"/>
              <a:sym typeface="Arial"/>
            </a:endParaRPr>
          </a:p>
        </p:txBody>
      </p:sp>
      <p:cxnSp>
        <p:nvCxnSpPr>
          <p:cNvPr id="315" name="Google Shape;315;p19"/>
          <p:cNvCxnSpPr/>
          <p:nvPr/>
        </p:nvCxnSpPr>
        <p:spPr>
          <a:xfrm flipH="1">
            <a:off x="1469169" y="2565411"/>
            <a:ext cx="1241400" cy="18900"/>
          </a:xfrm>
          <a:prstGeom prst="straightConnector1">
            <a:avLst/>
          </a:prstGeom>
          <a:noFill/>
          <a:ln cap="rnd" cmpd="sng" w="76200">
            <a:solidFill>
              <a:srgbClr val="FF9900"/>
            </a:solidFill>
            <a:prstDash val="solid"/>
            <a:miter lim="8000"/>
            <a:headEnd len="med" w="med" type="stealth"/>
            <a:tailEnd len="sm" w="sm" type="none"/>
          </a:ln>
        </p:spPr>
      </p:cxnSp>
      <p:sp>
        <p:nvSpPr>
          <p:cNvPr id="316" name="Google Shape;316;p19"/>
          <p:cNvSpPr txBox="1"/>
          <p:nvPr/>
        </p:nvSpPr>
        <p:spPr>
          <a:xfrm>
            <a:off x="9582411" y="6787409"/>
            <a:ext cx="5892799" cy="143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Arial"/>
                <a:ea typeface="Arial"/>
                <a:cs typeface="Arial"/>
                <a:sym typeface="Arial"/>
              </a:rPr>
              <a:t>When the second conversion succeeds - it just skips the except: clause and the program continues.</a:t>
            </a:r>
            <a:endParaRPr b="0" i="0" sz="1400" u="none" cap="none" strike="noStrike">
              <a:solidFill>
                <a:srgbClr val="000000"/>
              </a:solidFill>
              <a:latin typeface="Arial"/>
              <a:ea typeface="Arial"/>
              <a:cs typeface="Arial"/>
              <a:sym typeface="Arial"/>
            </a:endParaRPr>
          </a:p>
        </p:txBody>
      </p:sp>
      <p:cxnSp>
        <p:nvCxnSpPr>
          <p:cNvPr id="317" name="Google Shape;317;p19"/>
          <p:cNvCxnSpPr/>
          <p:nvPr/>
        </p:nvCxnSpPr>
        <p:spPr>
          <a:xfrm>
            <a:off x="6301625" y="3443150"/>
            <a:ext cx="903299" cy="17399"/>
          </a:xfrm>
          <a:prstGeom prst="straightConnector1">
            <a:avLst/>
          </a:prstGeom>
          <a:noFill/>
          <a:ln cap="rnd" cmpd="sng" w="76200">
            <a:solidFill>
              <a:srgbClr val="FF9900"/>
            </a:solidFill>
            <a:prstDash val="solid"/>
            <a:miter lim="8000"/>
            <a:headEnd len="med" w="med" type="stealth"/>
            <a:tailEnd len="sm" w="sm" type="none"/>
          </a:ln>
        </p:spPr>
      </p:cxnSp>
      <p:cxnSp>
        <p:nvCxnSpPr>
          <p:cNvPr id="318" name="Google Shape;318;p19"/>
          <p:cNvCxnSpPr/>
          <p:nvPr/>
        </p:nvCxnSpPr>
        <p:spPr>
          <a:xfrm flipH="1">
            <a:off x="1390096" y="6179937"/>
            <a:ext cx="1241400" cy="18900"/>
          </a:xfrm>
          <a:prstGeom prst="straightConnector1">
            <a:avLst/>
          </a:prstGeom>
          <a:noFill/>
          <a:ln cap="rnd" cmpd="sng" w="76200">
            <a:solidFill>
              <a:srgbClr val="00FF00"/>
            </a:solidFill>
            <a:prstDash val="solid"/>
            <a:miter lim="8000"/>
            <a:headEnd len="med" w="med" type="stealth"/>
            <a:tailEnd len="sm" w="sm" type="none"/>
          </a:ln>
        </p:spPr>
      </p:cxnSp>
      <p:cxnSp>
        <p:nvCxnSpPr>
          <p:cNvPr id="319" name="Google Shape;319;p19"/>
          <p:cNvCxnSpPr/>
          <p:nvPr/>
        </p:nvCxnSpPr>
        <p:spPr>
          <a:xfrm flipH="1" rot="10800000">
            <a:off x="7866125" y="7987829"/>
            <a:ext cx="969900" cy="14400"/>
          </a:xfrm>
          <a:prstGeom prst="straightConnector1">
            <a:avLst/>
          </a:prstGeom>
          <a:noFill/>
          <a:ln cap="rnd" cmpd="sng" w="76200">
            <a:solidFill>
              <a:srgbClr val="00FF00"/>
            </a:solidFill>
            <a:prstDash val="solid"/>
            <a:miter lim="8000"/>
            <a:headEnd len="med" w="med" type="stealth"/>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0"/>
          <p:cNvSpPr txBox="1"/>
          <p:nvPr>
            <p:ph type="title"/>
          </p:nvPr>
        </p:nvSpPr>
        <p:spPr>
          <a:xfrm>
            <a:off x="1155700" y="745588"/>
            <a:ext cx="5983900"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FF00"/>
                </a:solidFill>
                <a:latin typeface="Arial"/>
                <a:ea typeface="Arial"/>
                <a:cs typeface="Arial"/>
                <a:sym typeface="Arial"/>
              </a:rPr>
              <a:t>try / except</a:t>
            </a:r>
            <a:endParaRPr/>
          </a:p>
        </p:txBody>
      </p:sp>
      <p:sp>
        <p:nvSpPr>
          <p:cNvPr id="325" name="Google Shape;325;p20"/>
          <p:cNvSpPr txBox="1"/>
          <p:nvPr/>
        </p:nvSpPr>
        <p:spPr>
          <a:xfrm>
            <a:off x="7581900" y="952500"/>
            <a:ext cx="3467099" cy="838199"/>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astr = 'Bob'</a:t>
            </a:r>
            <a:endParaRPr b="0" i="0" sz="1400" u="none" cap="none" strike="noStrike">
              <a:solidFill>
                <a:srgbClr val="000000"/>
              </a:solidFill>
              <a:latin typeface="Arial"/>
              <a:ea typeface="Arial"/>
              <a:cs typeface="Arial"/>
              <a:sym typeface="Arial"/>
            </a:endParaRPr>
          </a:p>
        </p:txBody>
      </p:sp>
      <p:cxnSp>
        <p:nvCxnSpPr>
          <p:cNvPr id="326" name="Google Shape;326;p20"/>
          <p:cNvCxnSpPr/>
          <p:nvPr/>
        </p:nvCxnSpPr>
        <p:spPr>
          <a:xfrm rot="10800000">
            <a:off x="11690350" y="2797174"/>
            <a:ext cx="2417761" cy="20636"/>
          </a:xfrm>
          <a:prstGeom prst="straightConnector1">
            <a:avLst/>
          </a:prstGeom>
          <a:noFill/>
          <a:ln cap="rnd" cmpd="sng" w="63500">
            <a:solidFill>
              <a:srgbClr val="FF9900"/>
            </a:solidFill>
            <a:prstDash val="dash"/>
            <a:miter lim="8000"/>
            <a:headEnd len="med" w="med" type="stealth"/>
            <a:tailEnd len="sm" w="sm" type="none"/>
          </a:ln>
        </p:spPr>
      </p:cxnSp>
      <p:sp>
        <p:nvSpPr>
          <p:cNvPr id="327" name="Google Shape;327;p20"/>
          <p:cNvSpPr txBox="1"/>
          <p:nvPr/>
        </p:nvSpPr>
        <p:spPr>
          <a:xfrm>
            <a:off x="1328126" y="2840245"/>
            <a:ext cx="5171100" cy="475115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astr = 'Bob'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ourier"/>
              <a:buNone/>
            </a:pP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print('Hello') </a:t>
            </a:r>
            <a:endParaRPr b="0" i="0" sz="30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9900"/>
                </a:solidFill>
                <a:latin typeface="Courier"/>
                <a:ea typeface="Courier"/>
                <a:cs typeface="Courier"/>
                <a:sym typeface="Courier"/>
              </a:rPr>
              <a:t>    istr = int(astr)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ourier"/>
              <a:buNone/>
            </a:pPr>
            <a:r>
              <a:rPr b="0" i="0" lang="en-US" sz="3000" u="none" cap="none" strike="noStrike">
                <a:solidFill>
                  <a:srgbClr val="FF9900"/>
                </a:solidFill>
                <a:latin typeface="Courier"/>
                <a:ea typeface="Courier"/>
                <a:cs typeface="Courier"/>
                <a:sym typeface="Courier"/>
              </a:rPr>
              <a:t>    print('There') </a:t>
            </a:r>
            <a:endParaRPr b="0" i="0" sz="3000" u="none" cap="none" strike="noStrike">
              <a:solidFill>
                <a:srgbClr val="FF99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except: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istr = -1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rgbClr val="FFFF00"/>
                </a:solidFill>
                <a:latin typeface="Courier"/>
                <a:ea typeface="Courier"/>
                <a:cs typeface="Courier"/>
                <a:sym typeface="Courier"/>
              </a:rPr>
              <a:t>print('Done', istr) </a:t>
            </a:r>
            <a:endParaRPr b="0" i="0" sz="3000" u="none" cap="none" strike="noStrike">
              <a:solidFill>
                <a:srgbClr val="FFFF00"/>
              </a:solidFill>
              <a:latin typeface="Courier"/>
              <a:ea typeface="Courier"/>
              <a:cs typeface="Courier"/>
              <a:sym typeface="Courier"/>
            </a:endParaRPr>
          </a:p>
        </p:txBody>
      </p:sp>
      <p:sp>
        <p:nvSpPr>
          <p:cNvPr id="328" name="Google Shape;328;p20"/>
          <p:cNvSpPr txBox="1"/>
          <p:nvPr/>
        </p:nvSpPr>
        <p:spPr>
          <a:xfrm>
            <a:off x="8229600" y="2387600"/>
            <a:ext cx="3467099" cy="838199"/>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print('Hello')</a:t>
            </a:r>
            <a:endParaRPr b="0" i="0" sz="3200" u="none" cap="none" strike="noStrike">
              <a:solidFill>
                <a:schemeClr val="lt1"/>
              </a:solidFill>
              <a:latin typeface="Arial"/>
              <a:ea typeface="Arial"/>
              <a:cs typeface="Arial"/>
              <a:sym typeface="Arial"/>
            </a:endParaRPr>
          </a:p>
        </p:txBody>
      </p:sp>
      <p:sp>
        <p:nvSpPr>
          <p:cNvPr id="329" name="Google Shape;329;p20"/>
          <p:cNvSpPr txBox="1"/>
          <p:nvPr/>
        </p:nvSpPr>
        <p:spPr>
          <a:xfrm>
            <a:off x="8229600" y="5080000"/>
            <a:ext cx="3467099" cy="838199"/>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print('There')</a:t>
            </a:r>
            <a:endParaRPr b="0" i="0" sz="3200" u="none" cap="none" strike="noStrike">
              <a:solidFill>
                <a:schemeClr val="lt1"/>
              </a:solidFill>
              <a:latin typeface="Arial"/>
              <a:ea typeface="Arial"/>
              <a:cs typeface="Arial"/>
              <a:sym typeface="Arial"/>
            </a:endParaRPr>
          </a:p>
        </p:txBody>
      </p:sp>
      <p:sp>
        <p:nvSpPr>
          <p:cNvPr id="330" name="Google Shape;330;p20"/>
          <p:cNvSpPr txBox="1"/>
          <p:nvPr/>
        </p:nvSpPr>
        <p:spPr>
          <a:xfrm>
            <a:off x="8229600" y="3771900"/>
            <a:ext cx="3467099" cy="838199"/>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istr = int(astr)</a:t>
            </a:r>
            <a:endParaRPr b="0" i="0" sz="1400" u="none" cap="none" strike="noStrike">
              <a:solidFill>
                <a:srgbClr val="000000"/>
              </a:solidFill>
              <a:latin typeface="Arial"/>
              <a:ea typeface="Arial"/>
              <a:cs typeface="Arial"/>
              <a:sym typeface="Arial"/>
            </a:endParaRPr>
          </a:p>
        </p:txBody>
      </p:sp>
      <p:sp>
        <p:nvSpPr>
          <p:cNvPr id="331" name="Google Shape;331;p20"/>
          <p:cNvSpPr txBox="1"/>
          <p:nvPr/>
        </p:nvSpPr>
        <p:spPr>
          <a:xfrm>
            <a:off x="8153400" y="7442200"/>
            <a:ext cx="3467099" cy="838199"/>
          </a:xfrm>
          <a:prstGeom prst="rect">
            <a:avLst/>
          </a:prstGeom>
          <a:noFill/>
          <a:ln cap="rnd" cmpd="sng" w="50800">
            <a:solidFill>
              <a:srgbClr val="00F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print('Done', istr)</a:t>
            </a:r>
            <a:endParaRPr b="0" i="0" sz="3200" u="none" cap="none" strike="noStrike">
              <a:solidFill>
                <a:schemeClr val="lt1"/>
              </a:solidFill>
              <a:latin typeface="Arial"/>
              <a:ea typeface="Arial"/>
              <a:cs typeface="Arial"/>
              <a:sym typeface="Arial"/>
            </a:endParaRPr>
          </a:p>
        </p:txBody>
      </p:sp>
      <p:cxnSp>
        <p:nvCxnSpPr>
          <p:cNvPr id="332" name="Google Shape;332;p20"/>
          <p:cNvCxnSpPr/>
          <p:nvPr/>
        </p:nvCxnSpPr>
        <p:spPr>
          <a:xfrm rot="10800000">
            <a:off x="9947275" y="3227386"/>
            <a:ext cx="19049" cy="541337"/>
          </a:xfrm>
          <a:prstGeom prst="straightConnector1">
            <a:avLst/>
          </a:prstGeom>
          <a:noFill/>
          <a:ln cap="rnd" cmpd="sng" w="63500">
            <a:solidFill>
              <a:srgbClr val="00FF00"/>
            </a:solidFill>
            <a:prstDash val="solid"/>
            <a:miter lim="8000"/>
            <a:headEnd len="med" w="med" type="stealth"/>
            <a:tailEnd len="sm" w="sm" type="none"/>
          </a:ln>
        </p:spPr>
      </p:cxnSp>
      <p:cxnSp>
        <p:nvCxnSpPr>
          <p:cNvPr id="333" name="Google Shape;333;p20"/>
          <p:cNvCxnSpPr/>
          <p:nvPr/>
        </p:nvCxnSpPr>
        <p:spPr>
          <a:xfrm flipH="1" rot="10800000">
            <a:off x="9947275" y="4618036"/>
            <a:ext cx="22225" cy="439736"/>
          </a:xfrm>
          <a:prstGeom prst="straightConnector1">
            <a:avLst/>
          </a:prstGeom>
          <a:noFill/>
          <a:ln cap="rnd" cmpd="sng" w="63500">
            <a:solidFill>
              <a:srgbClr val="00FF00"/>
            </a:solidFill>
            <a:prstDash val="solid"/>
            <a:miter lim="8000"/>
            <a:headEnd len="med" w="med" type="stealth"/>
            <a:tailEnd len="sm" w="sm" type="none"/>
          </a:ln>
        </p:spPr>
      </p:cxnSp>
      <p:sp>
        <p:nvSpPr>
          <p:cNvPr id="334" name="Google Shape;334;p20"/>
          <p:cNvSpPr txBox="1"/>
          <p:nvPr/>
        </p:nvSpPr>
        <p:spPr>
          <a:xfrm>
            <a:off x="12369800" y="6324600"/>
            <a:ext cx="3467099" cy="838199"/>
          </a:xfrm>
          <a:prstGeom prst="rect">
            <a:avLst/>
          </a:prstGeom>
          <a:noFill/>
          <a:ln cap="rnd" cmpd="sng" w="50800">
            <a:solidFill>
              <a:srgbClr val="FF99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bin"/>
              <a:buNone/>
            </a:pPr>
            <a:r>
              <a:rPr b="0" i="0" lang="en-US" sz="3200" u="none" cap="none" strike="noStrike">
                <a:solidFill>
                  <a:schemeClr val="lt1"/>
                </a:solidFill>
                <a:latin typeface="Arial"/>
                <a:ea typeface="Arial"/>
                <a:cs typeface="Arial"/>
                <a:sym typeface="Arial"/>
              </a:rPr>
              <a:t>istr = -1</a:t>
            </a:r>
            <a:endParaRPr b="0" i="0" sz="1400" u="none" cap="none" strike="noStrike">
              <a:solidFill>
                <a:srgbClr val="000000"/>
              </a:solidFill>
              <a:latin typeface="Arial"/>
              <a:ea typeface="Arial"/>
              <a:cs typeface="Arial"/>
              <a:sym typeface="Arial"/>
            </a:endParaRPr>
          </a:p>
        </p:txBody>
      </p:sp>
      <p:cxnSp>
        <p:nvCxnSpPr>
          <p:cNvPr id="335" name="Google Shape;335;p20"/>
          <p:cNvCxnSpPr/>
          <p:nvPr/>
        </p:nvCxnSpPr>
        <p:spPr>
          <a:xfrm flipH="1" rot="10800000">
            <a:off x="9942675" y="5940375"/>
            <a:ext cx="4799" cy="1550399"/>
          </a:xfrm>
          <a:prstGeom prst="straightConnector1">
            <a:avLst/>
          </a:prstGeom>
          <a:noFill/>
          <a:ln cap="rnd" cmpd="sng" w="63500">
            <a:solidFill>
              <a:srgbClr val="00FF00"/>
            </a:solidFill>
            <a:prstDash val="solid"/>
            <a:miter lim="8000"/>
            <a:headEnd len="med" w="med" type="stealth"/>
            <a:tailEnd len="sm" w="sm" type="none"/>
          </a:ln>
        </p:spPr>
      </p:cxnSp>
      <p:cxnSp>
        <p:nvCxnSpPr>
          <p:cNvPr id="336" name="Google Shape;336;p20"/>
          <p:cNvCxnSpPr/>
          <p:nvPr/>
        </p:nvCxnSpPr>
        <p:spPr>
          <a:xfrm rot="10800000">
            <a:off x="9293225" y="1884361"/>
            <a:ext cx="673099" cy="485775"/>
          </a:xfrm>
          <a:prstGeom prst="straightConnector1">
            <a:avLst/>
          </a:prstGeom>
          <a:noFill/>
          <a:ln cap="rnd" cmpd="sng" w="63500">
            <a:solidFill>
              <a:srgbClr val="00FF00"/>
            </a:solidFill>
            <a:prstDash val="solid"/>
            <a:miter lim="8000"/>
            <a:headEnd len="med" w="med" type="stealth"/>
            <a:tailEnd len="sm" w="sm" type="none"/>
          </a:ln>
        </p:spPr>
      </p:cxnSp>
      <p:cxnSp>
        <p:nvCxnSpPr>
          <p:cNvPr id="337" name="Google Shape;337;p20"/>
          <p:cNvCxnSpPr/>
          <p:nvPr/>
        </p:nvCxnSpPr>
        <p:spPr>
          <a:xfrm rot="10800000">
            <a:off x="11690348" y="4181475"/>
            <a:ext cx="2400300" cy="17461"/>
          </a:xfrm>
          <a:prstGeom prst="straightConnector1">
            <a:avLst/>
          </a:prstGeom>
          <a:noFill/>
          <a:ln cap="rnd" cmpd="sng" w="63500">
            <a:solidFill>
              <a:srgbClr val="FF9900"/>
            </a:solidFill>
            <a:prstDash val="dash"/>
            <a:miter lim="8000"/>
            <a:headEnd len="med" w="med" type="stealth"/>
            <a:tailEnd len="sm" w="sm" type="none"/>
          </a:ln>
        </p:spPr>
      </p:cxnSp>
      <p:cxnSp>
        <p:nvCxnSpPr>
          <p:cNvPr id="338" name="Google Shape;338;p20"/>
          <p:cNvCxnSpPr/>
          <p:nvPr/>
        </p:nvCxnSpPr>
        <p:spPr>
          <a:xfrm rot="10800000">
            <a:off x="11690348" y="5489575"/>
            <a:ext cx="2400300" cy="33336"/>
          </a:xfrm>
          <a:prstGeom prst="straightConnector1">
            <a:avLst/>
          </a:prstGeom>
          <a:noFill/>
          <a:ln cap="rnd" cmpd="sng" w="63500">
            <a:solidFill>
              <a:srgbClr val="FF9900"/>
            </a:solidFill>
            <a:prstDash val="dash"/>
            <a:miter lim="8000"/>
            <a:headEnd len="med" w="med" type="stealth"/>
            <a:tailEnd len="sm" w="sm" type="none"/>
          </a:ln>
        </p:spPr>
      </p:cxnSp>
      <p:cxnSp>
        <p:nvCxnSpPr>
          <p:cNvPr id="339" name="Google Shape;339;p20"/>
          <p:cNvCxnSpPr/>
          <p:nvPr/>
        </p:nvCxnSpPr>
        <p:spPr>
          <a:xfrm rot="10800000">
            <a:off x="14150599" y="2753249"/>
            <a:ext cx="14999" cy="3511500"/>
          </a:xfrm>
          <a:prstGeom prst="straightConnector1">
            <a:avLst/>
          </a:prstGeom>
          <a:noFill/>
          <a:ln cap="rnd" cmpd="sng" w="63500">
            <a:solidFill>
              <a:srgbClr val="FF9900"/>
            </a:solidFill>
            <a:prstDash val="dash"/>
            <a:miter lim="8000"/>
            <a:headEnd len="med" w="med" type="stealth"/>
            <a:tailEnd len="sm" w="sm" type="none"/>
          </a:ln>
        </p:spPr>
      </p:cxnSp>
      <p:cxnSp>
        <p:nvCxnSpPr>
          <p:cNvPr id="340" name="Google Shape;340;p20"/>
          <p:cNvCxnSpPr/>
          <p:nvPr/>
        </p:nvCxnSpPr>
        <p:spPr>
          <a:xfrm flipH="1" rot="10800000">
            <a:off x="9927550" y="6737349"/>
            <a:ext cx="2351700" cy="405300"/>
          </a:xfrm>
          <a:prstGeom prst="straightConnector1">
            <a:avLst/>
          </a:prstGeom>
          <a:noFill/>
          <a:ln cap="rnd" cmpd="sng" w="63500">
            <a:solidFill>
              <a:srgbClr val="FF9900"/>
            </a:solidFill>
            <a:prstDash val="dash"/>
            <a:miter lim="8000"/>
            <a:headEnd len="med" w="med" type="stealth"/>
            <a:tailEnd len="sm" w="sm" type="none"/>
          </a:ln>
        </p:spPr>
      </p:cxnSp>
      <p:sp>
        <p:nvSpPr>
          <p:cNvPr id="341" name="Google Shape;341;p20"/>
          <p:cNvSpPr txBox="1"/>
          <p:nvPr/>
        </p:nvSpPr>
        <p:spPr>
          <a:xfrm>
            <a:off x="12920677" y="7340600"/>
            <a:ext cx="23517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Safety net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1"/>
          <p:cNvSpPr txBox="1"/>
          <p:nvPr>
            <p:ph type="title"/>
          </p:nvPr>
        </p:nvSpPr>
        <p:spPr>
          <a:xfrm>
            <a:off x="1155700" y="745588"/>
            <a:ext cx="13932000"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Sample try / except</a:t>
            </a:r>
            <a:endParaRPr/>
          </a:p>
        </p:txBody>
      </p:sp>
      <p:sp>
        <p:nvSpPr>
          <p:cNvPr id="347" name="Google Shape;347;p21"/>
          <p:cNvSpPr txBox="1"/>
          <p:nvPr/>
        </p:nvSpPr>
        <p:spPr>
          <a:xfrm>
            <a:off x="910375" y="2860675"/>
            <a:ext cx="8561099" cy="49847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rawstr = input('Enter a number:')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try: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    ival = int(rawstr)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except: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    </a:t>
            </a:r>
            <a:r>
              <a:rPr b="0" i="0" lang="en-US" sz="3000" u="none" cap="none" strike="noStrike">
                <a:solidFill>
                  <a:srgbClr val="FF9900"/>
                </a:solidFill>
                <a:latin typeface="Courier"/>
                <a:ea typeface="Courier"/>
                <a:cs typeface="Courier"/>
                <a:sym typeface="Courier"/>
              </a:rPr>
              <a:t>ival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if ival &gt; 0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ourier"/>
              <a:buNone/>
            </a:pPr>
            <a:r>
              <a:rPr b="0" i="0" lang="en-US" sz="3000" u="none" cap="none" strike="noStrike">
                <a:solidFill>
                  <a:srgbClr val="00FF00"/>
                </a:solidFill>
                <a:latin typeface="Courier"/>
                <a:ea typeface="Courier"/>
                <a:cs typeface="Courier"/>
                <a:sym typeface="Courier"/>
              </a:rPr>
              <a:t>    print('Nice work')</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else: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ourier"/>
              <a:buNone/>
            </a:pPr>
            <a:r>
              <a:rPr b="0" i="0" lang="en-US" sz="3000" u="none" cap="none" strike="noStrike">
                <a:solidFill>
                  <a:srgbClr val="00FF00"/>
                </a:solidFill>
                <a:latin typeface="Courier"/>
                <a:ea typeface="Courier"/>
                <a:cs typeface="Courier"/>
                <a:sym typeface="Courier"/>
              </a:rPr>
              <a:t>    print('Not a number')</a:t>
            </a:r>
            <a:endParaRPr b="0" i="0" sz="3000" u="none" cap="none" strike="noStrike">
              <a:solidFill>
                <a:srgbClr val="00FF00"/>
              </a:solidFill>
              <a:latin typeface="Courier"/>
              <a:ea typeface="Courier"/>
              <a:cs typeface="Courier"/>
              <a:sym typeface="Couri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2"/>
          <p:cNvSpPr txBox="1"/>
          <p:nvPr>
            <p:ph type="title"/>
          </p:nvPr>
        </p:nvSpPr>
        <p:spPr>
          <a:xfrm>
            <a:off x="1155700" y="745588"/>
            <a:ext cx="13258800" cy="179431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Summary</a:t>
            </a:r>
            <a:endParaRPr/>
          </a:p>
        </p:txBody>
      </p:sp>
      <p:sp>
        <p:nvSpPr>
          <p:cNvPr id="353" name="Google Shape;353;p22"/>
          <p:cNvSpPr txBox="1"/>
          <p:nvPr>
            <p:ph idx="1" type="body"/>
          </p:nvPr>
        </p:nvSpPr>
        <p:spPr>
          <a:xfrm>
            <a:off x="1155700" y="2945058"/>
            <a:ext cx="13932000" cy="4705644"/>
          </a:xfrm>
          <a:prstGeom prst="rect">
            <a:avLst/>
          </a:prstGeom>
          <a:noFill/>
          <a:ln>
            <a:noFill/>
          </a:ln>
        </p:spPr>
        <p:txBody>
          <a:bodyPr anchorCtr="0" anchor="t" bIns="38100" lIns="38100" spcFirstLastPara="1" rIns="38100" wrap="square" tIns="38100">
            <a:noAutofit/>
          </a:bodyPr>
          <a:lstStyle/>
          <a:p>
            <a:pPr indent="-437896" lvl="0" marL="685800" marR="0" rtl="0" algn="l">
              <a:lnSpc>
                <a:spcPct val="8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Comparison operators  </a:t>
            </a:r>
            <a:br>
              <a:rPr lang="en-US" sz="3600" u="none" cap="none" strike="noStrike">
                <a:solidFill>
                  <a:schemeClr val="lt1"/>
                </a:solidFill>
                <a:latin typeface="Arial"/>
                <a:ea typeface="Arial"/>
                <a:cs typeface="Arial"/>
                <a:sym typeface="Arial"/>
              </a:rPr>
            </a:br>
            <a:r>
              <a:rPr lang="en-US" sz="3600" u="none" cap="none" strike="noStrike">
                <a:solidFill>
                  <a:srgbClr val="00FFFF"/>
                </a:solidFill>
                <a:latin typeface="Arial"/>
                <a:ea typeface="Arial"/>
                <a:cs typeface="Arial"/>
                <a:sym typeface="Arial"/>
              </a:rPr>
              <a:t>==   &lt;=   &gt;=   &gt;   &lt;   !=</a:t>
            </a:r>
            <a:endParaRPr sz="3600" u="none" cap="none" strike="noStrike">
              <a:solidFill>
                <a:srgbClr val="00FFFF"/>
              </a:solidFill>
              <a:latin typeface="Arial"/>
              <a:ea typeface="Arial"/>
              <a:cs typeface="Arial"/>
              <a:sym typeface="Arial"/>
            </a:endParaRPr>
          </a:p>
          <a:p>
            <a:pPr indent="-437896" lvl="0" marL="685800" marR="0" rtl="0" algn="l">
              <a:lnSpc>
                <a:spcPct val="8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Indentation</a:t>
            </a:r>
            <a:endParaRPr sz="3600" u="none" cap="none" strike="noStrike">
              <a:solidFill>
                <a:schemeClr val="lt1"/>
              </a:solidFill>
              <a:latin typeface="Arial"/>
              <a:ea typeface="Arial"/>
              <a:cs typeface="Arial"/>
              <a:sym typeface="Arial"/>
            </a:endParaRPr>
          </a:p>
          <a:p>
            <a:pPr indent="-437896" lvl="0" marL="685800" marR="0" rtl="0" algn="l">
              <a:lnSpc>
                <a:spcPct val="8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One</a:t>
            </a:r>
            <a:r>
              <a:rPr lang="en-US" sz="3600">
                <a:solidFill>
                  <a:schemeClr val="lt1"/>
                </a:solidFill>
                <a:latin typeface="Arial"/>
                <a:ea typeface="Arial"/>
                <a:cs typeface="Arial"/>
                <a:sym typeface="Arial"/>
              </a:rPr>
              <a:t>-w</a:t>
            </a:r>
            <a:r>
              <a:rPr lang="en-US" sz="3600" u="none" cap="none" strike="noStrike">
                <a:solidFill>
                  <a:schemeClr val="lt1"/>
                </a:solidFill>
                <a:latin typeface="Arial"/>
                <a:ea typeface="Arial"/>
                <a:cs typeface="Arial"/>
                <a:sym typeface="Arial"/>
              </a:rPr>
              <a:t>ay Decision</a:t>
            </a:r>
            <a:r>
              <a:rPr lang="en-US" sz="3600">
                <a:solidFill>
                  <a:schemeClr val="lt1"/>
                </a:solidFill>
                <a:latin typeface="Arial"/>
                <a:ea typeface="Arial"/>
                <a:cs typeface="Arial"/>
                <a:sym typeface="Arial"/>
              </a:rPr>
              <a:t>s</a:t>
            </a:r>
            <a:endParaRPr/>
          </a:p>
          <a:p>
            <a:pPr indent="-437896" lvl="0" marL="685800" marR="0" rtl="0" algn="l">
              <a:lnSpc>
                <a:spcPct val="80000"/>
              </a:lnSpc>
              <a:spcBef>
                <a:spcPts val="3500"/>
              </a:spcBef>
              <a:spcAft>
                <a:spcPts val="0"/>
              </a:spcAft>
              <a:buClr>
                <a:schemeClr val="lt1"/>
              </a:buClr>
              <a:buSzPts val="3600"/>
              <a:buFont typeface="Cabin"/>
              <a:buChar char="•"/>
            </a:pPr>
            <a:r>
              <a:rPr lang="en-US" sz="3600">
                <a:solidFill>
                  <a:schemeClr val="lt1"/>
                </a:solidFill>
                <a:latin typeface="Arial"/>
                <a:ea typeface="Arial"/>
                <a:cs typeface="Arial"/>
                <a:sym typeface="Arial"/>
              </a:rPr>
              <a:t>Two-way decisions:</a:t>
            </a:r>
            <a:br>
              <a:rPr lang="en-US" sz="3600">
                <a:solidFill>
                  <a:schemeClr val="lt1"/>
                </a:solidFill>
                <a:latin typeface="Arial"/>
                <a:ea typeface="Arial"/>
                <a:cs typeface="Arial"/>
                <a:sym typeface="Arial"/>
              </a:rPr>
            </a:br>
            <a:r>
              <a:rPr lang="en-US" sz="3600">
                <a:solidFill>
                  <a:srgbClr val="00FF00"/>
                </a:solidFill>
                <a:latin typeface="Arial"/>
                <a:ea typeface="Arial"/>
                <a:cs typeface="Arial"/>
                <a:sym typeface="Arial"/>
              </a:rPr>
              <a:t>if:</a:t>
            </a:r>
            <a:r>
              <a:rPr lang="en-US" sz="3600">
                <a:solidFill>
                  <a:schemeClr val="lt1"/>
                </a:solidFill>
                <a:latin typeface="Arial"/>
                <a:ea typeface="Arial"/>
                <a:cs typeface="Arial"/>
                <a:sym typeface="Arial"/>
              </a:rPr>
              <a:t>  and  </a:t>
            </a:r>
            <a:r>
              <a:rPr lang="en-US" sz="3600">
                <a:solidFill>
                  <a:srgbClr val="00FF00"/>
                </a:solidFill>
                <a:latin typeface="Arial"/>
                <a:ea typeface="Arial"/>
                <a:cs typeface="Arial"/>
                <a:sym typeface="Arial"/>
              </a:rPr>
              <a:t>else:</a:t>
            </a:r>
            <a:endParaRPr/>
          </a:p>
        </p:txBody>
      </p:sp>
      <p:sp>
        <p:nvSpPr>
          <p:cNvPr id="354" name="Google Shape;354;p22"/>
          <p:cNvSpPr txBox="1"/>
          <p:nvPr>
            <p:ph idx="4294967295" type="body"/>
          </p:nvPr>
        </p:nvSpPr>
        <p:spPr>
          <a:xfrm>
            <a:off x="7967691" y="2945058"/>
            <a:ext cx="7000406" cy="4782860"/>
          </a:xfrm>
          <a:prstGeom prst="rect">
            <a:avLst/>
          </a:prstGeom>
          <a:noFill/>
          <a:ln>
            <a:noFill/>
          </a:ln>
        </p:spPr>
        <p:txBody>
          <a:bodyPr anchorCtr="0" anchor="t" bIns="38100" lIns="38100" spcFirstLastPara="1" rIns="38100" wrap="square" tIns="38100">
            <a:noAutofit/>
          </a:bodyPr>
          <a:lstStyle/>
          <a:p>
            <a:pPr indent="-437896" lvl="0" marL="685800" marR="0" rtl="0" algn="l">
              <a:lnSpc>
                <a:spcPct val="8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Nested Decisions</a:t>
            </a:r>
            <a:endParaRPr/>
          </a:p>
          <a:p>
            <a:pPr indent="-437896" lvl="0" marL="685800" marR="0" rtl="0" algn="l">
              <a:lnSpc>
                <a:spcPct val="8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Multi-way decisions using </a:t>
            </a:r>
            <a:r>
              <a:rPr lang="en-US" sz="3600" u="none" cap="none" strike="noStrike">
                <a:solidFill>
                  <a:srgbClr val="00FF00"/>
                </a:solidFill>
                <a:latin typeface="Arial"/>
                <a:ea typeface="Arial"/>
                <a:cs typeface="Arial"/>
                <a:sym typeface="Arial"/>
              </a:rPr>
              <a:t>elif</a:t>
            </a:r>
            <a:endParaRPr sz="3600" u="none" cap="none" strike="noStrike">
              <a:solidFill>
                <a:srgbClr val="00FF00"/>
              </a:solidFill>
              <a:latin typeface="Arial"/>
              <a:ea typeface="Arial"/>
              <a:cs typeface="Arial"/>
              <a:sym typeface="Arial"/>
            </a:endParaRPr>
          </a:p>
          <a:p>
            <a:pPr indent="-437896" lvl="0" marL="685800" marR="0" rtl="0" algn="l">
              <a:lnSpc>
                <a:spcPct val="80000"/>
              </a:lnSpc>
              <a:spcBef>
                <a:spcPts val="3500"/>
              </a:spcBef>
              <a:spcAft>
                <a:spcPts val="0"/>
              </a:spcAft>
              <a:buClr>
                <a:schemeClr val="lt1"/>
              </a:buClr>
              <a:buSzPts val="3600"/>
              <a:buFont typeface="Cabin"/>
              <a:buChar char="•"/>
            </a:pPr>
            <a:r>
              <a:rPr lang="en-US" sz="3600">
                <a:solidFill>
                  <a:srgbClr val="00FF00"/>
                </a:solidFill>
                <a:latin typeface="Arial"/>
                <a:ea typeface="Arial"/>
                <a:cs typeface="Arial"/>
                <a:sym typeface="Arial"/>
              </a:rPr>
              <a:t>t</a:t>
            </a:r>
            <a:r>
              <a:rPr lang="en-US" sz="3600" u="none" cap="none" strike="noStrike">
                <a:solidFill>
                  <a:srgbClr val="00FF00"/>
                </a:solidFill>
                <a:latin typeface="Arial"/>
                <a:ea typeface="Arial"/>
                <a:cs typeface="Arial"/>
                <a:sym typeface="Arial"/>
              </a:rPr>
              <a:t>ry</a:t>
            </a:r>
            <a:r>
              <a:rPr lang="en-US" sz="3600" u="none" cap="none" strike="noStrike">
                <a:solidFill>
                  <a:schemeClr val="lt1"/>
                </a:solidFill>
                <a:latin typeface="Arial"/>
                <a:ea typeface="Arial"/>
                <a:cs typeface="Arial"/>
                <a:sym typeface="Arial"/>
              </a:rPr>
              <a:t> / </a:t>
            </a:r>
            <a:r>
              <a:rPr lang="en-US" sz="3600">
                <a:solidFill>
                  <a:srgbClr val="FF9900"/>
                </a:solidFill>
                <a:latin typeface="Arial"/>
                <a:ea typeface="Arial"/>
                <a:cs typeface="Arial"/>
                <a:sym typeface="Arial"/>
              </a:rPr>
              <a:t>e</a:t>
            </a:r>
            <a:r>
              <a:rPr lang="en-US" sz="3600" u="none" cap="none" strike="noStrike">
                <a:solidFill>
                  <a:srgbClr val="FF9900"/>
                </a:solidFill>
                <a:latin typeface="Arial"/>
                <a:ea typeface="Arial"/>
                <a:cs typeface="Arial"/>
                <a:sym typeface="Arial"/>
              </a:rPr>
              <a:t>xcept</a:t>
            </a:r>
            <a:r>
              <a:rPr lang="en-US" sz="3600" u="none" cap="none" strike="noStrike">
                <a:solidFill>
                  <a:schemeClr val="lt1"/>
                </a:solidFill>
                <a:latin typeface="Arial"/>
                <a:ea typeface="Arial"/>
                <a:cs typeface="Arial"/>
                <a:sym typeface="Arial"/>
              </a:rPr>
              <a:t> to compensate for errors</a:t>
            </a:r>
            <a:endParaRPr sz="3600" u="none" cap="none" strike="noStrik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3"/>
          <p:cNvSpPr txBox="1"/>
          <p:nvPr>
            <p:ph type="title"/>
          </p:nvPr>
        </p:nvSpPr>
        <p:spPr>
          <a:xfrm>
            <a:off x="1155700" y="745588"/>
            <a:ext cx="13932000" cy="1794312"/>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FF00"/>
              </a:buClr>
              <a:buSzPts val="3600"/>
              <a:buFont typeface="Arial"/>
              <a:buNone/>
            </a:pPr>
            <a:r>
              <a:rPr lang="en-US" sz="3600">
                <a:solidFill>
                  <a:srgbClr val="FFFF00"/>
                </a:solidFill>
              </a:rPr>
              <a:t>Acknowledgements / Contributions</a:t>
            </a:r>
            <a:endParaRPr/>
          </a:p>
        </p:txBody>
      </p:sp>
      <p:sp>
        <p:nvSpPr>
          <p:cNvPr id="360" name="Google Shape;360;p23"/>
          <p:cNvSpPr txBox="1"/>
          <p:nvPr/>
        </p:nvSpPr>
        <p:spPr>
          <a:xfrm>
            <a:off x="1155700" y="2171403"/>
            <a:ext cx="6797699" cy="5943897"/>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These slides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1100"/>
              <a:buFont typeface="Arial"/>
              <a:buNone/>
            </a:pPr>
            <a:r>
              <a:rPr b="0" i="0" lang="en-US" sz="1800" u="none" cap="none" strike="noStrike">
                <a:solidFill>
                  <a:schemeClr val="lt1"/>
                </a:solidFill>
                <a:latin typeface="Arial"/>
                <a:ea typeface="Arial"/>
                <a:cs typeface="Arial"/>
                <a:sym typeface="Arial"/>
              </a:rPr>
              <a:t>… Insert new Contributors and Translators 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361" name="Google Shape;361;p23"/>
          <p:cNvPicPr preferRelativeResize="0"/>
          <p:nvPr/>
        </p:nvPicPr>
        <p:blipFill rotWithShape="1">
          <a:blip r:embed="rId4">
            <a:alphaModFix/>
          </a:blip>
          <a:srcRect b="0" l="0" r="0" t="0"/>
          <a:stretch/>
        </p:blipFill>
        <p:spPr>
          <a:xfrm>
            <a:off x="13897688" y="1170103"/>
            <a:ext cx="1968599" cy="668400"/>
          </a:xfrm>
          <a:prstGeom prst="rect">
            <a:avLst/>
          </a:prstGeom>
          <a:noFill/>
          <a:ln>
            <a:noFill/>
          </a:ln>
        </p:spPr>
      </p:pic>
      <p:sp>
        <p:nvSpPr>
          <p:cNvPr id="362" name="Google Shape;362;p23"/>
          <p:cNvSpPr txBox="1"/>
          <p:nvPr/>
        </p:nvSpPr>
        <p:spPr>
          <a:xfrm>
            <a:off x="8704400" y="2369453"/>
            <a:ext cx="6797699" cy="5745847"/>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